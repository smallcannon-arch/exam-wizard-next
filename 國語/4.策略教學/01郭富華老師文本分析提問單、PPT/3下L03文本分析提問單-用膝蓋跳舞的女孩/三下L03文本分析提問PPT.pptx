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85" r:id="rId5"/>
    <p:sldId id="258" r:id="rId6"/>
    <p:sldId id="269" r:id="rId7"/>
    <p:sldId id="277" r:id="rId8"/>
    <p:sldId id="272" r:id="rId9"/>
    <p:sldId id="286" r:id="rId10"/>
    <p:sldId id="279" r:id="rId11"/>
    <p:sldId id="281" r:id="rId12"/>
    <p:sldId id="287" r:id="rId13"/>
    <p:sldId id="266" r:id="rId14"/>
  </p:sldIdLst>
  <p:sldSz cx="18288000" cy="10287000"/>
  <p:notesSz cx="6858000" cy="9144000"/>
  <p:embeddedFontLst>
    <p:embeddedFont>
      <p:font typeface="王漢宗特黑體" panose="02000500000000000000" pitchFamily="2" charset="-120"/>
      <p:regular r:id="rId16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標楷體" panose="03000509000000000000" pitchFamily="49" charset="-12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9D9"/>
    <a:srgbClr val="CBC1DA"/>
    <a:srgbClr val="FFE2C7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57" autoAdjust="0"/>
    <p:restoredTop sz="94993" autoAdjust="0"/>
  </p:normalViewPr>
  <p:slideViewPr>
    <p:cSldViewPr>
      <p:cViewPr varScale="1">
        <p:scale>
          <a:sx n="47" d="100"/>
          <a:sy n="47" d="100"/>
        </p:scale>
        <p:origin x="248" y="10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3586309" y="5556196"/>
            <a:ext cx="114039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L03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用膝蓋跳舞的女孩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716097" y="3543300"/>
            <a:ext cx="16855805" cy="4353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課文題目「用膝蓋跳舞的女孩」進行審題，請問這一位女孩為什麼會用膝蓋跳舞？他怎麼了？</a:t>
            </a: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請用完整與句回答</a:t>
            </a: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(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參考句型：她可能因為</a:t>
            </a: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…….  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所以</a:t>
            </a: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…………)</a:t>
            </a:r>
            <a:b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她可能是因為 </a:t>
            </a:r>
            <a:r>
              <a:rPr lang="zh-TW" altLang="en-US" sz="36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，所以</a:t>
            </a:r>
            <a:r>
              <a:rPr lang="zh-TW" altLang="en-US" sz="36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endParaRPr lang="zh-TW" altLang="en-US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A9AB6C2-D1A7-4DAF-7204-3E69FB5D4E65}"/>
              </a:ext>
            </a:extLst>
          </p:cNvPr>
          <p:cNvSpPr/>
          <p:nvPr/>
        </p:nvSpPr>
        <p:spPr>
          <a:xfrm>
            <a:off x="16383000" y="5142411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審題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4985476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98254" y="2820036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流暢性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82979" y="4062211"/>
            <a:ext cx="16085821" cy="3314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兩課學過使用「卻」、「然而」連接上下兩句後，使句子的意思改變了，我們稱為「轉折句」。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請先自己「讀」一次課文，再找一找「轉折句」躲在哪裡。</a:t>
            </a: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在課本上圈出來</a:t>
            </a: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9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275287" y="872739"/>
            <a:ext cx="61606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pSp>
        <p:nvGrpSpPr>
          <p:cNvPr id="11" name="Group 8">
            <a:extLst>
              <a:ext uri="{FF2B5EF4-FFF2-40B4-BE49-F238E27FC236}">
                <a16:creationId xmlns:a16="http://schemas.microsoft.com/office/drawing/2014/main" id="{6911D095-CB98-5620-DD13-D6926BB6C83E}"/>
              </a:ext>
            </a:extLst>
          </p:cNvPr>
          <p:cNvGrpSpPr/>
          <p:nvPr/>
        </p:nvGrpSpPr>
        <p:grpSpPr>
          <a:xfrm>
            <a:off x="1013460" y="2343663"/>
            <a:ext cx="5325946" cy="1275837"/>
            <a:chOff x="0" y="0"/>
            <a:chExt cx="2188840" cy="1097141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F887489-A9CD-A0DD-FF6F-C2476A64545E}"/>
                </a:ext>
              </a:extLst>
            </p:cNvPr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4AC62363-3FDA-17E4-FCCC-E6C10B29A51E}"/>
                </a:ext>
              </a:extLst>
            </p:cNvPr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530AE00-DD39-8569-B105-DB2CC93E1725}"/>
              </a:ext>
            </a:extLst>
          </p:cNvPr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任務二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64F9F5-8B24-DA2F-5043-C92ECDFBDF9B}"/>
              </a:ext>
            </a:extLst>
          </p:cNvPr>
          <p:cNvSpPr/>
          <p:nvPr/>
        </p:nvSpPr>
        <p:spPr>
          <a:xfrm>
            <a:off x="4611697" y="2692279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en-US" altLang="zh-TW" sz="28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6F2B1D-8CA7-8820-4C23-6219A1AAFD4F}"/>
              </a:ext>
            </a:extLst>
          </p:cNvPr>
          <p:cNvSpPr/>
          <p:nvPr/>
        </p:nvSpPr>
        <p:spPr>
          <a:xfrm>
            <a:off x="1013461" y="3778978"/>
            <a:ext cx="158267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請以「支」為部件，加上偏旁形成另一個新字後，再造一個詞。請小心造詞，因為最後是使用你造的詞來造長句呵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8D63E5F-9B3E-8C29-1F66-3135DA199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17721"/>
              </p:ext>
            </p:extLst>
          </p:nvPr>
        </p:nvGraphicFramePr>
        <p:xfrm>
          <a:off x="2183754" y="5234277"/>
          <a:ext cx="15318672" cy="450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709">
                  <a:extLst>
                    <a:ext uri="{9D8B030D-6E8A-4147-A177-3AD203B41FA5}">
                      <a16:colId xmlns:a16="http://schemas.microsoft.com/office/drawing/2014/main" val="741857881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821507824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3724771510"/>
                    </a:ext>
                  </a:extLst>
                </a:gridCol>
                <a:gridCol w="7846471">
                  <a:extLst>
                    <a:ext uri="{9D8B030D-6E8A-4147-A177-3AD203B41FA5}">
                      <a16:colId xmlns:a16="http://schemas.microsoft.com/office/drawing/2014/main" val="765254266"/>
                    </a:ext>
                  </a:extLst>
                </a:gridCol>
              </a:tblGrid>
              <a:tr h="1060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加偏旁成新字</a:t>
                      </a: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注音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造詞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句中放入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並加入想像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情境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，最後也要加入自己的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感受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，成為完整一小段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07250"/>
                  </a:ext>
                </a:extLst>
              </a:tr>
              <a:tr h="1721709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支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612334"/>
                  </a:ext>
                </a:extLst>
              </a:tr>
              <a:tr h="172170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21993"/>
                  </a:ext>
                </a:extLst>
              </a:tr>
            </a:tbl>
          </a:graphicData>
        </a:graphic>
      </p:graphicFrame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C3F2238-E963-9663-C157-0292A9788346}"/>
              </a:ext>
            </a:extLst>
          </p:cNvPr>
          <p:cNvCxnSpPr>
            <a:cxnSpLocks/>
          </p:cNvCxnSpPr>
          <p:nvPr/>
        </p:nvCxnSpPr>
        <p:spPr>
          <a:xfrm>
            <a:off x="9906000" y="71247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281C96C8-CE8C-A074-B354-182A7DC00FC5}"/>
              </a:ext>
            </a:extLst>
          </p:cNvPr>
          <p:cNvCxnSpPr>
            <a:cxnSpLocks/>
          </p:cNvCxnSpPr>
          <p:nvPr/>
        </p:nvCxnSpPr>
        <p:spPr>
          <a:xfrm>
            <a:off x="9906000" y="80391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C930821-D35C-C8BB-718B-5D5A70F0AC14}"/>
              </a:ext>
            </a:extLst>
          </p:cNvPr>
          <p:cNvCxnSpPr>
            <a:cxnSpLocks/>
          </p:cNvCxnSpPr>
          <p:nvPr/>
        </p:nvCxnSpPr>
        <p:spPr>
          <a:xfrm>
            <a:off x="9906000" y="89535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741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648200" y="2737753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7374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864214"/>
              </p:ext>
            </p:extLst>
          </p:nvPr>
        </p:nvGraphicFramePr>
        <p:xfrm>
          <a:off x="2535735" y="5656134"/>
          <a:ext cx="14955896" cy="2459166"/>
        </p:xfrm>
        <a:graphic>
          <a:graphicData uri="http://schemas.openxmlformats.org/drawingml/2006/table">
            <a:tbl>
              <a:tblPr firstRow="1" firstCol="1" bandRow="1"/>
              <a:tblGrid>
                <a:gridCol w="2966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6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6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一、特別的表演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二、介紹跳舞的女孩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三、向她學習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7040751" y="4664214"/>
            <a:ext cx="274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8278FE-1499-0306-567D-23462F595E1C}"/>
              </a:ext>
            </a:extLst>
          </p:cNvPr>
          <p:cNvSpPr/>
          <p:nvPr/>
        </p:nvSpPr>
        <p:spPr>
          <a:xfrm>
            <a:off x="6812882" y="7124700"/>
            <a:ext cx="15994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9A29C2-EBEE-90D7-475D-D1C2E164A7A5}"/>
              </a:ext>
            </a:extLst>
          </p:cNvPr>
          <p:cNvSpPr/>
          <p:nvPr/>
        </p:nvSpPr>
        <p:spPr>
          <a:xfrm>
            <a:off x="10820400" y="7124700"/>
            <a:ext cx="15994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575D7E-F100-4648-ECB1-C098C06A474C}"/>
              </a:ext>
            </a:extLst>
          </p:cNvPr>
          <p:cNvSpPr/>
          <p:nvPr/>
        </p:nvSpPr>
        <p:spPr>
          <a:xfrm>
            <a:off x="14788014" y="7124700"/>
            <a:ext cx="15994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2" y="3548615"/>
            <a:ext cx="15632130" cy="6649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「欣賞了一場特別的表演後，我們全家人都感動得說不出話來。」請問這一場表演有什麼特別之處，可以讓作者全家人感動得說不出話來？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舞臺上的女孩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請在第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段文本中，找到句號「。」圈起來。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每一個斷句都有完整的意思，想一想，這一段的重點可能落在哪些斷句上？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在課本做記號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這一段的重點可能是什麼？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全家欣賞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很感動。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12268200" y="4533900"/>
            <a:ext cx="36456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推論策略（連結文本因果關係）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45B73B-0F52-E0A8-B59E-6DCC743035C2}"/>
              </a:ext>
            </a:extLst>
          </p:cNvPr>
          <p:cNvSpPr/>
          <p:nvPr/>
        </p:nvSpPr>
        <p:spPr>
          <a:xfrm>
            <a:off x="4064396" y="8825925"/>
            <a:ext cx="15744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表演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2221CC-3805-4428-C9AB-0ED67EABB082}"/>
              </a:ext>
            </a:extLst>
          </p:cNvPr>
          <p:cNvSpPr/>
          <p:nvPr/>
        </p:nvSpPr>
        <p:spPr>
          <a:xfrm>
            <a:off x="4588911" y="5143500"/>
            <a:ext cx="117178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沒有腳，卻能跳出美妙的舞姿；沒有手掌，也能彈出動人的樂曲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0E53E5-5E83-387E-5520-F01157F647B2}"/>
              </a:ext>
            </a:extLst>
          </p:cNvPr>
          <p:cNvSpPr/>
          <p:nvPr/>
        </p:nvSpPr>
        <p:spPr>
          <a:xfrm>
            <a:off x="10109061" y="6017595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主題句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29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9F16A-19F1-806A-7B22-6EC57C22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A55BEE-07D8-6DEF-BFDD-38192B988DD4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321B15B-99E2-1124-D122-03F7ACAC8E7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A032861-9588-615A-1C23-042EFB0E0524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19C352C3-AD09-A133-E013-7F5B0A9FB9BA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25C36CB-BC20-0133-67FD-40963258A3BC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24BA0F8-4034-1760-60E4-700413ADFF16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51C6C36-81B8-9DF6-EE9A-A29C966E7F3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F6560B7C-8C8E-426B-9C88-C2C58DC8A1AF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ECFC77C-6A5A-8E8C-2431-A764008C1448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88B90F9A-24C8-D604-6F6E-9C5D2BF73D0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61BBAB4-E68B-9947-77BF-07BA3C01A70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07E1F3-FEF7-942B-98AF-21E6FFDC3359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ACA47B-5C6A-F838-2800-366F10745A29}"/>
              </a:ext>
            </a:extLst>
          </p:cNvPr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41DBCCEB-F689-67F3-456E-DFD4CEE4B415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F92B70C-264E-D0AD-E927-4922BFD31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25297"/>
              </p:ext>
            </p:extLst>
          </p:nvPr>
        </p:nvGraphicFramePr>
        <p:xfrm>
          <a:off x="1267867" y="4180647"/>
          <a:ext cx="16060271" cy="316858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作者全家欣賞了一場</a:t>
                      </a:r>
                      <a:r>
                        <a:rPr lang="en-US" altLang="zh-TW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                 </a:t>
                      </a:r>
                      <a:r>
                        <a:rPr lang="en-US" altLang="zh-TW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，舞臺上的女孩沒有腳和手掌，卻能跳舞、彈琴。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8FE5F459-8F20-DE56-2E66-DE0042326F77}"/>
              </a:ext>
            </a:extLst>
          </p:cNvPr>
          <p:cNvSpPr txBox="1"/>
          <p:nvPr/>
        </p:nvSpPr>
        <p:spPr>
          <a:xfrm>
            <a:off x="6878001" y="5518757"/>
            <a:ext cx="33327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b="1" kern="100" dirty="0">
                <a:solidFill>
                  <a:srgbClr val="FF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特別的表演 </a:t>
            </a:r>
            <a:endParaRPr lang="zh-TW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85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548615"/>
            <a:ext cx="15849600" cy="295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段文本，介紹跳舞的女孩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在七歲時，她的世界全變的原因經過？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F883F3-9897-6AA2-7CDA-1267C573BADA}"/>
              </a:ext>
            </a:extLst>
          </p:cNvPr>
          <p:cNvSpPr/>
          <p:nvPr/>
        </p:nvSpPr>
        <p:spPr>
          <a:xfrm>
            <a:off x="1267867" y="5881671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23D17C-158E-4E9B-94D8-AFB3B095A42D}"/>
              </a:ext>
            </a:extLst>
          </p:cNvPr>
          <p:cNvSpPr/>
          <p:nvPr/>
        </p:nvSpPr>
        <p:spPr>
          <a:xfrm>
            <a:off x="15418421" y="3779959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AAC4068-4125-3058-8D84-6773517FE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884250"/>
              </p:ext>
            </p:extLst>
          </p:nvPr>
        </p:nvGraphicFramePr>
        <p:xfrm>
          <a:off x="2245319" y="4914900"/>
          <a:ext cx="13173103" cy="16465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90163">
                  <a:extLst>
                    <a:ext uri="{9D8B030D-6E8A-4147-A177-3AD203B41FA5}">
                      <a16:colId xmlns:a16="http://schemas.microsoft.com/office/drawing/2014/main" val="4289518513"/>
                    </a:ext>
                  </a:extLst>
                </a:gridCol>
                <a:gridCol w="4391470">
                  <a:extLst>
                    <a:ext uri="{9D8B030D-6E8A-4147-A177-3AD203B41FA5}">
                      <a16:colId xmlns:a16="http://schemas.microsoft.com/office/drawing/2014/main" val="920095625"/>
                    </a:ext>
                  </a:extLst>
                </a:gridCol>
                <a:gridCol w="4391470">
                  <a:extLst>
                    <a:ext uri="{9D8B030D-6E8A-4147-A177-3AD203B41FA5}">
                      <a16:colId xmlns:a16="http://schemas.microsoft.com/office/drawing/2014/main" val="3531617302"/>
                    </a:ext>
                  </a:extLst>
                </a:gridCol>
              </a:tblGrid>
              <a:tr h="823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原因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經過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結果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357820"/>
                  </a:ext>
                </a:extLst>
              </a:tr>
              <a:tr h="8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  ➜ 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引發休克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急救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➜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( 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生活細節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70050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3872289E-2A4F-7B2D-0339-37B295CC6E54}"/>
              </a:ext>
            </a:extLst>
          </p:cNvPr>
          <p:cNvSpPr/>
          <p:nvPr/>
        </p:nvSpPr>
        <p:spPr>
          <a:xfrm>
            <a:off x="7763796" y="5850174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四肢截掉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5BCC5CF-B074-C413-205A-A306025E49D0}"/>
              </a:ext>
            </a:extLst>
          </p:cNvPr>
          <p:cNvSpPr/>
          <p:nvPr/>
        </p:nvSpPr>
        <p:spPr>
          <a:xfrm>
            <a:off x="12183396" y="5848168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重新學習 </a:t>
            </a:r>
          </a:p>
        </p:txBody>
      </p:sp>
    </p:spTree>
    <p:extLst>
      <p:ext uri="{BB962C8B-B14F-4D97-AF65-F5344CB8AC3E}">
        <p14:creationId xmlns:p14="http://schemas.microsoft.com/office/powerpoint/2010/main" val="27607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9383C-687D-15B4-4E19-15F4CD2F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AB85BF-07FD-35A6-AB13-516426626EBE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3D242A2-C6B0-2070-0859-02716F4AD734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CFA933C-785B-0E17-AF98-E1F49059E16B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F180613-0B1A-3C70-763A-8D90B703C9F6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C978D9C-B585-2150-5A5E-900BEC81B261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1E5C3EF-8077-92E5-6D9E-36357349681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01261CB4-0CB7-E06A-5E3A-A9C600A7E20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FC178FBF-B5D8-E928-C8E3-A8E5D7E1DB19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801FEA6F-97D7-89FF-CBA9-05913324B9D8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7AF87AE5-05A0-B0A3-7940-E3AB2B025F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73404BD-FAB1-7027-A04C-DBE69DBE2D53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073D2C-99EC-DE4A-B3D8-6B313992B16B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750E75-CD1A-D81A-097B-C54C1A6C7F95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8BB24D37-7C66-3BBB-A4C2-AF093BFEA5F7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4E18C96-32A1-5789-694E-B345DBA3B597}"/>
              </a:ext>
            </a:extLst>
          </p:cNvPr>
          <p:cNvSpPr/>
          <p:nvPr/>
        </p:nvSpPr>
        <p:spPr>
          <a:xfrm>
            <a:off x="1447800" y="3548615"/>
            <a:ext cx="15849600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段文本，四肢截掉的郭韋齊，面對日常和渴望，她是如何重新學習的？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EBBB1F-0C10-B29D-C079-3D099A8D1ACF}"/>
              </a:ext>
            </a:extLst>
          </p:cNvPr>
          <p:cNvSpPr/>
          <p:nvPr/>
        </p:nvSpPr>
        <p:spPr>
          <a:xfrm>
            <a:off x="15695848" y="3779959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D80EDD6-DCF0-17DC-7BE8-FEFCE24E7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308072"/>
              </p:ext>
            </p:extLst>
          </p:nvPr>
        </p:nvGraphicFramePr>
        <p:xfrm>
          <a:off x="1371600" y="4533900"/>
          <a:ext cx="15919451" cy="5182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8115">
                  <a:extLst>
                    <a:ext uri="{9D8B030D-6E8A-4147-A177-3AD203B41FA5}">
                      <a16:colId xmlns:a16="http://schemas.microsoft.com/office/drawing/2014/main" val="107163739"/>
                    </a:ext>
                  </a:extLst>
                </a:gridCol>
                <a:gridCol w="3190220">
                  <a:extLst>
                    <a:ext uri="{9D8B030D-6E8A-4147-A177-3AD203B41FA5}">
                      <a16:colId xmlns:a16="http://schemas.microsoft.com/office/drawing/2014/main" val="380057664"/>
                    </a:ext>
                  </a:extLst>
                </a:gridCol>
                <a:gridCol w="11441116">
                  <a:extLst>
                    <a:ext uri="{9D8B030D-6E8A-4147-A177-3AD203B41FA5}">
                      <a16:colId xmlns:a16="http://schemas.microsoft.com/office/drawing/2014/main" val="2987327029"/>
                    </a:ext>
                  </a:extLst>
                </a:gridCol>
              </a:tblGrid>
              <a:tr h="743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段落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重新學習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克服困難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294895"/>
                  </a:ext>
                </a:extLst>
              </a:tr>
              <a:tr h="1115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段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生活上的細節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夾住碗。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buNone/>
                      </a:pP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 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用膝蓋</a:t>
                      </a: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)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298835"/>
                  </a:ext>
                </a:extLst>
              </a:tr>
              <a:tr h="1859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3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段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跳舞、彈琴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跳舞。</a:t>
                      </a:r>
                    </a:p>
                    <a:p>
                      <a:pPr>
                        <a:buNone/>
                      </a:pP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一個音一個音慢慢敲。</a:t>
                      </a:r>
                    </a:p>
                    <a:p>
                      <a:pPr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❸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忍受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，還是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)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en-US" alt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411919"/>
                  </a:ext>
                </a:extLst>
              </a:tr>
              <a:tr h="1115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4</a:t>
                      </a:r>
                      <a:r>
                        <a:rPr lang="zh-TW" sz="3200" kern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段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追求挑戰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❶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爬上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</a:p>
                    <a:p>
                      <a:pPr>
                        <a:buNone/>
                      </a:pPr>
                      <a:r>
                        <a:rPr lang="en-US" altLang="zh-TW" sz="3200" b="1" kern="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❷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騎單車環島</a:t>
                      </a:r>
                      <a:r>
                        <a:rPr lang="zh-TW" sz="32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臺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</a:p>
                    <a:p>
                      <a:pPr>
                        <a:buNone/>
                      </a:pP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❸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游</a:t>
                      </a:r>
                      <a:r>
                        <a:rPr lang="zh-TW" sz="32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日月潭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061177"/>
                  </a:ext>
                </a:extLst>
              </a:tr>
            </a:tbl>
          </a:graphicData>
        </a:graphic>
      </p:graphicFrame>
      <p:sp>
        <p:nvSpPr>
          <p:cNvPr id="22" name="向下箭號 21">
            <a:extLst>
              <a:ext uri="{FF2B5EF4-FFF2-40B4-BE49-F238E27FC236}">
                <a16:creationId xmlns:a16="http://schemas.microsoft.com/office/drawing/2014/main" id="{D50430E3-27C3-1549-AAC7-CFA552AA942F}"/>
              </a:ext>
            </a:extLst>
          </p:cNvPr>
          <p:cNvSpPr/>
          <p:nvPr/>
        </p:nvSpPr>
        <p:spPr>
          <a:xfrm>
            <a:off x="4114800" y="7810500"/>
            <a:ext cx="347201" cy="75047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151BC3-6668-9CF4-9A74-A4FD45451690}"/>
              </a:ext>
            </a:extLst>
          </p:cNvPr>
          <p:cNvSpPr/>
          <p:nvPr/>
        </p:nvSpPr>
        <p:spPr>
          <a:xfrm>
            <a:off x="5792937" y="5264443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手臂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ED5F2F-BF48-E29D-D113-3AF9EBAE818A}"/>
              </a:ext>
            </a:extLst>
          </p:cNvPr>
          <p:cNvSpPr/>
          <p:nvPr/>
        </p:nvSpPr>
        <p:spPr>
          <a:xfrm>
            <a:off x="7016759" y="5799541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跪著走 </a:t>
            </a:r>
          </a:p>
        </p:txBody>
      </p:sp>
      <p:sp>
        <p:nvSpPr>
          <p:cNvPr id="20" name="向下箭號 19">
            <a:extLst>
              <a:ext uri="{FF2B5EF4-FFF2-40B4-BE49-F238E27FC236}">
                <a16:creationId xmlns:a16="http://schemas.microsoft.com/office/drawing/2014/main" id="{5424F3BD-3DFB-2006-2A34-8A805B06CDDD}"/>
              </a:ext>
            </a:extLst>
          </p:cNvPr>
          <p:cNvSpPr/>
          <p:nvPr/>
        </p:nvSpPr>
        <p:spPr>
          <a:xfrm>
            <a:off x="4081323" y="6140555"/>
            <a:ext cx="347201" cy="75047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B4E599-2746-D744-8677-215B858F7D02}"/>
              </a:ext>
            </a:extLst>
          </p:cNvPr>
          <p:cNvSpPr/>
          <p:nvPr/>
        </p:nvSpPr>
        <p:spPr>
          <a:xfrm>
            <a:off x="5919664" y="7023759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腕骨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7713D2-38C2-7016-C340-99A7D23B73B5}"/>
              </a:ext>
            </a:extLst>
          </p:cNvPr>
          <p:cNvSpPr/>
          <p:nvPr/>
        </p:nvSpPr>
        <p:spPr>
          <a:xfrm>
            <a:off x="5917487" y="6515792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膝蓋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58E5F5-6F7A-9C43-C485-6FA3A89AC4EF}"/>
              </a:ext>
            </a:extLst>
          </p:cNvPr>
          <p:cNvSpPr/>
          <p:nvPr/>
        </p:nvSpPr>
        <p:spPr>
          <a:xfrm>
            <a:off x="6936023" y="7606725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手腳的疼痛 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27E373-32D9-2014-30F2-DDD1DC354A1F}"/>
              </a:ext>
            </a:extLst>
          </p:cNvPr>
          <p:cNvSpPr/>
          <p:nvPr/>
        </p:nvSpPr>
        <p:spPr>
          <a:xfrm>
            <a:off x="10896600" y="7606725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堅持不放棄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DF4BC0-396F-FC74-3414-4A81FA1C6322}"/>
              </a:ext>
            </a:extLst>
          </p:cNvPr>
          <p:cNvSpPr/>
          <p:nvPr/>
        </p:nvSpPr>
        <p:spPr>
          <a:xfrm>
            <a:off x="6849396" y="8228044"/>
            <a:ext cx="366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玉山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山頂 </a:t>
            </a:r>
          </a:p>
        </p:txBody>
      </p:sp>
    </p:spTree>
    <p:extLst>
      <p:ext uri="{BB962C8B-B14F-4D97-AF65-F5344CB8AC3E}">
        <p14:creationId xmlns:p14="http://schemas.microsoft.com/office/powerpoint/2010/main" val="154600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25" grpId="0"/>
      <p:bldP spid="28" grpId="0"/>
      <p:bldP spid="29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7BBBD-BBA8-F235-074E-2D39B5B3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1FA453-6494-4D96-C68C-16AE782A4F6B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39E77E-3D5A-897A-E0A4-8AA11A7DDC6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7A6BC2-9623-A997-BB1F-D302E172847A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070E957-B7EB-3683-7EC6-F6D26AB5756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005EFC5-8526-FD62-2EFA-CED069DDDAAD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F9D8F74-188F-D209-E92F-A6284722F14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14EB7A2-D64B-04CC-5342-4041F7E4843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9AC820F-C8EF-6A7A-EB5B-8E6FCA188715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47BE8DF-3AEA-EDBD-0E4B-2A588B22BB90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9EF36525-004C-FBDA-7357-730BF3BBEAE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5FDAE92-E35F-B79E-3D0B-54D232EA27C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BE031B-9F1F-1723-795E-84FE51D85975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0A3C05-5614-D108-D96F-D5D45BF22F60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C26C39B5-AB93-9A20-BFAA-572A741168E1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E29B896-5FB8-3AD7-71C7-DC44E7105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811070"/>
              </p:ext>
            </p:extLst>
          </p:nvPr>
        </p:nvGraphicFramePr>
        <p:xfrm>
          <a:off x="1461662" y="3871498"/>
          <a:ext cx="16060271" cy="2996946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0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介紹</a:t>
                      </a:r>
                      <a:r>
                        <a:rPr lang="zh-TW" altLang="en-US" sz="40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郭韋齊</a:t>
                      </a:r>
                      <a:r>
                        <a:rPr lang="zh-TW" altLang="en-US" sz="40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因為生病而截掉四肢，生活上重新學習，堅持不放棄，生活過得多彩多姿。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53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1BC47-264D-231D-C4E6-B6A55D8C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35E670-BACB-0C65-4DEB-E3F1CB8906EC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0C828A-9588-08DA-75F2-62084852FD6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F654C3-9113-A9D5-DAC7-B453ECA98D87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5FF305B-A399-5A15-A6CC-173C2527743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18C3968-1529-09D5-4F11-4A91DB1D15BA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DD2775D-25FC-F8C5-6DAB-448ADDF5058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960063D-8F0F-A06E-8E7C-6B553D9CF4F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FDBF287-168B-E7AA-7EBE-41535B5E04DB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6388714-C790-CE17-551D-375ACD1363B4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D9572BA-BF08-45A6-8BA5-177AE86EEF0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FE8FB98-BA22-EE14-2170-D4B6BF96D85C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D80834-70AE-B588-ABAB-3F7C39F45DBA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8C494F-029A-3CD9-8FA7-CD27553EE1EC}"/>
              </a:ext>
            </a:extLst>
          </p:cNvPr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E7EF3C4-02FE-8BA1-CA00-56196B9CCD2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F1CFB2-EF05-C320-7F87-B6655D92E985}"/>
              </a:ext>
            </a:extLst>
          </p:cNvPr>
          <p:cNvSpPr/>
          <p:nvPr/>
        </p:nvSpPr>
        <p:spPr>
          <a:xfrm>
            <a:off x="1447802" y="3548615"/>
            <a:ext cx="15632130" cy="2229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作者覺得自己要向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學習什麼？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文本訊息：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雖然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，還是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用自己的話寫出來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學習她遇到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，勇敢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，堅持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DD9B55-8217-6BD4-AF38-C4B7635FA502}"/>
              </a:ext>
            </a:extLst>
          </p:cNvPr>
          <p:cNvSpPr/>
          <p:nvPr/>
        </p:nvSpPr>
        <p:spPr>
          <a:xfrm>
            <a:off x="6533319" y="4418574"/>
            <a:ext cx="2458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失去手腳 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7CAFE0-1AAF-658B-D780-D27C069DE47F}"/>
              </a:ext>
            </a:extLst>
          </p:cNvPr>
          <p:cNvSpPr/>
          <p:nvPr/>
        </p:nvSpPr>
        <p:spPr>
          <a:xfrm>
            <a:off x="12496800" y="4418572"/>
            <a:ext cx="3962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做自己喜歡做的事情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B19ED4-6ACF-D6DB-E6A2-49560BF85BAF}"/>
              </a:ext>
            </a:extLst>
          </p:cNvPr>
          <p:cNvSpPr/>
          <p:nvPr/>
        </p:nvSpPr>
        <p:spPr>
          <a:xfrm>
            <a:off x="8763000" y="3771900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275E350-7AE9-47A4-96ED-05C365678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489690"/>
              </p:ext>
            </p:extLst>
          </p:nvPr>
        </p:nvGraphicFramePr>
        <p:xfrm>
          <a:off x="1461662" y="6355396"/>
          <a:ext cx="16060271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作者對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郭韋齊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克服困難，做喜歡做的事，感到佩服。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A0A824A5-B9A4-0F43-4B73-73E4CAE33217}"/>
              </a:ext>
            </a:extLst>
          </p:cNvPr>
          <p:cNvSpPr/>
          <p:nvPr/>
        </p:nvSpPr>
        <p:spPr>
          <a:xfrm>
            <a:off x="9832069" y="4418573"/>
            <a:ext cx="2458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克服困難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ED4694-5F2D-45B0-374A-7EC760F1B3A0}"/>
              </a:ext>
            </a:extLst>
          </p:cNvPr>
          <p:cNvSpPr/>
          <p:nvPr/>
        </p:nvSpPr>
        <p:spPr>
          <a:xfrm>
            <a:off x="7600119" y="5168576"/>
            <a:ext cx="2458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困難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BFAA4B-8311-7FCB-D404-2F16614319BF}"/>
              </a:ext>
            </a:extLst>
          </p:cNvPr>
          <p:cNvSpPr/>
          <p:nvPr/>
        </p:nvSpPr>
        <p:spPr>
          <a:xfrm>
            <a:off x="12496800" y="5165522"/>
            <a:ext cx="3962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不放棄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E729D9-32BE-D382-445B-D858B9F7E18A}"/>
              </a:ext>
            </a:extLst>
          </p:cNvPr>
          <p:cNvSpPr/>
          <p:nvPr/>
        </p:nvSpPr>
        <p:spPr>
          <a:xfrm>
            <a:off x="10114719" y="5143500"/>
            <a:ext cx="2458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克服</a:t>
            </a:r>
          </a:p>
        </p:txBody>
      </p:sp>
    </p:spTree>
    <p:extLst>
      <p:ext uri="{BB962C8B-B14F-4D97-AF65-F5344CB8AC3E}">
        <p14:creationId xmlns:p14="http://schemas.microsoft.com/office/powerpoint/2010/main" val="1867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6" grpId="0"/>
      <p:bldP spid="17" grpId="0"/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26834" y="2552700"/>
            <a:ext cx="14902695" cy="738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文本中「為了救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韋齊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的生命，父母只好同意將她的四肢截掉」，如果你是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的爸爸媽媽，你會怎麼做？請試著說出自己的理由。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❶</a:t>
            </a:r>
            <a:r>
              <a:rPr lang="zh-TW" altLang="en-US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我會怎麼做？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選擇這麼做的理由？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承上題，如果你是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，面臨「失去生命」和「截掉四肢活命」兩個選擇，會如何做出選擇？試著說出自己的理由。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❶</a:t>
            </a:r>
            <a:r>
              <a:rPr lang="zh-TW" altLang="en-US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我會怎麼做？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選擇這麼做的理由？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22EB26B-14C5-CE51-7FAB-C572531C8F8D}"/>
              </a:ext>
            </a:extLst>
          </p:cNvPr>
          <p:cNvCxnSpPr>
            <a:cxnSpLocks/>
          </p:cNvCxnSpPr>
          <p:nvPr/>
        </p:nvCxnSpPr>
        <p:spPr>
          <a:xfrm>
            <a:off x="4267200" y="4686300"/>
            <a:ext cx="1208329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0B3B8F85-8F43-9783-DFD5-3C19E4E5384A}"/>
              </a:ext>
            </a:extLst>
          </p:cNvPr>
          <p:cNvSpPr txBox="1"/>
          <p:nvPr/>
        </p:nvSpPr>
        <p:spPr>
          <a:xfrm>
            <a:off x="4370372" y="4149202"/>
            <a:ext cx="10865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由學生自由發表想法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477E57C-589E-0C78-99DC-97DD8DD4823B}"/>
              </a:ext>
            </a:extLst>
          </p:cNvPr>
          <p:cNvCxnSpPr>
            <a:cxnSpLocks/>
          </p:cNvCxnSpPr>
          <p:nvPr/>
        </p:nvCxnSpPr>
        <p:spPr>
          <a:xfrm>
            <a:off x="5550705" y="5448300"/>
            <a:ext cx="108658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38545984-989E-F937-E6DD-4E12B4EA3AE3}"/>
              </a:ext>
            </a:extLst>
          </p:cNvPr>
          <p:cNvSpPr txBox="1"/>
          <p:nvPr/>
        </p:nvSpPr>
        <p:spPr>
          <a:xfrm>
            <a:off x="5561591" y="4851112"/>
            <a:ext cx="10865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由學生自由發表想法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421338A8-7B3F-1586-2370-DF4559191E2A}"/>
              </a:ext>
            </a:extLst>
          </p:cNvPr>
          <p:cNvCxnSpPr>
            <a:cxnSpLocks/>
          </p:cNvCxnSpPr>
          <p:nvPr/>
        </p:nvCxnSpPr>
        <p:spPr>
          <a:xfrm>
            <a:off x="4267200" y="8343900"/>
            <a:ext cx="1208329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785894A-8244-CDB7-D5B0-1E90033CEA6C}"/>
              </a:ext>
            </a:extLst>
          </p:cNvPr>
          <p:cNvSpPr txBox="1"/>
          <p:nvPr/>
        </p:nvSpPr>
        <p:spPr>
          <a:xfrm>
            <a:off x="4370372" y="7806802"/>
            <a:ext cx="10865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由學生自由發表想法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1CC42BBF-73CD-1D61-C8E7-CFA9E26607A7}"/>
              </a:ext>
            </a:extLst>
          </p:cNvPr>
          <p:cNvCxnSpPr>
            <a:cxnSpLocks/>
          </p:cNvCxnSpPr>
          <p:nvPr/>
        </p:nvCxnSpPr>
        <p:spPr>
          <a:xfrm>
            <a:off x="5550705" y="9105900"/>
            <a:ext cx="108658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FC8E5D0-9518-95C5-3E67-441094A9C6E7}"/>
              </a:ext>
            </a:extLst>
          </p:cNvPr>
          <p:cNvSpPr txBox="1"/>
          <p:nvPr/>
        </p:nvSpPr>
        <p:spPr>
          <a:xfrm>
            <a:off x="5561591" y="8508712"/>
            <a:ext cx="10865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由學生自由發表想法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26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1037</Words>
  <Application>Microsoft Macintosh PowerPoint</Application>
  <PresentationFormat>自訂</PresentationFormat>
  <Paragraphs>126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73</cp:revision>
  <dcterms:created xsi:type="dcterms:W3CDTF">2006-08-16T00:00:00Z</dcterms:created>
  <dcterms:modified xsi:type="dcterms:W3CDTF">2025-10-05T14:54:45Z</dcterms:modified>
  <dc:identifier>DAGWD1Ntyd0</dc:identifier>
</cp:coreProperties>
</file>