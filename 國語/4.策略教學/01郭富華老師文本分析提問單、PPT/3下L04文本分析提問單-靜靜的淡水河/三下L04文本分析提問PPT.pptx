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82" r:id="rId4"/>
    <p:sldId id="274" r:id="rId5"/>
    <p:sldId id="258" r:id="rId6"/>
    <p:sldId id="269" r:id="rId7"/>
    <p:sldId id="259" r:id="rId8"/>
    <p:sldId id="273" r:id="rId9"/>
    <p:sldId id="266" r:id="rId10"/>
  </p:sldIdLst>
  <p:sldSz cx="18288000" cy="10287000"/>
  <p:notesSz cx="6858000" cy="9144000"/>
  <p:embeddedFontLst>
    <p:embeddedFont>
      <p:font typeface="王漢宗特黑體" panose="02000500000000000000" pitchFamily="2" charset="-120"/>
      <p:regular r:id="rId12"/>
    </p:embeddedFont>
    <p:embeddedFont>
      <p:font typeface="微軟正黑體" panose="020B0604030504040204" pitchFamily="34" charset="-120"/>
      <p:regular r:id="rId13"/>
      <p:bold r:id="rId14"/>
    </p:embeddedFont>
    <p:embeddedFont>
      <p:font typeface="微軟正黑體" panose="020B0604030504040204" pitchFamily="34" charset="-120"/>
      <p:regular r:id="rId13"/>
      <p:bold r:id="rId14"/>
    </p:embeddedFont>
    <p:embeddedFont>
      <p:font typeface="標楷體" panose="03000509000000000000" pitchFamily="49" charset="-12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C7"/>
    <a:srgbClr val="ECD0B7"/>
    <a:srgbClr val="F7D9D9"/>
    <a:srgbClr val="EBD0B7"/>
    <a:srgbClr val="CBC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39" autoAdjust="0"/>
    <p:restoredTop sz="94993" autoAdjust="0"/>
  </p:normalViewPr>
  <p:slideViewPr>
    <p:cSldViewPr>
      <p:cViewPr varScale="1">
        <p:scale>
          <a:sx n="38" d="100"/>
          <a:sy n="38" d="100"/>
        </p:scale>
        <p:origin x="216" y="1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514983" y="5655382"/>
            <a:ext cx="101021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L04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靜靜的淡水河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209800" y="2300861"/>
            <a:ext cx="14820901" cy="6834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說到「淡水河」，你會先聯想到什麼呢？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我會先聯想到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跟著六年級的哥哥姐姐，來一趟線上淡水河戶外教育。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看完影片後，請說說看淡水河給你什麼感受？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我的感受是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226008-E42B-5BE0-4013-6298197F4D0F}"/>
              </a:ext>
            </a:extLst>
          </p:cNvPr>
          <p:cNvSpPr/>
          <p:nvPr/>
        </p:nvSpPr>
        <p:spPr>
          <a:xfrm>
            <a:off x="5717594" y="3501246"/>
            <a:ext cx="65490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渡輪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老街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51A1BF-27CB-7F1A-5626-CC55C91FF9E4}"/>
              </a:ext>
            </a:extLst>
          </p:cNvPr>
          <p:cNvSpPr/>
          <p:nvPr/>
        </p:nvSpPr>
        <p:spPr>
          <a:xfrm>
            <a:off x="5132445" y="6463178"/>
            <a:ext cx="7250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愉悅的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神祕的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生態豐富的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8A0D06-6BC6-70DA-7355-FE9AD3ABA994}"/>
              </a:ext>
            </a:extLst>
          </p:cNvPr>
          <p:cNvSpPr/>
          <p:nvPr/>
        </p:nvSpPr>
        <p:spPr>
          <a:xfrm>
            <a:off x="4936848" y="8495646"/>
            <a:ext cx="7635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參考影片：                                                               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A1F63A-2D31-A841-41E9-7D80C51108F9}"/>
              </a:ext>
            </a:extLst>
          </p:cNvPr>
          <p:cNvSpPr/>
          <p:nvPr/>
        </p:nvSpPr>
        <p:spPr>
          <a:xfrm>
            <a:off x="6802423" y="8564490"/>
            <a:ext cx="5530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/YNNYOx_Ah4M?feature=shared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89094A3-9315-CC3B-8EE9-5B43B5DB1B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379512" y="8476005"/>
            <a:ext cx="557336" cy="55733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C7AF9E8-8BA8-47EF-C9D3-44AD52DFC5E9}"/>
              </a:ext>
            </a:extLst>
          </p:cNvPr>
          <p:cNvSpPr/>
          <p:nvPr/>
        </p:nvSpPr>
        <p:spPr>
          <a:xfrm>
            <a:off x="11163301" y="5687324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數位閱讀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5876C5A-7DB5-F97C-4F7D-992B2C5A3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278" y="7493760"/>
            <a:ext cx="1645200" cy="16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BD59E62-46AE-F73E-0265-EE2B7309BF68}"/>
              </a:ext>
            </a:extLst>
          </p:cNvPr>
          <p:cNvSpPr txBox="1"/>
          <p:nvPr/>
        </p:nvSpPr>
        <p:spPr>
          <a:xfrm>
            <a:off x="2635074" y="9215266"/>
            <a:ext cx="12064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kern="1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下課花路米</a:t>
            </a:r>
            <a:r>
              <a:rPr lang="zh-TW" altLang="zh-TW" dirty="0">
                <a:effectLst/>
              </a:rPr>
              <a:t>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275287" y="872739"/>
            <a:ext cx="61606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pSp>
        <p:nvGrpSpPr>
          <p:cNvPr id="11" name="Group 8">
            <a:extLst>
              <a:ext uri="{FF2B5EF4-FFF2-40B4-BE49-F238E27FC236}">
                <a16:creationId xmlns:a16="http://schemas.microsoft.com/office/drawing/2014/main" id="{6911D095-CB98-5620-DD13-D6926BB6C83E}"/>
              </a:ext>
            </a:extLst>
          </p:cNvPr>
          <p:cNvGrpSpPr/>
          <p:nvPr/>
        </p:nvGrpSpPr>
        <p:grpSpPr>
          <a:xfrm>
            <a:off x="1013460" y="2343663"/>
            <a:ext cx="5325946" cy="1275837"/>
            <a:chOff x="0" y="0"/>
            <a:chExt cx="2188840" cy="109714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F887489-A9CD-A0DD-FF6F-C2476A64545E}"/>
                </a:ext>
              </a:extLst>
            </p:cNvPr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4AC62363-3FDA-17E4-FCCC-E6C10B29A51E}"/>
                </a:ext>
              </a:extLst>
            </p:cNvPr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530AE00-DD39-8569-B105-DB2CC93E1725}"/>
              </a:ext>
            </a:extLst>
          </p:cNvPr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</a:t>
            </a:r>
            <a:r>
              <a:rPr lang="zh-TW" altLang="en-US" sz="3200" b="1" kern="1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4F9F5-8B24-DA2F-5043-C92ECDFBDF9B}"/>
              </a:ext>
            </a:extLst>
          </p:cNvPr>
          <p:cNvSpPr/>
          <p:nvPr/>
        </p:nvSpPr>
        <p:spPr>
          <a:xfrm>
            <a:off x="4645321" y="2715891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6F2B1D-8CA7-8820-4C23-6219A1AAFD4F}"/>
              </a:ext>
            </a:extLst>
          </p:cNvPr>
          <p:cNvSpPr/>
          <p:nvPr/>
        </p:nvSpPr>
        <p:spPr>
          <a:xfrm>
            <a:off x="1013461" y="3778978"/>
            <a:ext cx="158267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請以「艮」為部件，加上偏旁形成另一個新字後，再造一個詞。請小心造詞，因為最後是使用你造的詞來造長句呵！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8D63E5F-9B3E-8C29-1F66-3135DA19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24497"/>
              </p:ext>
            </p:extLst>
          </p:nvPr>
        </p:nvGraphicFramePr>
        <p:xfrm>
          <a:off x="2183754" y="5234277"/>
          <a:ext cx="15318672" cy="450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709">
                  <a:extLst>
                    <a:ext uri="{9D8B030D-6E8A-4147-A177-3AD203B41FA5}">
                      <a16:colId xmlns:a16="http://schemas.microsoft.com/office/drawing/2014/main" val="741857881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821507824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3724771510"/>
                    </a:ext>
                  </a:extLst>
                </a:gridCol>
                <a:gridCol w="7846471">
                  <a:extLst>
                    <a:ext uri="{9D8B030D-6E8A-4147-A177-3AD203B41FA5}">
                      <a16:colId xmlns:a16="http://schemas.microsoft.com/office/drawing/2014/main" val="765254266"/>
                    </a:ext>
                  </a:extLst>
                </a:gridCol>
              </a:tblGrid>
              <a:tr h="1060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加偏旁成新字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注音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造詞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句中放入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並加入想像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情境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，最後也要加入自己的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感受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，成為完整一小段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7250"/>
                  </a:ext>
                </a:extLst>
              </a:tr>
              <a:tr h="1721709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艮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12334"/>
                  </a:ext>
                </a:extLst>
              </a:tr>
              <a:tr h="17217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21993"/>
                  </a:ext>
                </a:extLst>
              </a:tr>
            </a:tbl>
          </a:graphicData>
        </a:graphic>
      </p:graphicFrame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3F2238-E963-9663-C157-0292A9788346}"/>
              </a:ext>
            </a:extLst>
          </p:cNvPr>
          <p:cNvCxnSpPr>
            <a:cxnSpLocks/>
          </p:cNvCxnSpPr>
          <p:nvPr/>
        </p:nvCxnSpPr>
        <p:spPr>
          <a:xfrm>
            <a:off x="9906000" y="71247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281C96C8-CE8C-A074-B354-182A7DC00FC5}"/>
              </a:ext>
            </a:extLst>
          </p:cNvPr>
          <p:cNvCxnSpPr>
            <a:cxnSpLocks/>
          </p:cNvCxnSpPr>
          <p:nvPr/>
        </p:nvCxnSpPr>
        <p:spPr>
          <a:xfrm>
            <a:off x="9906000" y="80391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C930821-D35C-C8BB-718B-5D5A70F0AC14}"/>
              </a:ext>
            </a:extLst>
          </p:cNvPr>
          <p:cNvCxnSpPr>
            <a:cxnSpLocks/>
          </p:cNvCxnSpPr>
          <p:nvPr/>
        </p:nvCxnSpPr>
        <p:spPr>
          <a:xfrm>
            <a:off x="9906000" y="89535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02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3FAC6-52B4-8B87-1C6B-CEB1A3DF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7E5F92-97D2-E1C2-1315-E3EFD1E8244D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D98C24-9123-A9C2-A69C-22CCC60EBE27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6A10EF-4909-DEA0-CC5C-AD985CE647C0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468BC36-B203-FFAB-B2B9-1BB9BCAE0381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61E221D-3EF1-675D-FEBA-CEF8223CF65B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6F8FFC2-2374-526C-D8BB-96283FF8E3FE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C99409E8-FE38-34B3-388A-7F30CE6304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8874F28-F2C9-C664-80E3-8C96A19E5B81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CA08BBFC-C977-4567-76A8-85A1FA17005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A596BB5-18B6-C2DD-708F-7F8932D5D50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84C36AE-C04E-6B37-012E-CFD77C7B54E6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58D894-12B9-27FE-1730-F8B7B8F398C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D65D4CA-0ABB-C5C0-67E8-5344049A6C8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23" name="Freeform 7">
            <a:extLst>
              <a:ext uri="{FF2B5EF4-FFF2-40B4-BE49-F238E27FC236}">
                <a16:creationId xmlns:a16="http://schemas.microsoft.com/office/drawing/2014/main" id="{218863DE-4C0E-0A8C-CD5E-7CE5061967C3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DC21FD-B9D8-5DD6-702E-B72454BA1584}"/>
              </a:ext>
            </a:extLst>
          </p:cNvPr>
          <p:cNvSpPr/>
          <p:nvPr/>
        </p:nvSpPr>
        <p:spPr>
          <a:xfrm>
            <a:off x="1725434" y="2843258"/>
            <a:ext cx="1531620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這首詩每一段開頭都出現「靜靜的淡水河」，數一數，這首詩有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首先，請從每一段找到「田野」、「都市邊緣」、「暮色裡」、「星光下」，用螢光筆畫起來。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接著，請想一想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淡水河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從「田野」、「都市邊緣」、「暮色裡」、「星光下」流過，分了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段，如此分段的依據可能是什麼？說出自己的想法。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提示方向：時間、地點、其他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5CF60D-9B8F-C8ED-BEEC-99191A622E67}"/>
              </a:ext>
            </a:extLst>
          </p:cNvPr>
          <p:cNvSpPr/>
          <p:nvPr/>
        </p:nvSpPr>
        <p:spPr>
          <a:xfrm>
            <a:off x="14061493" y="3009900"/>
            <a:ext cx="9499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F99B88-7CE1-3A2C-3920-9C94B301705C}"/>
              </a:ext>
            </a:extLst>
          </p:cNvPr>
          <p:cNvSpPr txBox="1"/>
          <p:nvPr/>
        </p:nvSpPr>
        <p:spPr>
          <a:xfrm>
            <a:off x="2535735" y="7497649"/>
            <a:ext cx="15316200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我覺得分段依據是時間，因為流過田野都市邊緣是白天，時間從白天、黃昏到黑夜。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我覺得分段依據是先寫地點再寫時間。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學生依想法合理回答</a:t>
            </a:r>
          </a:p>
        </p:txBody>
      </p:sp>
    </p:spTree>
    <p:extLst>
      <p:ext uri="{BB962C8B-B14F-4D97-AF65-F5344CB8AC3E}">
        <p14:creationId xmlns:p14="http://schemas.microsoft.com/office/powerpoint/2010/main" val="81099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16851" y="2923683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125737" y="2862127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詩歌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0718312-356D-D28A-D01A-3F0AB4571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44204"/>
              </p:ext>
            </p:extLst>
          </p:nvPr>
        </p:nvGraphicFramePr>
        <p:xfrm>
          <a:off x="2616851" y="3977105"/>
          <a:ext cx="14960104" cy="4717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539">
                  <a:extLst>
                    <a:ext uri="{9D8B030D-6E8A-4147-A177-3AD203B41FA5}">
                      <a16:colId xmlns:a16="http://schemas.microsoft.com/office/drawing/2014/main" val="2369356644"/>
                    </a:ext>
                  </a:extLst>
                </a:gridCol>
                <a:gridCol w="2975703">
                  <a:extLst>
                    <a:ext uri="{9D8B030D-6E8A-4147-A177-3AD203B41FA5}">
                      <a16:colId xmlns:a16="http://schemas.microsoft.com/office/drawing/2014/main" val="3521961154"/>
                    </a:ext>
                  </a:extLst>
                </a:gridCol>
                <a:gridCol w="3383125">
                  <a:extLst>
                    <a:ext uri="{9D8B030D-6E8A-4147-A177-3AD203B41FA5}">
                      <a16:colId xmlns:a16="http://schemas.microsoft.com/office/drawing/2014/main" val="3138566603"/>
                    </a:ext>
                  </a:extLst>
                </a:gridCol>
                <a:gridCol w="3383125">
                  <a:extLst>
                    <a:ext uri="{9D8B030D-6E8A-4147-A177-3AD203B41FA5}">
                      <a16:colId xmlns:a16="http://schemas.microsoft.com/office/drawing/2014/main" val="3696047202"/>
                    </a:ext>
                  </a:extLst>
                </a:gridCol>
                <a:gridCol w="3384612">
                  <a:extLst>
                    <a:ext uri="{9D8B030D-6E8A-4147-A177-3AD203B41FA5}">
                      <a16:colId xmlns:a16="http://schemas.microsoft.com/office/drawing/2014/main" val="2689443858"/>
                    </a:ext>
                  </a:extLst>
                </a:gridCol>
              </a:tblGrid>
              <a:tr h="10301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想法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地點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時間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95671"/>
                  </a:ext>
                </a:extLst>
              </a:tr>
              <a:tr h="10301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想法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白天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黃昏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763755"/>
                  </a:ext>
                </a:extLst>
              </a:tr>
              <a:tr h="13284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意義段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一、從田野</a:t>
                      </a:r>
                      <a:endParaRPr lang="en-US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二、從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三、從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四、從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67693"/>
                  </a:ext>
                </a:extLst>
              </a:tr>
              <a:tr h="13284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自然段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308554"/>
                  </a:ext>
                </a:extLst>
              </a:tr>
            </a:tbl>
          </a:graphicData>
        </a:graphic>
      </p:graphicFrame>
      <p:sp>
        <p:nvSpPr>
          <p:cNvPr id="25" name="向右箭號 24">
            <a:extLst>
              <a:ext uri="{FF2B5EF4-FFF2-40B4-BE49-F238E27FC236}">
                <a16:creationId xmlns:a16="http://schemas.microsoft.com/office/drawing/2014/main" id="{BD9BF95B-8F89-15BD-F38E-79A9CDBA3BAF}"/>
              </a:ext>
            </a:extLst>
          </p:cNvPr>
          <p:cNvSpPr/>
          <p:nvPr/>
        </p:nvSpPr>
        <p:spPr>
          <a:xfrm>
            <a:off x="13563600" y="5295900"/>
            <a:ext cx="800230" cy="40514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sz="36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E83877-B88D-ED62-7E2E-F287E8AD6DBE}"/>
              </a:ext>
            </a:extLst>
          </p:cNvPr>
          <p:cNvSpPr/>
          <p:nvPr/>
        </p:nvSpPr>
        <p:spPr>
          <a:xfrm>
            <a:off x="14446780" y="5218953"/>
            <a:ext cx="1838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黑夜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1B18D1-CD7B-8109-66CC-D8B05B002B9A}"/>
              </a:ext>
            </a:extLst>
          </p:cNvPr>
          <p:cNvSpPr/>
          <p:nvPr/>
        </p:nvSpPr>
        <p:spPr>
          <a:xfrm>
            <a:off x="5410200" y="7734300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70F0A4-10B8-0BC3-BE3B-89D4B8F3B82B}"/>
              </a:ext>
            </a:extLst>
          </p:cNvPr>
          <p:cNvSpPr/>
          <p:nvPr/>
        </p:nvSpPr>
        <p:spPr>
          <a:xfrm>
            <a:off x="8610600" y="7734300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２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D549B9-4884-32D9-E9C5-0EB5816B093F}"/>
              </a:ext>
            </a:extLst>
          </p:cNvPr>
          <p:cNvSpPr/>
          <p:nvPr/>
        </p:nvSpPr>
        <p:spPr>
          <a:xfrm>
            <a:off x="12026977" y="7734300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A7E4E5-A0DF-DA53-D30E-A85ADA4412DF}"/>
              </a:ext>
            </a:extLst>
          </p:cNvPr>
          <p:cNvSpPr/>
          <p:nvPr/>
        </p:nvSpPr>
        <p:spPr>
          <a:xfrm>
            <a:off x="15366222" y="7740305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4990B7-0504-4BDC-78E9-4715AF4D0DF8}"/>
              </a:ext>
            </a:extLst>
          </p:cNvPr>
          <p:cNvSpPr/>
          <p:nvPr/>
        </p:nvSpPr>
        <p:spPr>
          <a:xfrm>
            <a:off x="15609923" y="6187241"/>
            <a:ext cx="1838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星光下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8748FC-D4D9-6E22-C76C-7E849542BCA3}"/>
              </a:ext>
            </a:extLst>
          </p:cNvPr>
          <p:cNvSpPr/>
          <p:nvPr/>
        </p:nvSpPr>
        <p:spPr>
          <a:xfrm>
            <a:off x="8770871" y="6169595"/>
            <a:ext cx="1838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都市邊緣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D7060D-E069-062F-7362-1836055E3836}"/>
              </a:ext>
            </a:extLst>
          </p:cNvPr>
          <p:cNvSpPr/>
          <p:nvPr/>
        </p:nvSpPr>
        <p:spPr>
          <a:xfrm>
            <a:off x="12174334" y="6169595"/>
            <a:ext cx="1838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暮色裡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0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548597" y="2812904"/>
            <a:ext cx="1563213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請再默讀一次這首詩，藉由下方表格整理出這首詩的訊息與脈絡？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4072358" y="3098122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自我提問策略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F1A0A45-6E7D-E3FE-5531-CB8570820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50007"/>
              </p:ext>
            </p:extLst>
          </p:nvPr>
        </p:nvGraphicFramePr>
        <p:xfrm>
          <a:off x="1459781" y="3959032"/>
          <a:ext cx="15809762" cy="5030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1282">
                  <a:extLst>
                    <a:ext uri="{9D8B030D-6E8A-4147-A177-3AD203B41FA5}">
                      <a16:colId xmlns:a16="http://schemas.microsoft.com/office/drawing/2014/main" val="1347206510"/>
                    </a:ext>
                  </a:extLst>
                </a:gridCol>
                <a:gridCol w="3779164">
                  <a:extLst>
                    <a:ext uri="{9D8B030D-6E8A-4147-A177-3AD203B41FA5}">
                      <a16:colId xmlns:a16="http://schemas.microsoft.com/office/drawing/2014/main" val="248453613"/>
                    </a:ext>
                  </a:extLst>
                </a:gridCol>
                <a:gridCol w="4823530">
                  <a:extLst>
                    <a:ext uri="{9D8B030D-6E8A-4147-A177-3AD203B41FA5}">
                      <a16:colId xmlns:a16="http://schemas.microsoft.com/office/drawing/2014/main" val="2338004808"/>
                    </a:ext>
                  </a:extLst>
                </a:gridCol>
                <a:gridCol w="3162893">
                  <a:extLst>
                    <a:ext uri="{9D8B030D-6E8A-4147-A177-3AD203B41FA5}">
                      <a16:colId xmlns:a16="http://schemas.microsoft.com/office/drawing/2014/main" val="1033853013"/>
                    </a:ext>
                  </a:extLst>
                </a:gridCol>
                <a:gridCol w="3162893">
                  <a:extLst>
                    <a:ext uri="{9D8B030D-6E8A-4147-A177-3AD203B41FA5}">
                      <a16:colId xmlns:a16="http://schemas.microsoft.com/office/drawing/2014/main" val="934811259"/>
                    </a:ext>
                  </a:extLst>
                </a:gridCol>
              </a:tblGrid>
              <a:tr h="1006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從哪裡流過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帶來什麼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象徵的顏色</a:t>
                      </a: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傳達的感受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05273"/>
                  </a:ext>
                </a:extLst>
              </a:tr>
              <a:tr h="1006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471172"/>
                  </a:ext>
                </a:extLst>
              </a:tr>
              <a:tr h="1006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帶來人群的快樂和奮勉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歡躍的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688457"/>
                  </a:ext>
                </a:extLst>
              </a:tr>
              <a:tr h="1006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在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帶來大地的祥和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233111"/>
                  </a:ext>
                </a:extLst>
              </a:tr>
              <a:tr h="1006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在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白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694472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2133600" y="7225893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暮色裡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4FCDDA-2D8B-AED8-F2FC-EB7DCB23446D}"/>
              </a:ext>
            </a:extLst>
          </p:cNvPr>
          <p:cNvSpPr/>
          <p:nvPr/>
        </p:nvSpPr>
        <p:spPr>
          <a:xfrm>
            <a:off x="7239000" y="5205064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深山叢林氣息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BA505B-EC9C-D1A4-C248-5F05FF14F47E}"/>
              </a:ext>
            </a:extLst>
          </p:cNvPr>
          <p:cNvSpPr/>
          <p:nvPr/>
        </p:nvSpPr>
        <p:spPr>
          <a:xfrm>
            <a:off x="2140226" y="5186706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田野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F158BB-960C-CC99-1E0F-CB88427E7079}"/>
              </a:ext>
            </a:extLst>
          </p:cNvPr>
          <p:cNvSpPr/>
          <p:nvPr/>
        </p:nvSpPr>
        <p:spPr>
          <a:xfrm>
            <a:off x="2140226" y="6188995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都市邊緣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1C377-D47E-8A25-EC44-DE4D1E4135C6}"/>
              </a:ext>
            </a:extLst>
          </p:cNvPr>
          <p:cNvSpPr/>
          <p:nvPr/>
        </p:nvSpPr>
        <p:spPr>
          <a:xfrm>
            <a:off x="2140226" y="8198050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星光下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EE6EAF-2F45-4767-4783-1DC3D1DDB923}"/>
              </a:ext>
            </a:extLst>
          </p:cNvPr>
          <p:cNvSpPr/>
          <p:nvPr/>
        </p:nvSpPr>
        <p:spPr>
          <a:xfrm>
            <a:off x="7227842" y="8198050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人間的安泰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BB625E-D2F4-D731-DB06-624C50463A4A}"/>
              </a:ext>
            </a:extLst>
          </p:cNvPr>
          <p:cNvSpPr/>
          <p:nvPr/>
        </p:nvSpPr>
        <p:spPr>
          <a:xfrm>
            <a:off x="10800869" y="6188995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BE142F-3716-BF46-1110-BF15CD5B4ED9}"/>
              </a:ext>
            </a:extLst>
          </p:cNvPr>
          <p:cNvSpPr/>
          <p:nvPr/>
        </p:nvSpPr>
        <p:spPr>
          <a:xfrm>
            <a:off x="14037861" y="7179372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美麗的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AF0494-E411-355D-C2B5-2D6A8180C6FF}"/>
              </a:ext>
            </a:extLst>
          </p:cNvPr>
          <p:cNvSpPr/>
          <p:nvPr/>
        </p:nvSpPr>
        <p:spPr>
          <a:xfrm>
            <a:off x="10850360" y="7179374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6C959D-A737-5485-E867-ECD0F9D23F78}"/>
              </a:ext>
            </a:extLst>
          </p:cNvPr>
          <p:cNvSpPr/>
          <p:nvPr/>
        </p:nvSpPr>
        <p:spPr>
          <a:xfrm>
            <a:off x="14072358" y="5213347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柔媚的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D4480C-CCBA-03DC-DEC3-6AE5F2581101}"/>
              </a:ext>
            </a:extLst>
          </p:cNvPr>
          <p:cNvSpPr/>
          <p:nvPr/>
        </p:nvSpPr>
        <p:spPr>
          <a:xfrm>
            <a:off x="14075671" y="8198049"/>
            <a:ext cx="34024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潔淨的</a:t>
            </a:r>
          </a:p>
        </p:txBody>
      </p:sp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4" grpId="0"/>
      <p:bldP spid="17" grpId="0"/>
      <p:bldP spid="20" grpId="0"/>
      <p:bldP spid="21" grpId="0"/>
      <p:bldP spid="22" grpId="0"/>
      <p:bldP spid="25" grpId="0"/>
      <p:bldP spid="26" grpId="0"/>
      <p:bldP spid="27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07965" y="2360176"/>
            <a:ext cx="16037035" cy="7462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靜靜的淡水河，換你寫寫看。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思路引導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b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把表格中的思路寫成一首小詩。</a:t>
            </a:r>
            <a:b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靜靜的淡水河，</a:t>
            </a:r>
          </a:p>
          <a:p>
            <a:pPr lvl="1">
              <a:lnSpc>
                <a:spcPct val="13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流過，</a:t>
            </a:r>
          </a:p>
          <a:p>
            <a:pPr lvl="1">
              <a:lnSpc>
                <a:spcPct val="13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帶來白天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3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光線的邀請把你染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了，</a:t>
            </a:r>
          </a:p>
          <a:p>
            <a:pPr lvl="1">
              <a:lnSpc>
                <a:spcPct val="13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</a:t>
            </a:r>
            <a:r>
              <a:rPr lang="en-US" altLang="zh-TW" sz="3200" kern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紅色的淡水河。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3475D90-1B42-D467-60D6-0632A3567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19287"/>
              </p:ext>
            </p:extLst>
          </p:nvPr>
        </p:nvGraphicFramePr>
        <p:xfrm>
          <a:off x="2058029" y="3907097"/>
          <a:ext cx="15123270" cy="19826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4654">
                  <a:extLst>
                    <a:ext uri="{9D8B030D-6E8A-4147-A177-3AD203B41FA5}">
                      <a16:colId xmlns:a16="http://schemas.microsoft.com/office/drawing/2014/main" val="2218640723"/>
                    </a:ext>
                  </a:extLst>
                </a:gridCol>
                <a:gridCol w="3024654">
                  <a:extLst>
                    <a:ext uri="{9D8B030D-6E8A-4147-A177-3AD203B41FA5}">
                      <a16:colId xmlns:a16="http://schemas.microsoft.com/office/drawing/2014/main" val="351809142"/>
                    </a:ext>
                  </a:extLst>
                </a:gridCol>
                <a:gridCol w="3024654">
                  <a:extLst>
                    <a:ext uri="{9D8B030D-6E8A-4147-A177-3AD203B41FA5}">
                      <a16:colId xmlns:a16="http://schemas.microsoft.com/office/drawing/2014/main" val="3261978277"/>
                    </a:ext>
                  </a:extLst>
                </a:gridCol>
                <a:gridCol w="3024654">
                  <a:extLst>
                    <a:ext uri="{9D8B030D-6E8A-4147-A177-3AD203B41FA5}">
                      <a16:colId xmlns:a16="http://schemas.microsoft.com/office/drawing/2014/main" val="2367529663"/>
                    </a:ext>
                  </a:extLst>
                </a:gridCol>
                <a:gridCol w="3024654">
                  <a:extLst>
                    <a:ext uri="{9D8B030D-6E8A-4147-A177-3AD203B41FA5}">
                      <a16:colId xmlns:a16="http://schemas.microsoft.com/office/drawing/2014/main" val="1589597409"/>
                    </a:ext>
                  </a:extLst>
                </a:gridCol>
              </a:tblGrid>
              <a:tr h="99132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</a:t>
                      </a: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淡水河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從哪裡流過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帶來什麼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象徵的顏色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傳達的感受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73499"/>
                  </a:ext>
                </a:extLst>
              </a:tr>
              <a:tr h="99132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</a:t>
                      </a:r>
                      <a:r>
                        <a:rPr lang="zh-TW" sz="3200" u="sng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淡水河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endParaRPr lang="en-US" altLang="zh-TW" sz="3200" kern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just">
                        <a:buNone/>
                      </a:pP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2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2309778-F6A1-6312-81DA-552FD1AAB910}"/>
              </a:ext>
            </a:extLst>
          </p:cNvPr>
          <p:cNvSpPr/>
          <p:nvPr/>
        </p:nvSpPr>
        <p:spPr>
          <a:xfrm>
            <a:off x="4563325" y="5124535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朝陽處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F1A027-EF85-2924-B49A-AD81A4F25BA8}"/>
              </a:ext>
            </a:extLst>
          </p:cNvPr>
          <p:cNvSpPr/>
          <p:nvPr/>
        </p:nvSpPr>
        <p:spPr>
          <a:xfrm>
            <a:off x="8118163" y="4885517"/>
            <a:ext cx="300830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大自然的   活力與朝氣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5A18ED-0323-1CA4-86DE-D65B868371A7}"/>
              </a:ext>
            </a:extLst>
          </p:cNvPr>
          <p:cNvSpPr/>
          <p:nvPr/>
        </p:nvSpPr>
        <p:spPr>
          <a:xfrm>
            <a:off x="10781248" y="5131738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678866-64C9-B422-68CD-EBCC3759ACB3}"/>
              </a:ext>
            </a:extLst>
          </p:cNvPr>
          <p:cNvSpPr/>
          <p:nvPr/>
        </p:nvSpPr>
        <p:spPr>
          <a:xfrm>
            <a:off x="13859725" y="5124535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熱情的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D8349F-99A8-0F97-A9CE-455CB3C231E0}"/>
              </a:ext>
            </a:extLst>
          </p:cNvPr>
          <p:cNvSpPr/>
          <p:nvPr/>
        </p:nvSpPr>
        <p:spPr>
          <a:xfrm>
            <a:off x="1989181" y="7271370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朝陽處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559F25-D73B-AB06-06C0-BC87B75E9557}"/>
              </a:ext>
            </a:extLst>
          </p:cNvPr>
          <p:cNvSpPr/>
          <p:nvPr/>
        </p:nvSpPr>
        <p:spPr>
          <a:xfrm>
            <a:off x="3357260" y="7911525"/>
            <a:ext cx="65553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大自然的活力與朝氣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AC74F6-DDD5-6001-87A3-3F5412FB2797}"/>
              </a:ext>
            </a:extLst>
          </p:cNvPr>
          <p:cNvSpPr/>
          <p:nvPr/>
        </p:nvSpPr>
        <p:spPr>
          <a:xfrm>
            <a:off x="4495800" y="8521125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3CE17B-DDCD-F06C-A158-49BFC0E02D55}"/>
              </a:ext>
            </a:extLst>
          </p:cNvPr>
          <p:cNvSpPr/>
          <p:nvPr/>
        </p:nvSpPr>
        <p:spPr>
          <a:xfrm>
            <a:off x="1561589" y="9171832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熱情的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5" grpId="0"/>
      <p:bldP spid="9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1721810">
            <a:off x="-3555609" y="-2576069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D7361B-6B35-E7BE-5F23-B51D3EAD1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58562"/>
              </p:ext>
            </p:extLst>
          </p:nvPr>
        </p:nvGraphicFramePr>
        <p:xfrm>
          <a:off x="1267867" y="2095500"/>
          <a:ext cx="14930227" cy="71528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30227">
                  <a:extLst>
                    <a:ext uri="{9D8B030D-6E8A-4147-A177-3AD203B41FA5}">
                      <a16:colId xmlns:a16="http://schemas.microsoft.com/office/drawing/2014/main" val="1452884830"/>
                    </a:ext>
                  </a:extLst>
                </a:gridCol>
              </a:tblGrid>
              <a:tr h="7152895"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0517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84F1498-664A-47EA-A0EC-1E8BB1F3FB03}"/>
              </a:ext>
            </a:extLst>
          </p:cNvPr>
          <p:cNvSpPr/>
          <p:nvPr/>
        </p:nvSpPr>
        <p:spPr>
          <a:xfrm>
            <a:off x="1125482" y="1038605"/>
            <a:ext cx="16037035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承接上題，請把自己寫的這首詩畫出來，並塗上顏色呵！</a:t>
            </a:r>
            <a:endParaRPr lang="zh-TW" altLang="en-US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41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737</Words>
  <Application>Microsoft Macintosh PowerPoint</Application>
  <PresentationFormat>自訂</PresentationFormat>
  <Paragraphs>133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77</cp:revision>
  <dcterms:created xsi:type="dcterms:W3CDTF">2006-08-16T00:00:00Z</dcterms:created>
  <dcterms:modified xsi:type="dcterms:W3CDTF">2025-10-05T14:44:02Z</dcterms:modified>
  <dc:identifier>DAGWD1Ntyd0</dc:identifier>
</cp:coreProperties>
</file>