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58" r:id="rId6"/>
    <p:sldId id="269" r:id="rId7"/>
    <p:sldId id="278" r:id="rId8"/>
    <p:sldId id="275" r:id="rId9"/>
    <p:sldId id="279" r:id="rId10"/>
    <p:sldId id="276" r:id="rId11"/>
    <p:sldId id="259" r:id="rId12"/>
    <p:sldId id="280" r:id="rId13"/>
    <p:sldId id="266" r:id="rId14"/>
  </p:sldIdLst>
  <p:sldSz cx="18288000" cy="10287000"/>
  <p:notesSz cx="6858000" cy="9144000"/>
  <p:embeddedFontLst>
    <p:embeddedFont>
      <p:font typeface="王漢宗特黑體" panose="02000500000000000000" pitchFamily="2" charset="-120"/>
      <p:regular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標楷體" panose="03000509000000000000" pitchFamily="49" charset="-12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9DA"/>
    <a:srgbClr val="CBC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5" autoAdjust="0"/>
    <p:restoredTop sz="95214" autoAdjust="0"/>
  </p:normalViewPr>
  <p:slideViewPr>
    <p:cSldViewPr>
      <p:cViewPr varScale="1">
        <p:scale>
          <a:sx n="64" d="100"/>
          <a:sy n="64" d="100"/>
        </p:scale>
        <p:origin x="224" y="5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6E865-201C-435A-BDC9-6D06C10AE8AC}" type="datetimeFigureOut">
              <a:rPr lang="zh-TW" altLang="en-US" smtClean="0"/>
              <a:t>2025/10/5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D71DF-5DF0-41FF-846D-B40FD35A5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98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D71DF-5DF0-41FF-846D-B40FD35A509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64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2062779" y="4323198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56566" y="1881864"/>
            <a:ext cx="13632158" cy="2749755"/>
            <a:chOff x="1605289" y="3003345"/>
            <a:chExt cx="13632158" cy="2749755"/>
          </a:xfrm>
        </p:grpSpPr>
        <p:grpSp>
          <p:nvGrpSpPr>
            <p:cNvPr id="3" name="Group 3"/>
            <p:cNvGrpSpPr/>
            <p:nvPr/>
          </p:nvGrpSpPr>
          <p:grpSpPr>
            <a:xfrm>
              <a:off x="1605289" y="3042897"/>
              <a:ext cx="13478483" cy="2710203"/>
              <a:chOff x="0" y="0"/>
              <a:chExt cx="1689033" cy="14202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92123" y="3003345"/>
              <a:ext cx="13445324" cy="2676299"/>
              <a:chOff x="0" y="0"/>
              <a:chExt cx="1689033" cy="1420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89033" cy="1420250"/>
              </a:xfrm>
              <a:custGeom>
                <a:avLst/>
                <a:gdLst/>
                <a:ahLst/>
                <a:cxnLst/>
                <a:rect l="l" t="t" r="r" b="b"/>
                <a:pathLst>
                  <a:path w="1689033" h="1420250">
                    <a:moveTo>
                      <a:pt x="61568" y="0"/>
                    </a:moveTo>
                    <a:lnTo>
                      <a:pt x="1627465" y="0"/>
                    </a:lnTo>
                    <a:cubicBezTo>
                      <a:pt x="1643794" y="0"/>
                      <a:pt x="1659454" y="6487"/>
                      <a:pt x="1671000" y="18033"/>
                    </a:cubicBezTo>
                    <a:cubicBezTo>
                      <a:pt x="1682546" y="29579"/>
                      <a:pt x="1689033" y="45239"/>
                      <a:pt x="1689033" y="61568"/>
                    </a:cubicBezTo>
                    <a:lnTo>
                      <a:pt x="1689033" y="1358682"/>
                    </a:lnTo>
                    <a:cubicBezTo>
                      <a:pt x="1689033" y="1375011"/>
                      <a:pt x="1682546" y="1390671"/>
                      <a:pt x="1671000" y="1402217"/>
                    </a:cubicBezTo>
                    <a:cubicBezTo>
                      <a:pt x="1659454" y="1413763"/>
                      <a:pt x="1643794" y="1420250"/>
                      <a:pt x="1627465" y="1420250"/>
                    </a:cubicBezTo>
                    <a:lnTo>
                      <a:pt x="61568" y="1420250"/>
                    </a:lnTo>
                    <a:cubicBezTo>
                      <a:pt x="27565" y="1420250"/>
                      <a:pt x="0" y="1392685"/>
                      <a:pt x="0" y="1358682"/>
                    </a:cubicBezTo>
                    <a:lnTo>
                      <a:pt x="0" y="61568"/>
                    </a:lnTo>
                    <a:cubicBezTo>
                      <a:pt x="0" y="45239"/>
                      <a:pt x="6487" y="29579"/>
                      <a:pt x="18033" y="18033"/>
                    </a:cubicBezTo>
                    <a:cubicBezTo>
                      <a:pt x="29579" y="6487"/>
                      <a:pt x="45239" y="0"/>
                      <a:pt x="61568" y="0"/>
                    </a:cubicBezTo>
                    <a:close/>
                  </a:path>
                </a:pathLst>
              </a:custGeom>
              <a:solidFill>
                <a:srgbClr val="8D7BB2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689033" cy="1467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/>
          <p:cNvGrpSpPr/>
          <p:nvPr/>
        </p:nvGrpSpPr>
        <p:grpSpPr>
          <a:xfrm>
            <a:off x="5728078" y="7300674"/>
            <a:ext cx="6964467" cy="1105273"/>
            <a:chOff x="5712022" y="5364232"/>
            <a:chExt cx="6964467" cy="1105273"/>
          </a:xfrm>
        </p:grpSpPr>
        <p:sp>
          <p:nvSpPr>
            <p:cNvPr id="10" name="Freeform 10"/>
            <p:cNvSpPr/>
            <p:nvPr/>
          </p:nvSpPr>
          <p:spPr>
            <a:xfrm>
              <a:off x="5867996" y="5415687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>
                <a:alpha val="49804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67996" y="5364232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2022" y="5467142"/>
              <a:ext cx="6808493" cy="1002363"/>
            </a:xfrm>
            <a:custGeom>
              <a:avLst/>
              <a:gdLst/>
              <a:ahLst/>
              <a:cxnLst/>
              <a:rect l="l" t="t" r="r" b="b"/>
              <a:pathLst>
                <a:path w="6301692" h="927751">
                  <a:moveTo>
                    <a:pt x="57992" y="0"/>
                  </a:moveTo>
                  <a:lnTo>
                    <a:pt x="6243700" y="0"/>
                  </a:lnTo>
                  <a:cubicBezTo>
                    <a:pt x="6275728" y="0"/>
                    <a:pt x="6301692" y="25964"/>
                    <a:pt x="6301692" y="57992"/>
                  </a:cubicBezTo>
                  <a:lnTo>
                    <a:pt x="6301692" y="869759"/>
                  </a:lnTo>
                  <a:cubicBezTo>
                    <a:pt x="6301692" y="901787"/>
                    <a:pt x="6275728" y="927751"/>
                    <a:pt x="6243700" y="927751"/>
                  </a:cubicBezTo>
                  <a:lnTo>
                    <a:pt x="57992" y="927751"/>
                  </a:lnTo>
                  <a:cubicBezTo>
                    <a:pt x="25964" y="927751"/>
                    <a:pt x="0" y="901787"/>
                    <a:pt x="0" y="869759"/>
                  </a:cubicBezTo>
                  <a:lnTo>
                    <a:pt x="0" y="57992"/>
                  </a:lnTo>
                  <a:cubicBezTo>
                    <a:pt x="0" y="25964"/>
                    <a:pt x="25964" y="0"/>
                    <a:pt x="57992" y="0"/>
                  </a:cubicBezTo>
                  <a:close/>
                </a:path>
              </a:pathLst>
            </a:custGeom>
            <a:solidFill>
              <a:srgbClr val="5681B2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2022" y="5415687"/>
              <a:ext cx="6808493" cy="1053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211037" y="966641"/>
            <a:ext cx="2761763" cy="708578"/>
            <a:chOff x="0" y="0"/>
            <a:chExt cx="3038818" cy="748565"/>
          </a:xfrm>
        </p:grpSpPr>
        <p:sp>
          <p:nvSpPr>
            <p:cNvPr id="20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spc="334" dirty="0" err="1">
                  <a:solidFill>
                    <a:srgbClr val="0154A6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國語</a:t>
              </a:r>
              <a:endParaRPr lang="en-US" sz="4800" spc="334" dirty="0">
                <a:solidFill>
                  <a:srgbClr val="0154A6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3327550" y="2326352"/>
            <a:ext cx="1336025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閱 讀 理 解 提 問 單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5076847" y="5556196"/>
            <a:ext cx="88561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6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三下 </a:t>
            </a:r>
            <a:r>
              <a:rPr lang="en-US" altLang="zh-TW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L01</a:t>
            </a:r>
            <a:r>
              <a:rPr lang="zh-TW" altLang="en-US" sz="66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拔不起來的筆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5728078" y="7461965"/>
            <a:ext cx="14185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提問設計</a:t>
            </a:r>
            <a:r>
              <a:rPr lang="en-US" altLang="zh-TW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郭富華老師</a:t>
            </a:r>
          </a:p>
        </p:txBody>
      </p:sp>
      <p:sp>
        <p:nvSpPr>
          <p:cNvPr id="28" name="Freeform 4"/>
          <p:cNvSpPr/>
          <p:nvPr/>
        </p:nvSpPr>
        <p:spPr>
          <a:xfrm>
            <a:off x="3535501" y="5408279"/>
            <a:ext cx="1583640" cy="1336723"/>
          </a:xfrm>
          <a:custGeom>
            <a:avLst/>
            <a:gdLst/>
            <a:ahLst/>
            <a:cxnLst/>
            <a:rect l="l" t="t" r="r" b="b"/>
            <a:pathLst>
              <a:path w="3941664" h="3662164">
                <a:moveTo>
                  <a:pt x="0" y="0"/>
                </a:moveTo>
                <a:lnTo>
                  <a:pt x="3941663" y="0"/>
                </a:lnTo>
                <a:lnTo>
                  <a:pt x="3941663" y="3662164"/>
                </a:lnTo>
                <a:lnTo>
                  <a:pt x="0" y="3662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979" y="6825113"/>
            <a:ext cx="2536570" cy="3399250"/>
          </a:xfrm>
          <a:prstGeom prst="rect">
            <a:avLst/>
          </a:prstGeom>
        </p:spPr>
      </p:pic>
      <p:sp>
        <p:nvSpPr>
          <p:cNvPr id="30" name="Freeform 11"/>
          <p:cNvSpPr/>
          <p:nvPr/>
        </p:nvSpPr>
        <p:spPr>
          <a:xfrm rot="-1789354">
            <a:off x="1585337" y="2049027"/>
            <a:ext cx="1658309" cy="2253630"/>
          </a:xfrm>
          <a:custGeom>
            <a:avLst/>
            <a:gdLst/>
            <a:ahLst/>
            <a:cxnLst/>
            <a:rect l="l" t="t" r="r" b="b"/>
            <a:pathLst>
              <a:path w="2725139" h="3833315">
                <a:moveTo>
                  <a:pt x="0" y="0"/>
                </a:moveTo>
                <a:lnTo>
                  <a:pt x="2725139" y="0"/>
                </a:lnTo>
                <a:lnTo>
                  <a:pt x="2725139" y="3833316"/>
                </a:lnTo>
                <a:lnTo>
                  <a:pt x="0" y="38333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78173">
            <a:off x="-1434441" y="-1744732"/>
            <a:ext cx="4926281" cy="529707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15392400" y="60579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4062" y="2628900"/>
            <a:ext cx="86405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請從課名「拔不起來的筆」進行思考，請問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71012" y="8843647"/>
            <a:ext cx="7635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2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參考影片：                                                               </a:t>
            </a:r>
            <a:endParaRPr lang="zh-TW" altLang="zh-TW" sz="28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60777" y="8918008"/>
            <a:ext cx="5769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https://</a:t>
            </a:r>
            <a:r>
              <a:rPr lang="en-US" altLang="zh-TW" u="sng" kern="100" dirty="0" err="1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youtu.be</a:t>
            </a:r>
            <a:r>
              <a:rPr lang="en-US" altLang="zh-TW" u="sng" kern="100" dirty="0">
                <a:solidFill>
                  <a:srgbClr val="0000FF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/KFGILCsFVJ4?si=4BLC-0sneri0sEDP</a:t>
            </a:r>
            <a:endParaRPr lang="zh-TW" altLang="en-US" dirty="0"/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613676" y="8824006"/>
            <a:ext cx="557336" cy="557336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B437BE0-6D81-F91F-081C-46579CC05A8D}"/>
              </a:ext>
            </a:extLst>
          </p:cNvPr>
          <p:cNvSpPr/>
          <p:nvPr/>
        </p:nvSpPr>
        <p:spPr>
          <a:xfrm>
            <a:off x="1431343" y="3496758"/>
            <a:ext cx="102108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你覺得可能是什麼原因，讓筆拔不起來？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9AAAA40-E7EE-6D3C-969A-64440BD2A73E}"/>
              </a:ext>
            </a:extLst>
          </p:cNvPr>
          <p:cNvCxnSpPr/>
          <p:nvPr/>
        </p:nvCxnSpPr>
        <p:spPr>
          <a:xfrm>
            <a:off x="1535897" y="4686300"/>
            <a:ext cx="97536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2C66D4C3-A757-4C8F-7AAF-E1D34CFE5D83}"/>
              </a:ext>
            </a:extLst>
          </p:cNvPr>
          <p:cNvSpPr/>
          <p:nvPr/>
        </p:nvSpPr>
        <p:spPr>
          <a:xfrm>
            <a:off x="994062" y="5334106"/>
            <a:ext cx="12434814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是誰呢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請先看完影片後，請說說看你所看到。</a:t>
            </a:r>
          </a:p>
          <a:p>
            <a:pPr>
              <a:spcAft>
                <a:spcPts val="0"/>
              </a:spcAft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請從影片內容思考，推論看看，可能是什麼原因讓筆拔不起來？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                          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7632107-C079-DCB6-53AD-5056A03CB1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7280" y="7449514"/>
            <a:ext cx="1927728" cy="1945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288281"/>
            <a:ext cx="5325946" cy="1331219"/>
            <a:chOff x="0" y="-47625"/>
            <a:chExt cx="2338321" cy="1144766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338321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339406" y="872739"/>
            <a:ext cx="60324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任務一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93070" y="2504527"/>
            <a:ext cx="2057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連結線索</a:t>
            </a:r>
            <a:r>
              <a:rPr lang="en-US" altLang="zh-TW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轉折詞</a:t>
            </a:r>
            <a:r>
              <a:rPr lang="en-US" altLang="zh-TW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0" y="3771900"/>
            <a:ext cx="17216573" cy="5849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讀一讀下面的句子，圈出「沒想到」和「卻」，你發現了什麼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大家都以為他會被處罰，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沒想到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笑著說：「明天起，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可以學字了。」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句子中使用「沒想到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」，我發現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後面句子和前面句子的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出現大轉變。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再讀一讀下面的句子，圈出「仍然」，你發現了什麼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</a:t>
            </a: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爸爸突然抓住他的筆，用力向上一提，毛筆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仍然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被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牢牢的抓在手裡。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句子中使用「仍然」，我發現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「仍然」後面的句子和前面的句子</a:t>
            </a:r>
            <a:r>
              <a:rPr lang="en-US" altLang="zh-TW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改變了。</a:t>
            </a:r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4126233-EE18-5E2C-2652-EDBBC568BF0D}"/>
              </a:ext>
            </a:extLst>
          </p:cNvPr>
          <p:cNvSpPr/>
          <p:nvPr/>
        </p:nvSpPr>
        <p:spPr>
          <a:xfrm>
            <a:off x="6485765" y="5037705"/>
            <a:ext cx="1210435" cy="584775"/>
          </a:xfrm>
          <a:prstGeom prst="rect">
            <a:avLst/>
          </a:prstGeom>
          <a:ln w="222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387161-F29B-23B5-DF52-8D5FD78D9B71}"/>
              </a:ext>
            </a:extLst>
          </p:cNvPr>
          <p:cNvSpPr/>
          <p:nvPr/>
        </p:nvSpPr>
        <p:spPr>
          <a:xfrm>
            <a:off x="8915401" y="5037705"/>
            <a:ext cx="457200" cy="584775"/>
          </a:xfrm>
          <a:prstGeom prst="rect">
            <a:avLst/>
          </a:prstGeom>
          <a:ln w="222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2AA9255-F23C-3C39-1D6C-ED775988D0B9}"/>
              </a:ext>
            </a:extLst>
          </p:cNvPr>
          <p:cNvSpPr txBox="1"/>
          <p:nvPr/>
        </p:nvSpPr>
        <p:spPr>
          <a:xfrm>
            <a:off x="13258800" y="5997900"/>
            <a:ext cx="2151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意思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結果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68000A-5FEF-FFE3-D012-22456CDAC49E}"/>
              </a:ext>
            </a:extLst>
          </p:cNvPr>
          <p:cNvSpPr/>
          <p:nvPr/>
        </p:nvSpPr>
        <p:spPr>
          <a:xfrm>
            <a:off x="9753601" y="8039100"/>
            <a:ext cx="762000" cy="584775"/>
          </a:xfrm>
          <a:prstGeom prst="rect">
            <a:avLst/>
          </a:prstGeom>
          <a:ln w="222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FA28FDF-1F57-574E-2198-E42C82874100}"/>
              </a:ext>
            </a:extLst>
          </p:cNvPr>
          <p:cNvSpPr txBox="1"/>
          <p:nvPr/>
        </p:nvSpPr>
        <p:spPr>
          <a:xfrm>
            <a:off x="13868400" y="8953500"/>
            <a:ext cx="2151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意思</a:t>
            </a:r>
            <a:r>
              <a:rPr lang="en-US" altLang="zh-TW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結果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89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/>
      <p:bldP spid="17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2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8"/>
          <p:cNvGrpSpPr/>
          <p:nvPr/>
        </p:nvGrpSpPr>
        <p:grpSpPr>
          <a:xfrm>
            <a:off x="1013460" y="2343663"/>
            <a:ext cx="5325946" cy="1275837"/>
            <a:chOff x="0" y="0"/>
            <a:chExt cx="2188840" cy="1097141"/>
          </a:xfrm>
        </p:grpSpPr>
        <p:sp>
          <p:nvSpPr>
            <p:cNvPr id="31" name="Freeform 9"/>
            <p:cNvSpPr/>
            <p:nvPr/>
          </p:nvSpPr>
          <p:spPr>
            <a:xfrm>
              <a:off x="0" y="0"/>
              <a:ext cx="2188840" cy="1097141"/>
            </a:xfrm>
            <a:custGeom>
              <a:avLst/>
              <a:gdLst/>
              <a:ahLst/>
              <a:cxnLst/>
              <a:rect l="l" t="t" r="r" b="b"/>
              <a:pathLst>
                <a:path w="2188840" h="1097141">
                  <a:moveTo>
                    <a:pt x="44452" y="0"/>
                  </a:moveTo>
                  <a:lnTo>
                    <a:pt x="2144388" y="0"/>
                  </a:lnTo>
                  <a:cubicBezTo>
                    <a:pt x="2156178" y="0"/>
                    <a:pt x="2167484" y="4683"/>
                    <a:pt x="2175820" y="13020"/>
                  </a:cubicBezTo>
                  <a:cubicBezTo>
                    <a:pt x="2184157" y="21356"/>
                    <a:pt x="2188840" y="32663"/>
                    <a:pt x="2188840" y="44452"/>
                  </a:cubicBezTo>
                  <a:lnTo>
                    <a:pt x="2188840" y="1052689"/>
                  </a:lnTo>
                  <a:cubicBezTo>
                    <a:pt x="2188840" y="1064479"/>
                    <a:pt x="2184157" y="1075785"/>
                    <a:pt x="2175820" y="1084122"/>
                  </a:cubicBezTo>
                  <a:cubicBezTo>
                    <a:pt x="2167484" y="1092458"/>
                    <a:pt x="2156178" y="1097141"/>
                    <a:pt x="2144388" y="1097141"/>
                  </a:cubicBezTo>
                  <a:lnTo>
                    <a:pt x="44452" y="1097141"/>
                  </a:lnTo>
                  <a:cubicBezTo>
                    <a:pt x="32663" y="1097141"/>
                    <a:pt x="21356" y="1092458"/>
                    <a:pt x="13020" y="1084122"/>
                  </a:cubicBezTo>
                  <a:cubicBezTo>
                    <a:pt x="4683" y="1075785"/>
                    <a:pt x="0" y="1064479"/>
                    <a:pt x="0" y="1052689"/>
                  </a:cubicBezTo>
                  <a:lnTo>
                    <a:pt x="0" y="44452"/>
                  </a:lnTo>
                  <a:cubicBezTo>
                    <a:pt x="0" y="32663"/>
                    <a:pt x="4683" y="21356"/>
                    <a:pt x="13020" y="13020"/>
                  </a:cubicBezTo>
                  <a:cubicBezTo>
                    <a:pt x="21356" y="4683"/>
                    <a:pt x="32663" y="0"/>
                    <a:pt x="44452" y="0"/>
                  </a:cubicBezTo>
                  <a:close/>
                </a:path>
              </a:pathLst>
            </a:custGeom>
            <a:solidFill>
              <a:srgbClr val="BCE1EB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0" y="-47625"/>
              <a:ext cx="2188840" cy="1144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2"/>
          <p:cNvSpPr/>
          <p:nvPr/>
        </p:nvSpPr>
        <p:spPr>
          <a:xfrm rot="9746419">
            <a:off x="16861985" y="-353079"/>
            <a:ext cx="3283184" cy="4243996"/>
          </a:xfrm>
          <a:custGeom>
            <a:avLst/>
            <a:gdLst/>
            <a:ahLst/>
            <a:cxnLst/>
            <a:rect l="l" t="t" r="r" b="b"/>
            <a:pathLst>
              <a:path w="4926281" h="5297076">
                <a:moveTo>
                  <a:pt x="0" y="0"/>
                </a:moveTo>
                <a:lnTo>
                  <a:pt x="4926282" y="0"/>
                </a:lnTo>
                <a:lnTo>
                  <a:pt x="4926282" y="5297077"/>
                </a:lnTo>
                <a:lnTo>
                  <a:pt x="0" y="5297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24" name="群組 23"/>
          <p:cNvGrpSpPr/>
          <p:nvPr/>
        </p:nvGrpSpPr>
        <p:grpSpPr>
          <a:xfrm>
            <a:off x="5072586" y="766557"/>
            <a:ext cx="8516876" cy="1155939"/>
            <a:chOff x="8742424" y="3811491"/>
            <a:chExt cx="8516876" cy="1155939"/>
          </a:xfrm>
        </p:grpSpPr>
        <p:grpSp>
          <p:nvGrpSpPr>
            <p:cNvPr id="3" name="Group 3"/>
            <p:cNvGrpSpPr/>
            <p:nvPr/>
          </p:nvGrpSpPr>
          <p:grpSpPr>
            <a:xfrm>
              <a:off x="8742424" y="3965067"/>
              <a:ext cx="8467690" cy="1002363"/>
              <a:chOff x="0" y="0"/>
              <a:chExt cx="7837384" cy="92775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8791610" y="3811491"/>
              <a:ext cx="8467690" cy="1002363"/>
              <a:chOff x="0" y="0"/>
              <a:chExt cx="7837384" cy="927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37384" cy="927751"/>
              </a:xfrm>
              <a:custGeom>
                <a:avLst/>
                <a:gdLst/>
                <a:ahLst/>
                <a:cxnLst/>
                <a:rect l="l" t="t" r="r" b="b"/>
                <a:pathLst>
                  <a:path w="7837384" h="927751">
                    <a:moveTo>
                      <a:pt x="46629" y="0"/>
                    </a:moveTo>
                    <a:lnTo>
                      <a:pt x="7790755" y="0"/>
                    </a:lnTo>
                    <a:cubicBezTo>
                      <a:pt x="7816508" y="0"/>
                      <a:pt x="7837384" y="20876"/>
                      <a:pt x="7837384" y="46629"/>
                    </a:cubicBezTo>
                    <a:lnTo>
                      <a:pt x="7837384" y="881122"/>
                    </a:lnTo>
                    <a:cubicBezTo>
                      <a:pt x="7837384" y="893489"/>
                      <a:pt x="7832472" y="905349"/>
                      <a:pt x="7823727" y="914094"/>
                    </a:cubicBezTo>
                    <a:cubicBezTo>
                      <a:pt x="7814983" y="922838"/>
                      <a:pt x="7803122" y="927751"/>
                      <a:pt x="7790755" y="927751"/>
                    </a:cubicBezTo>
                    <a:lnTo>
                      <a:pt x="46629" y="927751"/>
                    </a:lnTo>
                    <a:cubicBezTo>
                      <a:pt x="34262" y="927751"/>
                      <a:pt x="22402" y="922838"/>
                      <a:pt x="13657" y="914094"/>
                    </a:cubicBezTo>
                    <a:cubicBezTo>
                      <a:pt x="4913" y="905349"/>
                      <a:pt x="0" y="893489"/>
                      <a:pt x="0" y="881122"/>
                    </a:cubicBezTo>
                    <a:lnTo>
                      <a:pt x="0" y="46629"/>
                    </a:lnTo>
                    <a:cubicBezTo>
                      <a:pt x="0" y="34262"/>
                      <a:pt x="4913" y="22402"/>
                      <a:pt x="13657" y="13657"/>
                    </a:cubicBezTo>
                    <a:cubicBezTo>
                      <a:pt x="22402" y="4913"/>
                      <a:pt x="34262" y="0"/>
                      <a:pt x="46629" y="0"/>
                    </a:cubicBezTo>
                    <a:close/>
                  </a:path>
                </a:pathLst>
              </a:custGeom>
              <a:solidFill>
                <a:srgbClr val="FFAF64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837384" cy="9753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10800000">
            <a:off x="-4038600" y="6515100"/>
            <a:ext cx="6222354" cy="5339911"/>
          </a:xfrm>
          <a:custGeom>
            <a:avLst/>
            <a:gdLst/>
            <a:ahLst/>
            <a:cxnLst/>
            <a:rect l="l" t="t" r="r" b="b"/>
            <a:pathLst>
              <a:path w="6222354" h="5339911">
                <a:moveTo>
                  <a:pt x="0" y="0"/>
                </a:moveTo>
                <a:lnTo>
                  <a:pt x="6222354" y="0"/>
                </a:lnTo>
                <a:lnTo>
                  <a:pt x="6222354" y="5339911"/>
                </a:lnTo>
                <a:lnTo>
                  <a:pt x="0" y="5339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2" name="Freeform 22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6275287" y="872739"/>
            <a:ext cx="61606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在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</a:t>
            </a:r>
            <a:r>
              <a:rPr lang="en-US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前  ★</a:t>
            </a:r>
            <a:endParaRPr lang="zh-TW" altLang="zh-TW" sz="4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867" y="2661502"/>
            <a:ext cx="3159839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個人自學 任務二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43768" y="2531678"/>
            <a:ext cx="2057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識字策略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kern="100" dirty="0">
                <a:solidFill>
                  <a:schemeClr val="accent1"/>
                </a:solidFill>
                <a:ea typeface="標楷體" panose="03000509000000000000" pitchFamily="65" charset="-120"/>
                <a:cs typeface="Times New Roman" panose="02020603050405020304" pitchFamily="18" charset="0"/>
              </a:rPr>
              <a:t>擴展詞彙</a:t>
            </a:r>
            <a:endParaRPr lang="en-US" altLang="zh-TW" sz="2800" kern="100" dirty="0">
              <a:solidFill>
                <a:schemeClr val="accent1"/>
              </a:solidFill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2800" dirty="0">
              <a:solidFill>
                <a:schemeClr val="accen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3461" y="3778978"/>
            <a:ext cx="158267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請以「力」為部件，加上偏旁形成另一個新字後，再造一個詞。請小心造詞，因為最後是使用你造的詞來造長句呵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 </a:t>
            </a:r>
            <a:endParaRPr lang="zh-TW" altLang="zh-TW" sz="3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325900"/>
            <a:ext cx="1806304" cy="2940337"/>
          </a:xfrm>
          <a:prstGeom prst="rect">
            <a:avLst/>
          </a:prstGeom>
        </p:spPr>
      </p:pic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69FA2BB-4ACC-56FB-2B23-3AF0449CE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17448"/>
              </p:ext>
            </p:extLst>
          </p:nvPr>
        </p:nvGraphicFramePr>
        <p:xfrm>
          <a:off x="2183754" y="5234277"/>
          <a:ext cx="15318672" cy="450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709">
                  <a:extLst>
                    <a:ext uri="{9D8B030D-6E8A-4147-A177-3AD203B41FA5}">
                      <a16:colId xmlns:a16="http://schemas.microsoft.com/office/drawing/2014/main" val="741857881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821507824"/>
                    </a:ext>
                  </a:extLst>
                </a:gridCol>
                <a:gridCol w="2801746">
                  <a:extLst>
                    <a:ext uri="{9D8B030D-6E8A-4147-A177-3AD203B41FA5}">
                      <a16:colId xmlns:a16="http://schemas.microsoft.com/office/drawing/2014/main" val="3724771510"/>
                    </a:ext>
                  </a:extLst>
                </a:gridCol>
                <a:gridCol w="7846471">
                  <a:extLst>
                    <a:ext uri="{9D8B030D-6E8A-4147-A177-3AD203B41FA5}">
                      <a16:colId xmlns:a16="http://schemas.microsoft.com/office/drawing/2014/main" val="765254266"/>
                    </a:ext>
                  </a:extLst>
                </a:gridCol>
              </a:tblGrid>
              <a:tr h="1060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部件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加偏旁成新字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注音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造詞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句中放入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和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，並加入想像、情境和自己的感受，完成一小段短文。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7250"/>
                  </a:ext>
                </a:extLst>
              </a:tr>
              <a:tr h="1721709">
                <a:tc rowSpan="2"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ctr">
                        <a:spcBef>
                          <a:spcPts val="1200"/>
                        </a:spcBef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力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❶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32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32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32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>
                        <a:spcBef>
                          <a:spcPts val="600"/>
                        </a:spcBef>
                        <a:buNone/>
                      </a:pPr>
                      <a:r>
                        <a:rPr lang="en-US" sz="32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              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612334"/>
                  </a:ext>
                </a:extLst>
              </a:tr>
              <a:tr h="172170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 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❷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21993"/>
                  </a:ext>
                </a:extLst>
              </a:tr>
            </a:tbl>
          </a:graphicData>
        </a:graphic>
      </p:graphicFrame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C1518C9-BB59-FC6C-D8C9-3247516644BF}"/>
              </a:ext>
            </a:extLst>
          </p:cNvPr>
          <p:cNvCxnSpPr>
            <a:cxnSpLocks/>
          </p:cNvCxnSpPr>
          <p:nvPr/>
        </p:nvCxnSpPr>
        <p:spPr>
          <a:xfrm>
            <a:off x="9906000" y="71247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FEF2F35-B373-1C58-489F-3E2B75FEC894}"/>
              </a:ext>
            </a:extLst>
          </p:cNvPr>
          <p:cNvCxnSpPr>
            <a:cxnSpLocks/>
          </p:cNvCxnSpPr>
          <p:nvPr/>
        </p:nvCxnSpPr>
        <p:spPr>
          <a:xfrm>
            <a:off x="9906000" y="80391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C364999-F064-DBCC-263C-86BE3047D2A5}"/>
              </a:ext>
            </a:extLst>
          </p:cNvPr>
          <p:cNvCxnSpPr>
            <a:cxnSpLocks/>
          </p:cNvCxnSpPr>
          <p:nvPr/>
        </p:nvCxnSpPr>
        <p:spPr>
          <a:xfrm>
            <a:off x="9906000" y="8953500"/>
            <a:ext cx="74067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24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26330" y="2766020"/>
            <a:ext cx="15999669" cy="2217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這一課總共分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段「自然段」，把自然段中在說相同事情的段落歸類成一大段，成為「意義段」。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練習自己說一說，每一小段在說什麼？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口說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43400" y="2857500"/>
            <a:ext cx="106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1865" y="5357456"/>
            <a:ext cx="82974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★寫作架構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文體：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)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58279"/>
              </p:ext>
            </p:extLst>
          </p:nvPr>
        </p:nvGraphicFramePr>
        <p:xfrm>
          <a:off x="2531865" y="6319187"/>
          <a:ext cx="14609264" cy="2459166"/>
        </p:xfrm>
        <a:graphic>
          <a:graphicData uri="http://schemas.openxmlformats.org/drawingml/2006/table">
            <a:tbl>
              <a:tblPr firstRow="1" firstCol="1" bandRow="1"/>
              <a:tblGrid>
                <a:gridCol w="340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95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200" b="1" kern="10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</a:t>
                      </a:r>
                      <a:endParaRPr lang="zh-TW" sz="3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一、事件緣起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二、習字用心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3200" b="1" kern="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三、父親鼓勵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5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3200" b="1" kern="100" dirty="0">
                          <a:effectLst/>
                          <a:latin typeface="Calibri" panose="020F0502020204030204" pitchFamily="34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自然段</a:t>
                      </a:r>
                      <a:endParaRPr lang="zh-TW" sz="3200" b="1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altLang="en-US" sz="3600" b="1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b="1" kern="100" dirty="0">
                          <a:solidFill>
                            <a:schemeClr val="tx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3600" b="1" kern="100" dirty="0">
                        <a:solidFill>
                          <a:schemeClr val="tx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" name="圖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61806"/>
            <a:ext cx="2032496" cy="302519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400800" y="5309616"/>
            <a:ext cx="441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記敘文</a:t>
            </a:r>
            <a:r>
              <a:rPr lang="en-US" altLang="zh-TW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—</a:t>
            </a:r>
            <a:r>
              <a:rPr lang="zh-TW" altLang="en-US" sz="40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故事體</a:t>
            </a:r>
            <a:endParaRPr lang="zh-TW" altLang="zh-TW" sz="40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E8DD37E-3D94-FAC2-A90B-2DEA84C4D450}"/>
              </a:ext>
            </a:extLst>
          </p:cNvPr>
          <p:cNvSpPr/>
          <p:nvPr/>
        </p:nvSpPr>
        <p:spPr>
          <a:xfrm>
            <a:off x="11213848" y="7888322"/>
            <a:ext cx="106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B5D735-4B5E-9C63-8277-CA0FCD599697}"/>
              </a:ext>
            </a:extLst>
          </p:cNvPr>
          <p:cNvSpPr/>
          <p:nvPr/>
        </p:nvSpPr>
        <p:spPr>
          <a:xfrm>
            <a:off x="7302063" y="7888321"/>
            <a:ext cx="106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TW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/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/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47800" y="2708423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/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47801" y="3548615"/>
            <a:ext cx="1600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段文本中，請問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王羲之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家發生什麼事情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?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這件事情是誰做的？結果如何？</a:t>
            </a:r>
          </a:p>
        </p:txBody>
      </p:sp>
      <p:sp>
        <p:nvSpPr>
          <p:cNvPr id="25" name="矩形 24"/>
          <p:cNvSpPr/>
          <p:nvPr/>
        </p:nvSpPr>
        <p:spPr>
          <a:xfrm>
            <a:off x="13958375" y="3640947"/>
            <a:ext cx="37648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FA914DA-C715-EBCB-AD2E-5DA2A2EC3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427455"/>
              </p:ext>
            </p:extLst>
          </p:nvPr>
        </p:nvGraphicFramePr>
        <p:xfrm>
          <a:off x="1479803" y="5282408"/>
          <a:ext cx="15543535" cy="35825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3223">
                  <a:extLst>
                    <a:ext uri="{9D8B030D-6E8A-4147-A177-3AD203B41FA5}">
                      <a16:colId xmlns:a16="http://schemas.microsoft.com/office/drawing/2014/main" val="3404569870"/>
                    </a:ext>
                  </a:extLst>
                </a:gridCol>
                <a:gridCol w="11870312">
                  <a:extLst>
                    <a:ext uri="{9D8B030D-6E8A-4147-A177-3AD203B41FA5}">
                      <a16:colId xmlns:a16="http://schemas.microsoft.com/office/drawing/2014/main" val="242177728"/>
                    </a:ext>
                  </a:extLst>
                </a:gridCol>
              </a:tblGrid>
              <a:tr h="1194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①</a:t>
                      </a:r>
                      <a:r>
                        <a:rPr lang="zh-TW" alt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發生什麼事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大書法家</a:t>
                      </a:r>
                      <a:r>
                        <a:rPr lang="zh-TW" sz="36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王羲之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家的</a:t>
                      </a:r>
                      <a:r>
                        <a:rPr lang="zh-TW" altLang="en-US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</a:t>
                      </a:r>
                      <a:r>
                        <a:rPr 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，被寫了一個大大的</a:t>
                      </a:r>
                      <a:r>
                        <a:rPr lang="zh-TW" altLang="en-US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字 。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743232"/>
                  </a:ext>
                </a:extLst>
              </a:tr>
              <a:tr h="1194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②</a:t>
                      </a:r>
                      <a:r>
                        <a:rPr lang="zh-TW" alt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誰做的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</a:t>
                      </a:r>
                      <a:r>
                        <a:rPr lang="zh-TW" altLang="en-US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           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做的。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542026"/>
                  </a:ext>
                </a:extLst>
              </a:tr>
              <a:tr h="1194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③</a:t>
                      </a:r>
                      <a:r>
                        <a:rPr lang="zh-TW" alt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結果如何</a:t>
                      </a:r>
                      <a:r>
                        <a:rPr lang="en-US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？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3600" u="sng" kern="100" dirty="0"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      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可以跟父親</a:t>
                      </a:r>
                      <a:r>
                        <a:rPr 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36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             </a:t>
                      </a:r>
                      <a:r>
                        <a:rPr lang="zh-TW" sz="36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。</a:t>
                      </a:r>
                      <a:endParaRPr lang="zh-TW" sz="36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39261"/>
                  </a:ext>
                </a:extLst>
              </a:tr>
            </a:tbl>
          </a:graphicData>
        </a:graphic>
      </p:graphicFrame>
      <p:sp>
        <p:nvSpPr>
          <p:cNvPr id="22" name="文字方塊 21">
            <a:extLst>
              <a:ext uri="{FF2B5EF4-FFF2-40B4-BE49-F238E27FC236}">
                <a16:creationId xmlns:a16="http://schemas.microsoft.com/office/drawing/2014/main" id="{36617176-7124-B8E6-77E3-47E3B5361246}"/>
              </a:ext>
            </a:extLst>
          </p:cNvPr>
          <p:cNvSpPr txBox="1"/>
          <p:nvPr/>
        </p:nvSpPr>
        <p:spPr>
          <a:xfrm>
            <a:off x="9416716" y="5507280"/>
            <a:ext cx="1251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牆上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9D320A3-121B-9356-4249-F3E52E130F86}"/>
              </a:ext>
            </a:extLst>
          </p:cNvPr>
          <p:cNvSpPr txBox="1"/>
          <p:nvPr/>
        </p:nvSpPr>
        <p:spPr>
          <a:xfrm>
            <a:off x="15011400" y="5513029"/>
            <a:ext cx="12512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F300114-D245-60A1-7F5C-D68855EC7244}"/>
              </a:ext>
            </a:extLst>
          </p:cNvPr>
          <p:cNvSpPr txBox="1"/>
          <p:nvPr/>
        </p:nvSpPr>
        <p:spPr>
          <a:xfrm>
            <a:off x="5982991" y="6658303"/>
            <a:ext cx="551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小兒子</a:t>
            </a:r>
            <a:r>
              <a:rPr lang="en-US" altLang="zh-TW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600" b="1" u="sng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王獻之</a:t>
            </a:r>
            <a:endParaRPr lang="zh-TW" altLang="en-US" sz="3600" b="1" u="sng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5F3B48B-CE28-76CD-880D-D7E8524CD950}"/>
              </a:ext>
            </a:extLst>
          </p:cNvPr>
          <p:cNvSpPr txBox="1"/>
          <p:nvPr/>
        </p:nvSpPr>
        <p:spPr>
          <a:xfrm>
            <a:off x="5682916" y="7849969"/>
            <a:ext cx="3733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u="sng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王獻之</a:t>
            </a:r>
            <a:endParaRPr lang="zh-TW" altLang="en-US" sz="3600" b="1" u="sng" dirty="0">
              <a:solidFill>
                <a:srgbClr val="FF000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5C18CAA-224E-6728-926F-63E355C2D0C4}"/>
              </a:ext>
            </a:extLst>
          </p:cNvPr>
          <p:cNvSpPr txBox="1"/>
          <p:nvPr/>
        </p:nvSpPr>
        <p:spPr>
          <a:xfrm>
            <a:off x="10256852" y="7849969"/>
            <a:ext cx="551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學字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94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27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47C19-70BE-C569-22D0-CE9B4598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4B91D9-16F3-4331-E835-C3307BEBECE0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F9A5AF6-6B7D-AB11-F804-5F709D470BDA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2A0B6A8-2801-F9AE-034F-53B68ECCF263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0579395-4209-C9C0-B0C0-3E54E0CEBAD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72C2D860-3FD4-626E-FAA2-C3C223A2FD43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092244CB-7010-A62E-B7FA-D548FE58924F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CCC1EA9-F0FD-74B7-A1A5-6DEC75C6EFE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6A3615B-9A11-DEBC-3C6C-636A3775D3BB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742E8048-BEE8-364A-EB3D-11D1FC53377F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250C7E90-94ED-C97F-36AB-61BD49BD7E5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F8708DE-480F-B885-48A3-84EF5E1AF25D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8688EF-CB3D-FAF7-8E26-1BC44C665BB5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D327EA-96E9-BBEF-F308-35FC4E23F948}"/>
              </a:ext>
            </a:extLst>
          </p:cNvPr>
          <p:cNvSpPr/>
          <p:nvPr/>
        </p:nvSpPr>
        <p:spPr>
          <a:xfrm>
            <a:off x="1447800" y="2708423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意義段一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FDB47640-2550-86CA-F190-4B12605707ED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A56D56-DDCE-74C8-E25D-9D2C6EBA24A6}"/>
              </a:ext>
            </a:extLst>
          </p:cNvPr>
          <p:cNvSpPr/>
          <p:nvPr/>
        </p:nvSpPr>
        <p:spPr>
          <a:xfrm>
            <a:off x="1447801" y="3548615"/>
            <a:ext cx="1600199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小組任務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承接上題，請你試著把上題的答案整理一下，用完整語句呈現，就可以知道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1-2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段在說什麼重點。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93AC86-9C9F-3F25-C83D-6E8911F0A2A5}"/>
              </a:ext>
            </a:extLst>
          </p:cNvPr>
          <p:cNvSpPr/>
          <p:nvPr/>
        </p:nvSpPr>
        <p:spPr>
          <a:xfrm>
            <a:off x="4246908" y="4403552"/>
            <a:ext cx="3764861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刪除歸納主題句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B67E986-E95C-8192-A30E-1816F106E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22961"/>
              </p:ext>
            </p:extLst>
          </p:nvPr>
        </p:nvGraphicFramePr>
        <p:xfrm>
          <a:off x="1427659" y="5600840"/>
          <a:ext cx="16060271" cy="2688735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887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意義段一 ：</a:t>
                      </a:r>
                      <a:endParaRPr lang="zh-TW" altLang="en-US" sz="4400" b="0" kern="100" dirty="0">
                        <a:solidFill>
                          <a:schemeClr val="tx2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王羲之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家的牆上被兒子寫了「大」字。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914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BFC17-4BE9-7846-F87B-0690223E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66287D-01E3-546C-5BFB-C29BE4E86FDD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98FE5B-AD50-A43F-152B-7747254807F2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42AE242-2279-C03B-0DE8-B1003AAA3F8F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EAF36BE-67B1-AED9-8902-02D14A243148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A962C6D1-F373-00FE-2AF6-0EBED286E558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865DE0D-3619-91AD-1491-A511608FA21A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7C58DE1-4F09-E70B-99A8-0A68D422DAF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9C5750D3-C941-409A-39EF-B8737E2EEE10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62D0094-E761-B71F-C24C-4A836A18FAC9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B590BFF8-022A-8734-696E-32F09F7BF9A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639D817-F2CD-AE40-8E22-CA979E09F51B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F40018-470A-AE17-5202-BCD592FAB9BC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3683B0-C71E-FACE-F4AB-638BB5235359}"/>
              </a:ext>
            </a:extLst>
          </p:cNvPr>
          <p:cNvSpPr/>
          <p:nvPr/>
        </p:nvSpPr>
        <p:spPr>
          <a:xfrm>
            <a:off x="1447800" y="2628900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346123-1B9E-F004-C24D-6B4EC610DD7B}"/>
              </a:ext>
            </a:extLst>
          </p:cNvPr>
          <p:cNvSpPr/>
          <p:nvPr/>
        </p:nvSpPr>
        <p:spPr>
          <a:xfrm>
            <a:off x="1447801" y="3358540"/>
            <a:ext cx="15468599" cy="6661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段找一找，為什麼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要在牆上寫字？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❶</a:t>
            </a: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en-US" sz="3200" b="1" u="sng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王獻之</a:t>
            </a: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天天看父親寫字，想學，但</a:t>
            </a:r>
            <a:r>
              <a:rPr lang="zh-TW" altLang="en-US" sz="3200" b="1" u="sng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                              </a:t>
            </a: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。 </a:t>
            </a:r>
            <a:endParaRPr lang="en-US" altLang="zh-TW" sz="3200" b="1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</a:t>
            </a:r>
            <a:r>
              <a:rPr lang="en-US" altLang="zh-TW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❷</a:t>
            </a: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寫「大」的原因是</a:t>
            </a:r>
            <a:r>
              <a:rPr lang="zh-TW" altLang="en-US" sz="3200" b="1" u="sng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                           </a:t>
            </a:r>
            <a:r>
              <a:rPr lang="zh-TW" altLang="en-US" sz="32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。</a:t>
            </a:r>
            <a:endParaRPr lang="en-US" altLang="zh-TW" sz="3200" b="1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2.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承接上題，請你試著把上題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❶❷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答案整理一下，用完整語句說一次。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3. 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學字認真，請從第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3-4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段文本中，找到「用心」、「專心」並圈出來，再將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上下文讀一次。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❶【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個人任務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請思考文本中用什麼描述，讓我們知道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學字專注、用心？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在課文中圈出來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   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❷【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小組任務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組內相互分享自己找到的答案。</a:t>
            </a: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42BC76-B07C-3E3E-3452-243BF5ECAA02}"/>
              </a:ext>
            </a:extLst>
          </p:cNvPr>
          <p:cNvSpPr/>
          <p:nvPr/>
        </p:nvSpPr>
        <p:spPr>
          <a:xfrm>
            <a:off x="8667542" y="4191425"/>
            <a:ext cx="37530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父親不肯教他練字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A4CBD068-2B33-56CD-3131-52F5864B0003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F48B0F-2BE7-62A4-522B-6A4346F84770}"/>
              </a:ext>
            </a:extLst>
          </p:cNvPr>
          <p:cNvSpPr/>
          <p:nvPr/>
        </p:nvSpPr>
        <p:spPr>
          <a:xfrm>
            <a:off x="4876800" y="7239425"/>
            <a:ext cx="2046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連結文本因果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4296C1-6FCD-E0EC-972F-C4A42C35ACCD}"/>
              </a:ext>
            </a:extLst>
          </p:cNvPr>
          <p:cNvSpPr/>
          <p:nvPr/>
        </p:nvSpPr>
        <p:spPr>
          <a:xfrm>
            <a:off x="10920202" y="3653642"/>
            <a:ext cx="2871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推論策略 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連結文本因果</a:t>
            </a:r>
            <a:r>
              <a:rPr lang="en-US" altLang="zh-TW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125788-9DB4-02B1-2FC1-439EC43E09CF}"/>
              </a:ext>
            </a:extLst>
          </p:cNvPr>
          <p:cNvSpPr/>
          <p:nvPr/>
        </p:nvSpPr>
        <p:spPr>
          <a:xfrm>
            <a:off x="5638800" y="4972253"/>
            <a:ext cx="37530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證明自己長大了 </a:t>
            </a:r>
          </a:p>
        </p:txBody>
      </p:sp>
    </p:spTree>
    <p:extLst>
      <p:ext uri="{BB962C8B-B14F-4D97-AF65-F5344CB8AC3E}">
        <p14:creationId xmlns:p14="http://schemas.microsoft.com/office/powerpoint/2010/main" val="306280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38510-9819-0858-8721-803341757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AFCC5E-FB60-B365-A18C-836D602BDDDF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8683C3-E327-B246-E540-BFDAFF036D38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E0D34B4-4A95-A08E-805A-88BD6AC71F15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D9587CE-F2AE-C0BF-4256-54ED23EEF7D0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932B435-4CB3-7A41-2D24-C15676D181A2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CC69384-BA92-C398-A4B9-C430BA2E54C5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635CF4D0-EEA3-0B39-2F9E-A68E7A37F51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27F7E2C2-BE9C-1F57-5F8C-F8ED4BB89189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1AAF2882-BCFD-856F-AB47-1A88045D49E3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E62D8024-76B6-C830-6769-C85C266536F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C41060C9-8DA4-600D-875E-4C35ECBCF5D9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2A189-0DBD-E5DD-6F0A-458014AC76BB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837A15-07BF-99DB-24A8-E20B575E5EBB}"/>
              </a:ext>
            </a:extLst>
          </p:cNvPr>
          <p:cNvSpPr/>
          <p:nvPr/>
        </p:nvSpPr>
        <p:spPr>
          <a:xfrm>
            <a:off x="1447800" y="2708423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意義段二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3-4 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40E0B9B7-EC04-ED08-8735-0A4A99CBE630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1DDF91B-2455-0535-7F39-485285F0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40166"/>
              </p:ext>
            </p:extLst>
          </p:nvPr>
        </p:nvGraphicFramePr>
        <p:xfrm>
          <a:off x="1653359" y="4000500"/>
          <a:ext cx="16060271" cy="3257544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75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意義段二 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王獻之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學字，學得用心又專注。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50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C1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C91F8-FFC5-048A-53D9-6E038B62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34D06C-DCF6-7121-37ED-D0DE36E15616}"/>
              </a:ext>
            </a:extLst>
          </p:cNvPr>
          <p:cNvSpPr/>
          <p:nvPr/>
        </p:nvSpPr>
        <p:spPr>
          <a:xfrm rot="1721810">
            <a:off x="14451145" y="-2647218"/>
            <a:ext cx="4802903" cy="4331345"/>
          </a:xfrm>
          <a:custGeom>
            <a:avLst/>
            <a:gdLst/>
            <a:ahLst/>
            <a:cxnLst/>
            <a:rect l="l" t="t" r="r" b="b"/>
            <a:pathLst>
              <a:path w="4802903" h="4331345">
                <a:moveTo>
                  <a:pt x="0" y="0"/>
                </a:moveTo>
                <a:lnTo>
                  <a:pt x="4802903" y="0"/>
                </a:lnTo>
                <a:lnTo>
                  <a:pt x="4802903" y="4331346"/>
                </a:lnTo>
                <a:lnTo>
                  <a:pt x="0" y="43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AFE8FE6-8C7E-9880-67D9-BDC473B02FC1}"/>
              </a:ext>
            </a:extLst>
          </p:cNvPr>
          <p:cNvSpPr/>
          <p:nvPr/>
        </p:nvSpPr>
        <p:spPr>
          <a:xfrm rot="-1283887">
            <a:off x="-3021977" y="6868896"/>
            <a:ext cx="5345015" cy="5747328"/>
          </a:xfrm>
          <a:custGeom>
            <a:avLst/>
            <a:gdLst/>
            <a:ahLst/>
            <a:cxnLst/>
            <a:rect l="l" t="t" r="r" b="b"/>
            <a:pathLst>
              <a:path w="5345015" h="5747328">
                <a:moveTo>
                  <a:pt x="0" y="0"/>
                </a:moveTo>
                <a:lnTo>
                  <a:pt x="5345015" y="0"/>
                </a:lnTo>
                <a:lnTo>
                  <a:pt x="5345015" y="5747327"/>
                </a:lnTo>
                <a:lnTo>
                  <a:pt x="0" y="574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52B19E6-ECFA-06B9-97A8-E9E7A2B95200}"/>
              </a:ext>
            </a:extLst>
          </p:cNvPr>
          <p:cNvSpPr/>
          <p:nvPr/>
        </p:nvSpPr>
        <p:spPr>
          <a:xfrm rot="-10800000">
            <a:off x="14818494" y="8989420"/>
            <a:ext cx="4505274" cy="3866345"/>
          </a:xfrm>
          <a:custGeom>
            <a:avLst/>
            <a:gdLst/>
            <a:ahLst/>
            <a:cxnLst/>
            <a:rect l="l" t="t" r="r" b="b"/>
            <a:pathLst>
              <a:path w="4505274" h="3866345">
                <a:moveTo>
                  <a:pt x="0" y="0"/>
                </a:moveTo>
                <a:lnTo>
                  <a:pt x="4505275" y="0"/>
                </a:lnTo>
                <a:lnTo>
                  <a:pt x="4505275" y="3866345"/>
                </a:lnTo>
                <a:lnTo>
                  <a:pt x="0" y="386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1264579-8A44-BB7E-8C66-765D622DEAEA}"/>
              </a:ext>
            </a:extLst>
          </p:cNvPr>
          <p:cNvGrpSpPr/>
          <p:nvPr/>
        </p:nvGrpSpPr>
        <p:grpSpPr>
          <a:xfrm>
            <a:off x="4876800" y="952500"/>
            <a:ext cx="9056175" cy="1354417"/>
            <a:chOff x="4343400" y="1028700"/>
            <a:chExt cx="9056175" cy="1101452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B038CD75-4A82-1BBC-2A08-F5050F423A0C}"/>
                </a:ext>
              </a:extLst>
            </p:cNvPr>
            <p:cNvGrpSpPr/>
            <p:nvPr/>
          </p:nvGrpSpPr>
          <p:grpSpPr>
            <a:xfrm>
              <a:off x="4343400" y="1028700"/>
              <a:ext cx="8749543" cy="1101452"/>
              <a:chOff x="0" y="0"/>
              <a:chExt cx="2156113" cy="109714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615DBA8-A8F0-89BA-6287-36D455593D9F}"/>
                  </a:ext>
                </a:extLst>
              </p:cNvPr>
              <p:cNvSpPr/>
              <p:nvPr/>
            </p:nvSpPr>
            <p:spPr>
              <a:xfrm>
                <a:off x="0" y="0"/>
                <a:ext cx="2156113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56113" h="1097141">
                    <a:moveTo>
                      <a:pt x="45127" y="0"/>
                    </a:moveTo>
                    <a:lnTo>
                      <a:pt x="2110986" y="0"/>
                    </a:lnTo>
                    <a:cubicBezTo>
                      <a:pt x="2135909" y="0"/>
                      <a:pt x="2156113" y="20204"/>
                      <a:pt x="2156113" y="45127"/>
                    </a:cubicBezTo>
                    <a:lnTo>
                      <a:pt x="2156113" y="1052015"/>
                    </a:lnTo>
                    <a:cubicBezTo>
                      <a:pt x="2156113" y="1063983"/>
                      <a:pt x="2151358" y="1075461"/>
                      <a:pt x="2142895" y="1083924"/>
                    </a:cubicBezTo>
                    <a:cubicBezTo>
                      <a:pt x="2134432" y="1092387"/>
                      <a:pt x="2122954" y="1097141"/>
                      <a:pt x="2110986" y="1097141"/>
                    </a:cubicBezTo>
                    <a:lnTo>
                      <a:pt x="45127" y="1097141"/>
                    </a:lnTo>
                    <a:cubicBezTo>
                      <a:pt x="33158" y="1097141"/>
                      <a:pt x="21680" y="1092387"/>
                      <a:pt x="13217" y="1083924"/>
                    </a:cubicBezTo>
                    <a:cubicBezTo>
                      <a:pt x="4754" y="1075461"/>
                      <a:pt x="0" y="1063983"/>
                      <a:pt x="0" y="1052015"/>
                    </a:cubicBezTo>
                    <a:lnTo>
                      <a:pt x="0" y="45127"/>
                    </a:lnTo>
                    <a:cubicBezTo>
                      <a:pt x="0" y="33158"/>
                      <a:pt x="4754" y="21680"/>
                      <a:pt x="13217" y="13217"/>
                    </a:cubicBezTo>
                    <a:cubicBezTo>
                      <a:pt x="21680" y="4754"/>
                      <a:pt x="33158" y="0"/>
                      <a:pt x="45127" y="0"/>
                    </a:cubicBezTo>
                    <a:close/>
                  </a:path>
                </a:pathLst>
              </a:custGeom>
              <a:solidFill>
                <a:srgbClr val="BCE1EB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30D47586-86EB-947C-5C07-5EFAD5FF334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56113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08DC9E1-F54E-CB4A-9126-86C5AB7D6B2C}"/>
                </a:ext>
              </a:extLst>
            </p:cNvPr>
            <p:cNvGrpSpPr/>
            <p:nvPr/>
          </p:nvGrpSpPr>
          <p:grpSpPr>
            <a:xfrm>
              <a:off x="4517223" y="1028700"/>
              <a:ext cx="8882352" cy="1101452"/>
              <a:chOff x="0" y="0"/>
              <a:chExt cx="2188840" cy="1097141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9E3BFC09-3DE0-CF9E-AF3E-58D78E856B46}"/>
                  </a:ext>
                </a:extLst>
              </p:cNvPr>
              <p:cNvSpPr/>
              <p:nvPr/>
            </p:nvSpPr>
            <p:spPr>
              <a:xfrm>
                <a:off x="0" y="0"/>
                <a:ext cx="2188840" cy="1097141"/>
              </a:xfrm>
              <a:custGeom>
                <a:avLst/>
                <a:gdLst/>
                <a:ahLst/>
                <a:cxnLst/>
                <a:rect l="l" t="t" r="r" b="b"/>
                <a:pathLst>
                  <a:path w="2188840" h="1097141">
                    <a:moveTo>
                      <a:pt x="44452" y="0"/>
                    </a:moveTo>
                    <a:lnTo>
                      <a:pt x="2144388" y="0"/>
                    </a:lnTo>
                    <a:cubicBezTo>
                      <a:pt x="2156178" y="0"/>
                      <a:pt x="2167484" y="4683"/>
                      <a:pt x="2175820" y="13020"/>
                    </a:cubicBezTo>
                    <a:cubicBezTo>
                      <a:pt x="2184157" y="21356"/>
                      <a:pt x="2188840" y="32663"/>
                      <a:pt x="2188840" y="44452"/>
                    </a:cubicBezTo>
                    <a:lnTo>
                      <a:pt x="2188840" y="1052689"/>
                    </a:lnTo>
                    <a:cubicBezTo>
                      <a:pt x="2188840" y="1064479"/>
                      <a:pt x="2184157" y="1075785"/>
                      <a:pt x="2175820" y="1084122"/>
                    </a:cubicBezTo>
                    <a:cubicBezTo>
                      <a:pt x="2167484" y="1092458"/>
                      <a:pt x="2156178" y="1097141"/>
                      <a:pt x="2144388" y="1097141"/>
                    </a:cubicBezTo>
                    <a:lnTo>
                      <a:pt x="44452" y="1097141"/>
                    </a:lnTo>
                    <a:cubicBezTo>
                      <a:pt x="32663" y="1097141"/>
                      <a:pt x="21356" y="1092458"/>
                      <a:pt x="13020" y="1084122"/>
                    </a:cubicBezTo>
                    <a:cubicBezTo>
                      <a:pt x="4683" y="1075785"/>
                      <a:pt x="0" y="1064479"/>
                      <a:pt x="0" y="1052689"/>
                    </a:cubicBezTo>
                    <a:lnTo>
                      <a:pt x="0" y="44452"/>
                    </a:lnTo>
                    <a:cubicBezTo>
                      <a:pt x="0" y="32663"/>
                      <a:pt x="4683" y="21356"/>
                      <a:pt x="13020" y="13020"/>
                    </a:cubicBezTo>
                    <a:cubicBezTo>
                      <a:pt x="21356" y="4683"/>
                      <a:pt x="32663" y="0"/>
                      <a:pt x="44452" y="0"/>
                    </a:cubicBezTo>
                    <a:close/>
                  </a:path>
                </a:pathLst>
              </a:custGeom>
              <a:solidFill>
                <a:srgbClr val="BCE1EB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8C574D2-1C12-9D8A-560E-63BE75D9859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2188840" cy="1144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27B626C-F366-623C-F31B-11A2EA48D583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1E7ED0-66F9-F073-7B6B-AD950B083171}"/>
              </a:ext>
            </a:extLst>
          </p:cNvPr>
          <p:cNvSpPr/>
          <p:nvPr/>
        </p:nvSpPr>
        <p:spPr>
          <a:xfrm>
            <a:off x="6129339" y="1176635"/>
            <a:ext cx="67249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文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本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閱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讀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解 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D907EF-0324-E900-4DE0-A6C818BCB3E1}"/>
              </a:ext>
            </a:extLst>
          </p:cNvPr>
          <p:cNvSpPr/>
          <p:nvPr/>
        </p:nvSpPr>
        <p:spPr>
          <a:xfrm>
            <a:off x="1447800" y="2708423"/>
            <a:ext cx="32271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意義段三：</a:t>
            </a:r>
            <a:r>
              <a:rPr lang="en-US" altLang="zh-TW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sz="3200" b="1" kern="1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段</a:t>
            </a:r>
            <a:endParaRPr lang="zh-TW" altLang="zh-TW" sz="3200" b="1" kern="1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3A13699A-7B60-28D4-B409-AA89A8BA1842}"/>
              </a:ext>
            </a:extLst>
          </p:cNvPr>
          <p:cNvSpPr/>
          <p:nvPr/>
        </p:nvSpPr>
        <p:spPr>
          <a:xfrm rot="2237146">
            <a:off x="13284880" y="809491"/>
            <a:ext cx="1643835" cy="1441969"/>
          </a:xfrm>
          <a:custGeom>
            <a:avLst/>
            <a:gdLst/>
            <a:ahLst/>
            <a:cxnLst/>
            <a:rect l="l" t="t" r="r" b="b"/>
            <a:pathLst>
              <a:path w="4459052" h="3210518">
                <a:moveTo>
                  <a:pt x="0" y="0"/>
                </a:moveTo>
                <a:lnTo>
                  <a:pt x="4459052" y="0"/>
                </a:lnTo>
                <a:lnTo>
                  <a:pt x="4459052" y="3210518"/>
                </a:lnTo>
                <a:lnTo>
                  <a:pt x="0" y="32105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4A8976-EEE0-5E06-8134-CEF13103D10F}"/>
              </a:ext>
            </a:extLst>
          </p:cNvPr>
          <p:cNvSpPr/>
          <p:nvPr/>
        </p:nvSpPr>
        <p:spPr>
          <a:xfrm>
            <a:off x="1447801" y="3548615"/>
            <a:ext cx="16001999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寫字專注，父親給他什麼鼓勵？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寫字時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，筆握得牢，好好練習，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              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8A535A-A934-8974-4283-19F42B914C6F}"/>
              </a:ext>
            </a:extLst>
          </p:cNvPr>
          <p:cNvSpPr/>
          <p:nvPr/>
        </p:nvSpPr>
        <p:spPr>
          <a:xfrm>
            <a:off x="8458200" y="3771900"/>
            <a:ext cx="28719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000" kern="1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自我提問策略</a:t>
            </a:r>
            <a:endParaRPr lang="zh-TW" altLang="en-US" sz="2000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625DE9C-F0E8-FA9C-E65E-BF2478976143}"/>
              </a:ext>
            </a:extLst>
          </p:cNvPr>
          <p:cNvSpPr txBox="1"/>
          <p:nvPr/>
        </p:nvSpPr>
        <p:spPr>
          <a:xfrm>
            <a:off x="3352800" y="4411773"/>
            <a:ext cx="190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手中有勁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C480465-AAAA-D4DD-B4CE-2DE2AAA9E67C}"/>
              </a:ext>
            </a:extLst>
          </p:cNvPr>
          <p:cNvSpPr txBox="1"/>
          <p:nvPr/>
        </p:nvSpPr>
        <p:spPr>
          <a:xfrm>
            <a:off x="9829800" y="4381500"/>
            <a:ext cx="358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成就一定比父親好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1742911B-A2AD-3B4B-8344-4DC003B5F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25277"/>
              </p:ext>
            </p:extLst>
          </p:nvPr>
        </p:nvGraphicFramePr>
        <p:xfrm>
          <a:off x="1418664" y="5633115"/>
          <a:ext cx="16060271" cy="3257544"/>
        </p:xfrm>
        <a:graphic>
          <a:graphicData uri="http://schemas.openxmlformats.org/drawingml/2006/table">
            <a:tbl>
              <a:tblPr firstRow="1" firstCol="1" bandRow="1"/>
              <a:tblGrid>
                <a:gridCol w="1606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75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1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意義段三 ：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王羲之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鼓勵兒子</a:t>
                      </a:r>
                      <a:r>
                        <a:rPr lang="zh-TW" altLang="en-US" sz="4400" b="0" u="sng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王獻之</a:t>
                      </a:r>
                      <a:r>
                        <a:rPr lang="zh-TW" altLang="en-US" sz="4400" b="0" kern="100" dirty="0">
                          <a:solidFill>
                            <a:schemeClr val="tx2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，好好練習成就一定比他好。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56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8" name="群組 17"/>
          <p:cNvGrpSpPr/>
          <p:nvPr/>
        </p:nvGrpSpPr>
        <p:grpSpPr>
          <a:xfrm>
            <a:off x="5257800" y="647701"/>
            <a:ext cx="9016633" cy="1524000"/>
            <a:chOff x="9677400" y="2520481"/>
            <a:chExt cx="7037093" cy="2057759"/>
          </a:xfrm>
        </p:grpSpPr>
        <p:grpSp>
          <p:nvGrpSpPr>
            <p:cNvPr id="10" name="Group 10"/>
            <p:cNvGrpSpPr/>
            <p:nvPr/>
          </p:nvGrpSpPr>
          <p:grpSpPr>
            <a:xfrm>
              <a:off x="9677400" y="2520481"/>
              <a:ext cx="6808493" cy="2057759"/>
              <a:chOff x="0" y="0"/>
              <a:chExt cx="6301692" cy="19045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>
                  <a:alpha val="49804"/>
                </a:srgb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9906000" y="2520481"/>
              <a:ext cx="6808493" cy="2057759"/>
              <a:chOff x="0" y="0"/>
              <a:chExt cx="6301692" cy="190458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01692" cy="1904587"/>
              </a:xfrm>
              <a:custGeom>
                <a:avLst/>
                <a:gdLst/>
                <a:ahLst/>
                <a:cxnLst/>
                <a:rect l="l" t="t" r="r" b="b"/>
                <a:pathLst>
                  <a:path w="6301692" h="1904587">
                    <a:moveTo>
                      <a:pt x="57992" y="0"/>
                    </a:moveTo>
                    <a:lnTo>
                      <a:pt x="6243700" y="0"/>
                    </a:lnTo>
                    <a:cubicBezTo>
                      <a:pt x="6275728" y="0"/>
                      <a:pt x="6301692" y="25964"/>
                      <a:pt x="6301692" y="57992"/>
                    </a:cubicBezTo>
                    <a:lnTo>
                      <a:pt x="6301692" y="1846595"/>
                    </a:lnTo>
                    <a:cubicBezTo>
                      <a:pt x="6301692" y="1878623"/>
                      <a:pt x="6275728" y="1904587"/>
                      <a:pt x="6243700" y="1904587"/>
                    </a:cubicBezTo>
                    <a:lnTo>
                      <a:pt x="57992" y="1904587"/>
                    </a:lnTo>
                    <a:cubicBezTo>
                      <a:pt x="25964" y="1904587"/>
                      <a:pt x="0" y="1878623"/>
                      <a:pt x="0" y="1846595"/>
                    </a:cubicBezTo>
                    <a:lnTo>
                      <a:pt x="0" y="57992"/>
                    </a:lnTo>
                    <a:cubicBezTo>
                      <a:pt x="0" y="25964"/>
                      <a:pt x="25964" y="0"/>
                      <a:pt x="57992" y="0"/>
                    </a:cubicBezTo>
                    <a:close/>
                  </a:path>
                </a:pathLst>
              </a:custGeom>
              <a:solidFill>
                <a:srgbClr val="D67E7E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6301692" cy="19522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6" name="Freeform 16"/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399701" y="1002244"/>
            <a:ext cx="50257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  </a:t>
            </a:r>
            <a:r>
              <a:rPr lang="zh-TW" altLang="en-US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挑 戰 全 文 </a:t>
            </a:r>
            <a:r>
              <a:rPr lang="zh-TW" altLang="zh-TW" sz="5400" b="1" kern="100" dirty="0">
                <a:latin typeface="Calibri" panose="020F0502020204030204" pitchFamily="34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★</a:t>
            </a:r>
            <a:endParaRPr lang="zh-TW" altLang="zh-TW" sz="4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126834" y="2552700"/>
            <a:ext cx="15409988" cy="29565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如果你是</a:t>
            </a:r>
            <a:r>
              <a:rPr lang="zh-TW" altLang="en-US" sz="3200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王獻之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，受到父親的鼓勵後，對於你接下來的學習會有什麼具體的影響？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寫出自己的想法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22EB26B-14C5-CE51-7FAB-C572531C8F8D}"/>
              </a:ext>
            </a:extLst>
          </p:cNvPr>
          <p:cNvCxnSpPr>
            <a:cxnSpLocks/>
          </p:cNvCxnSpPr>
          <p:nvPr/>
        </p:nvCxnSpPr>
        <p:spPr>
          <a:xfrm>
            <a:off x="1295400" y="4895224"/>
            <a:ext cx="1490269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3B8F85-8F43-9783-DFD5-3C19E4E5384A}"/>
              </a:ext>
            </a:extLst>
          </p:cNvPr>
          <p:cNvSpPr txBox="1"/>
          <p:nvPr/>
        </p:nvSpPr>
        <p:spPr>
          <a:xfrm>
            <a:off x="1295400" y="4202439"/>
            <a:ext cx="128757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學生回答 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E1B300-3228-D897-5E6D-AFD0152CC0EF}"/>
              </a:ext>
            </a:extLst>
          </p:cNvPr>
          <p:cNvSpPr/>
          <p:nvPr/>
        </p:nvSpPr>
        <p:spPr>
          <a:xfrm>
            <a:off x="1126834" y="5266074"/>
            <a:ext cx="15071260" cy="443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2.【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小組合作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】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我們一起來挑戰一下，使用「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沒想到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」造句，再加入想像的情境讓文句拉長再拉長。</a:t>
            </a:r>
            <a:endParaRPr lang="en-US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★範例</a:t>
            </a:r>
          </a:p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❶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造句 </a:t>
            </a:r>
            <a:r>
              <a:rPr lang="en-US" altLang="zh-TW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天氣晴朗的午後，沒想到下一秒卻雷聲大作，下起了傾盆大雨。</a:t>
            </a:r>
          </a:p>
          <a:p>
            <a:pPr>
              <a:lnSpc>
                <a:spcPct val="150000"/>
              </a:lnSpc>
            </a:pPr>
            <a:endParaRPr lang="zh-TW" altLang="en-US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zh-TW" sz="3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76ADEE0E-D9A5-D28C-A436-0890E9AF2514}"/>
              </a:ext>
            </a:extLst>
          </p:cNvPr>
          <p:cNvSpPr/>
          <p:nvPr/>
        </p:nvSpPr>
        <p:spPr>
          <a:xfrm>
            <a:off x="7317372" y="8356623"/>
            <a:ext cx="1273175" cy="121037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A858AA-CE47-E548-C339-2C4E608B34D0}"/>
              </a:ext>
            </a:extLst>
          </p:cNvPr>
          <p:cNvSpPr/>
          <p:nvPr/>
        </p:nvSpPr>
        <p:spPr>
          <a:xfrm>
            <a:off x="3333601" y="9284755"/>
            <a:ext cx="2909082" cy="265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6A7C16-1773-2A35-A995-68AD42DE1988}"/>
              </a:ext>
            </a:extLst>
          </p:cNvPr>
          <p:cNvSpPr/>
          <p:nvPr/>
        </p:nvSpPr>
        <p:spPr>
          <a:xfrm>
            <a:off x="9144000" y="9284756"/>
            <a:ext cx="2909082" cy="2658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9741A6E-8121-C1E1-D5DA-B7A2ECB70F7F}"/>
              </a:ext>
            </a:extLst>
          </p:cNvPr>
          <p:cNvSpPr txBox="1"/>
          <p:nvPr/>
        </p:nvSpPr>
        <p:spPr>
          <a:xfrm>
            <a:off x="3474698" y="8577093"/>
            <a:ext cx="128757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應該不會下雨                </a:t>
            </a:r>
            <a:r>
              <a:rPr lang="zh-TW" altLang="en-US" sz="44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下雨了</a:t>
            </a:r>
            <a:endParaRPr lang="zh-TW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D9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0FF07-B0C1-B9B0-96CA-CC7327BC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1338D9-8790-C6C0-BAA7-1C18F248CA1D}"/>
              </a:ext>
            </a:extLst>
          </p:cNvPr>
          <p:cNvSpPr/>
          <p:nvPr/>
        </p:nvSpPr>
        <p:spPr>
          <a:xfrm>
            <a:off x="16198094" y="-325777"/>
            <a:ext cx="5910568" cy="4723539"/>
          </a:xfrm>
          <a:custGeom>
            <a:avLst/>
            <a:gdLst/>
            <a:ahLst/>
            <a:cxnLst/>
            <a:rect l="l" t="t" r="r" b="b"/>
            <a:pathLst>
              <a:path w="8015757" h="6878977">
                <a:moveTo>
                  <a:pt x="0" y="0"/>
                </a:moveTo>
                <a:lnTo>
                  <a:pt x="8015758" y="0"/>
                </a:lnTo>
                <a:lnTo>
                  <a:pt x="8015758" y="6878977"/>
                </a:lnTo>
                <a:lnTo>
                  <a:pt x="0" y="687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B5E5A7E-3C20-B52F-2D36-E4B5E88A7550}"/>
              </a:ext>
            </a:extLst>
          </p:cNvPr>
          <p:cNvSpPr/>
          <p:nvPr/>
        </p:nvSpPr>
        <p:spPr>
          <a:xfrm rot="1721810">
            <a:off x="-2668664" y="-3034820"/>
            <a:ext cx="6061775" cy="5466619"/>
          </a:xfrm>
          <a:custGeom>
            <a:avLst/>
            <a:gdLst/>
            <a:ahLst/>
            <a:cxnLst/>
            <a:rect l="l" t="t" r="r" b="b"/>
            <a:pathLst>
              <a:path w="6061775" h="5466619">
                <a:moveTo>
                  <a:pt x="0" y="0"/>
                </a:moveTo>
                <a:lnTo>
                  <a:pt x="6061775" y="0"/>
                </a:lnTo>
                <a:lnTo>
                  <a:pt x="6061775" y="5466619"/>
                </a:lnTo>
                <a:lnTo>
                  <a:pt x="0" y="5466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F9448EB-9072-7B77-E38A-483731CB28C0}"/>
              </a:ext>
            </a:extLst>
          </p:cNvPr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3E2D21-E227-2525-098D-FB44C2151982}"/>
              </a:ext>
            </a:extLst>
          </p:cNvPr>
          <p:cNvSpPr/>
          <p:nvPr/>
        </p:nvSpPr>
        <p:spPr>
          <a:xfrm>
            <a:off x="1608370" y="1098256"/>
            <a:ext cx="15071260" cy="9604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加入想像情境：</a:t>
            </a:r>
          </a:p>
          <a:p>
            <a:pPr>
              <a:lnSpc>
                <a:spcPct val="150000"/>
              </a:lnSpc>
            </a:pP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今天的天氣很適合野餐，媽媽準備了壽司和汽水，帶著我和弟弟開心出發。就在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天氣晴朗的午後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，我們開心享受美味的壽司時，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沒想到下一秒卻雷聲大作，下起了傾盆大雨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，把我們淋成落湯雞。</a:t>
            </a:r>
            <a:endParaRPr lang="en-US" altLang="zh-TW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★小組挑戰一下</a:t>
            </a:r>
          </a:p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❶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造句 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 …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沒想到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卻</a:t>
            </a: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altLang="zh-TW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❷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加入想像情境： </a:t>
            </a:r>
          </a:p>
          <a:p>
            <a:pPr>
              <a:lnSpc>
                <a:spcPct val="150000"/>
              </a:lnSpc>
            </a:pPr>
            <a:endParaRPr lang="zh-TW" altLang="en-US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en-US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altLang="zh-TW" sz="3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ACF1914-1001-A4E6-F804-E5CCAE2C8ED2}"/>
              </a:ext>
            </a:extLst>
          </p:cNvPr>
          <p:cNvCxnSpPr>
            <a:cxnSpLocks/>
          </p:cNvCxnSpPr>
          <p:nvPr/>
        </p:nvCxnSpPr>
        <p:spPr>
          <a:xfrm>
            <a:off x="2209800" y="6819900"/>
            <a:ext cx="1446983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向右箭號 7">
            <a:extLst>
              <a:ext uri="{FF2B5EF4-FFF2-40B4-BE49-F238E27FC236}">
                <a16:creationId xmlns:a16="http://schemas.microsoft.com/office/drawing/2014/main" id="{880E6DDB-193D-A63C-B2EF-22E305D60DA7}"/>
              </a:ext>
            </a:extLst>
          </p:cNvPr>
          <p:cNvSpPr/>
          <p:nvPr/>
        </p:nvSpPr>
        <p:spPr>
          <a:xfrm>
            <a:off x="2255479" y="8176547"/>
            <a:ext cx="1038226" cy="39594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F8639D8C-1AB9-56D2-8B98-E727354A27ED}"/>
              </a:ext>
            </a:extLst>
          </p:cNvPr>
          <p:cNvSpPr/>
          <p:nvPr/>
        </p:nvSpPr>
        <p:spPr>
          <a:xfrm>
            <a:off x="3650964" y="8026417"/>
            <a:ext cx="1038225" cy="7746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0A73F1AF-8A6E-9D77-2FA9-E6155B5A985A}"/>
              </a:ext>
            </a:extLst>
          </p:cNvPr>
          <p:cNvSpPr/>
          <p:nvPr/>
        </p:nvSpPr>
        <p:spPr>
          <a:xfrm>
            <a:off x="5552951" y="8026417"/>
            <a:ext cx="1247165" cy="7746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E04FE8F6-CE33-FD3E-3947-26E20B08EC90}"/>
              </a:ext>
            </a:extLst>
          </p:cNvPr>
          <p:cNvSpPr/>
          <p:nvPr/>
        </p:nvSpPr>
        <p:spPr>
          <a:xfrm>
            <a:off x="7785424" y="8026417"/>
            <a:ext cx="1247165" cy="7746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5F5A81E2-006C-7DDB-2B38-E87A0448C82E}"/>
              </a:ext>
            </a:extLst>
          </p:cNvPr>
          <p:cNvSpPr/>
          <p:nvPr/>
        </p:nvSpPr>
        <p:spPr>
          <a:xfrm>
            <a:off x="10023189" y="8026417"/>
            <a:ext cx="1792564" cy="77468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8E105C6-6735-64C5-FD88-AC712A764AC1}"/>
              </a:ext>
            </a:extLst>
          </p:cNvPr>
          <p:cNvSpPr txBox="1"/>
          <p:nvPr/>
        </p:nvSpPr>
        <p:spPr>
          <a:xfrm>
            <a:off x="3812060" y="8096253"/>
            <a:ext cx="128757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誰   ＋   時間  ＋   地點   ＋   做什麼</a:t>
            </a:r>
            <a:endParaRPr lang="zh-TW" altLang="en-US" sz="4000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870F8376-4A90-1929-90E2-71540F50940F}"/>
              </a:ext>
            </a:extLst>
          </p:cNvPr>
          <p:cNvCxnSpPr>
            <a:cxnSpLocks/>
          </p:cNvCxnSpPr>
          <p:nvPr/>
        </p:nvCxnSpPr>
        <p:spPr>
          <a:xfrm>
            <a:off x="2209800" y="9639300"/>
            <a:ext cx="1446983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59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E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3887">
            <a:off x="-1943197" y="5287779"/>
            <a:ext cx="4826491" cy="5189775"/>
          </a:xfrm>
          <a:custGeom>
            <a:avLst/>
            <a:gdLst/>
            <a:ahLst/>
            <a:cxnLst/>
            <a:rect l="l" t="t" r="r" b="b"/>
            <a:pathLst>
              <a:path w="4826491" h="5189775">
                <a:moveTo>
                  <a:pt x="0" y="0"/>
                </a:moveTo>
                <a:lnTo>
                  <a:pt x="4826491" y="0"/>
                </a:lnTo>
                <a:lnTo>
                  <a:pt x="4826491" y="5189775"/>
                </a:lnTo>
                <a:lnTo>
                  <a:pt x="0" y="518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1721810">
            <a:off x="14757223" y="-765765"/>
            <a:ext cx="3979661" cy="3588931"/>
          </a:xfrm>
          <a:custGeom>
            <a:avLst/>
            <a:gdLst/>
            <a:ahLst/>
            <a:cxnLst/>
            <a:rect l="l" t="t" r="r" b="b"/>
            <a:pathLst>
              <a:path w="3979661" h="3588931">
                <a:moveTo>
                  <a:pt x="0" y="0"/>
                </a:moveTo>
                <a:lnTo>
                  <a:pt x="3979661" y="0"/>
                </a:lnTo>
                <a:lnTo>
                  <a:pt x="3979661" y="3588930"/>
                </a:lnTo>
                <a:lnTo>
                  <a:pt x="0" y="3588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>
            <a:off x="3860710" y="-1729344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2" y="0"/>
                </a:lnTo>
                <a:lnTo>
                  <a:pt x="3213822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>
            <a:off x="12172156" y="9258300"/>
            <a:ext cx="3213823" cy="2758044"/>
          </a:xfrm>
          <a:custGeom>
            <a:avLst/>
            <a:gdLst/>
            <a:ahLst/>
            <a:cxnLst/>
            <a:rect l="l" t="t" r="r" b="b"/>
            <a:pathLst>
              <a:path w="3213823" h="2758044">
                <a:moveTo>
                  <a:pt x="0" y="0"/>
                </a:moveTo>
                <a:lnTo>
                  <a:pt x="3213823" y="0"/>
                </a:lnTo>
                <a:lnTo>
                  <a:pt x="3213823" y="2758044"/>
                </a:lnTo>
                <a:lnTo>
                  <a:pt x="0" y="275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>
            <a:off x="14139970" y="5600700"/>
            <a:ext cx="3878036" cy="4686300"/>
          </a:xfrm>
          <a:custGeom>
            <a:avLst/>
            <a:gdLst/>
            <a:ahLst/>
            <a:cxnLst/>
            <a:rect l="l" t="t" r="r" b="b"/>
            <a:pathLst>
              <a:path w="5308092" h="8229600">
                <a:moveTo>
                  <a:pt x="0" y="0"/>
                </a:moveTo>
                <a:lnTo>
                  <a:pt x="5308092" y="0"/>
                </a:lnTo>
                <a:lnTo>
                  <a:pt x="5308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9" name="Freeform 19"/>
          <p:cNvSpPr/>
          <p:nvPr/>
        </p:nvSpPr>
        <p:spPr>
          <a:xfrm>
            <a:off x="0" y="0"/>
            <a:ext cx="2535735" cy="494468"/>
          </a:xfrm>
          <a:custGeom>
            <a:avLst/>
            <a:gdLst/>
            <a:ahLst/>
            <a:cxnLst/>
            <a:rect l="l" t="t" r="r" b="b"/>
            <a:pathLst>
              <a:path w="2535735" h="494468">
                <a:moveTo>
                  <a:pt x="0" y="0"/>
                </a:moveTo>
                <a:lnTo>
                  <a:pt x="2535735" y="0"/>
                </a:lnTo>
                <a:lnTo>
                  <a:pt x="2535735" y="494468"/>
                </a:lnTo>
                <a:lnTo>
                  <a:pt x="0" y="4944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1255462" y="3808331"/>
            <a:ext cx="1600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本課閱讀理解提問單</a:t>
            </a:r>
            <a:endParaRPr lang="en-US" altLang="zh-TW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學習完畢</a:t>
            </a:r>
            <a:r>
              <a:rPr lang="en-US" altLang="zh-TW" sz="9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!</a:t>
            </a:r>
            <a:endParaRPr lang="zh-TW" altLang="en-US" sz="9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1133</Words>
  <Application>Microsoft Macintosh PowerPoint</Application>
  <PresentationFormat>自訂</PresentationFormat>
  <Paragraphs>128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微軟正黑體</vt:lpstr>
      <vt:lpstr>Arial</vt:lpstr>
      <vt:lpstr>王漢宗特黑體</vt:lpstr>
      <vt:lpstr>微軟正黑體</vt:lpstr>
      <vt:lpstr>Calibri</vt:lpstr>
      <vt:lpstr>標楷體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趙曼貽</dc:creator>
  <cp:lastModifiedBy>綺雯 林</cp:lastModifiedBy>
  <cp:revision>49</cp:revision>
  <dcterms:created xsi:type="dcterms:W3CDTF">2006-08-16T00:00:00Z</dcterms:created>
  <dcterms:modified xsi:type="dcterms:W3CDTF">2025-10-05T14:46:18Z</dcterms:modified>
  <dc:identifier>DAGWD1Ntyd0</dc:identifier>
</cp:coreProperties>
</file>