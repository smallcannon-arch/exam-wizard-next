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68" r:id="rId5"/>
    <p:sldId id="258" r:id="rId6"/>
    <p:sldId id="269" r:id="rId7"/>
    <p:sldId id="277" r:id="rId8"/>
    <p:sldId id="272" r:id="rId9"/>
    <p:sldId id="279" r:id="rId10"/>
    <p:sldId id="280" r:id="rId11"/>
    <p:sldId id="281" r:id="rId12"/>
    <p:sldId id="259" r:id="rId13"/>
    <p:sldId id="266" r:id="rId14"/>
  </p:sldIdLst>
  <p:sldSz cx="18288000" cy="10287000"/>
  <p:notesSz cx="6858000" cy="9144000"/>
  <p:embeddedFontLst>
    <p:embeddedFont>
      <p:font typeface="王漢宗特黑體" panose="02000500000000000000" pitchFamily="2" charset="-120"/>
      <p:regular r:id="rId16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標楷體" panose="03000509000000000000" pitchFamily="49" charset="-12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2C7"/>
    <a:srgbClr val="CBC1DA"/>
    <a:srgbClr val="EBD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27" autoAdjust="0"/>
    <p:restoredTop sz="95214" autoAdjust="0"/>
  </p:normalViewPr>
  <p:slideViewPr>
    <p:cSldViewPr>
      <p:cViewPr>
        <p:scale>
          <a:sx n="63" d="100"/>
          <a:sy n="63" d="100"/>
        </p:scale>
        <p:origin x="-216" y="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4.sv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4.sv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4.sv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4.sv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4.sv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4.sv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5283822" y="5528501"/>
            <a:ext cx="82239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L02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還差一點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714499" y="2674406"/>
            <a:ext cx="14363701" cy="4145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這課是接續上一課來的。請你試著從課名「還差一點」和前一課文本內容做個連結，想一想，你覺得可能是什麼事情還差一點呢？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我覺得可能是 </a:t>
            </a:r>
            <a:r>
              <a:rPr lang="zh-TW" altLang="en-US" sz="36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   </a:t>
            </a: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還差一點。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en-US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zh-TW" sz="36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4985476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72000" y="2538390"/>
            <a:ext cx="2057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連結線索</a:t>
            </a:r>
            <a:endParaRPr lang="en-US" altLang="zh-TW" sz="24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轉折詞</a:t>
            </a:r>
            <a:r>
              <a:rPr lang="en-US" altLang="zh-TW" sz="24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4066794"/>
            <a:ext cx="15369913" cy="59111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讀一讀下面的句子，圈出「卻」，你發現了什麼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更加努力練習，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沒有進步。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句子中使用「卻」，我發現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後面句子和前面句子的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出現大轉變。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使用「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」造句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                     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A2F625-3185-E4EF-B575-D2BB7508925C}"/>
              </a:ext>
            </a:extLst>
          </p:cNvPr>
          <p:cNvSpPr/>
          <p:nvPr/>
        </p:nvSpPr>
        <p:spPr>
          <a:xfrm>
            <a:off x="6017986" y="4966528"/>
            <a:ext cx="459014" cy="526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663AB32-F6E0-7E06-E1C6-A5A8B81B1E31}"/>
              </a:ext>
            </a:extLst>
          </p:cNvPr>
          <p:cNvSpPr txBox="1"/>
          <p:nvPr/>
        </p:nvSpPr>
        <p:spPr>
          <a:xfrm>
            <a:off x="11506200" y="5676900"/>
            <a:ext cx="2038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意思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結果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9317323-12BF-5177-856D-DA432662854D}"/>
              </a:ext>
            </a:extLst>
          </p:cNvPr>
          <p:cNvCxnSpPr>
            <a:cxnSpLocks/>
          </p:cNvCxnSpPr>
          <p:nvPr/>
        </p:nvCxnSpPr>
        <p:spPr>
          <a:xfrm>
            <a:off x="1524000" y="8420100"/>
            <a:ext cx="1600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89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275287" y="872739"/>
            <a:ext cx="61606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pSp>
        <p:nvGrpSpPr>
          <p:cNvPr id="11" name="Group 8">
            <a:extLst>
              <a:ext uri="{FF2B5EF4-FFF2-40B4-BE49-F238E27FC236}">
                <a16:creationId xmlns:a16="http://schemas.microsoft.com/office/drawing/2014/main" id="{6911D095-CB98-5620-DD13-D6926BB6C83E}"/>
              </a:ext>
            </a:extLst>
          </p:cNvPr>
          <p:cNvGrpSpPr/>
          <p:nvPr/>
        </p:nvGrpSpPr>
        <p:grpSpPr>
          <a:xfrm>
            <a:off x="1013460" y="2343663"/>
            <a:ext cx="5325946" cy="1275837"/>
            <a:chOff x="0" y="0"/>
            <a:chExt cx="2188840" cy="1097141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F887489-A9CD-A0DD-FF6F-C2476A64545E}"/>
                </a:ext>
              </a:extLst>
            </p:cNvPr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4AC62363-3FDA-17E4-FCCC-E6C10B29A51E}"/>
                </a:ext>
              </a:extLst>
            </p:cNvPr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C530AE00-DD39-8569-B105-DB2CC93E1725}"/>
              </a:ext>
            </a:extLst>
          </p:cNvPr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任務二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64F9F5-8B24-DA2F-5043-C92ECDFBDF9B}"/>
              </a:ext>
            </a:extLst>
          </p:cNvPr>
          <p:cNvSpPr/>
          <p:nvPr/>
        </p:nvSpPr>
        <p:spPr>
          <a:xfrm>
            <a:off x="4643768" y="2531678"/>
            <a:ext cx="2057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en-US" altLang="zh-TW" sz="28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擴展詞彙</a:t>
            </a:r>
            <a:endParaRPr lang="en-US" altLang="zh-TW" sz="28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6F2B1D-8CA7-8820-4C23-6219A1AAFD4F}"/>
              </a:ext>
            </a:extLst>
          </p:cNvPr>
          <p:cNvSpPr/>
          <p:nvPr/>
        </p:nvSpPr>
        <p:spPr>
          <a:xfrm>
            <a:off x="1013461" y="3778978"/>
            <a:ext cx="158267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請以「見」為部件，加上偏旁形成另一個新字後，再造一個詞。請小心造詞，因為最後是使用你造的詞來造</a:t>
            </a:r>
            <a:r>
              <a:rPr lang="zh-TW" altLang="en-US" sz="3200" b="1" kern="10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長句呵！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8D63E5F-9B3E-8C29-1F66-3135DA199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708"/>
              </p:ext>
            </p:extLst>
          </p:nvPr>
        </p:nvGraphicFramePr>
        <p:xfrm>
          <a:off x="2183754" y="5234277"/>
          <a:ext cx="15318672" cy="450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709">
                  <a:extLst>
                    <a:ext uri="{9D8B030D-6E8A-4147-A177-3AD203B41FA5}">
                      <a16:colId xmlns:a16="http://schemas.microsoft.com/office/drawing/2014/main" val="741857881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821507824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3724771510"/>
                    </a:ext>
                  </a:extLst>
                </a:gridCol>
                <a:gridCol w="7846471">
                  <a:extLst>
                    <a:ext uri="{9D8B030D-6E8A-4147-A177-3AD203B41FA5}">
                      <a16:colId xmlns:a16="http://schemas.microsoft.com/office/drawing/2014/main" val="765254266"/>
                    </a:ext>
                  </a:extLst>
                </a:gridCol>
              </a:tblGrid>
              <a:tr h="1060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加偏旁成新字</a:t>
                      </a: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注音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造詞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句中放入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並加入想像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情境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，最後也要加入自己的 </a:t>
                      </a:r>
                      <a:r>
                        <a:rPr lang="zh-TW" altLang="en-US" sz="28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感受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，成為完整一小段 </a:t>
                      </a:r>
                      <a:r>
                        <a:rPr lang="en-US" altLang="zh-TW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07250"/>
                  </a:ext>
                </a:extLst>
              </a:tr>
              <a:tr h="1721709">
                <a:tc rowSpan="2"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r>
                        <a:rPr lang="zh-TW" alt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見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28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612334"/>
                  </a:ext>
                </a:extLst>
              </a:tr>
              <a:tr h="172170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endParaRPr lang="zh-TW" sz="28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21993"/>
                  </a:ext>
                </a:extLst>
              </a:tr>
            </a:tbl>
          </a:graphicData>
        </a:graphic>
      </p:graphicFrame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C3F2238-E963-9663-C157-0292A9788346}"/>
              </a:ext>
            </a:extLst>
          </p:cNvPr>
          <p:cNvCxnSpPr>
            <a:cxnSpLocks/>
          </p:cNvCxnSpPr>
          <p:nvPr/>
        </p:nvCxnSpPr>
        <p:spPr>
          <a:xfrm>
            <a:off x="9906000" y="71247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281C96C8-CE8C-A074-B354-182A7DC00FC5}"/>
              </a:ext>
            </a:extLst>
          </p:cNvPr>
          <p:cNvCxnSpPr>
            <a:cxnSpLocks/>
          </p:cNvCxnSpPr>
          <p:nvPr/>
        </p:nvCxnSpPr>
        <p:spPr>
          <a:xfrm>
            <a:off x="9906000" y="80391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C930821-D35C-C8BB-718B-5D5A70F0AC14}"/>
              </a:ext>
            </a:extLst>
          </p:cNvPr>
          <p:cNvCxnSpPr>
            <a:cxnSpLocks/>
          </p:cNvCxnSpPr>
          <p:nvPr/>
        </p:nvCxnSpPr>
        <p:spPr>
          <a:xfrm>
            <a:off x="9906000" y="89535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24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91963" y="2643809"/>
            <a:ext cx="1599966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把自然段中在說相同事情的段落歸類成一大段，成為「意義段」。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17223" y="2749040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4725770"/>
            <a:ext cx="82974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71164"/>
              </p:ext>
            </p:extLst>
          </p:nvPr>
        </p:nvGraphicFramePr>
        <p:xfrm>
          <a:off x="2535735" y="5656134"/>
          <a:ext cx="13999665" cy="2459166"/>
        </p:xfrm>
        <a:graphic>
          <a:graphicData uri="http://schemas.openxmlformats.org/drawingml/2006/table">
            <a:tbl>
              <a:tblPr firstRow="1" firstCol="1" bandRow="1"/>
              <a:tblGrid>
                <a:gridCol w="2645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0"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一、努力卻沒進步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二、努力練習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三、成就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1" kern="10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kern="1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8-9</a:t>
                      </a:r>
                      <a:endParaRPr lang="zh-TW" altLang="en-US" sz="3200" b="1" kern="1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400800" y="4664214"/>
            <a:ext cx="44654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—</a:t>
            </a: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故事體 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24938F-D287-646D-7D8D-37F5CB50B344}"/>
              </a:ext>
            </a:extLst>
          </p:cNvPr>
          <p:cNvSpPr/>
          <p:nvPr/>
        </p:nvSpPr>
        <p:spPr>
          <a:xfrm>
            <a:off x="6680597" y="7225724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1E97AB-0E69-09C8-5E0C-501BD3DB561A}"/>
              </a:ext>
            </a:extLst>
          </p:cNvPr>
          <p:cNvSpPr/>
          <p:nvPr/>
        </p:nvSpPr>
        <p:spPr>
          <a:xfrm>
            <a:off x="10541198" y="7225725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2" y="3548615"/>
            <a:ext cx="15632130" cy="4445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段文本中，可以知道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練習書法過程中，遇到什麼困難？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發現自己努力練習後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圈出「卻」，再讀一讀前後文句，你發現了什麼？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❶</a:t>
            </a:r>
            <a:r>
              <a:rPr lang="zh-TW" altLang="en-US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在「卻」前面的句子，意思和後面句子的意思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❷</a:t>
            </a:r>
            <a:r>
              <a:rPr lang="zh-TW" altLang="en-US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重點會落在哪一句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 (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前句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後句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 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圈出即可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8" name="矩形 27"/>
          <p:cNvSpPr/>
          <p:nvPr/>
        </p:nvSpPr>
        <p:spPr>
          <a:xfrm>
            <a:off x="5562600" y="4390266"/>
            <a:ext cx="2458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卻沒進步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39DCBD-7560-FCB8-58D4-CA9AC68C3ECF}"/>
              </a:ext>
            </a:extLst>
          </p:cNvPr>
          <p:cNvSpPr/>
          <p:nvPr/>
        </p:nvSpPr>
        <p:spPr>
          <a:xfrm>
            <a:off x="14174151" y="3788759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99E5F1-4451-3832-2ED8-FAD0460FDC10}"/>
              </a:ext>
            </a:extLst>
          </p:cNvPr>
          <p:cNvSpPr/>
          <p:nvPr/>
        </p:nvSpPr>
        <p:spPr>
          <a:xfrm>
            <a:off x="10648119" y="6576233"/>
            <a:ext cx="2458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不一樣 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0780C875-C968-5C03-77F7-25D8D34C1EF6}"/>
              </a:ext>
            </a:extLst>
          </p:cNvPr>
          <p:cNvSpPr/>
          <p:nvPr/>
        </p:nvSpPr>
        <p:spPr>
          <a:xfrm>
            <a:off x="7848600" y="7277100"/>
            <a:ext cx="990600" cy="7404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29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4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9F16A-19F1-806A-7B22-6EC57C22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A55BEE-07D8-6DEF-BFDD-38192B988DD4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321B15B-99E2-1124-D122-03F7ACAC8E7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A032861-9588-615A-1C23-042EFB0E0524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19C352C3-AD09-A133-E013-7F5B0A9FB9BA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25C36CB-BC20-0133-67FD-40963258A3BC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424BA0F8-4034-1760-60E4-700413ADFF16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51C6C36-81B8-9DF6-EE9A-A29C966E7F3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F6560B7C-8C8E-426B-9C88-C2C58DC8A1AF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ECFC77C-6A5A-8E8C-2431-A764008C1448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88B90F9A-24C8-D604-6F6E-9C5D2BF73D0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61BBAB4-E68B-9947-77BF-07BA3C01A708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07E1F3-FEF7-942B-98AF-21E6FFDC3359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ACA47B-5C6A-F838-2800-366F10745A29}"/>
              </a:ext>
            </a:extLst>
          </p:cNvPr>
          <p:cNvSpPr/>
          <p:nvPr/>
        </p:nvSpPr>
        <p:spPr>
          <a:xfrm>
            <a:off x="1447800" y="2708423"/>
            <a:ext cx="3329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41DBCCEB-F689-67F3-456E-DFD4CEE4B415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F92B70C-264E-D0AD-E927-4922BFD31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585032"/>
              </p:ext>
            </p:extLst>
          </p:nvPr>
        </p:nvGraphicFramePr>
        <p:xfrm>
          <a:off x="1709873" y="4382708"/>
          <a:ext cx="15563850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556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王獻之</a:t>
                      </a: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努力練習卻沒什麼進步。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85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2-7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0" y="3410611"/>
            <a:ext cx="16306800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題，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用什麼方式解決自己的問題。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924230" y="3674935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連結文本因果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3694451-8262-74F3-170C-7F485E696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711306"/>
              </p:ext>
            </p:extLst>
          </p:nvPr>
        </p:nvGraphicFramePr>
        <p:xfrm>
          <a:off x="1447800" y="4600527"/>
          <a:ext cx="15735300" cy="48101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1693767188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112613509"/>
                    </a:ext>
                  </a:extLst>
                </a:gridCol>
                <a:gridCol w="3933825">
                  <a:extLst>
                    <a:ext uri="{9D8B030D-6E8A-4147-A177-3AD203B41FA5}">
                      <a16:colId xmlns:a16="http://schemas.microsoft.com/office/drawing/2014/main" val="3816076624"/>
                    </a:ext>
                  </a:extLst>
                </a:gridCol>
                <a:gridCol w="3933825">
                  <a:extLst>
                    <a:ext uri="{9D8B030D-6E8A-4147-A177-3AD203B41FA5}">
                      <a16:colId xmlns:a16="http://schemas.microsoft.com/office/drawing/2014/main" val="3651286074"/>
                    </a:ext>
                  </a:extLst>
                </a:gridCol>
              </a:tblGrid>
              <a:tr h="6427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解決問題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父親回應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母親回應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b="1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王獻之</a:t>
                      </a:r>
                      <a:r>
                        <a:rPr lang="zh-TW" sz="3200" b="1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的感受</a:t>
                      </a:r>
                      <a:endParaRPr lang="zh-TW" sz="3200" b="1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217902"/>
                  </a:ext>
                </a:extLst>
              </a:tr>
              <a:tr h="12749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①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問父親祕訣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寫完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⑤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822570"/>
                  </a:ext>
                </a:extLst>
              </a:tr>
              <a:tr h="964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②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早晚練習，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不服氣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661494"/>
                  </a:ext>
                </a:extLst>
              </a:tr>
              <a:tr h="964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③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埋頭再練</a:t>
                      </a:r>
                      <a:r>
                        <a:rPr lang="zh-TW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)</a:t>
                      </a:r>
                      <a:r>
                        <a:rPr lang="zh-TW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年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有父親的味道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好難過，服氣</a:t>
                      </a:r>
                      <a:endParaRPr lang="zh-TW" sz="32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012658"/>
                  </a:ext>
                </a:extLst>
              </a:tr>
              <a:tr h="964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④ 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下定決心苦練，幾年後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⑥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308350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F9F5744-78F8-52E6-0730-3930F85CACAA}"/>
              </a:ext>
            </a:extLst>
          </p:cNvPr>
          <p:cNvSpPr/>
          <p:nvPr/>
        </p:nvSpPr>
        <p:spPr>
          <a:xfrm>
            <a:off x="4571070" y="6713225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47F998-3FDE-CBC7-00DE-660E95ABCC24}"/>
              </a:ext>
            </a:extLst>
          </p:cNvPr>
          <p:cNvSpPr/>
          <p:nvPr/>
        </p:nvSpPr>
        <p:spPr>
          <a:xfrm>
            <a:off x="4571070" y="7697321"/>
            <a:ext cx="106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200" b="1" kern="1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8A5126-ED17-41EB-8F4E-68EC22F69C57}"/>
              </a:ext>
            </a:extLst>
          </p:cNvPr>
          <p:cNvSpPr/>
          <p:nvPr/>
        </p:nvSpPr>
        <p:spPr>
          <a:xfrm>
            <a:off x="7021678" y="5369150"/>
            <a:ext cx="1981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十八缸水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FFA704-83A7-9028-8DEB-4DBB751EC15D}"/>
              </a:ext>
            </a:extLst>
          </p:cNvPr>
          <p:cNvSpPr/>
          <p:nvPr/>
        </p:nvSpPr>
        <p:spPr>
          <a:xfrm>
            <a:off x="10363200" y="6782921"/>
            <a:ext cx="1981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有點樣子 </a:t>
            </a:r>
            <a:endParaRPr lang="en-US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3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7BBBD-BBA8-F235-074E-2D39B5B3D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1FA453-6494-4D96-C68C-16AE782A4F6B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39E77E-3D5A-897A-E0A4-8AA11A7DDC6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7A6BC2-9623-A997-BB1F-D302E172847A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070E957-B7EB-3683-7EC6-F6D26AB57564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005EFC5-8526-FD62-2EFA-CED069DDDAAD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F9D8F74-188F-D209-E92F-A6284722F14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14EB7A2-D64B-04CC-5342-4041F7E4843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9AC820F-C8EF-6A7A-EB5B-8E6FCA188715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447BE8DF-3AEA-EDBD-0E4B-2A588B22BB90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9EF36525-004C-FBDA-7357-730BF3BBEAE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5FDAE92-E35F-B79E-3D0B-54D232EA27C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BE031B-9F1F-1723-795E-84FE51D85975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0A3C05-5614-D108-D96F-D5D45BF22F60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2-7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C26C39B5-AB93-9A20-BFAA-572A741168E1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9DF0E9-DEBF-46B1-0F84-2BFE5C9E8AB9}"/>
              </a:ext>
            </a:extLst>
          </p:cNvPr>
          <p:cNvSpPr/>
          <p:nvPr/>
        </p:nvSpPr>
        <p:spPr>
          <a:xfrm>
            <a:off x="1447800" y="3548615"/>
            <a:ext cx="16306800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承接上題，請你試著推論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之的感受。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⑤</a:t>
            </a: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問完父親祕訣後，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的感受如何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請從之後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早晚練習的行為反應進行推論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</a:t>
            </a:r>
            <a:b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⑥</a:t>
            </a: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段，王獻之下定決心後的幾年，書法字被誇的結果，推論感受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F690767-8B17-0B4E-0486-1B7A5F515F90}"/>
              </a:ext>
            </a:extLst>
          </p:cNvPr>
          <p:cNvSpPr/>
          <p:nvPr/>
        </p:nvSpPr>
        <p:spPr>
          <a:xfrm>
            <a:off x="11047648" y="5902887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推論策略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6ED37CC-63F9-AF58-735A-CAED286E29A5}"/>
              </a:ext>
            </a:extLst>
          </p:cNvPr>
          <p:cNvCxnSpPr>
            <a:cxnSpLocks/>
          </p:cNvCxnSpPr>
          <p:nvPr/>
        </p:nvCxnSpPr>
        <p:spPr>
          <a:xfrm>
            <a:off x="2492468" y="6438900"/>
            <a:ext cx="848033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DFBA0CE1-BD94-5FA9-C9A9-F549D1364C72}"/>
              </a:ext>
            </a:extLst>
          </p:cNvPr>
          <p:cNvSpPr/>
          <p:nvPr/>
        </p:nvSpPr>
        <p:spPr>
          <a:xfrm>
            <a:off x="2095134" y="5854125"/>
            <a:ext cx="27816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充滿鬥志 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4844205-CB51-414B-D373-C59E63FF1F72}"/>
              </a:ext>
            </a:extLst>
          </p:cNvPr>
          <p:cNvSpPr/>
          <p:nvPr/>
        </p:nvSpPr>
        <p:spPr>
          <a:xfrm>
            <a:off x="11047648" y="7334190"/>
            <a:ext cx="55639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推論策略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2FC03B68-D1EF-AB32-4694-D2C020146622}"/>
              </a:ext>
            </a:extLst>
          </p:cNvPr>
          <p:cNvCxnSpPr>
            <a:cxnSpLocks/>
          </p:cNvCxnSpPr>
          <p:nvPr/>
        </p:nvCxnSpPr>
        <p:spPr>
          <a:xfrm>
            <a:off x="2530568" y="7844502"/>
            <a:ext cx="848033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B7576F5A-CE83-0717-A315-0D1C43D4C392}"/>
              </a:ext>
            </a:extLst>
          </p:cNvPr>
          <p:cNvSpPr/>
          <p:nvPr/>
        </p:nvSpPr>
        <p:spPr>
          <a:xfrm>
            <a:off x="2133234" y="7259727"/>
            <a:ext cx="38103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苦練有成，自信 </a:t>
            </a:r>
          </a:p>
        </p:txBody>
      </p:sp>
    </p:spTree>
    <p:extLst>
      <p:ext uri="{BB962C8B-B14F-4D97-AF65-F5344CB8AC3E}">
        <p14:creationId xmlns:p14="http://schemas.microsoft.com/office/powerpoint/2010/main" val="378553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2C725-B121-09F9-9691-409FF5C9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2621C4-F0E5-0A80-2610-347D0F2D3EAD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C0F7F4-EA9F-E164-E066-BA3E694DBCA7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2EBFF50-0F0B-EEB3-BD54-10CBC5CC810B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42BA54F-D84D-B6EF-7925-27F0D0E3EC5C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758DA64-9CF7-4C40-9EB3-54283899AD58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1B18D555-FCC0-63A6-1DE7-7CA579FC5DA9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22EDAF62-427F-51E3-CAF6-42B52F548C3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B38C3BC6-45FF-FAEE-BF5D-A5BB33583F1E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760CBD77-D476-1FD0-BC9B-B78330C93A77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79BD63D6-D7CB-A75C-95A7-6CC34B7ABF8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2E7F4469-3F23-7FCA-2AA6-CE2A7192AFE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E992D5-6521-F5D8-2226-51A8790BC948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17EA26-523F-A8FD-16A7-93018048AC5E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2-7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6CB345A-C8C3-5C85-5571-BB7BBF29293B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4C016B7D-8383-EE9E-AA87-DD0A60530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525686"/>
              </p:ext>
            </p:extLst>
          </p:nvPr>
        </p:nvGraphicFramePr>
        <p:xfrm>
          <a:off x="1447800" y="4062126"/>
          <a:ext cx="16060271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問父親把字練好祕訣，努力練習。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49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1BC47-264D-231D-C4E6-B6A55D8CE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35E670-BACB-0C65-4DEB-E3F1CB8906EC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0C828A-9588-08DA-75F2-62084852FD6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F654C3-9113-A9D5-DAC7-B453ECA98D87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5FF305B-A399-5A15-A6CC-173C2527743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18C3968-1529-09D5-4F11-4A91DB1D15BA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2DD2775D-25FC-F8C5-6DAB-448ADDF5058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960063D-8F0F-A06E-8E7C-6B553D9CF4F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FDBF287-168B-E7AA-7EBE-41535B5E04DB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6388714-C790-CE17-551D-375ACD1363B4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D9572BA-BF08-45A6-8BA5-177AE86EEF0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FE8FB98-BA22-EE14-2170-D4B6BF96D85C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D80834-70AE-B588-ABAB-3F7C39F45DBA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8C494F-029A-3CD9-8FA7-CD27553EE1EC}"/>
              </a:ext>
            </a:extLst>
          </p:cNvPr>
          <p:cNvSpPr/>
          <p:nvPr/>
        </p:nvSpPr>
        <p:spPr>
          <a:xfrm>
            <a:off x="1447800" y="2708423"/>
            <a:ext cx="3752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8-9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0E7EF3C4-02FE-8BA1-CA00-56196B9CCD24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F1CFB2-EF05-C320-7F87-B6655D92E985}"/>
              </a:ext>
            </a:extLst>
          </p:cNvPr>
          <p:cNvSpPr/>
          <p:nvPr/>
        </p:nvSpPr>
        <p:spPr>
          <a:xfrm>
            <a:off x="1447802" y="3548615"/>
            <a:ext cx="15632130" cy="295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經過多年後的苦練，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的字有進步嗎？你是從文本中哪些句子知道的？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❶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無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進步。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圈出即可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讓我知道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是否進步的句子是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19DDBE-1305-7EA6-A66E-DF9B75F0A2F9}"/>
              </a:ext>
            </a:extLst>
          </p:cNvPr>
          <p:cNvSpPr/>
          <p:nvPr/>
        </p:nvSpPr>
        <p:spPr>
          <a:xfrm>
            <a:off x="15392400" y="3828990"/>
            <a:ext cx="297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推論策略 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找支持理由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E7CAFE0-1AAF-658B-D780-D27C069DE47F}"/>
              </a:ext>
            </a:extLst>
          </p:cNvPr>
          <p:cNvSpPr/>
          <p:nvPr/>
        </p:nvSpPr>
        <p:spPr>
          <a:xfrm>
            <a:off x="8003097" y="5092125"/>
            <a:ext cx="79989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大家都讚美他的字和父親一樣好 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3F7146A-CF8F-C4DB-D3DC-95E3CE3642E3}"/>
              </a:ext>
            </a:extLst>
          </p:cNvPr>
          <p:cNvCxnSpPr>
            <a:cxnSpLocks/>
          </p:cNvCxnSpPr>
          <p:nvPr/>
        </p:nvCxnSpPr>
        <p:spPr>
          <a:xfrm>
            <a:off x="8915400" y="5676900"/>
            <a:ext cx="848033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22E9CD1-FA5D-0C0D-F3D9-95BF33637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08534"/>
              </p:ext>
            </p:extLst>
          </p:nvPr>
        </p:nvGraphicFramePr>
        <p:xfrm>
          <a:off x="1485900" y="6355396"/>
          <a:ext cx="16060271" cy="2162747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王獻之</a:t>
                      </a:r>
                      <a:r>
                        <a:rPr lang="zh-TW" altLang="en-US" sz="4400" b="0" u="none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苦練後，字和父親寫得一樣好。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>
            <a:extLst>
              <a:ext uri="{FF2B5EF4-FFF2-40B4-BE49-F238E27FC236}">
                <a16:creationId xmlns:a16="http://schemas.microsoft.com/office/drawing/2014/main" id="{7048C949-6508-AE1D-CEE5-2547FB93F5D3}"/>
              </a:ext>
            </a:extLst>
          </p:cNvPr>
          <p:cNvSpPr/>
          <p:nvPr/>
        </p:nvSpPr>
        <p:spPr>
          <a:xfrm>
            <a:off x="4114800" y="4457700"/>
            <a:ext cx="550077" cy="52789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7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22034" y="2785358"/>
            <a:ext cx="17923166" cy="5172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讀完第一課和第二課，從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練習的過程中，請你試著推論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的個性？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我覺得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是個                     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的人。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讀完後，請問你從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的什麼行為學習到什麼？請具體的寫出來。</a:t>
            </a:r>
            <a:b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我從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王羲之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，學習到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46878A-D7F2-BB6F-6688-F8B4FDB99AD2}"/>
              </a:ext>
            </a:extLst>
          </p:cNvPr>
          <p:cNvSpPr/>
          <p:nvPr/>
        </p:nvSpPr>
        <p:spPr>
          <a:xfrm>
            <a:off x="1371600" y="3511913"/>
            <a:ext cx="14249400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努力不放棄 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 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知道自己的困難在哪裡，也會想辦法主動解決自己的遇到問題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568F96-503D-37FF-27E5-EDABC17DA522}"/>
              </a:ext>
            </a:extLst>
          </p:cNvPr>
          <p:cNvSpPr/>
          <p:nvPr/>
        </p:nvSpPr>
        <p:spPr>
          <a:xfrm>
            <a:off x="3962400" y="6551426"/>
            <a:ext cx="65490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為了寫好書法，努力練習好幾年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99A53C9-6C5A-B52E-9A76-2E8FFF8CE167}"/>
              </a:ext>
            </a:extLst>
          </p:cNvPr>
          <p:cNvCxnSpPr>
            <a:cxnSpLocks/>
          </p:cNvCxnSpPr>
          <p:nvPr/>
        </p:nvCxnSpPr>
        <p:spPr>
          <a:xfrm>
            <a:off x="4800600" y="4229100"/>
            <a:ext cx="10820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862C712-B9AF-8AB5-3A07-4C3333B3F216}"/>
              </a:ext>
            </a:extLst>
          </p:cNvPr>
          <p:cNvCxnSpPr>
            <a:cxnSpLocks/>
          </p:cNvCxnSpPr>
          <p:nvPr/>
        </p:nvCxnSpPr>
        <p:spPr>
          <a:xfrm>
            <a:off x="1371600" y="4991100"/>
            <a:ext cx="4876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401313A-CE27-F543-4527-902917C4955A}"/>
              </a:ext>
            </a:extLst>
          </p:cNvPr>
          <p:cNvSpPr/>
          <p:nvPr/>
        </p:nvSpPr>
        <p:spPr>
          <a:xfrm>
            <a:off x="11506200" y="6551426"/>
            <a:ext cx="59105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做任何事情都要不斷練習和堅持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945</Words>
  <Application>Microsoft Macintosh PowerPoint</Application>
  <PresentationFormat>自訂</PresentationFormat>
  <Paragraphs>121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56</cp:revision>
  <dcterms:created xsi:type="dcterms:W3CDTF">2006-08-16T00:00:00Z</dcterms:created>
  <dcterms:modified xsi:type="dcterms:W3CDTF">2025-10-05T14:39:32Z</dcterms:modified>
  <dc:identifier>DAGWD1Ntyd0</dc:identifier>
</cp:coreProperties>
</file>