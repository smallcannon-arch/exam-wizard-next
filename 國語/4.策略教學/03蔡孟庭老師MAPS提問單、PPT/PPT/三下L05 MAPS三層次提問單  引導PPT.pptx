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69" r:id="rId3"/>
    <p:sldId id="296" r:id="rId4"/>
    <p:sldId id="291" r:id="rId5"/>
    <p:sldId id="270" r:id="rId6"/>
    <p:sldId id="271" r:id="rId7"/>
    <p:sldId id="309" r:id="rId8"/>
    <p:sldId id="272" r:id="rId9"/>
    <p:sldId id="286" r:id="rId10"/>
    <p:sldId id="311" r:id="rId11"/>
    <p:sldId id="310" r:id="rId12"/>
    <p:sldId id="307" r:id="rId13"/>
    <p:sldId id="312" r:id="rId14"/>
    <p:sldId id="299" r:id="rId15"/>
    <p:sldId id="279" r:id="rId16"/>
    <p:sldId id="295" r:id="rId17"/>
  </p:sldIdLst>
  <p:sldSz cx="18288000" cy="10287000"/>
  <p:notesSz cx="6858000" cy="9144000"/>
  <p:embeddedFontLst>
    <p:embeddedFont>
      <p:font typeface="華康中圓體(P)" panose="020F0502020204030204" pitchFamily="34" charset="0"/>
      <p:regular r:id="rId19"/>
      <p:bold r:id="rId20"/>
      <p:italic r:id="rId21"/>
      <p:boldItalic r:id="rId22"/>
    </p:embeddedFont>
    <p:embeddedFont>
      <p:font typeface="華康新綜藝體" panose="02010609000101010101" pitchFamily="49" charset="0"/>
      <p:regular r:id="rId23"/>
    </p:embeddedFont>
    <p:embeddedFont>
      <p:font typeface="微軟正黑體" panose="020B0604030504040204" pitchFamily="34" charset="-120"/>
      <p:regular r:id="rId24"/>
      <p:bold r:id="rId25"/>
    </p:embeddedFont>
    <p:embeddedFont>
      <p:font typeface="微軟正黑體" panose="020B0604030504040204" pitchFamily="34" charset="-120"/>
      <p:regular r:id="rId24"/>
      <p:bold r:id="rId25"/>
    </p:embeddedFont>
    <p:embeddedFont>
      <p:font typeface="標楷體" panose="03000509000000000000" pitchFamily="49" charset="-12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F87F"/>
    <a:srgbClr val="FCD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442" autoAdjust="0"/>
    <p:restoredTop sz="93814" autoAdjust="0"/>
  </p:normalViewPr>
  <p:slideViewPr>
    <p:cSldViewPr>
      <p:cViewPr varScale="1">
        <p:scale>
          <a:sx n="55" d="100"/>
          <a:sy n="55" d="100"/>
        </p:scale>
        <p:origin x="264" y="7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9" d="100"/>
          <a:sy n="89" d="100"/>
        </p:scale>
        <p:origin x="378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737BC-0160-43F0-A57D-211EEFCA83B8}" type="datetimeFigureOut">
              <a:rPr lang="zh-TW" altLang="en-US" smtClean="0"/>
              <a:t>2025/9/21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F15EC-EB07-4462-A15A-319C71CF4B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3499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F15EC-EB07-4462-A15A-319C71CF4B01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6647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jp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5.svg"/><Relationship Id="rId2" Type="http://schemas.openxmlformats.org/officeDocument/2006/relationships/image" Target="../media/image1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6.jp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5.svg"/><Relationship Id="rId2" Type="http://schemas.openxmlformats.org/officeDocument/2006/relationships/image" Target="../media/image1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6.jp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S3GHLINfnRc?si=QJ_cNwpgaeVfZRhH" TargetMode="External"/><Relationship Id="rId3" Type="http://schemas.openxmlformats.org/officeDocument/2006/relationships/image" Target="../media/image16.jpg"/><Relationship Id="rId7" Type="http://schemas.openxmlformats.org/officeDocument/2006/relationships/image" Target="../media/image2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9" Type="http://schemas.openxmlformats.org/officeDocument/2006/relationships/hyperlink" Target="https://youtu.be/gxP179YePXk?si=4X19qyCqrOyszQfH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S3GHLINfnRc?si=QJ_cNwpgaeVfZRhH" TargetMode="External"/><Relationship Id="rId3" Type="http://schemas.openxmlformats.org/officeDocument/2006/relationships/image" Target="../media/image16.jpg"/><Relationship Id="rId7" Type="http://schemas.openxmlformats.org/officeDocument/2006/relationships/image" Target="../media/image2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9" Type="http://schemas.openxmlformats.org/officeDocument/2006/relationships/hyperlink" Target="https://youtu.be/gxP179YePXk?si=4X19qyCqrOyszQfH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image" Target="../media/image31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1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image" Target="../media/image2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image" Target="../media/image2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image" Target="../media/image2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2" name="Freeform 12"/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Freeform 13"/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Freeform 14"/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390404" y="569551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9" name="Freeform 29"/>
          <p:cNvSpPr/>
          <p:nvPr/>
        </p:nvSpPr>
        <p:spPr>
          <a:xfrm>
            <a:off x="5332160" y="1830982"/>
            <a:ext cx="1375279" cy="792661"/>
          </a:xfrm>
          <a:custGeom>
            <a:avLst/>
            <a:gdLst/>
            <a:ahLst/>
            <a:cxnLst/>
            <a:rect l="l" t="t" r="r" b="b"/>
            <a:pathLst>
              <a:path w="1375279" h="792661">
                <a:moveTo>
                  <a:pt x="0" y="0"/>
                </a:moveTo>
                <a:lnTo>
                  <a:pt x="1375278" y="0"/>
                </a:lnTo>
                <a:lnTo>
                  <a:pt x="1375278" y="792660"/>
                </a:lnTo>
                <a:lnTo>
                  <a:pt x="0" y="79266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4894777" y="3662162"/>
            <a:ext cx="9032950" cy="1119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dist">
              <a:lnSpc>
                <a:spcPts val="8400"/>
              </a:lnSpc>
            </a:pPr>
            <a:r>
              <a:rPr lang="zh-TW" altLang="en-US" sz="115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ore Sugar"/>
                <a:sym typeface="More Sugar"/>
              </a:rPr>
              <a:t>提問單</a:t>
            </a:r>
            <a:endParaRPr lang="en-US" sz="11500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ore Sugar"/>
              <a:sym typeface="More Sugar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550115" y="1559356"/>
            <a:ext cx="13636764" cy="166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21"/>
              </a:lnSpc>
            </a:pPr>
            <a:r>
              <a:rPr lang="en-US" sz="12521" dirty="0">
                <a:solidFill>
                  <a:srgbClr val="182C4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ore Sugar"/>
                <a:sym typeface="More Sugar"/>
              </a:rPr>
              <a:t>MAPS </a:t>
            </a:r>
          </a:p>
        </p:txBody>
      </p:sp>
      <p:sp>
        <p:nvSpPr>
          <p:cNvPr id="34" name="文字方塊 33"/>
          <p:cNvSpPr txBox="1"/>
          <p:nvPr/>
        </p:nvSpPr>
        <p:spPr>
          <a:xfrm>
            <a:off x="7409104" y="5087306"/>
            <a:ext cx="112684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蔡孟庭 老師編寫</a:t>
            </a:r>
          </a:p>
        </p:txBody>
      </p:sp>
      <p:pic>
        <p:nvPicPr>
          <p:cNvPr id="36" name="圖片 35"/>
          <p:cNvPicPr/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6707438" y="6929951"/>
            <a:ext cx="5461339" cy="18848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6336763" y="7480978"/>
            <a:ext cx="6148978" cy="1086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1600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endParaRPr lang="zh-TW" sz="1600" kern="100" dirty="0">
              <a:solidFill>
                <a:schemeClr val="tx2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第</a:t>
            </a:r>
            <a:r>
              <a:rPr lang="zh-TW" altLang="en-US" sz="48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五</a:t>
            </a:r>
            <a:r>
              <a:rPr lang="zh-TW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zh-TW" altLang="en-US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茶香鹿谷</a:t>
            </a:r>
            <a:endParaRPr lang="zh-TW" sz="4000" kern="100" dirty="0">
              <a:solidFill>
                <a:schemeClr val="tx2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5" name="Freeform 29"/>
          <p:cNvSpPr/>
          <p:nvPr/>
        </p:nvSpPr>
        <p:spPr>
          <a:xfrm>
            <a:off x="7962900" y="6296571"/>
            <a:ext cx="2362200" cy="945188"/>
          </a:xfrm>
          <a:custGeom>
            <a:avLst/>
            <a:gdLst/>
            <a:ahLst/>
            <a:cxnLst/>
            <a:rect l="l" t="t" r="r" b="b"/>
            <a:pathLst>
              <a:path w="4189793" h="1081728">
                <a:moveTo>
                  <a:pt x="0" y="0"/>
                </a:moveTo>
                <a:lnTo>
                  <a:pt x="4189794" y="0"/>
                </a:lnTo>
                <a:lnTo>
                  <a:pt x="4189794" y="1081729"/>
                </a:lnTo>
                <a:lnTo>
                  <a:pt x="0" y="108172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8" name="文字方塊 2"/>
          <p:cNvSpPr txBox="1">
            <a:spLocks noChangeArrowheads="1"/>
          </p:cNvSpPr>
          <p:nvPr/>
        </p:nvSpPr>
        <p:spPr bwMode="auto">
          <a:xfrm>
            <a:off x="6176277" y="6352529"/>
            <a:ext cx="6148978" cy="1086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endParaRPr lang="zh-TW" sz="12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0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三下</a:t>
            </a:r>
            <a:endParaRPr lang="zh-TW" sz="32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9" name="Freeform 31"/>
          <p:cNvSpPr/>
          <p:nvPr/>
        </p:nvSpPr>
        <p:spPr>
          <a:xfrm rot="10085071">
            <a:off x="5959511" y="4872591"/>
            <a:ext cx="1185379" cy="1159388"/>
          </a:xfrm>
          <a:custGeom>
            <a:avLst/>
            <a:gdLst/>
            <a:ahLst/>
            <a:cxnLst/>
            <a:rect l="l" t="t" r="r" b="b"/>
            <a:pathLst>
              <a:path w="1317310" h="1317310">
                <a:moveTo>
                  <a:pt x="0" y="0"/>
                </a:moveTo>
                <a:lnTo>
                  <a:pt x="1317310" y="0"/>
                </a:lnTo>
                <a:lnTo>
                  <a:pt x="1317310" y="1317310"/>
                </a:lnTo>
                <a:lnTo>
                  <a:pt x="0" y="131731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3" name="圖片 22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pic>
        <p:nvPicPr>
          <p:cNvPr id="24" name="圖片 23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5201" y="6828992"/>
            <a:ext cx="2003108" cy="3260698"/>
          </a:xfrm>
          <a:prstGeom prst="rect">
            <a:avLst/>
          </a:prstGeom>
        </p:spPr>
      </p:pic>
      <p:grpSp>
        <p:nvGrpSpPr>
          <p:cNvPr id="40" name="Group 19"/>
          <p:cNvGrpSpPr/>
          <p:nvPr/>
        </p:nvGrpSpPr>
        <p:grpSpPr>
          <a:xfrm>
            <a:off x="1840324" y="923747"/>
            <a:ext cx="2761763" cy="708578"/>
            <a:chOff x="0" y="0"/>
            <a:chExt cx="3038818" cy="748565"/>
          </a:xfrm>
        </p:grpSpPr>
        <p:sp>
          <p:nvSpPr>
            <p:cNvPr id="41" name="TextBox 20"/>
            <p:cNvSpPr txBox="1"/>
            <p:nvPr/>
          </p:nvSpPr>
          <p:spPr>
            <a:xfrm>
              <a:off x="1110400" y="6488"/>
              <a:ext cx="1928418" cy="7180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319"/>
                </a:lnSpc>
              </a:pPr>
              <a:r>
                <a:rPr lang="en-US" sz="4800" b="1" spc="334" dirty="0" err="1">
                  <a:solidFill>
                    <a:srgbClr val="0154A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王漢宗特黑體"/>
                  <a:sym typeface="王漢宗特黑體"/>
                </a:rPr>
                <a:t>國語</a:t>
              </a:r>
              <a:endParaRPr lang="en-US" sz="4800" b="1" spc="334" dirty="0">
                <a:solidFill>
                  <a:srgbClr val="0154A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王漢宗特黑體"/>
                <a:sym typeface="王漢宗特黑體"/>
              </a:endParaRPr>
            </a:p>
          </p:txBody>
        </p:sp>
        <p:sp>
          <p:nvSpPr>
            <p:cNvPr id="42" name="Freeform 21"/>
            <p:cNvSpPr/>
            <p:nvPr/>
          </p:nvSpPr>
          <p:spPr>
            <a:xfrm>
              <a:off x="0" y="0"/>
              <a:ext cx="1423684" cy="748565"/>
            </a:xfrm>
            <a:custGeom>
              <a:avLst/>
              <a:gdLst/>
              <a:ahLst/>
              <a:cxnLst/>
              <a:rect l="l" t="t" r="r" b="b"/>
              <a:pathLst>
                <a:path w="1423684" h="748565">
                  <a:moveTo>
                    <a:pt x="0" y="0"/>
                  </a:moveTo>
                  <a:lnTo>
                    <a:pt x="1423684" y="0"/>
                  </a:lnTo>
                  <a:lnTo>
                    <a:pt x="1423684" y="748565"/>
                  </a:lnTo>
                  <a:lnTo>
                    <a:pt x="0" y="748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r="-168996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1" name="Freeform 11"/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2" name="Freeform 12"/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3" name="Freeform 13"/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4" name="Freeform 14"/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6" name="Freeform 16"/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7" name="Freeform 17"/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8" name="Freeform 18"/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grpSp>
        <p:nvGrpSpPr>
          <p:cNvPr id="19" name="Group 19"/>
          <p:cNvGrpSpPr/>
          <p:nvPr/>
        </p:nvGrpSpPr>
        <p:grpSpPr>
          <a:xfrm>
            <a:off x="1290993" y="571855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b="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290993" y="2244724"/>
            <a:ext cx="129099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一、形近字知多少</a:t>
            </a:r>
            <a:endParaRPr lang="zh-TW" altLang="zh-TW" sz="36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452875"/>
              </p:ext>
            </p:extLst>
          </p:nvPr>
        </p:nvGraphicFramePr>
        <p:xfrm>
          <a:off x="1931073" y="3523558"/>
          <a:ext cx="7593927" cy="5887142"/>
        </p:xfrm>
        <a:graphic>
          <a:graphicData uri="http://schemas.openxmlformats.org/drawingml/2006/table">
            <a:tbl>
              <a:tblPr firstRow="1" firstCol="1" bandRow="1"/>
              <a:tblGrid>
                <a:gridCol w="59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7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624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1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鄉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響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嚮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816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2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成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城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776075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誠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3624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3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程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逞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5971977"/>
                  </a:ext>
                </a:extLst>
              </a:tr>
            </a:tbl>
          </a:graphicData>
        </a:graphic>
      </p:graphicFrame>
      <p:sp>
        <p:nvSpPr>
          <p:cNvPr id="43" name="Freeform 3"/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4" name="圖片 43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101874"/>
              </p:ext>
            </p:extLst>
          </p:nvPr>
        </p:nvGraphicFramePr>
        <p:xfrm>
          <a:off x="4163021" y="3764340"/>
          <a:ext cx="5361978" cy="837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79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相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鄉村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730141"/>
              </p:ext>
            </p:extLst>
          </p:nvPr>
        </p:nvGraphicFramePr>
        <p:xfrm>
          <a:off x="4163021" y="4594359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想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音響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07901"/>
              </p:ext>
            </p:extLst>
          </p:nvPr>
        </p:nvGraphicFramePr>
        <p:xfrm>
          <a:off x="4163021" y="5273548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向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嚮往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701715"/>
              </p:ext>
            </p:extLst>
          </p:nvPr>
        </p:nvGraphicFramePr>
        <p:xfrm>
          <a:off x="4163021" y="5952737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成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成功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722838"/>
              </p:ext>
            </p:extLst>
          </p:nvPr>
        </p:nvGraphicFramePr>
        <p:xfrm>
          <a:off x="4163021" y="6631926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成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城鎮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336167"/>
              </p:ext>
            </p:extLst>
          </p:nvPr>
        </p:nvGraphicFramePr>
        <p:xfrm>
          <a:off x="4163021" y="7311115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成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誠實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823091"/>
              </p:ext>
            </p:extLst>
          </p:nvPr>
        </p:nvGraphicFramePr>
        <p:xfrm>
          <a:off x="9775847" y="3475305"/>
          <a:ext cx="7221158" cy="5130659"/>
        </p:xfrm>
        <a:graphic>
          <a:graphicData uri="http://schemas.openxmlformats.org/drawingml/2006/table">
            <a:tbl>
              <a:tblPr firstRow="1" firstCol="1" bandRow="1"/>
              <a:tblGrid>
                <a:gridCol w="843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4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6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62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73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614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4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傅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7615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傳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轉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專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7614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5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摘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755395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滴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適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4607563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445710"/>
              </p:ext>
            </p:extLst>
          </p:nvPr>
        </p:nvGraphicFramePr>
        <p:xfrm>
          <a:off x="11780588" y="3800274"/>
          <a:ext cx="5216418" cy="7283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834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傅</a:t>
                      </a:r>
                      <a:endParaRPr lang="zh-TW" sz="40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一傅眾咻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32617"/>
              </p:ext>
            </p:extLst>
          </p:nvPr>
        </p:nvGraphicFramePr>
        <p:xfrm>
          <a:off x="11780588" y="4507841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船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傳神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191640"/>
              </p:ext>
            </p:extLst>
          </p:nvPr>
        </p:nvGraphicFramePr>
        <p:xfrm>
          <a:off x="11780588" y="5182313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轉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旋轉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666004"/>
              </p:ext>
            </p:extLst>
          </p:nvPr>
        </p:nvGraphicFramePr>
        <p:xfrm>
          <a:off x="11780588" y="5856785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專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專長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096135"/>
              </p:ext>
            </p:extLst>
          </p:nvPr>
        </p:nvGraphicFramePr>
        <p:xfrm>
          <a:off x="11798726" y="6531257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摘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摘花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1F57AEF7-1ED3-4F01-1FB4-9AABDA1051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17005"/>
              </p:ext>
            </p:extLst>
          </p:nvPr>
        </p:nvGraphicFramePr>
        <p:xfrm>
          <a:off x="4163021" y="7990304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成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旅程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71984CE7-2B05-57BB-6BD6-D1FE1C0EAD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740037"/>
              </p:ext>
            </p:extLst>
          </p:nvPr>
        </p:nvGraphicFramePr>
        <p:xfrm>
          <a:off x="11798726" y="7205730"/>
          <a:ext cx="5198280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99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9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低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水滴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18BB80B1-96FB-7F43-F370-00332A1FB5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660796"/>
              </p:ext>
            </p:extLst>
          </p:nvPr>
        </p:nvGraphicFramePr>
        <p:xfrm>
          <a:off x="4163020" y="8669493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逞</a:t>
                      </a:r>
                      <a:endParaRPr lang="zh-TW" sz="40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逞強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77FE300B-2ECE-2DB4-1C3A-83A58D5C08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752239"/>
              </p:ext>
            </p:extLst>
          </p:nvPr>
        </p:nvGraphicFramePr>
        <p:xfrm>
          <a:off x="11798726" y="7934447"/>
          <a:ext cx="5198280" cy="609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99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9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是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適合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980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A7306-129C-DC4B-38E0-CCCB4FD0B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13BA1CD-11C9-A921-ABA9-4F8BC4EBA0C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D4108B6-D59E-B75D-1893-631202E4BE65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E633385-65D3-E608-FBEA-9988B2A2259B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660B2D0-5DA5-3233-160A-3F37C1DEDD1A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559D6AA-13E1-89FC-DAA9-41526B85B1EE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E9A0B12-C7ED-8690-A62E-EDA12C10F2A5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FF07D46-9426-355B-3BD6-70D7A03B2259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EED26856-C4CA-DFC8-0D3A-D551C5EFEA34}"/>
              </a:ext>
            </a:extLst>
          </p:cNvPr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33AE8B8-A5DF-36DD-FE52-00F77171C396}"/>
              </a:ext>
            </a:extLst>
          </p:cNvPr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47604417-7846-0005-47B8-E0736E56BA54}"/>
              </a:ext>
            </a:extLst>
          </p:cNvPr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AFC439D7-6DBE-DCE1-3D34-2AD98AE3F802}"/>
              </a:ext>
            </a:extLst>
          </p:cNvPr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40A61603-2F9C-5282-99B8-36E553D7E804}"/>
              </a:ext>
            </a:extLst>
          </p:cNvPr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C88D424A-A157-8FC3-A01A-4AA69FDC74CF}"/>
              </a:ext>
            </a:extLst>
          </p:cNvPr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3B6873E4-FEF3-1986-70B1-B5F252F4E844}"/>
              </a:ext>
            </a:extLst>
          </p:cNvPr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390EC28-723D-617D-03CA-B0AF2EFFAD88}"/>
              </a:ext>
            </a:extLst>
          </p:cNvPr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CBAA27A1-4B4B-2DCC-C087-47251508A4EE}"/>
              </a:ext>
            </a:extLst>
          </p:cNvPr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5235512A-8E78-3917-FA65-D556950650A1}"/>
              </a:ext>
            </a:extLst>
          </p:cNvPr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8A5B9A8D-216A-8B80-753B-EEEA70965BB9}"/>
              </a:ext>
            </a:extLst>
          </p:cNvPr>
          <p:cNvGrpSpPr/>
          <p:nvPr/>
        </p:nvGrpSpPr>
        <p:grpSpPr>
          <a:xfrm>
            <a:off x="1323419" y="571855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F27940C3-817A-9A8B-A38B-4EDAB6F43A2D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 dirty="0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B4A5824-0AE4-7A8A-37BA-6827C14EF182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b="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8E378782-13E7-D339-A06B-F15A92A987E7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AB6138E6-3A7D-AF12-F815-AAD506E0A3CF}"/>
              </a:ext>
            </a:extLst>
          </p:cNvPr>
          <p:cNvPicPr/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id="{2317C13A-18AD-8C7C-E286-5F14E4B2D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3" name="Freeform 3">
            <a:extLst>
              <a:ext uri="{FF2B5EF4-FFF2-40B4-BE49-F238E27FC236}">
                <a16:creationId xmlns:a16="http://schemas.microsoft.com/office/drawing/2014/main" id="{2B216F95-A6DB-1DF6-0849-6DF6D21DACAA}"/>
              </a:ext>
            </a:extLst>
          </p:cNvPr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912FCACC-7B0A-60C5-AA7A-ECE5AA293AD5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B4558FFF-4899-4CDF-16AE-5F2FF0073D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211928"/>
              </p:ext>
            </p:extLst>
          </p:nvPr>
        </p:nvGraphicFramePr>
        <p:xfrm>
          <a:off x="1786910" y="3150382"/>
          <a:ext cx="7593927" cy="5887142"/>
        </p:xfrm>
        <a:graphic>
          <a:graphicData uri="http://schemas.openxmlformats.org/drawingml/2006/table">
            <a:tbl>
              <a:tblPr firstRow="1" firstCol="1" bandRow="1"/>
              <a:tblGrid>
                <a:gridCol w="59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7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62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kern="100" dirty="0">
                          <a:effectLst/>
                          <a:latin typeface="標楷體" panose="03000509000000000000" pitchFamily="49" charset="-120"/>
                          <a:ea typeface="+mn-ea"/>
                          <a:cs typeface="標楷體" panose="03000509000000000000" pitchFamily="49" charset="-120"/>
                        </a:rPr>
                        <a:t>6</a:t>
                      </a:r>
                      <a:endParaRPr lang="zh-TW" altLang="zh-TW" sz="2800" kern="100" dirty="0">
                        <a:effectLst/>
                        <a:latin typeface="Aptos" panose="020B00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分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624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2800" kern="100" dirty="0">
                          <a:effectLst/>
                          <a:latin typeface="Aptos" panose="020B000402020202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處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074982"/>
                  </a:ext>
                </a:extLst>
              </a:tr>
              <a:tr h="705816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2800" kern="100" dirty="0">
                          <a:effectLst/>
                          <a:latin typeface="Aptos" panose="020B000402020202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噪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譟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776075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澡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燥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3DE5ED1F-9A02-9AA5-4BAE-515E694F7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777948"/>
              </p:ext>
            </p:extLst>
          </p:nvPr>
        </p:nvGraphicFramePr>
        <p:xfrm>
          <a:off x="4018858" y="3391164"/>
          <a:ext cx="5361978" cy="837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794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分</a:t>
                      </a:r>
                      <a:endParaRPr lang="zh-TW" sz="40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分離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94A13360-000E-2D07-7B11-988AA1F423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465770"/>
              </p:ext>
            </p:extLst>
          </p:nvPr>
        </p:nvGraphicFramePr>
        <p:xfrm>
          <a:off x="4018858" y="4225190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份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糖分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5DC61D4B-0C4F-BDD3-9E05-956BB7206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990372"/>
              </p:ext>
            </p:extLst>
          </p:nvPr>
        </p:nvGraphicFramePr>
        <p:xfrm>
          <a:off x="4018858" y="4908386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處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相處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3AB54FA7-0322-E7B3-6566-F5DD3C6E1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76539"/>
              </p:ext>
            </p:extLst>
          </p:nvPr>
        </p:nvGraphicFramePr>
        <p:xfrm>
          <a:off x="4018858" y="5591582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觸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各處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id="{FA2BC7BD-E202-C91A-95C7-BB939FFB5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735337"/>
              </p:ext>
            </p:extLst>
          </p:nvPr>
        </p:nvGraphicFramePr>
        <p:xfrm>
          <a:off x="4018858" y="6274778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造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噪音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表格 34">
            <a:extLst>
              <a:ext uri="{FF2B5EF4-FFF2-40B4-BE49-F238E27FC236}">
                <a16:creationId xmlns:a16="http://schemas.microsoft.com/office/drawing/2014/main" id="{98188840-D881-D187-65CA-315187027C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153413"/>
              </p:ext>
            </p:extLst>
          </p:nvPr>
        </p:nvGraphicFramePr>
        <p:xfrm>
          <a:off x="4018858" y="6957974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造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鼓譟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表格 37">
            <a:extLst>
              <a:ext uri="{FF2B5EF4-FFF2-40B4-BE49-F238E27FC236}">
                <a16:creationId xmlns:a16="http://schemas.microsoft.com/office/drawing/2014/main" id="{78AE2EB0-B931-A064-CEAB-4AD7F120F0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63812"/>
              </p:ext>
            </p:extLst>
          </p:nvPr>
        </p:nvGraphicFramePr>
        <p:xfrm>
          <a:off x="4018858" y="7641170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早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洗澡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表格 38">
            <a:extLst>
              <a:ext uri="{FF2B5EF4-FFF2-40B4-BE49-F238E27FC236}">
                <a16:creationId xmlns:a16="http://schemas.microsoft.com/office/drawing/2014/main" id="{F833CF1E-D99C-9D83-4193-5C03D96646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838353"/>
              </p:ext>
            </p:extLst>
          </p:nvPr>
        </p:nvGraphicFramePr>
        <p:xfrm>
          <a:off x="9551073" y="3150382"/>
          <a:ext cx="7593927" cy="5169134"/>
        </p:xfrm>
        <a:graphic>
          <a:graphicData uri="http://schemas.openxmlformats.org/drawingml/2006/table">
            <a:tbl>
              <a:tblPr firstRow="1" firstCol="1" bandRow="1"/>
              <a:tblGrid>
                <a:gridCol w="59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7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624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2800" kern="100" dirty="0">
                          <a:effectLst/>
                          <a:latin typeface="Aptos" panose="020B000402020202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講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溝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購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構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2381384"/>
                  </a:ext>
                </a:extLst>
              </a:tr>
              <a:tr h="693624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10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烘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4615732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哄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6540967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供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228085"/>
                  </a:ext>
                </a:extLst>
              </a:tr>
            </a:tbl>
          </a:graphicData>
        </a:graphic>
      </p:graphicFrame>
      <p:graphicFrame>
        <p:nvGraphicFramePr>
          <p:cNvPr id="40" name="表格 39">
            <a:extLst>
              <a:ext uri="{FF2B5EF4-FFF2-40B4-BE49-F238E27FC236}">
                <a16:creationId xmlns:a16="http://schemas.microsoft.com/office/drawing/2014/main" id="{CFEC5387-721E-C067-0E87-4EBF9E4A94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039968"/>
              </p:ext>
            </p:extLst>
          </p:nvPr>
        </p:nvGraphicFramePr>
        <p:xfrm>
          <a:off x="11783021" y="3391164"/>
          <a:ext cx="5361978" cy="837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79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獎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講話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表格 40">
            <a:extLst>
              <a:ext uri="{FF2B5EF4-FFF2-40B4-BE49-F238E27FC236}">
                <a16:creationId xmlns:a16="http://schemas.microsoft.com/office/drawing/2014/main" id="{887D97E5-C2E3-70EF-7147-524DF9AD21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992368"/>
              </p:ext>
            </p:extLst>
          </p:nvPr>
        </p:nvGraphicFramePr>
        <p:xfrm>
          <a:off x="11783021" y="4222498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溝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水溝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表格 41">
            <a:extLst>
              <a:ext uri="{FF2B5EF4-FFF2-40B4-BE49-F238E27FC236}">
                <a16:creationId xmlns:a16="http://schemas.microsoft.com/office/drawing/2014/main" id="{6A516E7C-FEEC-798A-2A61-5F490840D9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046027"/>
              </p:ext>
            </p:extLst>
          </p:nvPr>
        </p:nvGraphicFramePr>
        <p:xfrm>
          <a:off x="11783021" y="4903002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購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購買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CAA417D3-F5FE-3479-0D4C-57D11573B9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814983"/>
              </p:ext>
            </p:extLst>
          </p:nvPr>
        </p:nvGraphicFramePr>
        <p:xfrm>
          <a:off x="4018858" y="8328287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造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枯燥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5803CA38-034E-03F4-72B5-2841A33C86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022736"/>
              </p:ext>
            </p:extLst>
          </p:nvPr>
        </p:nvGraphicFramePr>
        <p:xfrm>
          <a:off x="11783020" y="5452322"/>
          <a:ext cx="5361978" cy="837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79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購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構想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B471040B-C746-2801-0F8D-7483782BC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053445"/>
              </p:ext>
            </p:extLst>
          </p:nvPr>
        </p:nvGraphicFramePr>
        <p:xfrm>
          <a:off x="11783020" y="6283656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轟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烘烤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D93D99A3-1C38-3FCA-DE94-037B04589A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029556"/>
              </p:ext>
            </p:extLst>
          </p:nvPr>
        </p:nvGraphicFramePr>
        <p:xfrm>
          <a:off x="11783020" y="6964160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轟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鬧哄哄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A8E9DEB4-B257-DC2C-4A75-E673A6C811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997820"/>
              </p:ext>
            </p:extLst>
          </p:nvPr>
        </p:nvGraphicFramePr>
        <p:xfrm>
          <a:off x="11783020" y="7607464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公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供給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308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89991" y="589170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65593" y="559155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ea typeface="華康新綜藝體" panose="02010609000101010101" pitchFamily="49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2302823" y="3516326"/>
            <a:ext cx="14363700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1.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是個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飄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著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茶香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的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山城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。</a:t>
            </a:r>
            <a:endParaRPr lang="zh-TW" altLang="en-US" sz="3600" dirty="0"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389991" y="2283156"/>
            <a:ext cx="129099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b="1" kern="1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二、短語練習</a:t>
            </a:r>
            <a:endParaRPr lang="zh-TW" altLang="zh-TW" sz="3600" b="1" kern="100" dirty="0">
              <a:latin typeface="華康中圓體(P)" panose="020F0500000000000000" pitchFamily="34" charset="-120"/>
              <a:ea typeface="華康中圓體(P)" panose="020F0500000000000000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29" name="圖片 28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0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2" name="Freeform 3"/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3" name="圖片 4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EF29F860-0678-AD0F-2AEA-1B3AE872E29D}"/>
              </a:ext>
            </a:extLst>
          </p:cNvPr>
          <p:cNvSpPr/>
          <p:nvPr/>
        </p:nvSpPr>
        <p:spPr>
          <a:xfrm>
            <a:off x="2291937" y="5770288"/>
            <a:ext cx="14363700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2.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對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茶葉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十分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講究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。</a:t>
            </a:r>
            <a:endParaRPr lang="zh-TW" altLang="en-US" sz="3600" dirty="0"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73060F0-307F-608B-50CD-C79399586626}"/>
              </a:ext>
            </a:extLst>
          </p:cNvPr>
          <p:cNvSpPr/>
          <p:nvPr/>
        </p:nvSpPr>
        <p:spPr>
          <a:xfrm>
            <a:off x="2924942" y="6733416"/>
            <a:ext cx="13897998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對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       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十分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        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DA7BF0C-2497-B683-3D69-43A87D594919}"/>
              </a:ext>
            </a:extLst>
          </p:cNvPr>
          <p:cNvSpPr/>
          <p:nvPr/>
        </p:nvSpPr>
        <p:spPr>
          <a:xfrm>
            <a:off x="3837321" y="6760475"/>
            <a:ext cx="1244829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學生</a:t>
            </a:r>
            <a:endParaRPr lang="zh-TW" altLang="en-US" sz="3600" dirty="0">
              <a:solidFill>
                <a:srgbClr val="FF0000"/>
              </a:solidFill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E61DD81-263B-8FEE-AC73-3D3E35DA68F8}"/>
              </a:ext>
            </a:extLst>
          </p:cNvPr>
          <p:cNvSpPr/>
          <p:nvPr/>
        </p:nvSpPr>
        <p:spPr>
          <a:xfrm>
            <a:off x="6467564" y="6760475"/>
            <a:ext cx="1158328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溫柔</a:t>
            </a:r>
            <a:endParaRPr lang="zh-TW" altLang="en-US" sz="3600" dirty="0">
              <a:solidFill>
                <a:srgbClr val="FF0000"/>
              </a:solidFill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F0C7134-BD90-6175-4897-9686E0BB4AEC}"/>
              </a:ext>
            </a:extLst>
          </p:cNvPr>
          <p:cNvSpPr/>
          <p:nvPr/>
        </p:nvSpPr>
        <p:spPr>
          <a:xfrm>
            <a:off x="2895600" y="4440139"/>
            <a:ext cx="13741581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是個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   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著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           )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的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        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。</a:t>
            </a:r>
            <a:endParaRPr lang="zh-TW" altLang="en-US" sz="3600" dirty="0"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020658" y="4568001"/>
            <a:ext cx="8838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放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5414422" y="4440139"/>
            <a:ext cx="2116111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碗筷</a:t>
            </a:r>
            <a:endParaRPr lang="zh-TW" altLang="en-US" sz="3600" dirty="0">
              <a:solidFill>
                <a:srgbClr val="FF0000"/>
              </a:solidFill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1655558-B70E-9E0E-5B40-1FCE52625321}"/>
              </a:ext>
            </a:extLst>
          </p:cNvPr>
          <p:cNvSpPr/>
          <p:nvPr/>
        </p:nvSpPr>
        <p:spPr>
          <a:xfrm>
            <a:off x="7724786" y="4440139"/>
            <a:ext cx="2116111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櫥櫃</a:t>
            </a:r>
            <a:endParaRPr lang="zh-TW" altLang="en-US" sz="3600" dirty="0">
              <a:solidFill>
                <a:srgbClr val="FF0000"/>
              </a:solidFill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02138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0" grpId="0"/>
      <p:bldP spid="35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89991" y="589170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60514" y="561269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9" name="圖片 28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0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420352" y="2238970"/>
            <a:ext cx="129099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三、造句練習</a:t>
            </a:r>
            <a:endParaRPr lang="zh-TW" altLang="zh-TW" sz="36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325596" y="3151721"/>
            <a:ext cx="10314042" cy="8215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 (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承接複句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……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先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，接著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，最後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3" name="直線接點 12"/>
          <p:cNvCxnSpPr>
            <a:cxnSpLocks/>
          </p:cNvCxnSpPr>
          <p:nvPr/>
        </p:nvCxnSpPr>
        <p:spPr>
          <a:xfrm>
            <a:off x="2450606" y="4807059"/>
            <a:ext cx="142875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2450606" y="4155687"/>
            <a:ext cx="145475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媽媽教我煮水餃時，先把水燒開，接著把水餃放下去，最後再撈起來就完成了。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Freeform 3"/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3" name="圖片 4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E983C47-A54A-42C4-EC47-15CB40ABFD62}"/>
              </a:ext>
            </a:extLst>
          </p:cNvPr>
          <p:cNvSpPr/>
          <p:nvPr/>
        </p:nvSpPr>
        <p:spPr>
          <a:xfrm>
            <a:off x="2217641" y="5270799"/>
            <a:ext cx="7569701" cy="8215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 (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並列複句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一邊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，一邊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0E655569-0018-1695-10A5-C7196DA82FE0}"/>
              </a:ext>
            </a:extLst>
          </p:cNvPr>
          <p:cNvCxnSpPr>
            <a:cxnSpLocks/>
          </p:cNvCxnSpPr>
          <p:nvPr/>
        </p:nvCxnSpPr>
        <p:spPr>
          <a:xfrm>
            <a:off x="2342651" y="6926137"/>
            <a:ext cx="1439545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2622E07C-9FEE-1DC1-D4E2-B9F50C496E57}"/>
              </a:ext>
            </a:extLst>
          </p:cNvPr>
          <p:cNvSpPr/>
          <p:nvPr/>
        </p:nvSpPr>
        <p:spPr>
          <a:xfrm>
            <a:off x="2342651" y="6274765"/>
            <a:ext cx="79816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姐姐一邊跑步，一邊欣賞道路兩旁的風景。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3F2DEB7-04A6-24E5-651E-06F093D2890A}"/>
              </a:ext>
            </a:extLst>
          </p:cNvPr>
          <p:cNvSpPr/>
          <p:nvPr/>
        </p:nvSpPr>
        <p:spPr>
          <a:xfrm>
            <a:off x="2117471" y="7450562"/>
            <a:ext cx="6992620" cy="8215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3. (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遞進複句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除了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，還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E8250A64-48BA-C391-34BB-48F21221C81E}"/>
              </a:ext>
            </a:extLst>
          </p:cNvPr>
          <p:cNvCxnSpPr>
            <a:cxnSpLocks/>
          </p:cNvCxnSpPr>
          <p:nvPr/>
        </p:nvCxnSpPr>
        <p:spPr>
          <a:xfrm>
            <a:off x="2242481" y="9105900"/>
            <a:ext cx="144956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06CA8E8C-2316-5177-D270-859EB6B8FA28}"/>
              </a:ext>
            </a:extLst>
          </p:cNvPr>
          <p:cNvSpPr/>
          <p:nvPr/>
        </p:nvSpPr>
        <p:spPr>
          <a:xfrm>
            <a:off x="2242481" y="8454528"/>
            <a:ext cx="108542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這間餐廳，除了有美味的餐點外，還有歌手現場演唱歌曲。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92575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2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98217" y="537705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sz="11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暖身題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058157" y="2324100"/>
            <a:ext cx="14705843" cy="1652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製茶是一們專業的技術，茶葉從採摘開始，經過多道工序，最後才成為我們在喝的茶。請你在觀看影片後，排出正確的製茶順序。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7" name="Freeform 4"/>
          <p:cNvSpPr/>
          <p:nvPr/>
        </p:nvSpPr>
        <p:spPr>
          <a:xfrm>
            <a:off x="5312555" y="1050653"/>
            <a:ext cx="1211543" cy="932259"/>
          </a:xfrm>
          <a:custGeom>
            <a:avLst/>
            <a:gdLst/>
            <a:ahLst/>
            <a:cxnLst/>
            <a:rect l="l" t="t" r="r" b="b"/>
            <a:pathLst>
              <a:path w="3555018" h="3363936">
                <a:moveTo>
                  <a:pt x="0" y="0"/>
                </a:moveTo>
                <a:lnTo>
                  <a:pt x="3555018" y="0"/>
                </a:lnTo>
                <a:lnTo>
                  <a:pt x="3555018" y="3363937"/>
                </a:lnTo>
                <a:lnTo>
                  <a:pt x="0" y="3363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8" name="圖片 4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67F875C1-56C7-5920-1E89-4A4A453A701E}"/>
              </a:ext>
            </a:extLst>
          </p:cNvPr>
          <p:cNvSpPr/>
          <p:nvPr/>
        </p:nvSpPr>
        <p:spPr>
          <a:xfrm>
            <a:off x="14500062" y="3383360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學生自由回答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4" name="圖片 13" descr="一張含有 樣式, 正方形, 像素 的圖片&#10;&#10;自動產生的描述">
            <a:extLst>
              <a:ext uri="{FF2B5EF4-FFF2-40B4-BE49-F238E27FC236}">
                <a16:creationId xmlns:a16="http://schemas.microsoft.com/office/drawing/2014/main" id="{32A2059E-EF3A-2A9E-EB5A-0F9491E473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1742" y="824704"/>
            <a:ext cx="1447077" cy="1447077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文字方塊 3">
            <a:extLst>
              <a:ext uri="{FF2B5EF4-FFF2-40B4-BE49-F238E27FC236}">
                <a16:creationId xmlns:a16="http://schemas.microsoft.com/office/drawing/2014/main" id="{59E19277-F7B5-92C1-34BF-D6FDED7FC3DA}"/>
              </a:ext>
            </a:extLst>
          </p:cNvPr>
          <p:cNvSpPr txBox="1"/>
          <p:nvPr/>
        </p:nvSpPr>
        <p:spPr>
          <a:xfrm>
            <a:off x="8348819" y="876300"/>
            <a:ext cx="9580767" cy="12997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6000"/>
              </a:lnSpc>
              <a:defRPr sz="3600" b="1">
                <a:solidFill>
                  <a:schemeClr val="tx1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《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製茶記｜台灣高山茶製作全程公開！一片茶葉的美味旅程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》</a:t>
            </a:r>
          </a:p>
          <a:p>
            <a:pPr>
              <a:lnSpc>
                <a:spcPct val="150000"/>
              </a:lnSpc>
            </a:pPr>
            <a:endParaRPr lang="en" altLang="zh-TW" sz="1100" dirty="0">
              <a:latin typeface="微軟正黑體" panose="020B0604030504040204" pitchFamily="34" charset="-120"/>
              <a:ea typeface="微軟正黑體" panose="020B0604030504040204" pitchFamily="34" charset="-120"/>
              <a:hlinkClick r:id="rId8"/>
            </a:endParaRPr>
          </a:p>
          <a:p>
            <a:pPr>
              <a:lnSpc>
                <a:spcPct val="150000"/>
              </a:lnSpc>
            </a:pPr>
            <a:r>
              <a:rPr lang="en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9"/>
              </a:rPr>
              <a:t>https://youtu.be/gxP179YePXk?si=4X19qyCqrOyszQfH</a:t>
            </a:r>
            <a:r>
              <a:rPr lang="en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8603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61937-3F38-3866-9E86-467348B89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A65A7C2-9555-42B0-6D7A-DC497F57AB9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1573C67-3DDF-E99C-3A96-3E7E418C8145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776D6E3-D450-4E88-A909-D90C06034731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C37B339-E3B0-3A0C-0C56-85A9C0995BD7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4993DAD-8090-1E33-7868-29F94FAE4810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377A916-3266-75AC-DAFC-5D628522DE45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AE5D025-37D7-870A-6DA5-B8489EDEDE11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FEAE543-5104-4B9D-A9DE-E5101B6FDAC5}"/>
              </a:ext>
            </a:extLst>
          </p:cNvPr>
          <p:cNvGrpSpPr/>
          <p:nvPr/>
        </p:nvGrpSpPr>
        <p:grpSpPr>
          <a:xfrm>
            <a:off x="1398217" y="537705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BE309E5B-884D-0C05-EC35-CA2726E71C4D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3E8F47D-B371-C6BC-6334-96104EA00E03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sz="11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510B2D41-883B-B021-D774-4B80B6F23869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F471CB21-6767-8089-1CA7-40A202108778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id="{4EBBBA17-DA0C-D78F-E6A7-96A9E244D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暖身題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7" name="Freeform 4">
            <a:extLst>
              <a:ext uri="{FF2B5EF4-FFF2-40B4-BE49-F238E27FC236}">
                <a16:creationId xmlns:a16="http://schemas.microsoft.com/office/drawing/2014/main" id="{10D8107B-6325-D727-156F-EB73EADEBAAF}"/>
              </a:ext>
            </a:extLst>
          </p:cNvPr>
          <p:cNvSpPr/>
          <p:nvPr/>
        </p:nvSpPr>
        <p:spPr>
          <a:xfrm>
            <a:off x="5312555" y="1050653"/>
            <a:ext cx="1211543" cy="932259"/>
          </a:xfrm>
          <a:custGeom>
            <a:avLst/>
            <a:gdLst/>
            <a:ahLst/>
            <a:cxnLst/>
            <a:rect l="l" t="t" r="r" b="b"/>
            <a:pathLst>
              <a:path w="3555018" h="3363936">
                <a:moveTo>
                  <a:pt x="0" y="0"/>
                </a:moveTo>
                <a:lnTo>
                  <a:pt x="3555018" y="0"/>
                </a:lnTo>
                <a:lnTo>
                  <a:pt x="3555018" y="3363937"/>
                </a:lnTo>
                <a:lnTo>
                  <a:pt x="0" y="3363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8" name="圖片 47">
            <a:extLst>
              <a:ext uri="{FF2B5EF4-FFF2-40B4-BE49-F238E27FC236}">
                <a16:creationId xmlns:a16="http://schemas.microsoft.com/office/drawing/2014/main" id="{121CA395-65CD-850E-970A-99514B01E29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pic>
        <p:nvPicPr>
          <p:cNvPr id="14" name="圖片 13" descr="一張含有 樣式, 正方形, 像素 的圖片&#10;&#10;自動產生的描述">
            <a:extLst>
              <a:ext uri="{FF2B5EF4-FFF2-40B4-BE49-F238E27FC236}">
                <a16:creationId xmlns:a16="http://schemas.microsoft.com/office/drawing/2014/main" id="{B65CDA58-32E7-24BA-2F82-3102D0A8D8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1742" y="824704"/>
            <a:ext cx="1447077" cy="1447077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文字方塊 3">
            <a:extLst>
              <a:ext uri="{FF2B5EF4-FFF2-40B4-BE49-F238E27FC236}">
                <a16:creationId xmlns:a16="http://schemas.microsoft.com/office/drawing/2014/main" id="{CF11B941-47EC-7C01-373A-44A7E953ED9C}"/>
              </a:ext>
            </a:extLst>
          </p:cNvPr>
          <p:cNvSpPr txBox="1"/>
          <p:nvPr/>
        </p:nvSpPr>
        <p:spPr>
          <a:xfrm>
            <a:off x="8348819" y="876300"/>
            <a:ext cx="9580767" cy="12997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6000"/>
              </a:lnSpc>
              <a:defRPr sz="3600" b="1">
                <a:solidFill>
                  <a:schemeClr val="tx1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《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製茶記｜台灣高山茶製作全程公開！一片茶葉的美味旅程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》</a:t>
            </a:r>
          </a:p>
          <a:p>
            <a:pPr>
              <a:lnSpc>
                <a:spcPct val="150000"/>
              </a:lnSpc>
            </a:pPr>
            <a:endParaRPr lang="en" altLang="zh-TW" sz="1100" dirty="0">
              <a:latin typeface="微軟正黑體" panose="020B0604030504040204" pitchFamily="34" charset="-120"/>
              <a:ea typeface="微軟正黑體" panose="020B0604030504040204" pitchFamily="34" charset="-120"/>
              <a:hlinkClick r:id="rId8"/>
            </a:endParaRPr>
          </a:p>
          <a:p>
            <a:pPr>
              <a:lnSpc>
                <a:spcPct val="150000"/>
              </a:lnSpc>
            </a:pPr>
            <a:r>
              <a:rPr lang="en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9"/>
              </a:rPr>
              <a:t>https://youtu.be/gxP179YePXk?si=4X19qyCqrOyszQfH</a:t>
            </a:r>
            <a:r>
              <a:rPr lang="en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4F24E1D3-54BA-3DD8-564A-6119EC62F4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426405"/>
              </p:ext>
            </p:extLst>
          </p:nvPr>
        </p:nvGraphicFramePr>
        <p:xfrm>
          <a:off x="2338722" y="2391987"/>
          <a:ext cx="14297469" cy="70925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5137">
                  <a:extLst>
                    <a:ext uri="{9D8B030D-6E8A-4147-A177-3AD203B41FA5}">
                      <a16:colId xmlns:a16="http://schemas.microsoft.com/office/drawing/2014/main" val="4128555728"/>
                    </a:ext>
                  </a:extLst>
                </a:gridCol>
                <a:gridCol w="1870110">
                  <a:extLst>
                    <a:ext uri="{9D8B030D-6E8A-4147-A177-3AD203B41FA5}">
                      <a16:colId xmlns:a16="http://schemas.microsoft.com/office/drawing/2014/main" val="3169333565"/>
                    </a:ext>
                  </a:extLst>
                </a:gridCol>
                <a:gridCol w="11392222">
                  <a:extLst>
                    <a:ext uri="{9D8B030D-6E8A-4147-A177-3AD203B41FA5}">
                      <a16:colId xmlns:a16="http://schemas.microsoft.com/office/drawing/2014/main" val="4272777687"/>
                    </a:ext>
                  </a:extLst>
                </a:gridCol>
              </a:tblGrid>
              <a:tr h="38457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順序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工法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解釋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984126"/>
                  </a:ext>
                </a:extLst>
              </a:tr>
              <a:tr h="39600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8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28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採摘</a:t>
                      </a:r>
                      <a:endParaRPr lang="zh-TW" sz="28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zh-TW" sz="28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選擇適當時機，手工或機械採摘茶樹的新鮮嫩芽或葉片。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2498733"/>
                  </a:ext>
                </a:extLst>
              </a:tr>
              <a:tr h="44677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8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28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殺青</a:t>
                      </a:r>
                      <a:endParaRPr lang="zh-TW" sz="28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利用高溫停止發酵，固定茶葉品質，常用炒青或蒸青方式。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4101778"/>
                  </a:ext>
                </a:extLst>
              </a:tr>
              <a:tr h="44423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8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7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28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乾燥</a:t>
                      </a:r>
                      <a:endParaRPr lang="zh-TW" sz="28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zh-TW" sz="28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通過烘乾或烘焙，去除茶葉中的多餘水分，便於保存，同時提升香氣。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192943"/>
                  </a:ext>
                </a:extLst>
              </a:tr>
              <a:tr h="40875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8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8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28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精製</a:t>
                      </a:r>
                    </a:p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28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（焙火）</a:t>
                      </a:r>
                      <a:endParaRPr lang="zh-TW" sz="28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zh-TW" sz="28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對乾燥後的茶葉進行烘焙，改善風味並挑揀雜質，提升茶葉品質。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647124"/>
                  </a:ext>
                </a:extLst>
              </a:tr>
              <a:tr h="40875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8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28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攪拌</a:t>
                      </a:r>
                    </a:p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28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（浪菁）</a:t>
                      </a:r>
                      <a:endParaRPr lang="zh-TW" sz="28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zh-TW" sz="28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輕輕翻動茶葉，使其邊緣細胞破損，促進酵素活動，為發酵創造條件。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548983"/>
                  </a:ext>
                </a:extLst>
              </a:tr>
              <a:tr h="68538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8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6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28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揉捻</a:t>
                      </a:r>
                      <a:endParaRPr lang="zh-TW" sz="28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zh-TW" sz="28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將茶葉揉捻成條索狀或球狀，破壞部分細胞組織，讓茶汁附著在葉片表面，增強沖泡時的滋味。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7458750"/>
                  </a:ext>
                </a:extLst>
              </a:tr>
              <a:tr h="68538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8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28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萎凋</a:t>
                      </a:r>
                      <a:endParaRPr lang="zh-TW" sz="28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zh-TW" sz="28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將採摘的茶葉攤放在陽光下或室內，讓其失去部分水分，使葉片柔軟，為後續工序做準備。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16807"/>
                  </a:ext>
                </a:extLst>
              </a:tr>
              <a:tr h="24655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8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28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發酵</a:t>
                      </a:r>
                      <a:endParaRPr lang="zh-TW" sz="28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讓茶葉在適當溫濕度下進行氧化反應，決定茶葉的香氣和滋味。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926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2765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/>
          <p:cNvGrpSpPr/>
          <p:nvPr/>
        </p:nvGrpSpPr>
        <p:grpSpPr>
          <a:xfrm>
            <a:off x="0" y="7699"/>
            <a:ext cx="18288000" cy="10287000"/>
            <a:chOff x="0" y="0"/>
            <a:chExt cx="18288000" cy="10287000"/>
          </a:xfrm>
        </p:grpSpPr>
        <p:sp>
          <p:nvSpPr>
            <p:cNvPr id="2" name="Freeform 2"/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1525999" y="561269"/>
              <a:ext cx="15917348" cy="9164462"/>
              <a:chOff x="0" y="0"/>
              <a:chExt cx="3764577" cy="216746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347374" y="572822"/>
              <a:ext cx="15917348" cy="9164462"/>
              <a:chOff x="0" y="0"/>
              <a:chExt cx="3764577" cy="216746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5629" y="98995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/>
          <p:cNvSpPr/>
          <p:nvPr/>
        </p:nvSpPr>
        <p:spPr>
          <a:xfrm>
            <a:off x="2084086" y="2330346"/>
            <a:ext cx="14266032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Q0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呼應暖身題，本課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茶鄉鹿谷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〉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是一篇說明凍頂烏龍茶生長環境與製作過程的記敘文。根據文本內容可分為五個意義段，請你依照內容，為每個段落下一個小標題。</a:t>
            </a:r>
            <a:endParaRPr lang="zh-TW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713107" y="5536657"/>
            <a:ext cx="2264618" cy="680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Freeform 7"/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8" name="圖片 3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34" name="圓角矩形 33"/>
          <p:cNvSpPr/>
          <p:nvPr/>
        </p:nvSpPr>
        <p:spPr>
          <a:xfrm>
            <a:off x="698774" y="8916775"/>
            <a:ext cx="7315200" cy="1141240"/>
          </a:xfrm>
          <a:prstGeom prst="roundRect">
            <a:avLst/>
          </a:prstGeom>
          <a:solidFill>
            <a:srgbClr val="FCD5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146574" y="9450761"/>
            <a:ext cx="762000" cy="4351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914400" y="8989993"/>
            <a:ext cx="701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心智圖架構提示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第一層 灰框、第二層 方框、第三層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800" u="db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底線</a:t>
            </a:r>
            <a:endParaRPr lang="zh-TW" altLang="en-US" sz="284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Freeform 2"/>
          <p:cNvSpPr/>
          <p:nvPr/>
        </p:nvSpPr>
        <p:spPr>
          <a:xfrm>
            <a:off x="32928" y="8112344"/>
            <a:ext cx="1313160" cy="1260562"/>
          </a:xfrm>
          <a:custGeom>
            <a:avLst/>
            <a:gdLst/>
            <a:ahLst/>
            <a:cxnLst/>
            <a:rect l="l" t="t" r="r" b="b"/>
            <a:pathLst>
              <a:path w="3688357" h="4114800">
                <a:moveTo>
                  <a:pt x="0" y="0"/>
                </a:moveTo>
                <a:lnTo>
                  <a:pt x="3688357" y="0"/>
                </a:lnTo>
                <a:lnTo>
                  <a:pt x="3688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EC00BE-CBEE-8F4B-8B51-2792A21C2BF7}"/>
              </a:ext>
            </a:extLst>
          </p:cNvPr>
          <p:cNvSpPr/>
          <p:nvPr/>
        </p:nvSpPr>
        <p:spPr>
          <a:xfrm>
            <a:off x="4356375" y="9498507"/>
            <a:ext cx="762000" cy="353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F147DBA-D684-B4E0-6B65-5A29222C4D7A}"/>
              </a:ext>
            </a:extLst>
          </p:cNvPr>
          <p:cNvSpPr/>
          <p:nvPr/>
        </p:nvSpPr>
        <p:spPr>
          <a:xfrm>
            <a:off x="9263840" y="5536657"/>
            <a:ext cx="2264618" cy="680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6BD2213-74BA-E969-9275-CC81944C8C23}"/>
              </a:ext>
            </a:extLst>
          </p:cNvPr>
          <p:cNvSpPr/>
          <p:nvPr/>
        </p:nvSpPr>
        <p:spPr>
          <a:xfrm>
            <a:off x="11734800" y="5536657"/>
            <a:ext cx="2529192" cy="680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2B15BB7-6CC7-3492-7B4F-542B6DC0AFA0}"/>
              </a:ext>
            </a:extLst>
          </p:cNvPr>
          <p:cNvSpPr txBox="1"/>
          <p:nvPr/>
        </p:nvSpPr>
        <p:spPr>
          <a:xfrm>
            <a:off x="6891732" y="5552704"/>
            <a:ext cx="21258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32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標楷體" panose="03000509000000000000" pitchFamily="49" charset="-120"/>
                <a:cs typeface="標楷體" panose="03000509000000000000" pitchFamily="49" charset="-120"/>
              </a:rPr>
              <a:t>茶鄉美景</a:t>
            </a:r>
            <a:r>
              <a:rPr lang="zh-TW" altLang="zh-TW" sz="32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標楷體" panose="03000509000000000000" pitchFamily="49" charset="-120"/>
                <a:cs typeface="標楷體" panose="03000509000000000000" pitchFamily="49" charset="-120"/>
              </a:rPr>
              <a:t> </a:t>
            </a:r>
            <a:endParaRPr lang="zh-TW" altLang="en-US" sz="3200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6DEC53C-680B-EA76-EEB9-D67AFEBE2ECB}"/>
              </a:ext>
            </a:extLst>
          </p:cNvPr>
          <p:cNvSpPr txBox="1"/>
          <p:nvPr/>
        </p:nvSpPr>
        <p:spPr>
          <a:xfrm>
            <a:off x="12039324" y="5539588"/>
            <a:ext cx="21258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標楷體" panose="03000509000000000000" pitchFamily="49" charset="-120"/>
                <a:cs typeface="標楷體" panose="03000509000000000000" pitchFamily="49" charset="-120"/>
              </a:rPr>
              <a:t>品茶</a:t>
            </a:r>
            <a:endParaRPr lang="zh-TW" altLang="en-US" sz="32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945FACF-E0F5-0060-76D7-43078A3E49BC}"/>
              </a:ext>
            </a:extLst>
          </p:cNvPr>
          <p:cNvSpPr txBox="1"/>
          <p:nvPr/>
        </p:nvSpPr>
        <p:spPr>
          <a:xfrm>
            <a:off x="9500810" y="5539588"/>
            <a:ext cx="21258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標楷體" panose="03000509000000000000" pitchFamily="49" charset="-120"/>
                <a:cs typeface="標楷體" panose="03000509000000000000" pitchFamily="49" charset="-120"/>
              </a:rPr>
              <a:t>製茶</a:t>
            </a:r>
            <a:endParaRPr lang="zh-TW" altLang="en-US" sz="32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24020DD-A519-9B88-FE41-0365F35CC49C}"/>
              </a:ext>
            </a:extLst>
          </p:cNvPr>
          <p:cNvSpPr/>
          <p:nvPr/>
        </p:nvSpPr>
        <p:spPr>
          <a:xfrm>
            <a:off x="14782800" y="5552704"/>
            <a:ext cx="1903002" cy="680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54ABCB3-A9B6-4654-6760-D00BE54BB71A}"/>
              </a:ext>
            </a:extLst>
          </p:cNvPr>
          <p:cNvSpPr/>
          <p:nvPr/>
        </p:nvSpPr>
        <p:spPr>
          <a:xfrm>
            <a:off x="4724400" y="5491809"/>
            <a:ext cx="1144054" cy="680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115900"/>
              </p:ext>
            </p:extLst>
          </p:nvPr>
        </p:nvGraphicFramePr>
        <p:xfrm>
          <a:off x="2092323" y="5030013"/>
          <a:ext cx="14848302" cy="3114750"/>
        </p:xfrm>
        <a:graphic>
          <a:graphicData uri="http://schemas.openxmlformats.org/drawingml/2006/table">
            <a:tbl>
              <a:tblPr bandRow="1"/>
              <a:tblGrid>
                <a:gridCol w="18700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5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5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5645">
                  <a:extLst>
                    <a:ext uri="{9D8B030D-6E8A-4147-A177-3AD203B41FA5}">
                      <a16:colId xmlns:a16="http://schemas.microsoft.com/office/drawing/2014/main" val="1356933395"/>
                    </a:ext>
                  </a:extLst>
                </a:gridCol>
                <a:gridCol w="2595645">
                  <a:extLst>
                    <a:ext uri="{9D8B030D-6E8A-4147-A177-3AD203B41FA5}">
                      <a16:colId xmlns:a16="http://schemas.microsoft.com/office/drawing/2014/main" val="3040325930"/>
                    </a:ext>
                  </a:extLst>
                </a:gridCol>
                <a:gridCol w="2595645">
                  <a:extLst>
                    <a:ext uri="{9D8B030D-6E8A-4147-A177-3AD203B41FA5}">
                      <a16:colId xmlns:a16="http://schemas.microsoft.com/office/drawing/2014/main" val="2643419208"/>
                    </a:ext>
                  </a:extLst>
                </a:gridCol>
              </a:tblGrid>
              <a:tr h="15573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TW" sz="32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意義段</a:t>
                      </a:r>
                      <a:endParaRPr lang="zh-TW" sz="3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2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背景</a:t>
                      </a:r>
                      <a:endParaRPr lang="zh-TW" sz="32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3200" kern="1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(</a:t>
                      </a:r>
                      <a:r>
                        <a:rPr lang="en-US" altLang="zh-TW" sz="32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                       </a:t>
                      </a:r>
                      <a:r>
                        <a:rPr lang="en-US" sz="32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)</a:t>
                      </a:r>
                      <a:endParaRPr lang="zh-TW" sz="32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3200" kern="1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(     )</a:t>
                      </a:r>
                      <a:r>
                        <a:rPr lang="zh-TW" sz="32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過程</a:t>
                      </a:r>
                      <a:endParaRPr lang="zh-TW" sz="32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altLang="zh-TW" sz="3200" kern="1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49" charset="-120"/>
                          <a:ea typeface="+mn-ea"/>
                          <a:cs typeface="標楷體" panose="03000509000000000000" pitchFamily="49" charset="-120"/>
                        </a:rPr>
                        <a:t>(     )</a:t>
                      </a:r>
                      <a:r>
                        <a:rPr lang="en-US" sz="3200" kern="1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 </a:t>
                      </a:r>
                      <a:r>
                        <a:rPr lang="zh-TW" sz="32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感受</a:t>
                      </a:r>
                      <a:endParaRPr lang="zh-TW" sz="32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2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作者想法</a:t>
                      </a:r>
                      <a:endParaRPr lang="zh-TW" sz="32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73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TW" sz="3200" kern="10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自然段</a:t>
                      </a:r>
                      <a:endParaRPr lang="zh-TW" sz="3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3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3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3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3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3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矩形 23"/>
          <p:cNvSpPr/>
          <p:nvPr/>
        </p:nvSpPr>
        <p:spPr>
          <a:xfrm>
            <a:off x="4732266" y="6996754"/>
            <a:ext cx="1128322" cy="805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zh-TW" sz="44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281255" y="6996754"/>
            <a:ext cx="1128322" cy="805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zh-TW" sz="4400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0467FBE-9E1E-9CA7-43C9-4FD8F09849E5}"/>
              </a:ext>
            </a:extLst>
          </p:cNvPr>
          <p:cNvSpPr/>
          <p:nvPr/>
        </p:nvSpPr>
        <p:spPr>
          <a:xfrm>
            <a:off x="9831988" y="7035625"/>
            <a:ext cx="1128322" cy="805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zh-TW" sz="4400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1F76CFF-8B14-CAEA-7BD0-91C98E0EE1FC}"/>
              </a:ext>
            </a:extLst>
          </p:cNvPr>
          <p:cNvSpPr/>
          <p:nvPr/>
        </p:nvSpPr>
        <p:spPr>
          <a:xfrm>
            <a:off x="12538071" y="6996754"/>
            <a:ext cx="1128322" cy="805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  <a:endParaRPr lang="zh-TW" altLang="zh-TW" sz="4400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42D7098-4156-0885-FFC1-8AC3E2AAB2A2}"/>
              </a:ext>
            </a:extLst>
          </p:cNvPr>
          <p:cNvSpPr/>
          <p:nvPr/>
        </p:nvSpPr>
        <p:spPr>
          <a:xfrm>
            <a:off x="15026078" y="6989424"/>
            <a:ext cx="1128322" cy="805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  <a:endParaRPr lang="zh-TW" altLang="zh-TW" sz="4400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68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3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9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4" grpId="0" animBg="1"/>
      <p:bldP spid="40" grpId="0"/>
      <p:bldP spid="5" grpId="0" animBg="1"/>
      <p:bldP spid="13" grpId="0" animBg="1"/>
      <p:bldP spid="14" grpId="0"/>
      <p:bldP spid="17" grpId="0"/>
      <p:bldP spid="18" grpId="0"/>
      <p:bldP spid="23" grpId="0" animBg="1"/>
      <p:bldP spid="26" grpId="0" animBg="1"/>
      <p:bldP spid="24" grpId="0"/>
      <p:bldP spid="25" grpId="0"/>
      <p:bldP spid="27" grpId="0"/>
      <p:bldP spid="28" grpId="0"/>
      <p:bldP spid="2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-25734" y="0"/>
            <a:ext cx="18313734" cy="10311020"/>
            <a:chOff x="0" y="0"/>
            <a:chExt cx="18288000" cy="10287000"/>
          </a:xfrm>
        </p:grpSpPr>
        <p:sp>
          <p:nvSpPr>
            <p:cNvPr id="2" name="Freeform 2"/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525999" y="454740"/>
              <a:ext cx="15917348" cy="9325556"/>
              <a:chOff x="0" y="-38100"/>
              <a:chExt cx="3764577" cy="220556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 dirty="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 sz="20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922637" y="1050653"/>
              <a:ext cx="736712" cy="8185694"/>
            </a:xfrm>
            <a:custGeom>
              <a:avLst/>
              <a:gdLst/>
              <a:ahLst/>
              <a:cxnLst/>
              <a:rect l="l" t="t" r="r" b="b"/>
              <a:pathLst>
                <a:path w="736712" h="8185694">
                  <a:moveTo>
                    <a:pt x="0" y="0"/>
                  </a:moveTo>
                  <a:lnTo>
                    <a:pt x="736712" y="0"/>
                  </a:lnTo>
                  <a:lnTo>
                    <a:pt x="736712" y="8185694"/>
                  </a:lnTo>
                  <a:lnTo>
                    <a:pt x="0" y="8185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153057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/>
          <p:cNvSpPr/>
          <p:nvPr/>
        </p:nvSpPr>
        <p:spPr>
          <a:xfrm>
            <a:off x="2501223" y="2875771"/>
            <a:ext cx="14260778" cy="6161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根據第一段，嬸嬸帶作者一家人到哪個地點遊玩？那個地方有什麼特色呢？</a:t>
            </a:r>
          </a:p>
          <a:p>
            <a:pPr>
              <a:lnSpc>
                <a:spcPts val="6000"/>
              </a:lnSpc>
            </a:pP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嬸嬸帶作者一家人到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            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遊玩，那裡是個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     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的山城。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ts val="6000"/>
              </a:lnSpc>
            </a:pP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ts val="6000"/>
              </a:lnSpc>
            </a:pPr>
            <a:r>
              <a:rPr lang="en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Q2-1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作者看到怎樣的茶鄉的景色？</a:t>
            </a:r>
          </a:p>
          <a:p>
            <a:pPr>
              <a:lnSpc>
                <a:spcPts val="6000"/>
              </a:lnSpc>
            </a:pP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ts val="6000"/>
              </a:lnSpc>
            </a:pP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圓角矩形 11"/>
          <p:cNvSpPr/>
          <p:nvPr/>
        </p:nvSpPr>
        <p:spPr>
          <a:xfrm>
            <a:off x="698774" y="8916775"/>
            <a:ext cx="7315200" cy="1141240"/>
          </a:xfrm>
          <a:prstGeom prst="roundRect">
            <a:avLst/>
          </a:prstGeom>
          <a:solidFill>
            <a:srgbClr val="FCD5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146574" y="9450761"/>
            <a:ext cx="762000" cy="4351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914400" y="8989993"/>
            <a:ext cx="701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心智圖架構提示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第一層 灰框、第二層 方框、第三層 </a:t>
            </a:r>
            <a:r>
              <a:rPr lang="zh-TW" altLang="en-US" sz="2840" u="db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底線</a:t>
            </a:r>
          </a:p>
        </p:txBody>
      </p:sp>
      <p:sp>
        <p:nvSpPr>
          <p:cNvPr id="18" name="矩形 17"/>
          <p:cNvSpPr/>
          <p:nvPr/>
        </p:nvSpPr>
        <p:spPr>
          <a:xfrm>
            <a:off x="4356375" y="9498507"/>
            <a:ext cx="762000" cy="353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Freeform 2"/>
          <p:cNvSpPr/>
          <p:nvPr/>
        </p:nvSpPr>
        <p:spPr>
          <a:xfrm>
            <a:off x="32928" y="8112344"/>
            <a:ext cx="1313160" cy="1260562"/>
          </a:xfrm>
          <a:custGeom>
            <a:avLst/>
            <a:gdLst/>
            <a:ahLst/>
            <a:cxnLst/>
            <a:rect l="l" t="t" r="r" b="b"/>
            <a:pathLst>
              <a:path w="3688357" h="4114800">
                <a:moveTo>
                  <a:pt x="0" y="0"/>
                </a:moveTo>
                <a:lnTo>
                  <a:pt x="3688357" y="0"/>
                </a:lnTo>
                <a:lnTo>
                  <a:pt x="3688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7" name="圖片 4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1800" y="132784"/>
            <a:ext cx="2019197" cy="394683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357E7A6E-637B-56E1-629A-0CF8A047396A}"/>
              </a:ext>
            </a:extLst>
          </p:cNvPr>
          <p:cNvSpPr/>
          <p:nvPr/>
        </p:nvSpPr>
        <p:spPr>
          <a:xfrm>
            <a:off x="6900554" y="4420139"/>
            <a:ext cx="4986646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u="sng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南投縣</a:t>
            </a:r>
            <a:r>
              <a:rPr lang="en-US" altLang="zh-TW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zh-TW" altLang="en-US" sz="3600" b="1" u="sng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鹿谷鄉</a:t>
            </a:r>
            <a:endParaRPr lang="zh-TW" altLang="zh-TW" sz="3600" b="1" u="sng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2" name="Freeform 7"/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308B3D4-4025-70B0-A750-BDBDAFBC0E77}"/>
              </a:ext>
            </a:extLst>
          </p:cNvPr>
          <p:cNvSpPr/>
          <p:nvPr/>
        </p:nvSpPr>
        <p:spPr>
          <a:xfrm>
            <a:off x="11125200" y="2875772"/>
            <a:ext cx="838200" cy="7782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2E235F3-83B8-0266-1235-191081E444B2}"/>
              </a:ext>
            </a:extLst>
          </p:cNvPr>
          <p:cNvSpPr/>
          <p:nvPr/>
        </p:nvSpPr>
        <p:spPr>
          <a:xfrm>
            <a:off x="8231184" y="6803060"/>
            <a:ext cx="1065216" cy="7291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048CEA6-225E-143C-0557-0EAD4A7E3827}"/>
              </a:ext>
            </a:extLst>
          </p:cNvPr>
          <p:cNvSpPr/>
          <p:nvPr/>
        </p:nvSpPr>
        <p:spPr>
          <a:xfrm>
            <a:off x="2559885" y="3686280"/>
            <a:ext cx="990600" cy="7782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4D9CE74-8B48-28B0-4E8D-806C4500FAD3}"/>
              </a:ext>
            </a:extLst>
          </p:cNvPr>
          <p:cNvSpPr/>
          <p:nvPr/>
        </p:nvSpPr>
        <p:spPr>
          <a:xfrm>
            <a:off x="13641433" y="4420138"/>
            <a:ext cx="4986646" cy="7888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飄著茶鄉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5992008-262B-BD2D-9811-5099F0CF5F87}"/>
              </a:ext>
            </a:extLst>
          </p:cNvPr>
          <p:cNvSpPr/>
          <p:nvPr/>
        </p:nvSpPr>
        <p:spPr>
          <a:xfrm>
            <a:off x="9704359" y="6661175"/>
            <a:ext cx="4986646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u="sng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凍頂山</a:t>
            </a: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滿山的茶園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64204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28" grpId="0"/>
      <p:bldP spid="23" grpId="0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8181B-FDF6-2264-8D06-012676A44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C3318BBC-E39B-E53D-328D-EE1AF39FFBF9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E325F8A-6074-B429-9745-7DAE1B043E22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02971A2-0098-42A2-9A0E-33828ADBDEDF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9C78A86F-B6AF-E9F9-00FD-5814792B404C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62746AD-E81C-86FF-30A7-A2593176E8CA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9EF9467-EDE5-3B7A-C668-54561629F19A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E557A2EE-1F93-3278-5922-87836BA4CED0}"/>
              </a:ext>
            </a:extLst>
          </p:cNvPr>
          <p:cNvGrpSpPr/>
          <p:nvPr/>
        </p:nvGrpSpPr>
        <p:grpSpPr>
          <a:xfrm>
            <a:off x="-25734" y="0"/>
            <a:ext cx="18313734" cy="10311020"/>
            <a:chOff x="0" y="0"/>
            <a:chExt cx="18288000" cy="10287000"/>
          </a:xfrm>
        </p:grpSpPr>
        <p:sp>
          <p:nvSpPr>
            <p:cNvPr id="2" name="Freeform 2">
              <a:extLst>
                <a:ext uri="{FF2B5EF4-FFF2-40B4-BE49-F238E27FC236}">
                  <a16:creationId xmlns:a16="http://schemas.microsoft.com/office/drawing/2014/main" id="{ECC20173-3564-90B8-2673-8D935889DF19}"/>
                </a:ext>
              </a:extLst>
            </p:cNvPr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839D22F4-8D99-F4EB-9509-7A64D4F41AC6}"/>
                </a:ext>
              </a:extLst>
            </p:cNvPr>
            <p:cNvGrpSpPr/>
            <p:nvPr/>
          </p:nvGrpSpPr>
          <p:grpSpPr>
            <a:xfrm>
              <a:off x="1525999" y="454740"/>
              <a:ext cx="15917348" cy="9325556"/>
              <a:chOff x="0" y="-38100"/>
              <a:chExt cx="3764577" cy="2205567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1674D02A-7C00-38EE-B785-55568A9E4DC9}"/>
                  </a:ext>
                </a:extLst>
              </p:cNvPr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 dirty="0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39373078-17B1-79B8-1985-C1CA62CBF46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 sz="20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EDDC8A9C-DAB1-7362-DDE9-AD062AEFF428}"/>
                </a:ext>
              </a:extLst>
            </p:cNvPr>
            <p:cNvSpPr/>
            <p:nvPr/>
          </p:nvSpPr>
          <p:spPr>
            <a:xfrm>
              <a:off x="922637" y="1050653"/>
              <a:ext cx="736712" cy="8185694"/>
            </a:xfrm>
            <a:custGeom>
              <a:avLst/>
              <a:gdLst/>
              <a:ahLst/>
              <a:cxnLst/>
              <a:rect l="l" t="t" r="r" b="b"/>
              <a:pathLst>
                <a:path w="736712" h="8185694">
                  <a:moveTo>
                    <a:pt x="0" y="0"/>
                  </a:moveTo>
                  <a:lnTo>
                    <a:pt x="736712" y="0"/>
                  </a:lnTo>
                  <a:lnTo>
                    <a:pt x="736712" y="8185694"/>
                  </a:lnTo>
                  <a:lnTo>
                    <a:pt x="0" y="8185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36" name="圖片 35">
            <a:extLst>
              <a:ext uri="{FF2B5EF4-FFF2-40B4-BE49-F238E27FC236}">
                <a16:creationId xmlns:a16="http://schemas.microsoft.com/office/drawing/2014/main" id="{D51EC5FD-FF90-46A8-EF71-4C363E4B5B6D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id="{DEA0175A-3893-14F9-E4D7-3FFE46E75E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D29FC7-428D-72DF-06D5-E5112F6BA6FC}"/>
              </a:ext>
            </a:extLst>
          </p:cNvPr>
          <p:cNvSpPr/>
          <p:nvPr/>
        </p:nvSpPr>
        <p:spPr>
          <a:xfrm>
            <a:off x="0" y="153057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07B96B9-A42C-ECE9-1165-BE27EC9143A6}"/>
              </a:ext>
            </a:extLst>
          </p:cNvPr>
          <p:cNvSpPr/>
          <p:nvPr/>
        </p:nvSpPr>
        <p:spPr>
          <a:xfrm>
            <a:off x="2437973" y="2324100"/>
            <a:ext cx="14260778" cy="6161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Q2-2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請從第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段文本中找出種茶樹所需要的條件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?</a:t>
            </a:r>
          </a:p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1.(                    )  2.(                    ) 3.(                       )  4.(                       ) </a:t>
            </a:r>
          </a:p>
          <a:p>
            <a:pPr>
              <a:lnSpc>
                <a:spcPts val="6000"/>
              </a:lnSpc>
            </a:pP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Q3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製茶過程有三個主要步驟：</a:t>
            </a:r>
          </a:p>
          <a:p>
            <a:pPr>
              <a:lnSpc>
                <a:spcPts val="6000"/>
              </a:lnSpc>
            </a:pP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首先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                            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，接著讓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      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，進行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處理，最後將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             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，進行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和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)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ts val="6000"/>
              </a:lnSpc>
            </a:pP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Q4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爸爸和叔叔的品茶感受如何？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22A5FE03-8DD0-6770-0D56-5AF317A2FD94}"/>
              </a:ext>
            </a:extLst>
          </p:cNvPr>
          <p:cNvSpPr/>
          <p:nvPr/>
        </p:nvSpPr>
        <p:spPr>
          <a:xfrm>
            <a:off x="698774" y="8916775"/>
            <a:ext cx="7315200" cy="1141240"/>
          </a:xfrm>
          <a:prstGeom prst="roundRect">
            <a:avLst/>
          </a:prstGeom>
          <a:solidFill>
            <a:srgbClr val="FCD5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2B6E7AD-6D75-C570-7979-8373CF5FA186}"/>
              </a:ext>
            </a:extLst>
          </p:cNvPr>
          <p:cNvSpPr/>
          <p:nvPr/>
        </p:nvSpPr>
        <p:spPr>
          <a:xfrm>
            <a:off x="2146574" y="9450761"/>
            <a:ext cx="762000" cy="4351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5DDEE43-0F91-8819-1D15-9B9411F8987C}"/>
              </a:ext>
            </a:extLst>
          </p:cNvPr>
          <p:cNvSpPr txBox="1"/>
          <p:nvPr/>
        </p:nvSpPr>
        <p:spPr>
          <a:xfrm>
            <a:off x="914400" y="8989993"/>
            <a:ext cx="701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心智圖架構提示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第一層 灰框、第二層 方框、第三層 </a:t>
            </a:r>
            <a:r>
              <a:rPr lang="zh-TW" altLang="en-US" sz="2840" u="db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底線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D580330-9BA3-E1F2-5B59-1A4FD65C91EC}"/>
              </a:ext>
            </a:extLst>
          </p:cNvPr>
          <p:cNvSpPr/>
          <p:nvPr/>
        </p:nvSpPr>
        <p:spPr>
          <a:xfrm>
            <a:off x="4356375" y="9498507"/>
            <a:ext cx="762000" cy="353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Freeform 2">
            <a:extLst>
              <a:ext uri="{FF2B5EF4-FFF2-40B4-BE49-F238E27FC236}">
                <a16:creationId xmlns:a16="http://schemas.microsoft.com/office/drawing/2014/main" id="{AA49B27C-F6BB-BCEF-8EC2-C379B2A53644}"/>
              </a:ext>
            </a:extLst>
          </p:cNvPr>
          <p:cNvSpPr/>
          <p:nvPr/>
        </p:nvSpPr>
        <p:spPr>
          <a:xfrm>
            <a:off x="32928" y="8112344"/>
            <a:ext cx="1313160" cy="1260562"/>
          </a:xfrm>
          <a:custGeom>
            <a:avLst/>
            <a:gdLst/>
            <a:ahLst/>
            <a:cxnLst/>
            <a:rect l="l" t="t" r="r" b="b"/>
            <a:pathLst>
              <a:path w="3688357" h="4114800">
                <a:moveTo>
                  <a:pt x="0" y="0"/>
                </a:moveTo>
                <a:lnTo>
                  <a:pt x="3688357" y="0"/>
                </a:lnTo>
                <a:lnTo>
                  <a:pt x="3688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7" name="圖片 46">
            <a:extLst>
              <a:ext uri="{FF2B5EF4-FFF2-40B4-BE49-F238E27FC236}">
                <a16:creationId xmlns:a16="http://schemas.microsoft.com/office/drawing/2014/main" id="{43E4F15E-07BF-AB07-C3AC-30F39373668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1800" y="132784"/>
            <a:ext cx="2019197" cy="394683"/>
          </a:xfrm>
          <a:prstGeom prst="rect">
            <a:avLst/>
          </a:prstGeom>
        </p:spPr>
      </p:pic>
      <p:sp>
        <p:nvSpPr>
          <p:cNvPr id="32" name="Freeform 7">
            <a:extLst>
              <a:ext uri="{FF2B5EF4-FFF2-40B4-BE49-F238E27FC236}">
                <a16:creationId xmlns:a16="http://schemas.microsoft.com/office/drawing/2014/main" id="{EDFDB661-2B23-1210-4F34-65F6E9F2633E}"/>
              </a:ext>
            </a:extLst>
          </p:cNvPr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46B1AD0-032C-6C2D-5603-ED1BFC412886}"/>
              </a:ext>
            </a:extLst>
          </p:cNvPr>
          <p:cNvSpPr/>
          <p:nvPr/>
        </p:nvSpPr>
        <p:spPr>
          <a:xfrm>
            <a:off x="3227137" y="7696180"/>
            <a:ext cx="2372931" cy="7291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79134CE-6BAA-0B10-F521-5BE198D6843C}"/>
              </a:ext>
            </a:extLst>
          </p:cNvPr>
          <p:cNvSpPr/>
          <p:nvPr/>
        </p:nvSpPr>
        <p:spPr>
          <a:xfrm>
            <a:off x="3221463" y="4651090"/>
            <a:ext cx="1896911" cy="7782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C8EA480-B4BF-18AE-2A53-A2184F68D801}"/>
              </a:ext>
            </a:extLst>
          </p:cNvPr>
          <p:cNvSpPr/>
          <p:nvPr/>
        </p:nvSpPr>
        <p:spPr>
          <a:xfrm>
            <a:off x="9484673" y="3140829"/>
            <a:ext cx="2991490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早晚溫差大 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23DC355-EF0A-AC60-8A94-247242EE1A6B}"/>
              </a:ext>
            </a:extLst>
          </p:cNvPr>
          <p:cNvSpPr/>
          <p:nvPr/>
        </p:nvSpPr>
        <p:spPr>
          <a:xfrm>
            <a:off x="9460562" y="7667178"/>
            <a:ext cx="4986646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這茶值得細細品味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F5A84A0-E566-3A4A-4780-7F11E7836CB1}"/>
              </a:ext>
            </a:extLst>
          </p:cNvPr>
          <p:cNvSpPr/>
          <p:nvPr/>
        </p:nvSpPr>
        <p:spPr>
          <a:xfrm>
            <a:off x="3161949" y="3124111"/>
            <a:ext cx="2112536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氣候溫和 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455A6CF-D2D5-D9CB-45A1-C8934978C096}"/>
              </a:ext>
            </a:extLst>
          </p:cNvPr>
          <p:cNvSpPr/>
          <p:nvPr/>
        </p:nvSpPr>
        <p:spPr>
          <a:xfrm>
            <a:off x="6400800" y="3140829"/>
            <a:ext cx="2112536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雨量足夠 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F668491-A792-71AA-87BB-EACE5C33E61F}"/>
              </a:ext>
            </a:extLst>
          </p:cNvPr>
          <p:cNvSpPr/>
          <p:nvPr/>
        </p:nvSpPr>
        <p:spPr>
          <a:xfrm>
            <a:off x="13064175" y="3130010"/>
            <a:ext cx="2991490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經常有雲霧 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417183C-340B-A433-B15D-47E2FB6A4867}"/>
              </a:ext>
            </a:extLst>
          </p:cNvPr>
          <p:cNvSpPr/>
          <p:nvPr/>
        </p:nvSpPr>
        <p:spPr>
          <a:xfrm>
            <a:off x="3657600" y="5384231"/>
            <a:ext cx="4986646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將剛採下來的葉子晒過 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E15311E-6141-2267-DD48-CCFF21262391}"/>
              </a:ext>
            </a:extLst>
          </p:cNvPr>
          <p:cNvSpPr/>
          <p:nvPr/>
        </p:nvSpPr>
        <p:spPr>
          <a:xfrm>
            <a:off x="14896476" y="5462653"/>
            <a:ext cx="4986646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高溫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B2766C2-4452-0AA6-B8DA-396ABFB78AA2}"/>
              </a:ext>
            </a:extLst>
          </p:cNvPr>
          <p:cNvSpPr/>
          <p:nvPr/>
        </p:nvSpPr>
        <p:spPr>
          <a:xfrm>
            <a:off x="10816252" y="5384230"/>
            <a:ext cx="4986646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茶葉發酵 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45B8C03-FB0E-E535-D0EE-4DA0CC1AA630}"/>
              </a:ext>
            </a:extLst>
          </p:cNvPr>
          <p:cNvSpPr/>
          <p:nvPr/>
        </p:nvSpPr>
        <p:spPr>
          <a:xfrm>
            <a:off x="5600068" y="6182989"/>
            <a:ext cx="4986646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茶葉揉成球形 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2BF3001-CAD2-7C37-1CB8-EE5AA9FA04F0}"/>
              </a:ext>
            </a:extLst>
          </p:cNvPr>
          <p:cNvSpPr/>
          <p:nvPr/>
        </p:nvSpPr>
        <p:spPr>
          <a:xfrm>
            <a:off x="10432611" y="6168052"/>
            <a:ext cx="1350284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乾燥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CFBB9F1-C6A0-FD42-6FEC-72054C55EB6F}"/>
              </a:ext>
            </a:extLst>
          </p:cNvPr>
          <p:cNvSpPr/>
          <p:nvPr/>
        </p:nvSpPr>
        <p:spPr>
          <a:xfrm>
            <a:off x="12670516" y="6182989"/>
            <a:ext cx="1350284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烘焙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74590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3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23" grpId="0"/>
      <p:bldP spid="24" grpId="0"/>
      <p:bldP spid="10" grpId="0"/>
      <p:bldP spid="11" grpId="0"/>
      <p:bldP spid="25" grpId="0"/>
      <p:bldP spid="26" grpId="0"/>
      <p:bldP spid="27" grpId="0"/>
      <p:bldP spid="29" grpId="0"/>
      <p:bldP spid="30" grpId="0"/>
      <p:bldP spid="31" grpId="0"/>
      <p:bldP spid="3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D4A95-5B33-FFC6-9020-8DD7A4B01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45279DDD-5A9E-BD98-8E78-4EFAFB2E53D0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98F04D4-37CB-92DC-3D62-7ADB73F79ADD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01332A8-00A9-5142-82FA-59D1FB252C6A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DECCD0A-5903-59CE-B969-983CE2A1233D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B151D33-44DA-7C02-303A-ACFFE511C326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C5DF4A5-F13F-141F-1124-69006F94BDAE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7218771B-4931-6B0B-FBB0-80A3092431F1}"/>
              </a:ext>
            </a:extLst>
          </p:cNvPr>
          <p:cNvGrpSpPr/>
          <p:nvPr/>
        </p:nvGrpSpPr>
        <p:grpSpPr>
          <a:xfrm>
            <a:off x="-25734" y="0"/>
            <a:ext cx="18313734" cy="10311020"/>
            <a:chOff x="0" y="0"/>
            <a:chExt cx="18288000" cy="10287000"/>
          </a:xfrm>
        </p:grpSpPr>
        <p:sp>
          <p:nvSpPr>
            <p:cNvPr id="2" name="Freeform 2">
              <a:extLst>
                <a:ext uri="{FF2B5EF4-FFF2-40B4-BE49-F238E27FC236}">
                  <a16:creationId xmlns:a16="http://schemas.microsoft.com/office/drawing/2014/main" id="{F56B9402-F73F-9176-CB3D-7F471A4CED99}"/>
                </a:ext>
              </a:extLst>
            </p:cNvPr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6CE87869-8C02-E4E1-0854-97132EBE096B}"/>
                </a:ext>
              </a:extLst>
            </p:cNvPr>
            <p:cNvGrpSpPr/>
            <p:nvPr/>
          </p:nvGrpSpPr>
          <p:grpSpPr>
            <a:xfrm>
              <a:off x="1525999" y="454740"/>
              <a:ext cx="15917348" cy="9325556"/>
              <a:chOff x="0" y="-38100"/>
              <a:chExt cx="3764577" cy="2205567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9D7D6E72-2E16-5BB2-EAF1-A7DF7894255C}"/>
                  </a:ext>
                </a:extLst>
              </p:cNvPr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 dirty="0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EB60AAA3-831F-908C-175B-DE4EA70881F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 sz="20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6B3D9D82-D6FD-E23F-9093-EEC7958A1DC5}"/>
                </a:ext>
              </a:extLst>
            </p:cNvPr>
            <p:cNvSpPr/>
            <p:nvPr/>
          </p:nvSpPr>
          <p:spPr>
            <a:xfrm>
              <a:off x="922637" y="1050653"/>
              <a:ext cx="736712" cy="8185694"/>
            </a:xfrm>
            <a:custGeom>
              <a:avLst/>
              <a:gdLst/>
              <a:ahLst/>
              <a:cxnLst/>
              <a:rect l="l" t="t" r="r" b="b"/>
              <a:pathLst>
                <a:path w="736712" h="8185694">
                  <a:moveTo>
                    <a:pt x="0" y="0"/>
                  </a:moveTo>
                  <a:lnTo>
                    <a:pt x="736712" y="0"/>
                  </a:lnTo>
                  <a:lnTo>
                    <a:pt x="736712" y="8185694"/>
                  </a:lnTo>
                  <a:lnTo>
                    <a:pt x="0" y="8185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36" name="圖片 35">
            <a:extLst>
              <a:ext uri="{FF2B5EF4-FFF2-40B4-BE49-F238E27FC236}">
                <a16:creationId xmlns:a16="http://schemas.microsoft.com/office/drawing/2014/main" id="{93FA1A2B-B3C1-687D-D892-6C3DCAD42DAC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id="{9E7DC6E7-3933-B74B-756F-7FE152025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A496AC-7B8C-B345-4B71-9CC8300D50FA}"/>
              </a:ext>
            </a:extLst>
          </p:cNvPr>
          <p:cNvSpPr/>
          <p:nvPr/>
        </p:nvSpPr>
        <p:spPr>
          <a:xfrm>
            <a:off x="0" y="153057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A64E017-A040-87EC-2055-BF34D137442D}"/>
              </a:ext>
            </a:extLst>
          </p:cNvPr>
          <p:cNvSpPr/>
          <p:nvPr/>
        </p:nvSpPr>
        <p:spPr>
          <a:xfrm>
            <a:off x="2408665" y="2749450"/>
            <a:ext cx="14260778" cy="4976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Q5-1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作者這趟旅程有什麼收穫？</a:t>
            </a:r>
          </a:p>
          <a:p>
            <a:pPr>
              <a:lnSpc>
                <a:spcPct val="150000"/>
              </a:lnSpc>
            </a:pP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除了欣賞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、了解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     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，還感受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         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</a:pP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Q5-2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經過這次體驗，除了喜歡上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鹿谷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，還希望什麼？</a:t>
            </a:r>
          </a:p>
          <a:p>
            <a:pPr>
              <a:lnSpc>
                <a:spcPct val="150000"/>
              </a:lnSpc>
            </a:pP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能有更多人和自己一樣在鹿谷遇見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</a:pP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E2B422BA-88F8-FB28-6A72-A72E75EC73FE}"/>
              </a:ext>
            </a:extLst>
          </p:cNvPr>
          <p:cNvSpPr/>
          <p:nvPr/>
        </p:nvSpPr>
        <p:spPr>
          <a:xfrm>
            <a:off x="698774" y="8916775"/>
            <a:ext cx="7315200" cy="1141240"/>
          </a:xfrm>
          <a:prstGeom prst="roundRect">
            <a:avLst/>
          </a:prstGeom>
          <a:solidFill>
            <a:srgbClr val="FCD5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BBC71FB-29E7-44BA-D422-BE728497647D}"/>
              </a:ext>
            </a:extLst>
          </p:cNvPr>
          <p:cNvSpPr/>
          <p:nvPr/>
        </p:nvSpPr>
        <p:spPr>
          <a:xfrm>
            <a:off x="2146574" y="9450761"/>
            <a:ext cx="762000" cy="4351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D8BBD31-4E18-E747-DAD8-0BB4336E1E63}"/>
              </a:ext>
            </a:extLst>
          </p:cNvPr>
          <p:cNvSpPr txBox="1"/>
          <p:nvPr/>
        </p:nvSpPr>
        <p:spPr>
          <a:xfrm>
            <a:off x="914400" y="8989993"/>
            <a:ext cx="701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心智圖架構提示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第一層 灰框、第二層 方框、第三層 </a:t>
            </a:r>
            <a:r>
              <a:rPr lang="zh-TW" altLang="en-US" sz="2840" u="db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底線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29F78DC-3C3C-E652-0BE5-3A1496D118DC}"/>
              </a:ext>
            </a:extLst>
          </p:cNvPr>
          <p:cNvSpPr/>
          <p:nvPr/>
        </p:nvSpPr>
        <p:spPr>
          <a:xfrm>
            <a:off x="4356375" y="9498507"/>
            <a:ext cx="762000" cy="353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Freeform 2">
            <a:extLst>
              <a:ext uri="{FF2B5EF4-FFF2-40B4-BE49-F238E27FC236}">
                <a16:creationId xmlns:a16="http://schemas.microsoft.com/office/drawing/2014/main" id="{2B6C75E6-B7EE-9ADB-DF7E-B9239E0F3265}"/>
              </a:ext>
            </a:extLst>
          </p:cNvPr>
          <p:cNvSpPr/>
          <p:nvPr/>
        </p:nvSpPr>
        <p:spPr>
          <a:xfrm>
            <a:off x="32928" y="8112344"/>
            <a:ext cx="1313160" cy="1260562"/>
          </a:xfrm>
          <a:custGeom>
            <a:avLst/>
            <a:gdLst/>
            <a:ahLst/>
            <a:cxnLst/>
            <a:rect l="l" t="t" r="r" b="b"/>
            <a:pathLst>
              <a:path w="3688357" h="4114800">
                <a:moveTo>
                  <a:pt x="0" y="0"/>
                </a:moveTo>
                <a:lnTo>
                  <a:pt x="3688357" y="0"/>
                </a:lnTo>
                <a:lnTo>
                  <a:pt x="3688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7" name="圖片 46">
            <a:extLst>
              <a:ext uri="{FF2B5EF4-FFF2-40B4-BE49-F238E27FC236}">
                <a16:creationId xmlns:a16="http://schemas.microsoft.com/office/drawing/2014/main" id="{4A81A827-E91B-E603-7C3B-101DCB3AE33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1800" y="132784"/>
            <a:ext cx="2019197" cy="394683"/>
          </a:xfrm>
          <a:prstGeom prst="rect">
            <a:avLst/>
          </a:prstGeom>
        </p:spPr>
      </p:pic>
      <p:sp>
        <p:nvSpPr>
          <p:cNvPr id="32" name="Freeform 7">
            <a:extLst>
              <a:ext uri="{FF2B5EF4-FFF2-40B4-BE49-F238E27FC236}">
                <a16:creationId xmlns:a16="http://schemas.microsoft.com/office/drawing/2014/main" id="{4F2EBB64-2709-0A8D-D36A-458817EB13EC}"/>
              </a:ext>
            </a:extLst>
          </p:cNvPr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9D9AE22-B80F-8839-9FAB-8B977F35F739}"/>
              </a:ext>
            </a:extLst>
          </p:cNvPr>
          <p:cNvSpPr/>
          <p:nvPr/>
        </p:nvSpPr>
        <p:spPr>
          <a:xfrm>
            <a:off x="4648200" y="3619500"/>
            <a:ext cx="2991490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美景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B4BE276-A2D3-6C32-FEC7-8FB420074489}"/>
              </a:ext>
            </a:extLst>
          </p:cNvPr>
          <p:cNvSpPr/>
          <p:nvPr/>
        </p:nvSpPr>
        <p:spPr>
          <a:xfrm>
            <a:off x="7796014" y="3641973"/>
            <a:ext cx="2991490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製茶過程 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DE54E38-0024-A4C1-E5F7-428172F9183B}"/>
              </a:ext>
            </a:extLst>
          </p:cNvPr>
          <p:cNvSpPr/>
          <p:nvPr/>
        </p:nvSpPr>
        <p:spPr>
          <a:xfrm>
            <a:off x="12268200" y="3619500"/>
            <a:ext cx="2991490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處處是茶香 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EA5D30F-641E-9B39-6038-D6171B33502F}"/>
              </a:ext>
            </a:extLst>
          </p:cNvPr>
          <p:cNvSpPr/>
          <p:nvPr/>
        </p:nvSpPr>
        <p:spPr>
          <a:xfrm>
            <a:off x="9677400" y="6085903"/>
            <a:ext cx="2991490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茶香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16852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25" grpId="0"/>
      <p:bldP spid="34" grpId="0"/>
      <p:bldP spid="38" grpId="0"/>
      <p:bldP spid="3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DC246-3AB8-8155-6625-380154AB1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08C181D-C9F3-58BD-D1C7-5333C8DDF83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2DFD161-C7A2-1679-594D-4D4EAF9CA0D0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291A158-E042-04F4-011B-0ACC9905BFFF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09DBB4C-FAF8-F2F0-F187-115D4DAE9E85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F0B6D705-4571-758A-7481-F97FA0BAA271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EF72429-F76F-9351-F75B-8B2EA89E3A35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4C9877F-2F0B-7BC3-BFF0-4F5DC8543AFC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CAD139F9-31E3-220D-6333-0A08CBE0E190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6A7767B-863C-D082-55D3-965C21FE6942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29C55C92-CBB7-80F6-5FDC-4DD2D6AE09D2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0AA9A2BC-DE65-F1CC-0960-D826D1D07572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3285B1C6-D447-7F90-1800-7951BAD580D8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5" name="矩形 44">
            <a:extLst>
              <a:ext uri="{FF2B5EF4-FFF2-40B4-BE49-F238E27FC236}">
                <a16:creationId xmlns:a16="http://schemas.microsoft.com/office/drawing/2014/main" id="{34B780A4-2848-4F0F-61A7-5571FBD5D0C6}"/>
              </a:ext>
            </a:extLst>
          </p:cNvPr>
          <p:cNvSpPr/>
          <p:nvPr/>
        </p:nvSpPr>
        <p:spPr>
          <a:xfrm>
            <a:off x="2605432" y="2930155"/>
            <a:ext cx="13990517" cy="4976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我的家鄉在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填縣市名稱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___________________________</a:t>
            </a:r>
          </a:p>
          <a:p>
            <a:pPr>
              <a:lnSpc>
                <a:spcPct val="150000"/>
              </a:lnSpc>
            </a:pP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請在下一頁的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臺灣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行政區圖中，找出自己的居住地並上色。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Q2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作者到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鹿谷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參觀了製茶的過程，對茶「鄉」和茶「香」都留下深刻印象。小朋友你所在的家鄉是否也有比較有名的特產呢？想一想或查資料，並寫下這個特產的製作過程。</a:t>
            </a:r>
          </a:p>
        </p:txBody>
      </p:sp>
      <p:sp>
        <p:nvSpPr>
          <p:cNvPr id="48" name="文字方塊 2">
            <a:extLst>
              <a:ext uri="{FF2B5EF4-FFF2-40B4-BE49-F238E27FC236}">
                <a16:creationId xmlns:a16="http://schemas.microsoft.com/office/drawing/2014/main" id="{24FC6289-8336-141A-90D9-B27AB84865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挑戰題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id="{345E01D9-D62D-F048-2E9D-CD4B66AF6649}"/>
              </a:ext>
            </a:extLst>
          </p:cNvPr>
          <p:cNvSpPr/>
          <p:nvPr/>
        </p:nvSpPr>
        <p:spPr>
          <a:xfrm>
            <a:off x="5321218" y="953703"/>
            <a:ext cx="1558266" cy="1257300"/>
          </a:xfrm>
          <a:custGeom>
            <a:avLst/>
            <a:gdLst/>
            <a:ahLst/>
            <a:cxnLst/>
            <a:rect l="l" t="t" r="r" b="b"/>
            <a:pathLst>
              <a:path w="4101416" h="3434936">
                <a:moveTo>
                  <a:pt x="0" y="0"/>
                </a:moveTo>
                <a:lnTo>
                  <a:pt x="4101416" y="0"/>
                </a:lnTo>
                <a:lnTo>
                  <a:pt x="4101416" y="3434936"/>
                </a:lnTo>
                <a:lnTo>
                  <a:pt x="0" y="343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B18F384E-2D63-8365-1156-0C0465C0863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660AC10F-086A-74F7-6688-482432726208}"/>
              </a:ext>
            </a:extLst>
          </p:cNvPr>
          <p:cNvSpPr/>
          <p:nvPr/>
        </p:nvSpPr>
        <p:spPr>
          <a:xfrm>
            <a:off x="8823549" y="3027891"/>
            <a:ext cx="29546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學生自行作答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41ED970-701B-ED6C-287F-E7A8C2EAA7AD}"/>
              </a:ext>
            </a:extLst>
          </p:cNvPr>
          <p:cNvSpPr/>
          <p:nvPr/>
        </p:nvSpPr>
        <p:spPr>
          <a:xfrm>
            <a:off x="10499949" y="7265802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學生自行作答</a:t>
            </a:r>
            <a:endParaRPr lang="zh-TW" alt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31155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22D57-D8BE-A0D3-2538-D7E7F8602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DAED398-2CDB-1249-D03A-224AB74F8B4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F08AAEE-D119-5272-1C1F-C1AA9EC430F3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B875DC9-6395-049F-D9AE-C695EEE6B6B3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587D8AB-A5C6-1DDC-4168-5D577379261D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A03D5832-6C89-81FA-2F13-1871A361CACC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6C472B0-FEC5-0C33-24CE-B10E75FA883B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4D756E4-ED98-0B5B-DF35-4C1A53343BC8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B501B07B-8310-9CC2-D6E0-F7C0FFAA7980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6663623A-A4C0-C96F-0B36-FDDDA70B165A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0BD47A1B-8C36-509E-5896-88F30B916E6D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AFD844C7-8935-466E-4FC8-3251AAAFE93A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19E162A6-9BE6-62A4-9E76-75AD07B5B7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pic>
        <p:nvPicPr>
          <p:cNvPr id="9" name="圖片 8" descr="一張含有 地圖, 圖表, 文字, 地圖集 的圖片&#10;&#10;自動產生的描述">
            <a:extLst>
              <a:ext uri="{FF2B5EF4-FFF2-40B4-BE49-F238E27FC236}">
                <a16:creationId xmlns:a16="http://schemas.microsoft.com/office/drawing/2014/main" id="{6ADFA6D5-7953-B1FD-AA07-7BB5FFF1B57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1" t="4099" r="309"/>
          <a:stretch/>
        </p:blipFill>
        <p:spPr bwMode="auto">
          <a:xfrm>
            <a:off x="5105400" y="643379"/>
            <a:ext cx="7650480" cy="90735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69673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1BE6A-8D6D-CA5A-AE2E-298AFBC54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9B84013-58F3-6CEC-AF0E-CE40EDEC811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1FAE90F-205B-3854-B0A5-85F0AA42E5E3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CC77D22-7CE8-CE33-E13F-AFB5BF135EF5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F2AF316-076A-F896-8594-948724DE9ADA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A8CA91E7-E976-9E65-E4FD-D3D101F2FA8B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63F60C9-411B-C3B3-91C9-C1D414248010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F0806A0-08E8-78B1-0327-1313F9C5F106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76B414C-CCC0-3395-B1D3-8CCE05A550DF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6017766C-D879-62DB-1DF8-2C1662F47F9B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 dirty="0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61E321DE-4E8A-48CF-04C5-85B494D4EC3E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C2AC7DFC-4A8B-FAD8-6C9B-90497BDB6B83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55D8EE5F-7254-7BD3-7E06-515472461C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64166C0B-47E7-9CBF-6C45-9B611CE28C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416772"/>
              </p:ext>
            </p:extLst>
          </p:nvPr>
        </p:nvGraphicFramePr>
        <p:xfrm>
          <a:off x="2164237" y="924240"/>
          <a:ext cx="14627072" cy="84385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13536">
                  <a:extLst>
                    <a:ext uri="{9D8B030D-6E8A-4147-A177-3AD203B41FA5}">
                      <a16:colId xmlns:a16="http://schemas.microsoft.com/office/drawing/2014/main" val="2167025858"/>
                    </a:ext>
                  </a:extLst>
                </a:gridCol>
                <a:gridCol w="7313536">
                  <a:extLst>
                    <a:ext uri="{9D8B030D-6E8A-4147-A177-3AD203B41FA5}">
                      <a16:colId xmlns:a16="http://schemas.microsoft.com/office/drawing/2014/main" val="3086196867"/>
                    </a:ext>
                  </a:extLst>
                </a:gridCol>
              </a:tblGrid>
              <a:tr h="806658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家鄉美味報你知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1464980"/>
                  </a:ext>
                </a:extLst>
              </a:tr>
              <a:tr h="8066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28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家鄉特產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28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6218687"/>
                  </a:ext>
                </a:extLst>
              </a:tr>
              <a:tr h="806658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28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製作過程如下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zh-TW" sz="28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先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666213"/>
                  </a:ext>
                </a:extLst>
              </a:tr>
              <a:tr h="806658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zh-TW" sz="28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接著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788354"/>
                  </a:ext>
                </a:extLst>
              </a:tr>
              <a:tr h="806658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zh-TW" sz="28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最後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4115483"/>
                  </a:ext>
                </a:extLst>
              </a:tr>
              <a:tr h="4405229"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畫出你的家鄉特產：</a:t>
                      </a:r>
                      <a:r>
                        <a:rPr 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055620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7ECC6D3F-400F-BA6A-F826-D0FC5DD4D157}"/>
              </a:ext>
            </a:extLst>
          </p:cNvPr>
          <p:cNvSpPr/>
          <p:nvPr/>
        </p:nvSpPr>
        <p:spPr>
          <a:xfrm>
            <a:off x="5486400" y="5062953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學生自行作答</a:t>
            </a:r>
            <a:endParaRPr lang="zh-TW" alt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30973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8"/>
            <a:ext cx="15917348" cy="9535231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90993" y="534978"/>
            <a:ext cx="15917348" cy="9535231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ea typeface="華康新綜藝體" panose="02010609000101010101" pitchFamily="49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矩形 14"/>
          <p:cNvSpPr/>
          <p:nvPr/>
        </p:nvSpPr>
        <p:spPr>
          <a:xfrm>
            <a:off x="6908097" y="1257300"/>
            <a:ext cx="104438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※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請根據每一題的題目與答案，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繪製成「課文心智圖」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課文心智圖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pic>
        <p:nvPicPr>
          <p:cNvPr id="9" name="圖片 8" descr="一張含有 文字, 螢幕擷取畫面, 軟體, 陳列 的圖片&#10;&#10;自動產生的描述">
            <a:extLst>
              <a:ext uri="{FF2B5EF4-FFF2-40B4-BE49-F238E27FC236}">
                <a16:creationId xmlns:a16="http://schemas.microsoft.com/office/drawing/2014/main" id="{ABC2DC2C-E0AC-2C16-0583-A9A05FEAE7F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61" t="25802" r="6499" b="27136"/>
          <a:stretch/>
        </p:blipFill>
        <p:spPr bwMode="auto">
          <a:xfrm>
            <a:off x="1847267" y="3162300"/>
            <a:ext cx="15270018" cy="5181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54229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ea typeface="華康新綜藝體" panose="02010609000101010101" pitchFamily="49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5029200" y="4223193"/>
            <a:ext cx="933606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本課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MAPS</a:t>
            </a: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提問單學習完畢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!</a:t>
            </a:r>
            <a:endParaRPr lang="zh-TW" altLang="en-US" sz="60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077200" y="5372197"/>
            <a:ext cx="568671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下課啦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!</a:t>
            </a:r>
            <a:endParaRPr lang="zh-TW" altLang="en-US" sz="60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334" y="6745624"/>
            <a:ext cx="2530339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9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1080</TotalTime>
  <Words>1216</Words>
  <Application>Microsoft Macintosh PowerPoint</Application>
  <PresentationFormat>自訂</PresentationFormat>
  <Paragraphs>270</Paragraphs>
  <Slides>16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5" baseType="lpstr">
      <vt:lpstr>Aptos</vt:lpstr>
      <vt:lpstr>華康新綜藝體</vt:lpstr>
      <vt:lpstr>微軟正黑體</vt:lpstr>
      <vt:lpstr>Arial</vt:lpstr>
      <vt:lpstr>微軟正黑體</vt:lpstr>
      <vt:lpstr>標楷體</vt:lpstr>
      <vt:lpstr>Calibri</vt:lpstr>
      <vt:lpstr>華康中圓體(P)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Orange Playful Illustration Memory Game Presentation</dc:title>
  <dc:creator>趙曼貽</dc:creator>
  <cp:lastModifiedBy>綺雯 林</cp:lastModifiedBy>
  <cp:revision>151</cp:revision>
  <dcterms:created xsi:type="dcterms:W3CDTF">2006-08-16T00:00:00Z</dcterms:created>
  <dcterms:modified xsi:type="dcterms:W3CDTF">2025-09-21T14:22:19Z</dcterms:modified>
  <dc:identifier>DAGOioWnJWE</dc:identifier>
</cp:coreProperties>
</file>