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96" r:id="rId4"/>
    <p:sldId id="270" r:id="rId5"/>
    <p:sldId id="319" r:id="rId6"/>
    <p:sldId id="316" r:id="rId7"/>
    <p:sldId id="317" r:id="rId8"/>
    <p:sldId id="272" r:id="rId9"/>
    <p:sldId id="286" r:id="rId10"/>
    <p:sldId id="311" r:id="rId11"/>
    <p:sldId id="321" r:id="rId12"/>
    <p:sldId id="288" r:id="rId13"/>
    <p:sldId id="322" r:id="rId14"/>
    <p:sldId id="323" r:id="rId15"/>
    <p:sldId id="279" r:id="rId16"/>
    <p:sldId id="295" r:id="rId17"/>
  </p:sldIdLst>
  <p:sldSz cx="18288000" cy="10287000"/>
  <p:notesSz cx="6858000" cy="9144000"/>
  <p:embeddedFontLst>
    <p:embeddedFont>
      <p:font typeface="華康新綜藝體" panose="02010609000101010101" pitchFamily="49" charset="0"/>
      <p:regular r:id="rId19"/>
    </p:embeddedFont>
    <p:embeddedFont>
      <p:font typeface="微軟正黑體" panose="020B0604030504040204" pitchFamily="34" charset="-120"/>
      <p:regular r:id="rId20"/>
      <p:bold r:id="rId21"/>
    </p:embeddedFont>
    <p:embeddedFont>
      <p:font typeface="標楷體" panose="03000509000000000000" pitchFamily="49" charset="-120"/>
      <p:regular r:id="rId22"/>
    </p:embeddedFont>
    <p:embeddedFont>
      <p:font typeface="標楷體" panose="03000509000000000000" pitchFamily="49" charset="-120"/>
      <p:regular r:id="rId22"/>
    </p:embeddedFont>
    <p:embeddedFont>
      <p:font typeface="AR ZhuYinEX Md" panose="020B0602010101010101" pitchFamily="49" charset="-12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EED"/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09" autoAdjust="0"/>
    <p:restoredTop sz="93888" autoAdjust="0"/>
  </p:normalViewPr>
  <p:slideViewPr>
    <p:cSldViewPr>
      <p:cViewPr varScale="1">
        <p:scale>
          <a:sx n="45" d="100"/>
          <a:sy n="45" d="100"/>
        </p:scale>
        <p:origin x="208" y="1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140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831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95AF-F167-440A-7148-83F3F4E4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CB76CD9-A0D8-9DF5-20F6-5E6644EEC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46D5AD-0E03-CC94-431A-F1651742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5C38AB-6892-2350-16E5-A197EF4FD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05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27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502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2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lVJyJdoOICc" TargetMode="External"/><Relationship Id="rId3" Type="http://schemas.openxmlformats.org/officeDocument/2006/relationships/image" Target="../media/image16.jpg"/><Relationship Id="rId7" Type="http://schemas.openxmlformats.org/officeDocument/2006/relationships/hyperlink" Target="https://youtu.be/S3GHLINfnRc?si=QJ_cNwpgaeVfZRhH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336763" y="7480978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en-US" altLang="zh-TW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七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做泡菜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804487"/>
              </p:ext>
            </p:extLst>
          </p:nvPr>
        </p:nvGraphicFramePr>
        <p:xfrm>
          <a:off x="1854873" y="3470831"/>
          <a:ext cx="7593927" cy="449989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漬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責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疑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礙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凝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擬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598135"/>
              </p:ext>
            </p:extLst>
          </p:nvPr>
        </p:nvGraphicFramePr>
        <p:xfrm>
          <a:off x="40868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字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油漬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814433"/>
              </p:ext>
            </p:extLst>
          </p:nvPr>
        </p:nvGraphicFramePr>
        <p:xfrm>
          <a:off x="4086821" y="445770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則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責任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61046"/>
              </p:ext>
            </p:extLst>
          </p:nvPr>
        </p:nvGraphicFramePr>
        <p:xfrm>
          <a:off x="4086821" y="514089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宜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懷疑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083798"/>
              </p:ext>
            </p:extLst>
          </p:nvPr>
        </p:nvGraphicFramePr>
        <p:xfrm>
          <a:off x="4086821" y="582409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愛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阻礙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142611"/>
              </p:ext>
            </p:extLst>
          </p:nvPr>
        </p:nvGraphicFramePr>
        <p:xfrm>
          <a:off x="4086821" y="659522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寧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凝結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795523"/>
              </p:ext>
            </p:extLst>
          </p:nvPr>
        </p:nvGraphicFramePr>
        <p:xfrm>
          <a:off x="4086821" y="727842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你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擬人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862290"/>
              </p:ext>
            </p:extLst>
          </p:nvPr>
        </p:nvGraphicFramePr>
        <p:xfrm>
          <a:off x="9677400" y="3475305"/>
          <a:ext cx="7221158" cy="3798167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9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439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適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4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滴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43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益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64480"/>
              </p:ext>
            </p:extLst>
          </p:nvPr>
        </p:nvGraphicFramePr>
        <p:xfrm>
          <a:off x="11682141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是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適合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825895"/>
              </p:ext>
            </p:extLst>
          </p:nvPr>
        </p:nvGraphicFramePr>
        <p:xfrm>
          <a:off x="11682141" y="452556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低</a:t>
                      </a:r>
                      <a:endParaRPr 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滴管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09765"/>
              </p:ext>
            </p:extLst>
          </p:nvPr>
        </p:nvGraphicFramePr>
        <p:xfrm>
          <a:off x="11682141" y="521776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摘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摘取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03480"/>
              </p:ext>
            </p:extLst>
          </p:nvPr>
        </p:nvGraphicFramePr>
        <p:xfrm>
          <a:off x="11682141" y="590996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億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獲益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973633"/>
              </p:ext>
            </p:extLst>
          </p:nvPr>
        </p:nvGraphicFramePr>
        <p:xfrm>
          <a:off x="11700279" y="660216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億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滿溢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A5B9A8D-216A-8B80-753B-EEEA70965BB9}"/>
              </a:ext>
            </a:extLst>
          </p:cNvPr>
          <p:cNvGrpSpPr/>
          <p:nvPr/>
        </p:nvGrpSpPr>
        <p:grpSpPr>
          <a:xfrm>
            <a:off x="1345962" y="57729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261712"/>
              </p:ext>
            </p:extLst>
          </p:nvPr>
        </p:nvGraphicFramePr>
        <p:xfrm>
          <a:off x="1710710" y="3162300"/>
          <a:ext cx="7593927" cy="521790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腸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湯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場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楊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陽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309962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揚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844807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52196"/>
              </p:ext>
            </p:extLst>
          </p:nvPr>
        </p:nvGraphicFramePr>
        <p:xfrm>
          <a:off x="3942658" y="3403082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長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心腸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4A13360-000E-2D07-7B11-988AA1F4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937464"/>
              </p:ext>
            </p:extLst>
          </p:nvPr>
        </p:nvGraphicFramePr>
        <p:xfrm>
          <a:off x="3942658" y="423070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新細明體" panose="02020500000000000000" pitchFamily="18" charset="-120"/>
                        </a:rPr>
                        <a:t>唱</a:t>
                      </a:r>
                      <a:endParaRPr 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舒暢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140441"/>
              </p:ext>
            </p:extLst>
          </p:nvPr>
        </p:nvGraphicFramePr>
        <p:xfrm>
          <a:off x="3942658" y="490749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湯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濃湯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633874"/>
              </p:ext>
            </p:extLst>
          </p:nvPr>
        </p:nvGraphicFramePr>
        <p:xfrm>
          <a:off x="3942658" y="558428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場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操場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FA2BC7BD-E202-C91A-95C7-BB939FFB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65431"/>
              </p:ext>
            </p:extLst>
          </p:nvPr>
        </p:nvGraphicFramePr>
        <p:xfrm>
          <a:off x="3942658" y="626107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楊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楊桃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F833CF1E-D99C-9D83-4193-5C03D9664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21285"/>
              </p:ext>
            </p:extLst>
          </p:nvPr>
        </p:nvGraphicFramePr>
        <p:xfrm>
          <a:off x="9474873" y="3162300"/>
          <a:ext cx="7593927" cy="308826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勵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厲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貪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貧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497478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98188840-D881-D187-65CA-31518702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746616"/>
              </p:ext>
            </p:extLst>
          </p:nvPr>
        </p:nvGraphicFramePr>
        <p:xfrm>
          <a:off x="11706822" y="555078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頻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貧困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CFEC5387-721E-C067-0E87-4EBF9E4A9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00714"/>
              </p:ext>
            </p:extLst>
          </p:nvPr>
        </p:nvGraphicFramePr>
        <p:xfrm>
          <a:off x="11706821" y="3403082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獎勵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887D97E5-C2E3-70EF-7147-524DF9AD2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219656"/>
              </p:ext>
            </p:extLst>
          </p:nvPr>
        </p:nvGraphicFramePr>
        <p:xfrm>
          <a:off x="11706821" y="421953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嚴厲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6A516E7C-FEEC-798A-2A61-5F490840D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02908"/>
              </p:ext>
            </p:extLst>
          </p:nvPr>
        </p:nvGraphicFramePr>
        <p:xfrm>
          <a:off x="11706821" y="488516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攤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貪心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540C3C95-4136-FD66-091B-2A8C914F0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796020"/>
              </p:ext>
            </p:extLst>
          </p:nvPr>
        </p:nvGraphicFramePr>
        <p:xfrm>
          <a:off x="3966878" y="6894786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楊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太陽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15CD22DA-B9CB-535B-5E37-150EEDEA9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66940"/>
              </p:ext>
            </p:extLst>
          </p:nvPr>
        </p:nvGraphicFramePr>
        <p:xfrm>
          <a:off x="3966878" y="772240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新細明體" panose="02020500000000000000" pitchFamily="18" charset="-120"/>
                        </a:rPr>
                        <a:t>楊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飛揚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二、短語、造句練習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1037391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忍不住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偷吃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了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幾口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FFD886-A0F5-273C-4A5C-F698C39A8E98}"/>
              </a:ext>
            </a:extLst>
          </p:cNvPr>
          <p:cNvSpPr/>
          <p:nvPr/>
        </p:nvSpPr>
        <p:spPr>
          <a:xfrm>
            <a:off x="2480753" y="5594223"/>
            <a:ext cx="9961381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轉折複句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過去，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。直到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，才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9A1A05-A313-504B-79CF-1454333A3EFB}"/>
              </a:ext>
            </a:extLst>
          </p:cNvPr>
          <p:cNvSpPr/>
          <p:nvPr/>
        </p:nvSpPr>
        <p:spPr>
          <a:xfrm>
            <a:off x="2919863" y="4158007"/>
            <a:ext cx="999496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忍不住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了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4809403" y="4176889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放空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190A8C-CCCA-EB77-49F6-4C62B456BCBD}"/>
              </a:ext>
            </a:extLst>
          </p:cNvPr>
          <p:cNvSpPr/>
          <p:nvPr/>
        </p:nvSpPr>
        <p:spPr>
          <a:xfrm>
            <a:off x="7112369" y="4176888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幾秒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7F9636F-0955-68B9-D274-62A47B1DBCCB}"/>
              </a:ext>
            </a:extLst>
          </p:cNvPr>
          <p:cNvCxnSpPr/>
          <p:nvPr/>
        </p:nvCxnSpPr>
        <p:spPr>
          <a:xfrm>
            <a:off x="2885309" y="727710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ED748B2-6D76-CD08-D450-87FDE91ED666}"/>
              </a:ext>
            </a:extLst>
          </p:cNvPr>
          <p:cNvSpPr/>
          <p:nvPr/>
        </p:nvSpPr>
        <p:spPr>
          <a:xfrm>
            <a:off x="2885309" y="6615196"/>
            <a:ext cx="13182600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過去，我們以為醃漬過的食物對身體不好。直到看了一些報導，才知道醃漬食物經過發酵，會產生好菌。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7DACCA4-40FE-7513-F149-1F1FA25CDF63}"/>
              </a:ext>
            </a:extLst>
          </p:cNvPr>
          <p:cNvCxnSpPr/>
          <p:nvPr/>
        </p:nvCxnSpPr>
        <p:spPr>
          <a:xfrm>
            <a:off x="2885309" y="8036398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E16C-5312-0D19-C92E-41656FF2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E45FEB-6768-799E-05B6-1F8AB6B3C2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E4607ED-8C25-8504-438E-68A9E0535CD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7C0FD96-FF40-772F-6BE1-C654467BE869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C17AB06-BAD3-613A-E50B-E65D3EBFBE1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F942672-117F-7292-F480-EAF5F7F06932}"/>
              </a:ext>
            </a:extLst>
          </p:cNvPr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C9AFD6-86B7-12C9-ACA3-13F9D0FFEB0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717240B-61B0-7266-6644-7732CEB7630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C2DE36F-83A4-3B96-ECD7-C58446F5A43A}"/>
              </a:ext>
            </a:extLst>
          </p:cNvPr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935F838-69FC-4204-2EE0-95DFBC77C87C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16566DB-BA9D-D7B9-E56A-AE2CE30FE8BC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23151D71-15D6-32AB-135B-C65555321082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E7A68378-78C3-ABB3-3236-240F554C82E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>
            <a:extLst>
              <a:ext uri="{FF2B5EF4-FFF2-40B4-BE49-F238E27FC236}">
                <a16:creationId xmlns:a16="http://schemas.microsoft.com/office/drawing/2014/main" id="{7216A810-CBEB-2054-A340-69880C48A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5F8D3AFB-18F1-164A-83B3-4C3718BAD6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02FA117-F8D7-3522-DA9B-DA50B9BBF66C}"/>
              </a:ext>
            </a:extLst>
          </p:cNvPr>
          <p:cNvSpPr/>
          <p:nvPr/>
        </p:nvSpPr>
        <p:spPr>
          <a:xfrm>
            <a:off x="2452310" y="2781300"/>
            <a:ext cx="8262198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並列複句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這是一種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，也是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>
            <a:extLst>
              <a:ext uri="{FF2B5EF4-FFF2-40B4-BE49-F238E27FC236}">
                <a16:creationId xmlns:a16="http://schemas.microsoft.com/office/drawing/2014/main" id="{47C7156F-9DA2-57FC-AC85-34413F5F79F8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1C86A74-60E4-CCBC-110E-B199F2A83831}"/>
              </a:ext>
            </a:extLst>
          </p:cNvPr>
          <p:cNvCxnSpPr/>
          <p:nvPr/>
        </p:nvCxnSpPr>
        <p:spPr>
          <a:xfrm>
            <a:off x="2856866" y="438150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AA9D8A8-0667-C904-E95F-D13F36AC298A}"/>
              </a:ext>
            </a:extLst>
          </p:cNvPr>
          <p:cNvSpPr/>
          <p:nvPr/>
        </p:nvSpPr>
        <p:spPr>
          <a:xfrm>
            <a:off x="2856866" y="3650564"/>
            <a:ext cx="1318260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這是一種廢物利用的方法，也是省錢的辦法。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07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A3C9-8F89-8386-71FA-81E3D9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6CE89A-72F3-95A4-56E2-EA8282CD9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405C6E-E157-EBBF-B868-AABA2068074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CF7C02D-E87A-ACC5-A12B-720B29EA946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064B56-B3BE-3256-CCBA-8D9F68FF500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13ACC72-7952-8168-BF8F-E562CB27B7C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A8C4A7-BE27-4476-F9BF-E6D66F73F94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75ACB7-D50C-B435-5D90-D14BB6301E6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FC4872-98EE-B055-AC7B-D079BE2F80A6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8C1C258-7386-8B97-462D-CA6D22B0D99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CC52BD6-9344-E0A3-0F4E-9A0048A42B2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39CDB322-2A96-5964-3745-259CDA96ABFB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DBE1789-177D-A11F-FC1A-CA9076B8743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BCF81B2B-4B79-7D92-1877-C8BC25A4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DC7BC6-EBCD-228A-3B5E-548BFE8AF93A}"/>
              </a:ext>
            </a:extLst>
          </p:cNvPr>
          <p:cNvSpPr/>
          <p:nvPr/>
        </p:nvSpPr>
        <p:spPr>
          <a:xfrm>
            <a:off x="2439157" y="2864213"/>
            <a:ext cx="14477243" cy="2483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先觀看影片：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台式泡菜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簡易輕鬆做超爽脆！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說說看，影片中提到製作泡菜需要哪些主要食材？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為什麼選擇這些食材？它們有什麼特別的功效或味道？</a:t>
            </a: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C0FC8543-3436-A01E-748F-68B1C9C12DE6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8D50564C-1284-8A6F-6976-5F819DBF9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4" name="文字方塊 3">
            <a:extLst>
              <a:ext uri="{FF2B5EF4-FFF2-40B4-BE49-F238E27FC236}">
                <a16:creationId xmlns:a16="http://schemas.microsoft.com/office/drawing/2014/main" id="{86A41465-2742-7BAC-3DA3-0F9221A5A406}"/>
              </a:ext>
            </a:extLst>
          </p:cNvPr>
          <p:cNvSpPr txBox="1"/>
          <p:nvPr/>
        </p:nvSpPr>
        <p:spPr>
          <a:xfrm>
            <a:off x="8783997" y="889152"/>
            <a:ext cx="8132403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6000"/>
              </a:lnSpc>
              <a:defRPr sz="3600" b="1">
                <a:solidFill>
                  <a:schemeClr val="tx1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超快速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台式泡菜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簡易輕鬆做超爽脆！超詳細解說新手也能輕鬆做！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Taiwanese Kimchi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｜阿慶師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</a:p>
          <a:p>
            <a:pPr>
              <a:lnSpc>
                <a:spcPct val="100000"/>
              </a:lnSpc>
            </a:pPr>
            <a:endParaRPr lang="en" altLang="zh-TW" sz="1100" dirty="0">
              <a:latin typeface="微軟正黑體" panose="020B0604030504040204" pitchFamily="34" charset="-120"/>
              <a:ea typeface="微軟正黑體" panose="020B0604030504040204" pitchFamily="34" charset="-120"/>
              <a:hlinkClick r:id="rId7"/>
            </a:endParaRPr>
          </a:p>
          <a:p>
            <a:pPr>
              <a:lnSpc>
                <a:spcPct val="100000"/>
              </a:lnSpc>
            </a:pPr>
            <a:endParaRPr lang="en" altLang="zh-TW" sz="1100" dirty="0">
              <a:latin typeface="微軟正黑體" panose="020B0604030504040204" pitchFamily="34" charset="-120"/>
              <a:ea typeface="微軟正黑體" panose="020B0604030504040204" pitchFamily="34" charset="-120"/>
              <a:hlinkClick r:id="rId7"/>
            </a:endParaRPr>
          </a:p>
          <a:p>
            <a:pPr>
              <a:lnSpc>
                <a:spcPct val="100000"/>
              </a:lnSpc>
            </a:pP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https://www.youtube.com/watch?v=lVJyJdoOICc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 descr="一張含有 樣式, 正方形, 像素 的圖片&#10;&#10;自動產生的描述">
            <a:extLst>
              <a:ext uri="{FF2B5EF4-FFF2-40B4-BE49-F238E27FC236}">
                <a16:creationId xmlns:a16="http://schemas.microsoft.com/office/drawing/2014/main" id="{E98C6EB3-C233-AC79-14A4-8647A702C8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766" y="800047"/>
            <a:ext cx="1592200" cy="15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BE0DEBE9-2C1C-F6B1-C92B-97FAB2383294}"/>
              </a:ext>
            </a:extLst>
          </p:cNvPr>
          <p:cNvSpPr txBox="1"/>
          <p:nvPr/>
        </p:nvSpPr>
        <p:spPr>
          <a:xfrm>
            <a:off x="12896798" y="3098107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34D8-79AD-A86A-59EB-41232700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26A403-2FB6-0992-660D-26280EE3059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F99C87C-6E01-2CBE-6FB5-FD355662956D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BC7946-6B58-84FC-32AE-AFE5EA603EC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8A21D76-F145-DC6F-2BF2-47AB8BC62CF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213AD8D-80A9-D903-AA8C-D67FFF274D4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18BE86-E285-3A97-7C7A-633590A32FE4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CCE8C59-9DF9-56BA-EEA4-BE5FEFEF21E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B7F6C48-4D1A-2DAC-627B-28D5B1DA312E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C194BD7-9311-5C09-DE25-6F75B2A8F7F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76C5167-EE84-05F7-8C89-54E08E41ACF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69345A3-45CB-66B4-94A5-E55C0E93C0F4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90BE77C8-596A-42F1-4853-A0F44D22147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8C7BBCEA-AE49-E651-A8DD-055B63B3E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DE1AAFB4-0351-F5CF-95D8-FA9239DEF3CA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2200B598-FC36-9FF9-C4FD-BDE8142623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4C652FB-7D0D-D128-88C3-F3A5598C4613}"/>
              </a:ext>
            </a:extLst>
          </p:cNvPr>
          <p:cNvSpPr/>
          <p:nvPr/>
        </p:nvSpPr>
        <p:spPr>
          <a:xfrm>
            <a:off x="2134929" y="2314900"/>
            <a:ext cx="13830300" cy="1458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將泡菜製作的關鍵步驟與描述進行配對，最後將正確的步驟連到相應的描述上。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D41F22-2FE6-C324-6781-16B45F551640}"/>
              </a:ext>
            </a:extLst>
          </p:cNvPr>
          <p:cNvSpPr/>
          <p:nvPr/>
        </p:nvSpPr>
        <p:spPr>
          <a:xfrm>
            <a:off x="1990908" y="3939209"/>
            <a:ext cx="15562295" cy="4976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清洗食材 ●              ● 將蔬菜與醃醬充分混合，讓每片葉子都沾滿醬汁。</a:t>
            </a: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撒鹽醃製 ●              ● 將食材清洗乾淨，去除泥土與雜質。</a:t>
            </a: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準備醃醬 ●              ● 將食材放入容器中，密封保存，進行發酵。</a:t>
            </a: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混合食材 ●              ● 將鹽均勻撒在蔬菜上，靜置，讓水分被逼出來。</a:t>
            </a: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裝入容器 ●              ● 製作一種特別的醃醬，加入蒜泥、辣椒粉等材料。</a:t>
            </a: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發酵保存 ●              ● 確保泡菜在容器中保存，等待數天完成發酵。</a:t>
            </a: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7A2D0226-33F2-919F-7519-1E60DAD70F82}"/>
              </a:ext>
            </a:extLst>
          </p:cNvPr>
          <p:cNvCxnSpPr>
            <a:cxnSpLocks/>
          </p:cNvCxnSpPr>
          <p:nvPr/>
        </p:nvCxnSpPr>
        <p:spPr>
          <a:xfrm>
            <a:off x="4735092" y="4443113"/>
            <a:ext cx="1912775" cy="72828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91DD72F-10F2-5A6E-11B1-085F0C4B4E8B}"/>
              </a:ext>
            </a:extLst>
          </p:cNvPr>
          <p:cNvCxnSpPr>
            <a:cxnSpLocks/>
          </p:cNvCxnSpPr>
          <p:nvPr/>
        </p:nvCxnSpPr>
        <p:spPr>
          <a:xfrm>
            <a:off x="4735092" y="8453225"/>
            <a:ext cx="2067653" cy="8117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D1AFF523-22D4-3CB1-A0FA-ED49B8B29AAF}"/>
              </a:ext>
            </a:extLst>
          </p:cNvPr>
          <p:cNvCxnSpPr>
            <a:cxnSpLocks/>
          </p:cNvCxnSpPr>
          <p:nvPr/>
        </p:nvCxnSpPr>
        <p:spPr>
          <a:xfrm>
            <a:off x="4693007" y="6015077"/>
            <a:ext cx="2157024" cy="183366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F9CD230-E144-7479-9EEC-D02818AC6A90}"/>
              </a:ext>
            </a:extLst>
          </p:cNvPr>
          <p:cNvCxnSpPr>
            <a:cxnSpLocks/>
          </p:cNvCxnSpPr>
          <p:nvPr/>
        </p:nvCxnSpPr>
        <p:spPr>
          <a:xfrm flipV="1">
            <a:off x="4800600" y="4356631"/>
            <a:ext cx="2049431" cy="239292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650E1EC-E81E-63F9-D552-0B96843F860D}"/>
              </a:ext>
            </a:extLst>
          </p:cNvPr>
          <p:cNvCxnSpPr>
            <a:cxnSpLocks/>
          </p:cNvCxnSpPr>
          <p:nvPr/>
        </p:nvCxnSpPr>
        <p:spPr>
          <a:xfrm flipV="1">
            <a:off x="4735092" y="6015077"/>
            <a:ext cx="2114939" cy="16432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3DC2A51-A8A5-A81D-1223-CC81173EE5D5}"/>
              </a:ext>
            </a:extLst>
          </p:cNvPr>
          <p:cNvCxnSpPr>
            <a:cxnSpLocks/>
          </p:cNvCxnSpPr>
          <p:nvPr/>
        </p:nvCxnSpPr>
        <p:spPr>
          <a:xfrm>
            <a:off x="4735092" y="5119936"/>
            <a:ext cx="2067653" cy="181197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60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549058" y="2330346"/>
            <a:ext cx="13801060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做泡菜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是一篇藉由做泡菜，以及對話展現生活智慧的記敘文。請將相對應的自然段，填入表格中。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891FD8-2AC8-4720-5FD1-FF34E147C95B}"/>
              </a:ext>
            </a:extLst>
          </p:cNvPr>
          <p:cNvSpPr/>
          <p:nvPr/>
        </p:nvSpPr>
        <p:spPr>
          <a:xfrm>
            <a:off x="6317968" y="5737531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662B53-F8E3-99AF-9683-DF24E85C6C6C}"/>
              </a:ext>
            </a:extLst>
          </p:cNvPr>
          <p:cNvSpPr/>
          <p:nvPr/>
        </p:nvSpPr>
        <p:spPr>
          <a:xfrm>
            <a:off x="9751536" y="5737531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43D700-3A71-A323-FE0F-45FBABB56883}"/>
              </a:ext>
            </a:extLst>
          </p:cNvPr>
          <p:cNvSpPr/>
          <p:nvPr/>
        </p:nvSpPr>
        <p:spPr>
          <a:xfrm>
            <a:off x="13106399" y="5737531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ADE8FB10-C963-C3AE-E449-6CC2F2282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09546"/>
              </p:ext>
            </p:extLst>
          </p:nvPr>
        </p:nvGraphicFramePr>
        <p:xfrm>
          <a:off x="3547310" y="5219700"/>
          <a:ext cx="11692690" cy="2813154"/>
        </p:xfrm>
        <a:graphic>
          <a:graphicData uri="http://schemas.openxmlformats.org/drawingml/2006/table">
            <a:tbl>
              <a:tblPr bandRow="1"/>
              <a:tblGrid>
                <a:gridCol w="142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925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</a:tblGrid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起因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經過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44FC9C00-23C2-B4BC-1228-60469BEE0C11}"/>
              </a:ext>
            </a:extLst>
          </p:cNvPr>
          <p:cNvSpPr/>
          <p:nvPr/>
        </p:nvSpPr>
        <p:spPr>
          <a:xfrm>
            <a:off x="6519329" y="6928502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8BB0971-17F0-C3E9-B3E4-AEC53E15184C}"/>
              </a:ext>
            </a:extLst>
          </p:cNvPr>
          <p:cNvSpPr/>
          <p:nvPr/>
        </p:nvSpPr>
        <p:spPr>
          <a:xfrm>
            <a:off x="9751536" y="6928502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45FEE0-FD17-6367-B7A3-9712F8D3D495}"/>
              </a:ext>
            </a:extLst>
          </p:cNvPr>
          <p:cNvSpPr/>
          <p:nvPr/>
        </p:nvSpPr>
        <p:spPr>
          <a:xfrm>
            <a:off x="13022425" y="6923716"/>
            <a:ext cx="108234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4-5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/>
      <p:bldP spid="5" grpId="0" animBg="1"/>
      <p:bldP spid="11" grpId="0" animBg="1"/>
      <p:bldP spid="23" grpId="0" animBg="1"/>
      <p:bldP spid="27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1988976" y="2434407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主角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發現媽媽在做泡菜前做了什麼準備工作？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/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357E7A6E-637B-56E1-629A-0CF8A047396A}"/>
              </a:ext>
            </a:extLst>
          </p:cNvPr>
          <p:cNvSpPr/>
          <p:nvPr/>
        </p:nvSpPr>
        <p:spPr>
          <a:xfrm>
            <a:off x="3395354" y="3345400"/>
            <a:ext cx="7044046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媽媽回收空瓶罐，準備做泡菜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FD15CE-BBE8-ABFB-28D0-F908D5651012}"/>
              </a:ext>
            </a:extLst>
          </p:cNvPr>
          <p:cNvSpPr/>
          <p:nvPr/>
        </p:nvSpPr>
        <p:spPr>
          <a:xfrm>
            <a:off x="1988976" y="4555368"/>
            <a:ext cx="13266664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會對做泡菜產生疑惑？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308B3D4-4025-70B0-A750-BDBDAFBC0E77}"/>
              </a:ext>
            </a:extLst>
          </p:cNvPr>
          <p:cNvSpPr/>
          <p:nvPr/>
        </p:nvSpPr>
        <p:spPr>
          <a:xfrm>
            <a:off x="5131439" y="2463581"/>
            <a:ext cx="964562" cy="775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25C33-CE82-A55A-5C3C-0F565DF54FAA}"/>
              </a:ext>
            </a:extLst>
          </p:cNvPr>
          <p:cNvSpPr/>
          <p:nvPr/>
        </p:nvSpPr>
        <p:spPr>
          <a:xfrm>
            <a:off x="3276600" y="5486487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醃漬食物對身體不好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00E761-C991-F645-E372-BE267951D3E8}"/>
              </a:ext>
            </a:extLst>
          </p:cNvPr>
          <p:cNvSpPr/>
          <p:nvPr/>
        </p:nvSpPr>
        <p:spPr>
          <a:xfrm>
            <a:off x="8815787" y="4604752"/>
            <a:ext cx="964562" cy="775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44" grpId="0" animBg="1"/>
      <p:bldP spid="11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2C2D-EB00-6E32-E4EB-4FE3EADD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B42D53F-B6D3-BB9D-4FBC-14EB7853465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604A3D-70AE-8B33-4546-07DFA61C96B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8276247-AC2D-16EF-5E75-74607DE08C92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CF48AB2-42A2-99D0-7A3B-4BEA697803A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B7FB2B-C835-B3A7-2275-4B6635571D8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FFE73C1-AA6F-0707-055C-9AF2FD235D1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ABBAB45-D69F-1201-A98B-29F2885B4C1B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E5B561C6-F85F-EC65-3B91-5F3F77002035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29B1C03-07A7-5816-9B6E-719500FB13B9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07207937-2922-F57E-E94E-A8935CB97E32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833610B1-7F8B-EE96-F0E1-E52A495470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8890826-19AA-0C2B-C976-67BE9587BBD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964AEBE8-3D79-AC90-C5F1-1819CD05148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9E8477B-041A-F489-CF1B-C98FCCAAF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043720-7628-F36E-121F-5C970DFA31B4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4DD75F-955C-EA72-1B67-3F158558F779}"/>
              </a:ext>
            </a:extLst>
          </p:cNvPr>
          <p:cNvSpPr/>
          <p:nvPr/>
        </p:nvSpPr>
        <p:spPr>
          <a:xfrm>
            <a:off x="1820936" y="2434407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人們看待醃漬食物的過去想法和現在想法有何差別？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E73AD97-E377-3ED7-4460-CBFEDF698360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F5F32C-795A-D977-E96A-3807E03452D9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24E4CA0-183F-40E4-8787-6C88C077A2BA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2BCA02-A084-F7BD-4283-FD601D1946A9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554C4B42-E291-721F-B8BC-9D1008251C82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id="{B87FF4ED-4EFB-174C-C2B4-6186BB48657B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1231AEDE-B19E-93DC-DD38-64D983C4B9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77E1D79-C779-345C-13E6-8EBD3E663637}"/>
              </a:ext>
            </a:extLst>
          </p:cNvPr>
          <p:cNvSpPr/>
          <p:nvPr/>
        </p:nvSpPr>
        <p:spPr>
          <a:xfrm>
            <a:off x="5147954" y="5895999"/>
            <a:ext cx="55962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過多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EF2A2F5-F774-0110-049E-5B169EFDEDEA}"/>
              </a:ext>
            </a:extLst>
          </p:cNvPr>
          <p:cNvSpPr txBox="1"/>
          <p:nvPr/>
        </p:nvSpPr>
        <p:spPr>
          <a:xfrm>
            <a:off x="3098046" y="3327147"/>
            <a:ext cx="12611451" cy="165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過去認為醃漬物對身體不好，現在認為適量食用醃漬食物，有益身體健康。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909650-AECA-0D9F-7BCA-824EDA1554AC}"/>
              </a:ext>
            </a:extLst>
          </p:cNvPr>
          <p:cNvSpPr/>
          <p:nvPr/>
        </p:nvSpPr>
        <p:spPr>
          <a:xfrm>
            <a:off x="1820936" y="5143535"/>
            <a:ext cx="15460824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我們可以從做泡菜中，看到那些前人智慧？ </a:t>
            </a: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白菜生產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又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，就做成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5370FE-3F1D-1985-5E5B-6489188CF2E6}"/>
              </a:ext>
            </a:extLst>
          </p:cNvPr>
          <p:cNvSpPr/>
          <p:nvPr/>
        </p:nvSpPr>
        <p:spPr>
          <a:xfrm>
            <a:off x="7219561" y="2504566"/>
            <a:ext cx="1924440" cy="775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E531F-339B-B46D-3F52-DB83E036BCC8}"/>
              </a:ext>
            </a:extLst>
          </p:cNvPr>
          <p:cNvSpPr/>
          <p:nvPr/>
        </p:nvSpPr>
        <p:spPr>
          <a:xfrm>
            <a:off x="9491204" y="2501104"/>
            <a:ext cx="1924440" cy="775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6044EA-B51B-81B4-78E7-58C138ADAC9E}"/>
              </a:ext>
            </a:extLst>
          </p:cNvPr>
          <p:cNvSpPr/>
          <p:nvPr/>
        </p:nvSpPr>
        <p:spPr>
          <a:xfrm>
            <a:off x="7510154" y="5908517"/>
            <a:ext cx="55962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賣不掉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10022C-38C7-900C-9D8D-4C014F0074BB}"/>
              </a:ext>
            </a:extLst>
          </p:cNvPr>
          <p:cNvSpPr/>
          <p:nvPr/>
        </p:nvSpPr>
        <p:spPr>
          <a:xfrm>
            <a:off x="11685514" y="5908517"/>
            <a:ext cx="55962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B06C60-2EB1-7180-47BE-96B62FA5CE41}"/>
              </a:ext>
            </a:extLst>
          </p:cNvPr>
          <p:cNvSpPr/>
          <p:nvPr/>
        </p:nvSpPr>
        <p:spPr>
          <a:xfrm>
            <a:off x="1845040" y="6969778"/>
            <a:ext cx="15460824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Q2-3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媽媽對做泡菜有什麼評價？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是一種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食物的方式，也是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的行為。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2F3498C-47EF-9470-F425-FD9916B26002}"/>
              </a:ext>
            </a:extLst>
          </p:cNvPr>
          <p:cNvSpPr/>
          <p:nvPr/>
        </p:nvSpPr>
        <p:spPr>
          <a:xfrm>
            <a:off x="10560720" y="7737128"/>
            <a:ext cx="55962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環保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F784C05-A801-BD77-8203-3C24F8A643AF}"/>
              </a:ext>
            </a:extLst>
          </p:cNvPr>
          <p:cNvSpPr/>
          <p:nvPr/>
        </p:nvSpPr>
        <p:spPr>
          <a:xfrm>
            <a:off x="4894189" y="7727420"/>
            <a:ext cx="55962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愛惜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83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23" grpId="0"/>
      <p:bldP spid="27" grpId="0" animBg="1"/>
      <p:bldP spid="10" grpId="0" animBg="1"/>
      <p:bldP spid="11" grpId="0"/>
      <p:bldP spid="14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AC0D-4AE9-6262-1BBE-351A8DDC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1B84E28-5BFA-5090-9674-558A3387B5A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A872450-2EF0-1A77-9E46-FDD57B27D583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6BE258-EEDC-F3B5-FF99-74ACEB5812F6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7D719EC-1319-7BA0-B136-A2F15BCE8871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D08DD6-C62A-9E8C-2475-34674E54D07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F8828F3-0A33-37E0-A84E-9643AD17A603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7F7FCCC-08B7-2C52-8CD9-6392C711A607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9C46DFA2-7F85-AD00-2DE8-140B88506B9E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92C9900D-1631-274C-7BCB-627C6851BBA9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8E3C497C-949D-CABF-68AD-2472381D41A0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D9E4878E-839F-FF2A-F459-2937E0E061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B2CE0F5-FE51-6C52-6A08-CFD41C0BECBA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A0C94B80-A02B-8708-08F5-72EC63802601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8B8F4E12-5CE1-9AE8-4D03-C8B6D438E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BB43A7-64AD-F755-09AA-1C020FFD645C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35B458-55FD-D282-8D27-444280CD8D3B}"/>
              </a:ext>
            </a:extLst>
          </p:cNvPr>
          <p:cNvSpPr/>
          <p:nvPr/>
        </p:nvSpPr>
        <p:spPr>
          <a:xfrm>
            <a:off x="2365159" y="2459875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泡菜做好之後發生了什麼事？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4021027-A5CB-4550-F609-98C0B58EAA5E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5D5783-2BF4-7DAE-B9EF-A7909CD4D95F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D273E63-4DC6-8781-2882-8039A636A458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6000F5-262B-4F2A-FB73-125C0A166E9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AFC66160-1462-B280-CEEB-D387F3A9D2E8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id="{4E2DA95E-69CB-A41E-1F2F-3EA750401765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C7D2A0F8-CDCF-02B0-1E5B-AD02FC70613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E011FEAA-9E42-C43B-6129-31A7E2CF7DB8}"/>
              </a:ext>
            </a:extLst>
          </p:cNvPr>
          <p:cNvSpPr/>
          <p:nvPr/>
        </p:nvSpPr>
        <p:spPr>
          <a:xfrm>
            <a:off x="3635278" y="3370385"/>
            <a:ext cx="7044046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泡菜被偷吃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79AC74-3151-1C87-C74B-393A1424E764}"/>
              </a:ext>
            </a:extLst>
          </p:cNvPr>
          <p:cNvSpPr/>
          <p:nvPr/>
        </p:nvSpPr>
        <p:spPr>
          <a:xfrm>
            <a:off x="2365159" y="4580836"/>
            <a:ext cx="13266664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Q3-2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承認自己做了什麼事情？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7E8CE8-362C-7923-B543-5B309C205A70}"/>
              </a:ext>
            </a:extLst>
          </p:cNvPr>
          <p:cNvSpPr/>
          <p:nvPr/>
        </p:nvSpPr>
        <p:spPr>
          <a:xfrm>
            <a:off x="3635278" y="5511955"/>
            <a:ext cx="777240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承認自己忍不住偷吃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0850B9-3103-DB66-CBBE-B0F1553CC66F}"/>
              </a:ext>
            </a:extLst>
          </p:cNvPr>
          <p:cNvSpPr/>
          <p:nvPr/>
        </p:nvSpPr>
        <p:spPr>
          <a:xfrm>
            <a:off x="2365159" y="6669904"/>
            <a:ext cx="13266664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泡菜雖然好吃，但有什麼需要注意的地方？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0F98C6-A460-9957-1D4B-6919A58B28D5}"/>
              </a:ext>
            </a:extLst>
          </p:cNvPr>
          <p:cNvSpPr/>
          <p:nvPr/>
        </p:nvSpPr>
        <p:spPr>
          <a:xfrm>
            <a:off x="3635278" y="7598194"/>
            <a:ext cx="777240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泡菜好吃但不能吃太多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3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11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/>
          <p:cNvSpPr/>
          <p:nvPr/>
        </p:nvSpPr>
        <p:spPr>
          <a:xfrm>
            <a:off x="2314284" y="2247900"/>
            <a:ext cx="15135516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為了讓小朋友更認識醃漬物，請先閱讀文章並回答問題。</a:t>
            </a:r>
          </a:p>
        </p:txBody>
      </p:sp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FC3EBA1-168D-9D6F-C496-220E72E0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259222"/>
              </p:ext>
            </p:extLst>
          </p:nvPr>
        </p:nvGraphicFramePr>
        <p:xfrm>
          <a:off x="2285981" y="3322873"/>
          <a:ext cx="14413146" cy="5965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314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59653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醃漬食品：美味與健康的平衡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醃漬食品是一種古老的食物保存方法，透過鹽、糖、醋或特定的發酵過程，讓食材不易腐壞同時增添風味。世界各地都有自己的醃漬文化，像是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韓國的泡菜、日本的漬物、德國的酸菜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，這些食物不僅有著鮮明的口味，還承載著各國獨特的飲食文化。</a:t>
                      </a:r>
                      <a:endParaRPr lang="zh-TW" altLang="en-US" sz="3200" b="1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醃漬食品的優點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zh-TW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延長保存時間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：在沒有冰箱的時代，醃漬是一種有效保存食物的方法。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風味獨特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：發酵過程會產生酸、鹹、甜等複雜的味道，讓食物更加美味。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F0B4-D75E-03E9-AEC1-F37F2972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2178CB-16E4-3AE2-0268-3DE6B78636F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432ED2-A822-CE1A-0951-D9954B6C27EA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D46F8B5-35D6-F5DE-C754-E4D7A67AA24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9441693-83AC-C190-6BA1-53C395C8343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44B41FE-9F39-4F4D-99CA-8CCF4B77F0D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D60FE0F-27C7-F21E-7B32-6013646843DA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692EA39-A157-2455-8264-FF2627FB4FB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DE8EA63-48BD-5559-9376-74D739457247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6129245-46D0-86BA-0456-A6F7C193DA7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7EC270C-68E8-4A52-2AB9-C53521190195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376DAD9-CD5B-60EF-6B53-16D3DFF94E3B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FC020733-6F9E-178D-5BCC-042CA8524E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D49A2E8-5A5F-C236-AD41-24CE04B98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068477"/>
              </p:ext>
            </p:extLst>
          </p:nvPr>
        </p:nvGraphicFramePr>
        <p:xfrm>
          <a:off x="2351032" y="1073513"/>
          <a:ext cx="14413146" cy="8185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314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81856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益生菌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：某些發酵類的醃漬物（如韓國泡菜）含有益生菌，有助於腸道健康。</a:t>
                      </a:r>
                      <a:endParaRPr lang="zh-TW" altLang="en-US" sz="3200" b="1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潛在的健康風險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1.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高鹽分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：多數醃漬物用大量鹽分來保存，過量攝取可能導致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高血壓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等問題。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有害物質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：不當的醃漬過程可能產生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亞硝酸鹽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，長期食用可能增加致癌風險。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發霉風險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：保存不當的醃漬食品容易發霉，產生毒素，對健康造成危害。</a:t>
                      </a:r>
                      <a:endParaRPr lang="zh-TW" altLang="en-US" sz="3200" b="1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現代醃漬食品的挑戰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現代人更重視健康，開始追求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低鹽、無添加劑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的醃漬食品。許多品牌也推出「低鹽泡菜」或「有機漬物」，希望在保留傳統風味的同時，減少對健康的負擔。然而，消費者在購買時，仍需學會辨識品質，避免購買劣質產品。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594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2168-0E1A-5067-695D-45E0E591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562780-2A79-54F9-6BA9-EC3FD9F3646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3ECD81-FC43-BBA3-491A-A4715E0DDAE4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F87153-AF15-488B-3E5F-7DAF3F65980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AE521F-2AED-D882-B4CA-77AC2DEA3E61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4439EB2-898F-972B-8FBE-C5DA39C59B24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0C20F7-3F70-83B3-6704-B6A7C0C555B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FF9C06B-6E49-A925-A345-B8D1042328B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757CAF-5F37-CB48-9478-141568DE4FC6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3220918-3AE3-4C90-9239-93F9B62612B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399900A-BCB9-288C-90D6-5A0AA42FC1E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02811153-3FC5-4EFD-D8D9-67ED0DD30118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5DF3848-32DF-4DF1-62FB-7BFE0F6C92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EB6B163-ACE9-F36B-C546-4BE494366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408927"/>
              </p:ext>
            </p:extLst>
          </p:nvPr>
        </p:nvGraphicFramePr>
        <p:xfrm>
          <a:off x="2351032" y="1073513"/>
          <a:ext cx="14413146" cy="46033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314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4603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如何健康地享用醃漬食品？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1.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適量食用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：不要每天大量攝取醃漬食品，應該與其他食材搭配食用。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選擇優質產品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：購買有品牌保證、製程透明的醃漬食品。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3.	</a:t>
                      </a: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自製泡菜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：如果條件允許，可以自己製作泡菜，掌控鹽分和發酵時間。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醃漬食品是人類飲食文化的重要部分，但我們需要學會聰明地享用它，才能同時滿足味蕾與健康的需求。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1B1AA25-6DE3-17C6-C0DE-E88B68B7C68C}"/>
              </a:ext>
            </a:extLst>
          </p:cNvPr>
          <p:cNvSpPr/>
          <p:nvPr/>
        </p:nvSpPr>
        <p:spPr>
          <a:xfrm>
            <a:off x="2333615" y="5828197"/>
            <a:ext cx="9464450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你有吃過哪些醃漬食品？它們的味道如何？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2B51320-C49B-BE38-5670-74062B0372D1}"/>
              </a:ext>
            </a:extLst>
          </p:cNvPr>
          <p:cNvCxnSpPr/>
          <p:nvPr/>
        </p:nvCxnSpPr>
        <p:spPr>
          <a:xfrm>
            <a:off x="2859273" y="7544777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9BDB6EF-CCDB-9C8E-C5CA-0D46529EC3FE}"/>
              </a:ext>
            </a:extLst>
          </p:cNvPr>
          <p:cNvSpPr/>
          <p:nvPr/>
        </p:nvSpPr>
        <p:spPr>
          <a:xfrm>
            <a:off x="2859273" y="6678877"/>
            <a:ext cx="1318260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E0E954-8F41-79DB-7ED4-F9194AE42D19}"/>
              </a:ext>
            </a:extLst>
          </p:cNvPr>
          <p:cNvSpPr/>
          <p:nvPr/>
        </p:nvSpPr>
        <p:spPr>
          <a:xfrm>
            <a:off x="2333615" y="7639906"/>
            <a:ext cx="14049385" cy="1652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為什麼不同國家會有各自獨特的醃漬食品？這反映了什麼樣的文化差異？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A921844-6060-073B-A699-FC9CE5CF3058}"/>
              </a:ext>
            </a:extLst>
          </p:cNvPr>
          <p:cNvCxnSpPr>
            <a:cxnSpLocks/>
          </p:cNvCxnSpPr>
          <p:nvPr/>
        </p:nvCxnSpPr>
        <p:spPr>
          <a:xfrm>
            <a:off x="4008016" y="9302333"/>
            <a:ext cx="121463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F60AFFB-0E1A-3810-F938-50AC4EB675B9}"/>
              </a:ext>
            </a:extLst>
          </p:cNvPr>
          <p:cNvSpPr/>
          <p:nvPr/>
        </p:nvSpPr>
        <p:spPr>
          <a:xfrm>
            <a:off x="4008016" y="8436433"/>
            <a:ext cx="1318260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508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 descr="一張含有 文字, 螢幕擷取畫面, 軟體, 電腦圖示 的圖片&#10;&#10;自動產生的描述">
            <a:extLst>
              <a:ext uri="{FF2B5EF4-FFF2-40B4-BE49-F238E27FC236}">
                <a16:creationId xmlns:a16="http://schemas.microsoft.com/office/drawing/2014/main" id="{07BB20E0-C89C-5FFF-91BF-381D61F63CC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040" t="33572" r="2222" b="31111"/>
          <a:stretch/>
        </p:blipFill>
        <p:spPr bwMode="auto">
          <a:xfrm>
            <a:off x="1847267" y="3560929"/>
            <a:ext cx="15361606" cy="4267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1356</Words>
  <Application>Microsoft Macintosh PowerPoint</Application>
  <PresentationFormat>自訂</PresentationFormat>
  <Paragraphs>206</Paragraphs>
  <Slides>16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Aptos</vt:lpstr>
      <vt:lpstr>華康新綜藝體</vt:lpstr>
      <vt:lpstr>微軟正黑體</vt:lpstr>
      <vt:lpstr>標楷體</vt:lpstr>
      <vt:lpstr>Arial</vt:lpstr>
      <vt:lpstr>AR ZhuYinEX Md</vt:lpstr>
      <vt:lpstr>標楷體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168</cp:revision>
  <dcterms:created xsi:type="dcterms:W3CDTF">2006-08-16T00:00:00Z</dcterms:created>
  <dcterms:modified xsi:type="dcterms:W3CDTF">2025-09-21T14:38:19Z</dcterms:modified>
  <dc:identifier>DAGOioWnJWE</dc:identifier>
</cp:coreProperties>
</file>