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69" r:id="rId3"/>
    <p:sldId id="296" r:id="rId4"/>
    <p:sldId id="291" r:id="rId5"/>
    <p:sldId id="305" r:id="rId6"/>
    <p:sldId id="272" r:id="rId7"/>
    <p:sldId id="288" r:id="rId8"/>
    <p:sldId id="299" r:id="rId9"/>
    <p:sldId id="302" r:id="rId10"/>
    <p:sldId id="306" r:id="rId11"/>
    <p:sldId id="295" r:id="rId12"/>
  </p:sldIdLst>
  <p:sldSz cx="18288000" cy="10287000"/>
  <p:notesSz cx="6858000" cy="9144000"/>
  <p:embeddedFontLst>
    <p:embeddedFont>
      <p:font typeface="華康中圓體(P)" panose="020F0502020204030204" pitchFamily="34" charset="0"/>
      <p:regular r:id="rId14"/>
      <p:bold r:id="rId15"/>
      <p:italic r:id="rId16"/>
      <p:boldItalic r:id="rId17"/>
    </p:embeddedFont>
    <p:embeddedFont>
      <p:font typeface="華康新綜藝體" panose="02010609000101010101" pitchFamily="49" charset="0"/>
      <p:regular r:id="rId18"/>
    </p:embeddedFont>
    <p:embeddedFont>
      <p:font typeface="微軟正黑體" panose="020B0604030504040204" pitchFamily="34" charset="-120"/>
      <p:regular r:id="rId19"/>
      <p:bold r:id="rId20"/>
    </p:embeddedFont>
    <p:embeddedFont>
      <p:font typeface="微軟正黑體" panose="020B0604030504040204" pitchFamily="34" charset="-120"/>
      <p:regular r:id="rId19"/>
      <p:bold r:id="rId20"/>
    </p:embeddedFont>
    <p:embeddedFont>
      <p:font typeface="標楷體" panose="03000509000000000000" pitchFamily="49" charset="-120"/>
      <p:regular r:id="rId21"/>
    </p:embeddedFont>
    <p:embeddedFont>
      <p:font typeface="AR ZhuYinEX Md" panose="020B0602010101010101" pitchFamily="49" charset="-12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F87F"/>
    <a:srgbClr val="FCD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84" autoAdjust="0"/>
    <p:restoredTop sz="95361" autoAdjust="0"/>
  </p:normalViewPr>
  <p:slideViewPr>
    <p:cSldViewPr>
      <p:cViewPr varScale="1">
        <p:scale>
          <a:sx n="59" d="100"/>
          <a:sy n="59" d="100"/>
        </p:scale>
        <p:origin x="200" y="6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9" d="100"/>
          <a:sy n="89" d="100"/>
        </p:scale>
        <p:origin x="37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737BC-0160-43F0-A57D-211EEFCA83B8}" type="datetimeFigureOut">
              <a:rPr lang="zh-TW" altLang="en-US" smtClean="0"/>
              <a:t>2025/9/21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F15EC-EB07-4462-A15A-319C71CF4B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3499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jp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5.svg"/><Relationship Id="rId2" Type="http://schemas.openxmlformats.org/officeDocument/2006/relationships/image" Target="../media/image1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6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5.svg"/><Relationship Id="rId2" Type="http://schemas.openxmlformats.org/officeDocument/2006/relationships/image" Target="../media/image1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6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6.jpg"/><Relationship Id="rId7" Type="http://schemas.openxmlformats.org/officeDocument/2006/relationships/hyperlink" Target="https://www.youtube.com/watch?v=x4ZRVraMDHM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Freeform 12"/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390404" y="569551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9" name="Freeform 29"/>
          <p:cNvSpPr/>
          <p:nvPr/>
        </p:nvSpPr>
        <p:spPr>
          <a:xfrm>
            <a:off x="5332160" y="1830982"/>
            <a:ext cx="1375279" cy="792661"/>
          </a:xfrm>
          <a:custGeom>
            <a:avLst/>
            <a:gdLst/>
            <a:ahLst/>
            <a:cxnLst/>
            <a:rect l="l" t="t" r="r" b="b"/>
            <a:pathLst>
              <a:path w="1375279" h="792661">
                <a:moveTo>
                  <a:pt x="0" y="0"/>
                </a:moveTo>
                <a:lnTo>
                  <a:pt x="1375278" y="0"/>
                </a:lnTo>
                <a:lnTo>
                  <a:pt x="1375278" y="792660"/>
                </a:lnTo>
                <a:lnTo>
                  <a:pt x="0" y="79266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4894777" y="3662162"/>
            <a:ext cx="9032950" cy="1119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dist">
              <a:lnSpc>
                <a:spcPts val="8400"/>
              </a:lnSpc>
            </a:pPr>
            <a:r>
              <a:rPr lang="zh-TW" altLang="en-US" sz="115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ore Sugar"/>
                <a:sym typeface="More Sugar"/>
              </a:rPr>
              <a:t>提問單</a:t>
            </a:r>
            <a:endParaRPr lang="en-US" sz="11500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ore Sugar"/>
              <a:sym typeface="More Suga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550115" y="1559356"/>
            <a:ext cx="13636764" cy="166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21"/>
              </a:lnSpc>
            </a:pPr>
            <a:r>
              <a:rPr lang="en-US" sz="12521" dirty="0">
                <a:solidFill>
                  <a:srgbClr val="182C4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ore Sugar"/>
                <a:sym typeface="More Sugar"/>
              </a:rPr>
              <a:t>MAPS </a:t>
            </a:r>
          </a:p>
        </p:txBody>
      </p:sp>
      <p:sp>
        <p:nvSpPr>
          <p:cNvPr id="34" name="文字方塊 33"/>
          <p:cNvSpPr txBox="1"/>
          <p:nvPr/>
        </p:nvSpPr>
        <p:spPr>
          <a:xfrm>
            <a:off x="7409104" y="5087306"/>
            <a:ext cx="11268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蔡孟庭 老師編寫</a:t>
            </a:r>
          </a:p>
        </p:txBody>
      </p:sp>
      <p:pic>
        <p:nvPicPr>
          <p:cNvPr id="36" name="圖片 35"/>
          <p:cNvPicPr/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6019800" y="6929951"/>
            <a:ext cx="6705600" cy="18848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6336763" y="7480978"/>
            <a:ext cx="6148978" cy="1086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1600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endParaRPr lang="zh-TW" sz="1600" kern="100" dirty="0">
              <a:solidFill>
                <a:schemeClr val="tx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第</a:t>
            </a:r>
            <a:r>
              <a:rPr lang="zh-TW" altLang="en-US" sz="48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四</a:t>
            </a:r>
            <a:r>
              <a:rPr 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zh-TW" altLang="en-US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靜靜的淡水河</a:t>
            </a:r>
            <a:endParaRPr lang="zh-TW" sz="4000" kern="100" dirty="0">
              <a:solidFill>
                <a:schemeClr val="tx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5" name="Freeform 29"/>
          <p:cNvSpPr/>
          <p:nvPr/>
        </p:nvSpPr>
        <p:spPr>
          <a:xfrm>
            <a:off x="7962900" y="6296571"/>
            <a:ext cx="2362200" cy="945188"/>
          </a:xfrm>
          <a:custGeom>
            <a:avLst/>
            <a:gdLst/>
            <a:ahLst/>
            <a:cxnLst/>
            <a:rect l="l" t="t" r="r" b="b"/>
            <a:pathLst>
              <a:path w="4189793" h="1081728">
                <a:moveTo>
                  <a:pt x="0" y="0"/>
                </a:moveTo>
                <a:lnTo>
                  <a:pt x="4189794" y="0"/>
                </a:lnTo>
                <a:lnTo>
                  <a:pt x="4189794" y="1081729"/>
                </a:lnTo>
                <a:lnTo>
                  <a:pt x="0" y="108172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8" name="文字方塊 2"/>
          <p:cNvSpPr txBox="1">
            <a:spLocks noChangeArrowheads="1"/>
          </p:cNvSpPr>
          <p:nvPr/>
        </p:nvSpPr>
        <p:spPr bwMode="auto">
          <a:xfrm>
            <a:off x="6176277" y="6352529"/>
            <a:ext cx="6148978" cy="1086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endParaRPr lang="zh-TW" sz="12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0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三下</a:t>
            </a:r>
            <a:endParaRPr lang="zh-TW" sz="32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9" name="Freeform 31"/>
          <p:cNvSpPr/>
          <p:nvPr/>
        </p:nvSpPr>
        <p:spPr>
          <a:xfrm rot="10085071">
            <a:off x="5959511" y="4872591"/>
            <a:ext cx="1185379" cy="1159388"/>
          </a:xfrm>
          <a:custGeom>
            <a:avLst/>
            <a:gdLst/>
            <a:ahLst/>
            <a:cxnLst/>
            <a:rect l="l" t="t" r="r" b="b"/>
            <a:pathLst>
              <a:path w="1317310" h="1317310">
                <a:moveTo>
                  <a:pt x="0" y="0"/>
                </a:moveTo>
                <a:lnTo>
                  <a:pt x="1317310" y="0"/>
                </a:lnTo>
                <a:lnTo>
                  <a:pt x="1317310" y="1317310"/>
                </a:lnTo>
                <a:lnTo>
                  <a:pt x="0" y="131731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5201" y="6828992"/>
            <a:ext cx="2003108" cy="3260698"/>
          </a:xfrm>
          <a:prstGeom prst="rect">
            <a:avLst/>
          </a:prstGeom>
        </p:spPr>
      </p:pic>
      <p:grpSp>
        <p:nvGrpSpPr>
          <p:cNvPr id="40" name="Group 19"/>
          <p:cNvGrpSpPr/>
          <p:nvPr/>
        </p:nvGrpSpPr>
        <p:grpSpPr>
          <a:xfrm>
            <a:off x="1840324" y="923747"/>
            <a:ext cx="2761763" cy="708578"/>
            <a:chOff x="0" y="0"/>
            <a:chExt cx="3038818" cy="748565"/>
          </a:xfrm>
        </p:grpSpPr>
        <p:sp>
          <p:nvSpPr>
            <p:cNvPr id="41" name="TextBox 20"/>
            <p:cNvSpPr txBox="1"/>
            <p:nvPr/>
          </p:nvSpPr>
          <p:spPr>
            <a:xfrm>
              <a:off x="1110400" y="6488"/>
              <a:ext cx="1928418" cy="7180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4800" b="1" spc="334" dirty="0" err="1">
                  <a:solidFill>
                    <a:srgbClr val="0154A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王漢宗特黑體"/>
                  <a:sym typeface="王漢宗特黑體"/>
                </a:rPr>
                <a:t>國語</a:t>
              </a:r>
              <a:endParaRPr lang="en-US" sz="4800" b="1" spc="334" dirty="0">
                <a:solidFill>
                  <a:srgbClr val="0154A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王漢宗特黑體"/>
                <a:sym typeface="王漢宗特黑體"/>
              </a:endParaRPr>
            </a:p>
          </p:txBody>
        </p:sp>
        <p:sp>
          <p:nvSpPr>
            <p:cNvPr id="42" name="Freeform 21"/>
            <p:cNvSpPr/>
            <p:nvPr/>
          </p:nvSpPr>
          <p:spPr>
            <a:xfrm>
              <a:off x="0" y="0"/>
              <a:ext cx="1423684" cy="748565"/>
            </a:xfrm>
            <a:custGeom>
              <a:avLst/>
              <a:gdLst/>
              <a:ahLst/>
              <a:cxnLst/>
              <a:rect l="l" t="t" r="r" b="b"/>
              <a:pathLst>
                <a:path w="1423684" h="748565">
                  <a:moveTo>
                    <a:pt x="0" y="0"/>
                  </a:moveTo>
                  <a:lnTo>
                    <a:pt x="1423684" y="0"/>
                  </a:lnTo>
                  <a:lnTo>
                    <a:pt x="1423684" y="748565"/>
                  </a:lnTo>
                  <a:lnTo>
                    <a:pt x="0" y="748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r="-16899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1" name="Freeform 11"/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2" name="Freeform 12"/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3" name="Freeform 13"/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4" name="Freeform 14"/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6" name="Freeform 16"/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7" name="Freeform 17"/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8" name="Freeform 18"/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grpSp>
        <p:nvGrpSpPr>
          <p:cNvPr id="19" name="Group 19"/>
          <p:cNvGrpSpPr/>
          <p:nvPr/>
        </p:nvGrpSpPr>
        <p:grpSpPr>
          <a:xfrm>
            <a:off x="1290993" y="571855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290993" y="2244724"/>
            <a:ext cx="129099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一、形近字知多少</a:t>
            </a:r>
            <a:endParaRPr lang="zh-TW" altLang="zh-TW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752434"/>
              </p:ext>
            </p:extLst>
          </p:nvPr>
        </p:nvGraphicFramePr>
        <p:xfrm>
          <a:off x="1931073" y="3470831"/>
          <a:ext cx="7593927" cy="4499894"/>
        </p:xfrm>
        <a:graphic>
          <a:graphicData uri="http://schemas.openxmlformats.org/drawingml/2006/table">
            <a:tbl>
              <a:tblPr firstRow="1" firstCol="1" bandRow="1"/>
              <a:tblGrid>
                <a:gridCol w="59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624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1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廣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礦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曠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獷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816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2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松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776075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鬆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3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4" name="圖片 43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5600"/>
              </p:ext>
            </p:extLst>
          </p:nvPr>
        </p:nvGraphicFramePr>
        <p:xfrm>
          <a:off x="4163021" y="3711613"/>
          <a:ext cx="5361978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廣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廣泛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157769"/>
              </p:ext>
            </p:extLst>
          </p:nvPr>
        </p:nvGraphicFramePr>
        <p:xfrm>
          <a:off x="4163021" y="4545639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況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礦坑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896059"/>
              </p:ext>
            </p:extLst>
          </p:nvPr>
        </p:nvGraphicFramePr>
        <p:xfrm>
          <a:off x="4163021" y="5228835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況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曠課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803580"/>
              </p:ext>
            </p:extLst>
          </p:nvPr>
        </p:nvGraphicFramePr>
        <p:xfrm>
          <a:off x="4163021" y="5912031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廣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粗獷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642739"/>
              </p:ext>
            </p:extLst>
          </p:nvPr>
        </p:nvGraphicFramePr>
        <p:xfrm>
          <a:off x="4163021" y="6595227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松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松柏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656915"/>
              </p:ext>
            </p:extLst>
          </p:nvPr>
        </p:nvGraphicFramePr>
        <p:xfrm>
          <a:off x="4163021" y="7278423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松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輕鬆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90665"/>
              </p:ext>
            </p:extLst>
          </p:nvPr>
        </p:nvGraphicFramePr>
        <p:xfrm>
          <a:off x="9775847" y="3475305"/>
          <a:ext cx="7221158" cy="5130659"/>
        </p:xfrm>
        <a:graphic>
          <a:graphicData uri="http://schemas.openxmlformats.org/drawingml/2006/table">
            <a:tbl>
              <a:tblPr firstRow="1" firstCol="1" bandRow="1"/>
              <a:tblGrid>
                <a:gridCol w="843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6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62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3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61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3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眉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761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媚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61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4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都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5413945"/>
                  </a:ext>
                </a:extLst>
              </a:tr>
              <a:tr h="687614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5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銀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7292732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根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跟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510864"/>
              </p:ext>
            </p:extLst>
          </p:nvPr>
        </p:nvGraphicFramePr>
        <p:xfrm>
          <a:off x="11780588" y="3800274"/>
          <a:ext cx="5216418" cy="7283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834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沒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眉毛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54204"/>
              </p:ext>
            </p:extLst>
          </p:nvPr>
        </p:nvGraphicFramePr>
        <p:xfrm>
          <a:off x="11780588" y="4505072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妹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諂媚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213222"/>
              </p:ext>
            </p:extLst>
          </p:nvPr>
        </p:nvGraphicFramePr>
        <p:xfrm>
          <a:off x="11780588" y="5176775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督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首都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451140"/>
              </p:ext>
            </p:extLst>
          </p:nvPr>
        </p:nvGraphicFramePr>
        <p:xfrm>
          <a:off x="11780588" y="5848478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都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都是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671854"/>
              </p:ext>
            </p:extLst>
          </p:nvPr>
        </p:nvGraphicFramePr>
        <p:xfrm>
          <a:off x="11798726" y="6520181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銀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銀行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9F69AC6E-434F-225F-46C7-3F32FDF89B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524850"/>
              </p:ext>
            </p:extLst>
          </p:nvPr>
        </p:nvGraphicFramePr>
        <p:xfrm>
          <a:off x="11805988" y="7177590"/>
          <a:ext cx="5216418" cy="7283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834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跟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樹根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63E5E346-867D-F5FE-8872-91A9FD21D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869900"/>
              </p:ext>
            </p:extLst>
          </p:nvPr>
        </p:nvGraphicFramePr>
        <p:xfrm>
          <a:off x="11805988" y="7882388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跟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跟隨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80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A7306-129C-DC4B-38E0-CCCB4FD0B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13BA1CD-11C9-A921-ABA9-4F8BC4EBA0C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D4108B6-D59E-B75D-1893-631202E4BE65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E633385-65D3-E608-FBEA-9988B2A2259B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660B2D0-5DA5-3233-160A-3F37C1DEDD1A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559D6AA-13E1-89FC-DAA9-41526B85B1EE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E9A0B12-C7ED-8690-A62E-EDA12C10F2A5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FF07D46-9426-355B-3BD6-70D7A03B2259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EED26856-C4CA-DFC8-0D3A-D551C5EFEA34}"/>
              </a:ext>
            </a:extLst>
          </p:cNvPr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33AE8B8-A5DF-36DD-FE52-00F77171C396}"/>
              </a:ext>
            </a:extLst>
          </p:cNvPr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7604417-7846-0005-47B8-E0736E56BA54}"/>
              </a:ext>
            </a:extLst>
          </p:cNvPr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FC439D7-6DBE-DCE1-3D34-2AD98AE3F802}"/>
              </a:ext>
            </a:extLst>
          </p:cNvPr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40A61603-2F9C-5282-99B8-36E553D7E804}"/>
              </a:ext>
            </a:extLst>
          </p:cNvPr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C88D424A-A157-8FC3-A01A-4AA69FDC74CF}"/>
              </a:ext>
            </a:extLst>
          </p:cNvPr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3B6873E4-FEF3-1986-70B1-B5F252F4E844}"/>
              </a:ext>
            </a:extLst>
          </p:cNvPr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390EC28-723D-617D-03CA-B0AF2EFFAD88}"/>
              </a:ext>
            </a:extLst>
          </p:cNvPr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CBAA27A1-4B4B-2DCC-C087-47251508A4EE}"/>
              </a:ext>
            </a:extLst>
          </p:cNvPr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5235512A-8E78-3917-FA65-D556950650A1}"/>
              </a:ext>
            </a:extLst>
          </p:cNvPr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8A5B9A8D-216A-8B80-753B-EEEA70965BB9}"/>
              </a:ext>
            </a:extLst>
          </p:cNvPr>
          <p:cNvGrpSpPr/>
          <p:nvPr/>
        </p:nvGrpSpPr>
        <p:grpSpPr>
          <a:xfrm>
            <a:off x="1323419" y="571855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F27940C3-817A-9A8B-A38B-4EDAB6F43A2D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B4A5824-0AE4-7A8A-37BA-6827C14EF182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8E378782-13E7-D339-A06B-F15A92A987E7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AB6138E6-3A7D-AF12-F815-AAD506E0A3CF}"/>
              </a:ext>
            </a:extLst>
          </p:cNvPr>
          <p:cNvPicPr/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2317C13A-18AD-8C7C-E286-5F14E4B2D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3" name="Freeform 3">
            <a:extLst>
              <a:ext uri="{FF2B5EF4-FFF2-40B4-BE49-F238E27FC236}">
                <a16:creationId xmlns:a16="http://schemas.microsoft.com/office/drawing/2014/main" id="{2B216F95-A6DB-1DF6-0849-6DF6D21DACAA}"/>
              </a:ext>
            </a:extLst>
          </p:cNvPr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912FCACC-7B0A-60C5-AA7A-ECE5AA293AD5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B4558FFF-4899-4CDF-16AE-5F2FF0073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227831"/>
              </p:ext>
            </p:extLst>
          </p:nvPr>
        </p:nvGraphicFramePr>
        <p:xfrm>
          <a:off x="1786910" y="3150382"/>
          <a:ext cx="7593927" cy="5193518"/>
        </p:xfrm>
        <a:graphic>
          <a:graphicData uri="http://schemas.openxmlformats.org/drawingml/2006/table">
            <a:tbl>
              <a:tblPr firstRow="1" firstCol="1" bandRow="1"/>
              <a:tblGrid>
                <a:gridCol w="59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624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6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墓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幕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慕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募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暮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776075"/>
                  </a:ext>
                </a:extLst>
              </a:tr>
              <a:tr h="69362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7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祥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詳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3DE5ED1F-9A02-9AA5-4BAE-515E694F7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065208"/>
              </p:ext>
            </p:extLst>
          </p:nvPr>
        </p:nvGraphicFramePr>
        <p:xfrm>
          <a:off x="4018858" y="3391164"/>
          <a:ext cx="5361978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暮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墳墓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94A13360-000E-2D07-7B11-988AA1F42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644844"/>
              </p:ext>
            </p:extLst>
          </p:nvPr>
        </p:nvGraphicFramePr>
        <p:xfrm>
          <a:off x="4018858" y="4225190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暮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開幕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5DC61D4B-0C4F-BDD3-9E05-956BB7206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030810"/>
              </p:ext>
            </p:extLst>
          </p:nvPr>
        </p:nvGraphicFramePr>
        <p:xfrm>
          <a:off x="4018858" y="4908386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暮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羨慕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3AB54FA7-0322-E7B3-6566-F5DD3C6E1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995295"/>
              </p:ext>
            </p:extLst>
          </p:nvPr>
        </p:nvGraphicFramePr>
        <p:xfrm>
          <a:off x="4018858" y="5591582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暮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募款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FA2BC7BD-E202-C91A-95C7-BB939FFB5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228162"/>
              </p:ext>
            </p:extLst>
          </p:nvPr>
        </p:nvGraphicFramePr>
        <p:xfrm>
          <a:off x="4018858" y="6274778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R ZhuYinEX Md" panose="020B0602010101010101" pitchFamily="49" charset="-120"/>
                          <a:ea typeface="AR ZhuYinEX Md" panose="020B0602010101010101" pitchFamily="49" charset="-120"/>
                          <a:cs typeface="標楷體" panose="03000509000000000000" pitchFamily="49" charset="-120"/>
                        </a:rPr>
                        <a:t>暮</a:t>
                      </a:r>
                      <a:endParaRPr lang="zh-TW" sz="4000" kern="100" dirty="0">
                        <a:effectLst/>
                        <a:latin typeface="AR ZhuYinEX Md" panose="020B0602010101010101" pitchFamily="49" charset="-120"/>
                        <a:ea typeface="AR ZhuYinEX Md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朝暮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98188840-D881-D187-65CA-315187027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379611"/>
              </p:ext>
            </p:extLst>
          </p:nvPr>
        </p:nvGraphicFramePr>
        <p:xfrm>
          <a:off x="4018858" y="6957974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祥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吉祥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表格 37">
            <a:extLst>
              <a:ext uri="{FF2B5EF4-FFF2-40B4-BE49-F238E27FC236}">
                <a16:creationId xmlns:a16="http://schemas.microsoft.com/office/drawing/2014/main" id="{78AE2EB0-B931-A064-CEAB-4AD7F120F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267874"/>
              </p:ext>
            </p:extLst>
          </p:nvPr>
        </p:nvGraphicFramePr>
        <p:xfrm>
          <a:off x="4018858" y="7641170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祥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安詳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F833CF1E-D99C-9D83-4193-5C03D96646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780181"/>
              </p:ext>
            </p:extLst>
          </p:nvPr>
        </p:nvGraphicFramePr>
        <p:xfrm>
          <a:off x="9551073" y="3150382"/>
          <a:ext cx="7593927" cy="4512086"/>
        </p:xfrm>
        <a:graphic>
          <a:graphicData uri="http://schemas.openxmlformats.org/drawingml/2006/table">
            <a:tbl>
              <a:tblPr firstRow="1" firstCol="1" bandRow="1"/>
              <a:tblGrid>
                <a:gridCol w="59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62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8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和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62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9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泰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秦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816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10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躍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776075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耀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4782426"/>
                  </a:ext>
                </a:extLst>
              </a:tr>
            </a:tbl>
          </a:graphicData>
        </a:graphic>
      </p:graphicFrame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CFEC5387-721E-C067-0E87-4EBF9E4A9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060068"/>
              </p:ext>
            </p:extLst>
          </p:nvPr>
        </p:nvGraphicFramePr>
        <p:xfrm>
          <a:off x="11783021" y="3391164"/>
          <a:ext cx="5361978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和</a:t>
                      </a:r>
                      <a:endParaRPr lang="zh-TW" sz="40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和諧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887D97E5-C2E3-70EF-7147-524DF9AD21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157110"/>
              </p:ext>
            </p:extLst>
          </p:nvPr>
        </p:nvGraphicFramePr>
        <p:xfrm>
          <a:off x="11783021" y="4224576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漢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我和你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表格 41">
            <a:extLst>
              <a:ext uri="{FF2B5EF4-FFF2-40B4-BE49-F238E27FC236}">
                <a16:creationId xmlns:a16="http://schemas.microsoft.com/office/drawing/2014/main" id="{6A516E7C-FEEC-798A-2A61-5F490840D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762029"/>
              </p:ext>
            </p:extLst>
          </p:nvPr>
        </p:nvGraphicFramePr>
        <p:xfrm>
          <a:off x="11783021" y="4907158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太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泰然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" name="表格 44">
            <a:extLst>
              <a:ext uri="{FF2B5EF4-FFF2-40B4-BE49-F238E27FC236}">
                <a16:creationId xmlns:a16="http://schemas.microsoft.com/office/drawing/2014/main" id="{44A1855E-A32D-8692-A650-351DA8C8A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547625"/>
              </p:ext>
            </p:extLst>
          </p:nvPr>
        </p:nvGraphicFramePr>
        <p:xfrm>
          <a:off x="11783021" y="5589740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勤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秦俑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D566011E-6C7C-A5C7-6D03-37E00151A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558814"/>
              </p:ext>
            </p:extLst>
          </p:nvPr>
        </p:nvGraphicFramePr>
        <p:xfrm>
          <a:off x="11783021" y="6272321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月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跳躍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0790B5C9-9D05-BA73-B2F9-F6DEF3AE5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150377"/>
              </p:ext>
            </p:extLst>
          </p:nvPr>
        </p:nvGraphicFramePr>
        <p:xfrm>
          <a:off x="11783021" y="6933272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要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耀眼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308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89991" y="589170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65593" y="559155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2302823" y="3516326"/>
            <a:ext cx="14363700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1.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靜靜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淡水河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</a:t>
            </a:r>
            <a:endParaRPr lang="zh-TW" altLang="en-US" sz="3600" dirty="0"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389991" y="2283156"/>
            <a:ext cx="129099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二、短語練習</a:t>
            </a:r>
            <a:endParaRPr lang="zh-TW" altLang="zh-TW" sz="3600" b="1" kern="100" dirty="0">
              <a:latin typeface="華康中圓體(P)" panose="020F0500000000000000" pitchFamily="34" charset="-120"/>
              <a:ea typeface="華康中圓體(P)" panose="020F0500000000000000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29" name="圖片 28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0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2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3" name="圖片 4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F29F860-0678-AD0F-2AEA-1B3AE872E29D}"/>
              </a:ext>
            </a:extLst>
          </p:cNvPr>
          <p:cNvSpPr/>
          <p:nvPr/>
        </p:nvSpPr>
        <p:spPr>
          <a:xfrm>
            <a:off x="2291937" y="5770288"/>
            <a:ext cx="14363700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2.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柔媚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綠色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b="1" u="sng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淡水河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。</a:t>
            </a:r>
            <a:endParaRPr lang="zh-TW" altLang="en-US" sz="3600" dirty="0"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73060F0-307F-608B-50CD-C79399586626}"/>
              </a:ext>
            </a:extLst>
          </p:cNvPr>
          <p:cNvSpPr/>
          <p:nvPr/>
        </p:nvSpPr>
        <p:spPr>
          <a:xfrm>
            <a:off x="2924942" y="6733416"/>
            <a:ext cx="13897998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   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    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        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DA7BF0C-2497-B683-3D69-43A87D594919}"/>
              </a:ext>
            </a:extLst>
          </p:cNvPr>
          <p:cNvSpPr/>
          <p:nvPr/>
        </p:nvSpPr>
        <p:spPr>
          <a:xfrm>
            <a:off x="3232328" y="6790490"/>
            <a:ext cx="1244829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潔白 </a:t>
            </a:r>
            <a:endParaRPr lang="zh-TW" altLang="en-US" sz="3600" dirty="0">
              <a:solidFill>
                <a:srgbClr val="FF0000"/>
              </a:solidFill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E61DD81-263B-8FEE-AC73-3D3E35DA68F8}"/>
              </a:ext>
            </a:extLst>
          </p:cNvPr>
          <p:cNvSpPr/>
          <p:nvPr/>
        </p:nvSpPr>
        <p:spPr>
          <a:xfrm>
            <a:off x="5465042" y="6782243"/>
            <a:ext cx="1244828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芬芳</a:t>
            </a:r>
            <a:endParaRPr lang="zh-TW" altLang="en-US" sz="3600" dirty="0">
              <a:solidFill>
                <a:srgbClr val="FF0000"/>
              </a:solidFill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F0C7134-BD90-6175-4897-9686E0BB4AEC}"/>
              </a:ext>
            </a:extLst>
          </p:cNvPr>
          <p:cNvSpPr/>
          <p:nvPr/>
        </p:nvSpPr>
        <p:spPr>
          <a:xfrm>
            <a:off x="2302823" y="4440139"/>
            <a:ext cx="14363700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    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        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</a:t>
            </a:r>
            <a:endParaRPr lang="zh-TW" altLang="en-US" sz="3600" dirty="0"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23460" y="4608775"/>
            <a:ext cx="11121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藍藍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5165081" y="4464040"/>
            <a:ext cx="2116111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天空</a:t>
            </a:r>
            <a:endParaRPr lang="zh-TW" altLang="en-US" sz="3600" dirty="0">
              <a:solidFill>
                <a:srgbClr val="FF0000"/>
              </a:solidFill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76785E8-DF35-06A1-EBB7-7E03222497FB}"/>
              </a:ext>
            </a:extLst>
          </p:cNvPr>
          <p:cNvSpPr/>
          <p:nvPr/>
        </p:nvSpPr>
        <p:spPr>
          <a:xfrm>
            <a:off x="7700526" y="6806131"/>
            <a:ext cx="1648139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茉莉花</a:t>
            </a:r>
            <a:endParaRPr lang="zh-TW" altLang="en-US" sz="3600" dirty="0">
              <a:solidFill>
                <a:srgbClr val="FF0000"/>
              </a:solidFill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0213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0" grpId="0"/>
      <p:bldP spid="35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D8FEE-1CDD-368F-9815-8C29A4F1D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F1595B1-80DC-651F-E779-D8B43213694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2F9BBDA-D278-ED49-AEDE-8E42632E65AD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299F96C-58B4-2E99-181A-E807C7FBBCFB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361E2D0-47F9-14CB-1B8D-6FD0A8D8593F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C569785-BDCD-C776-F03F-79CE59910742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3C74C6F-3298-84D2-7984-5E5CB6A1A99F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ABDE333-7BBF-24D9-17CD-7F3A0064C615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0C06FBC-C6FA-7DB4-D0D5-5743E5B1ED3E}"/>
              </a:ext>
            </a:extLst>
          </p:cNvPr>
          <p:cNvGrpSpPr/>
          <p:nvPr/>
        </p:nvGrpSpPr>
        <p:grpSpPr>
          <a:xfrm>
            <a:off x="1398217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7EE48288-FEEB-9188-4F82-77AB17A757A3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216D302-91A0-F917-CDC8-3B3AE165A00F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sz="11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B14E4924-8A7F-84FA-5DF5-0C516188F941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6D9F4229-E5D7-622C-A4CD-8AE9866F091B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FA7E57D8-839C-FDB8-CCCC-089F944A1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暖身題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2CDF8B9-EBA7-4832-50B0-C18FB1043050}"/>
              </a:ext>
            </a:extLst>
          </p:cNvPr>
          <p:cNvSpPr/>
          <p:nvPr/>
        </p:nvSpPr>
        <p:spPr>
          <a:xfrm>
            <a:off x="2458155" y="2669093"/>
            <a:ext cx="13924845" cy="65461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說到「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淡水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」，你會最先聯想到什麼呢？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我會聯想到：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_________________________________________________________________</a:t>
            </a:r>
          </a:p>
          <a:p>
            <a:pPr>
              <a:lnSpc>
                <a:spcPct val="150000"/>
              </a:lnSpc>
            </a:pP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請小朋友先觀看影片中的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淡水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美景，並用自己的話來描述所看見的景色。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_________________________________________________________________</a:t>
            </a:r>
          </a:p>
          <a:p>
            <a:pPr>
              <a:lnSpc>
                <a:spcPct val="150000"/>
              </a:lnSpc>
            </a:pP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7" name="Freeform 4">
            <a:extLst>
              <a:ext uri="{FF2B5EF4-FFF2-40B4-BE49-F238E27FC236}">
                <a16:creationId xmlns:a16="http://schemas.microsoft.com/office/drawing/2014/main" id="{E0853C57-FE01-C3C3-AA01-958F831986E0}"/>
              </a:ext>
            </a:extLst>
          </p:cNvPr>
          <p:cNvSpPr/>
          <p:nvPr/>
        </p:nvSpPr>
        <p:spPr>
          <a:xfrm>
            <a:off x="5312555" y="1050653"/>
            <a:ext cx="1211543" cy="932259"/>
          </a:xfrm>
          <a:custGeom>
            <a:avLst/>
            <a:gdLst/>
            <a:ahLst/>
            <a:cxnLst/>
            <a:rect l="l" t="t" r="r" b="b"/>
            <a:pathLst>
              <a:path w="3555018" h="3363936">
                <a:moveTo>
                  <a:pt x="0" y="0"/>
                </a:moveTo>
                <a:lnTo>
                  <a:pt x="3555018" y="0"/>
                </a:lnTo>
                <a:lnTo>
                  <a:pt x="3555018" y="3363937"/>
                </a:lnTo>
                <a:lnTo>
                  <a:pt x="0" y="3363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8" name="圖片 47">
            <a:extLst>
              <a:ext uri="{FF2B5EF4-FFF2-40B4-BE49-F238E27FC236}">
                <a16:creationId xmlns:a16="http://schemas.microsoft.com/office/drawing/2014/main" id="{02326933-679C-92FB-9F64-14F5B45C19D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29" name="文字方塊 3">
            <a:extLst>
              <a:ext uri="{FF2B5EF4-FFF2-40B4-BE49-F238E27FC236}">
                <a16:creationId xmlns:a16="http://schemas.microsoft.com/office/drawing/2014/main" id="{E063FCF1-43AC-ED3D-9A28-51F74B9874E3}"/>
              </a:ext>
            </a:extLst>
          </p:cNvPr>
          <p:cNvSpPr txBox="1"/>
          <p:nvPr/>
        </p:nvSpPr>
        <p:spPr>
          <a:xfrm>
            <a:off x="8533357" y="1072584"/>
            <a:ext cx="9580767" cy="10457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6000"/>
              </a:lnSpc>
              <a:defRPr sz="3600" b="1">
                <a:solidFill>
                  <a:schemeClr val="tx1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《</a:t>
            </a:r>
            <a:r>
              <a:rPr lang="en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4K 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空拍淡水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淡水河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極致的淡水夕陽美景，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分鐘一次看完！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》</a:t>
            </a:r>
          </a:p>
          <a:p>
            <a:pPr>
              <a:lnSpc>
                <a:spcPct val="150000"/>
              </a:lnSpc>
            </a:pPr>
            <a:r>
              <a:rPr lang="en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7"/>
              </a:rPr>
              <a:t>https://www.youtube.com/watch?v=x4ZRVraMDHM</a:t>
            </a:r>
            <a:r>
              <a:rPr lang="en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DAA65B9-5DCA-E70D-2365-28720E7DBB6F}"/>
              </a:ext>
            </a:extLst>
          </p:cNvPr>
          <p:cNvSpPr txBox="1"/>
          <p:nvPr/>
        </p:nvSpPr>
        <p:spPr>
          <a:xfrm>
            <a:off x="2450721" y="4394294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同學自行作答</a:t>
            </a:r>
          </a:p>
        </p:txBody>
      </p:sp>
      <p:pic>
        <p:nvPicPr>
          <p:cNvPr id="10" name="圖片 9" descr="一張含有 樣式, 像素, 針線 的圖片&#10;&#10;自動產生的描述">
            <a:extLst>
              <a:ext uri="{FF2B5EF4-FFF2-40B4-BE49-F238E27FC236}">
                <a16:creationId xmlns:a16="http://schemas.microsoft.com/office/drawing/2014/main" id="{1BC3C2E8-0143-B87D-C969-C3F17EBC510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7054" y="828613"/>
            <a:ext cx="1552433" cy="155243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4CCC2D35-4E65-CC2A-D78C-E12E1B4C8FA3}"/>
              </a:ext>
            </a:extLst>
          </p:cNvPr>
          <p:cNvSpPr txBox="1"/>
          <p:nvPr/>
        </p:nvSpPr>
        <p:spPr>
          <a:xfrm>
            <a:off x="2458155" y="75819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同學自行作答</a:t>
            </a:r>
          </a:p>
        </p:txBody>
      </p:sp>
    </p:spTree>
    <p:extLst>
      <p:ext uri="{BB962C8B-B14F-4D97-AF65-F5344CB8AC3E}">
        <p14:creationId xmlns:p14="http://schemas.microsoft.com/office/powerpoint/2010/main" val="822295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/>
          <p:cNvGrpSpPr/>
          <p:nvPr/>
        </p:nvGrpSpPr>
        <p:grpSpPr>
          <a:xfrm>
            <a:off x="0" y="7699"/>
            <a:ext cx="18288000" cy="10287000"/>
            <a:chOff x="0" y="0"/>
            <a:chExt cx="18288000" cy="10287000"/>
          </a:xfrm>
        </p:grpSpPr>
        <p:sp>
          <p:nvSpPr>
            <p:cNvPr id="2" name="Freeform 2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525999" y="561269"/>
              <a:ext cx="15917348" cy="9164462"/>
              <a:chOff x="0" y="0"/>
              <a:chExt cx="3764577" cy="216746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347374" y="572822"/>
              <a:ext cx="15917348" cy="9164462"/>
              <a:chOff x="0" y="0"/>
              <a:chExt cx="3764577" cy="216746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629" y="98995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/>
          <p:cNvSpPr/>
          <p:nvPr/>
        </p:nvSpPr>
        <p:spPr>
          <a:xfrm>
            <a:off x="2173032" y="2270317"/>
            <a:ext cx="14266032" cy="2302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 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呼應暖身題，本課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靜靜的淡水河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〉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是一首紀錄</a:t>
            </a:r>
            <a:r>
              <a:rPr lang="zh-TW" altLang="en-US" sz="32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淡水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美景的詩歌，讓讀者從不同的角度欣賞</a:t>
            </a:r>
            <a:r>
              <a:rPr lang="zh-TW" altLang="en-US" sz="32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淡水河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。朗讀一次這首詩，並藉由下方表格整理出這首詩的訊息與脈絡。</a:t>
            </a:r>
            <a:endParaRPr lang="zh-TW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2" name="Freeform 7"/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8" name="圖片 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871611E-6D30-E9FE-72E4-3F7F1BD44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057755"/>
              </p:ext>
            </p:extLst>
          </p:nvPr>
        </p:nvGraphicFramePr>
        <p:xfrm>
          <a:off x="2135186" y="4658507"/>
          <a:ext cx="14623098" cy="46847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3686">
                  <a:extLst>
                    <a:ext uri="{9D8B030D-6E8A-4147-A177-3AD203B41FA5}">
                      <a16:colId xmlns:a16="http://schemas.microsoft.com/office/drawing/2014/main" val="1289293989"/>
                    </a:ext>
                  </a:extLst>
                </a:gridCol>
                <a:gridCol w="4133312">
                  <a:extLst>
                    <a:ext uri="{9D8B030D-6E8A-4147-A177-3AD203B41FA5}">
                      <a16:colId xmlns:a16="http://schemas.microsoft.com/office/drawing/2014/main" val="3068856835"/>
                    </a:ext>
                  </a:extLst>
                </a:gridCol>
                <a:gridCol w="4973105">
                  <a:extLst>
                    <a:ext uri="{9D8B030D-6E8A-4147-A177-3AD203B41FA5}">
                      <a16:colId xmlns:a16="http://schemas.microsoft.com/office/drawing/2014/main" val="1479493397"/>
                    </a:ext>
                  </a:extLst>
                </a:gridCol>
                <a:gridCol w="2017032">
                  <a:extLst>
                    <a:ext uri="{9D8B030D-6E8A-4147-A177-3AD203B41FA5}">
                      <a16:colId xmlns:a16="http://schemas.microsoft.com/office/drawing/2014/main" val="186869018"/>
                    </a:ext>
                  </a:extLst>
                </a:gridCol>
                <a:gridCol w="2665963">
                  <a:extLst>
                    <a:ext uri="{9D8B030D-6E8A-4147-A177-3AD203B41FA5}">
                      <a16:colId xmlns:a16="http://schemas.microsoft.com/office/drawing/2014/main" val="601918722"/>
                    </a:ext>
                  </a:extLst>
                </a:gridCol>
              </a:tblGrid>
              <a:tr h="6772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段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從哪裡流過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帶來什麼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象徵顏色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傳達的感受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713542"/>
                  </a:ext>
                </a:extLst>
              </a:tr>
              <a:tr h="1001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一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從</a:t>
                      </a:r>
                      <a:r>
                        <a:rPr lang="en-US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  )</a:t>
                      </a:r>
                      <a:r>
                        <a:rPr lang="zh-TW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流過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帶來</a:t>
                      </a:r>
                      <a:r>
                        <a:rPr lang="en-US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              )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綠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)</a:t>
                      </a:r>
                      <a:endParaRPr lang="zh-TW" alt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0237618"/>
                  </a:ext>
                </a:extLst>
              </a:tr>
              <a:tr h="1001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二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從</a:t>
                      </a:r>
                      <a:r>
                        <a:rPr lang="en-US" altLang="zh-TW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  )</a:t>
                      </a:r>
                      <a:r>
                        <a:rPr lang="zh-TW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流過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28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帶來人群的快樂和奮勉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)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歡躍的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18471"/>
                  </a:ext>
                </a:extLst>
              </a:tr>
              <a:tr h="1001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三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在</a:t>
                      </a:r>
                      <a:r>
                        <a:rPr lang="en-US" altLang="zh-TW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  )</a:t>
                      </a:r>
                      <a:r>
                        <a:rPr lang="zh-TW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流過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帶來大地的祥和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)</a:t>
                      </a:r>
                      <a:endParaRPr lang="zh-TW" alt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)</a:t>
                      </a:r>
                      <a:endParaRPr lang="zh-TW" alt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504359"/>
                  </a:ext>
                </a:extLst>
              </a:tr>
              <a:tr h="1001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四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在</a:t>
                      </a:r>
                      <a:r>
                        <a:rPr lang="en-US" altLang="zh-TW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  )</a:t>
                      </a:r>
                      <a:r>
                        <a:rPr lang="zh-TW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流過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帶來</a:t>
                      </a:r>
                      <a:r>
                        <a:rPr lang="en-US" altLang="zh-TW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              )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白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28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)</a:t>
                      </a:r>
                      <a:endParaRPr lang="zh-TW" alt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95704"/>
                  </a:ext>
                </a:extLst>
              </a:tr>
            </a:tbl>
          </a:graphicData>
        </a:graphic>
      </p:graphicFrame>
      <p:sp>
        <p:nvSpPr>
          <p:cNvPr id="18" name="文字方塊 17">
            <a:extLst>
              <a:ext uri="{FF2B5EF4-FFF2-40B4-BE49-F238E27FC236}">
                <a16:creationId xmlns:a16="http://schemas.microsoft.com/office/drawing/2014/main" id="{08BA8708-9EA8-50FB-E891-C9F783E20D50}"/>
              </a:ext>
            </a:extLst>
          </p:cNvPr>
          <p:cNvSpPr txBox="1"/>
          <p:nvPr/>
        </p:nvSpPr>
        <p:spPr>
          <a:xfrm>
            <a:off x="3886200" y="5515122"/>
            <a:ext cx="1132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田野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F0BB87E-F666-A636-42AB-710D7C74242D}"/>
              </a:ext>
            </a:extLst>
          </p:cNvPr>
          <p:cNvSpPr txBox="1"/>
          <p:nvPr/>
        </p:nvSpPr>
        <p:spPr>
          <a:xfrm>
            <a:off x="3465166" y="6575199"/>
            <a:ext cx="19741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都市邊緣 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BDCAC1A2-F230-05A0-DA5C-59D97F8201B6}"/>
              </a:ext>
            </a:extLst>
          </p:cNvPr>
          <p:cNvSpPr txBox="1"/>
          <p:nvPr/>
        </p:nvSpPr>
        <p:spPr>
          <a:xfrm>
            <a:off x="3711539" y="7560149"/>
            <a:ext cx="19741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暮色裡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3FC3AC87-FF69-DFCE-CC5C-2E1AC4ED2505}"/>
              </a:ext>
            </a:extLst>
          </p:cNvPr>
          <p:cNvSpPr txBox="1"/>
          <p:nvPr/>
        </p:nvSpPr>
        <p:spPr>
          <a:xfrm>
            <a:off x="3711538" y="8543005"/>
            <a:ext cx="19741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星光下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905921E4-66C3-EE7A-894E-ADD9B8D5C719}"/>
              </a:ext>
            </a:extLst>
          </p:cNvPr>
          <p:cNvSpPr txBox="1"/>
          <p:nvPr/>
        </p:nvSpPr>
        <p:spPr>
          <a:xfrm>
            <a:off x="8280685" y="8543005"/>
            <a:ext cx="26066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人間的安泰 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9747614-1AB1-4361-FCDF-DCB88D7AA284}"/>
              </a:ext>
            </a:extLst>
          </p:cNvPr>
          <p:cNvSpPr txBox="1"/>
          <p:nvPr/>
        </p:nvSpPr>
        <p:spPr>
          <a:xfrm>
            <a:off x="8137578" y="5549325"/>
            <a:ext cx="27590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深山叢林氣息 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0BCB9AE5-3743-AE8C-69A8-D53065B0B736}"/>
              </a:ext>
            </a:extLst>
          </p:cNvPr>
          <p:cNvSpPr txBox="1"/>
          <p:nvPr/>
        </p:nvSpPr>
        <p:spPr>
          <a:xfrm>
            <a:off x="12813377" y="6561260"/>
            <a:ext cx="1066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藍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2E7D951C-2493-85CF-0557-2EC4E79C19A6}"/>
              </a:ext>
            </a:extLst>
          </p:cNvPr>
          <p:cNvSpPr txBox="1"/>
          <p:nvPr/>
        </p:nvSpPr>
        <p:spPr>
          <a:xfrm>
            <a:off x="12778065" y="7546210"/>
            <a:ext cx="1066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黃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6963E111-CFA9-44EF-FFC7-EB772F466221}"/>
              </a:ext>
            </a:extLst>
          </p:cNvPr>
          <p:cNvSpPr txBox="1"/>
          <p:nvPr/>
        </p:nvSpPr>
        <p:spPr>
          <a:xfrm>
            <a:off x="14764250" y="8551368"/>
            <a:ext cx="16748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潔淨的 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8FA60234-BD9D-4F8E-F9C1-0403F89B4262}"/>
              </a:ext>
            </a:extLst>
          </p:cNvPr>
          <p:cNvSpPr txBox="1"/>
          <p:nvPr/>
        </p:nvSpPr>
        <p:spPr>
          <a:xfrm>
            <a:off x="14757702" y="5523485"/>
            <a:ext cx="16748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柔媚的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8F4CA842-3FED-8819-89C3-864D2F35E913}"/>
              </a:ext>
            </a:extLst>
          </p:cNvPr>
          <p:cNvSpPr txBox="1"/>
          <p:nvPr/>
        </p:nvSpPr>
        <p:spPr>
          <a:xfrm>
            <a:off x="14757702" y="7546209"/>
            <a:ext cx="16748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美麗的</a:t>
            </a:r>
          </a:p>
        </p:txBody>
      </p:sp>
    </p:spTree>
    <p:extLst>
      <p:ext uri="{BB962C8B-B14F-4D97-AF65-F5344CB8AC3E}">
        <p14:creationId xmlns:p14="http://schemas.microsoft.com/office/powerpoint/2010/main" val="398568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/>
      <p:bldP spid="26" grpId="0"/>
      <p:bldP spid="27" grpId="0"/>
      <p:bldP spid="28" grpId="0"/>
      <p:bldP spid="29" grpId="0"/>
      <p:bldP spid="30" grpId="0"/>
      <p:bldP spid="31" grpId="0"/>
      <p:bldP spid="33" grpId="0"/>
      <p:bldP spid="35" grpId="0"/>
      <p:bldP spid="4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5" name="矩形 44"/>
          <p:cNvSpPr/>
          <p:nvPr/>
        </p:nvSpPr>
        <p:spPr>
          <a:xfrm>
            <a:off x="2343440" y="2171700"/>
            <a:ext cx="14026904" cy="2217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根據課文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《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靜靜的淡水河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》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的結構，請你選擇一個自己喜歡的自然景觀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如：家鄉的小河、公園的樹林、學校附近的山坡等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，我們一起來創作屬於自己的風景畫吧！</a:t>
            </a:r>
          </a:p>
        </p:txBody>
      </p:sp>
      <p:sp>
        <p:nvSpPr>
          <p:cNvPr id="48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挑戰題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6"/>
          <p:cNvSpPr/>
          <p:nvPr/>
        </p:nvSpPr>
        <p:spPr>
          <a:xfrm>
            <a:off x="5321218" y="953703"/>
            <a:ext cx="1558266" cy="1257300"/>
          </a:xfrm>
          <a:custGeom>
            <a:avLst/>
            <a:gdLst/>
            <a:ahLst/>
            <a:cxnLst/>
            <a:rect l="l" t="t" r="r" b="b"/>
            <a:pathLst>
              <a:path w="4101416" h="3434936">
                <a:moveTo>
                  <a:pt x="0" y="0"/>
                </a:moveTo>
                <a:lnTo>
                  <a:pt x="4101416" y="0"/>
                </a:lnTo>
                <a:lnTo>
                  <a:pt x="4101416" y="3434936"/>
                </a:lnTo>
                <a:lnTo>
                  <a:pt x="0" y="343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9CB99CE-B1B6-7D07-C930-6122F605A0F3}"/>
              </a:ext>
            </a:extLst>
          </p:cNvPr>
          <p:cNvSpPr/>
          <p:nvPr/>
        </p:nvSpPr>
        <p:spPr>
          <a:xfrm>
            <a:off x="4572000" y="3861297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學生自行作答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E11CDC0-AAA7-7872-E7B9-62C84BD9B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355112"/>
              </p:ext>
            </p:extLst>
          </p:nvPr>
        </p:nvGraphicFramePr>
        <p:xfrm>
          <a:off x="2366435" y="4701494"/>
          <a:ext cx="14092765" cy="44806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7120">
                  <a:extLst>
                    <a:ext uri="{9D8B030D-6E8A-4147-A177-3AD203B41FA5}">
                      <a16:colId xmlns:a16="http://schemas.microsoft.com/office/drawing/2014/main" val="1279293412"/>
                    </a:ext>
                  </a:extLst>
                </a:gridCol>
                <a:gridCol w="11735645">
                  <a:extLst>
                    <a:ext uri="{9D8B030D-6E8A-4147-A177-3AD203B41FA5}">
                      <a16:colId xmlns:a16="http://schemas.microsoft.com/office/drawing/2014/main" val="3510248692"/>
                    </a:ext>
                  </a:extLst>
                </a:gridCol>
              </a:tblGrid>
              <a:tr h="735573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課文結構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90467"/>
                  </a:ext>
                </a:extLst>
              </a:tr>
              <a:tr h="7355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主題句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每段開頭以「靜靜的淡水河」引入，表達河流的靜謐特質。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3063406"/>
                  </a:ext>
                </a:extLst>
              </a:tr>
              <a:tr h="7355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空間變化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描述淡水河流經不同地點的景象，如田野、都市、暮色、夜晚。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629371"/>
                  </a:ext>
                </a:extLst>
              </a:tr>
              <a:tr h="15383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情感與景象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以比喻和形容詞表達河流的顏色與情感（綠色、藍色、金色、銀色）。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1877626"/>
                  </a:ext>
                </a:extLst>
              </a:tr>
              <a:tr h="7355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結尾句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每段以一個特定顏色的</a:t>
                      </a:r>
                      <a:r>
                        <a:rPr lang="zh-TW" sz="3200" u="sng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淡水河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結尾，</a:t>
                      </a:r>
                      <a:r>
                        <a:rPr lang="zh-TW" alt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凸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出畫面感和意境。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827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4093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1BE6A-8D6D-CA5A-AE2E-298AFBC54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9B84013-58F3-6CEC-AF0E-CE40EDEC811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1FAE90F-205B-3854-B0A5-85F0AA42E5E3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CC77D22-7CE8-CE33-E13F-AFB5BF135EF5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F2AF316-076A-F896-8594-948724DE9ADA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8CA91E7-E976-9E65-E4FD-D3D101F2FA8B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63F60C9-411B-C3B3-91C9-C1D414248010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F0806A0-08E8-78B1-0327-1313F9C5F106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76B414C-CCC0-3395-B1D3-8CCE05A550DF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6017766C-D879-62DB-1DF8-2C1662F47F9B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61E321DE-4E8A-48CF-04C5-85B494D4EC3E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C2AC7DFC-4A8B-FAD8-6C9B-90497BDB6B83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77810265-694A-32FE-1DD8-AB6676B6829B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5" name="矩形 44">
            <a:extLst>
              <a:ext uri="{FF2B5EF4-FFF2-40B4-BE49-F238E27FC236}">
                <a16:creationId xmlns:a16="http://schemas.microsoft.com/office/drawing/2014/main" id="{5FBCFFA6-3D90-B76E-31F8-151948D15620}"/>
              </a:ext>
            </a:extLst>
          </p:cNvPr>
          <p:cNvSpPr/>
          <p:nvPr/>
        </p:nvSpPr>
        <p:spPr>
          <a:xfrm>
            <a:off x="2134930" y="2843216"/>
            <a:ext cx="15160598" cy="2314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•	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你的自然景觀有哪些特點？適合用什麼顏色來形容？</a:t>
            </a:r>
          </a:p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•	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有哪些聲音、氣味或感覺能夠融入你的描述中？</a:t>
            </a:r>
          </a:p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•	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你想用什麼情感來表達對這個景觀的讚美？</a:t>
            </a:r>
          </a:p>
        </p:txBody>
      </p:sp>
      <p:sp>
        <p:nvSpPr>
          <p:cNvPr id="48" name="文字方塊 2">
            <a:extLst>
              <a:ext uri="{FF2B5EF4-FFF2-40B4-BE49-F238E27FC236}">
                <a16:creationId xmlns:a16="http://schemas.microsoft.com/office/drawing/2014/main" id="{40D3A192-D54C-BE11-E4D1-2FBCD8EA9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挑戰題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84468B79-B4D5-8135-E189-3A1381F84E61}"/>
              </a:ext>
            </a:extLst>
          </p:cNvPr>
          <p:cNvSpPr/>
          <p:nvPr/>
        </p:nvSpPr>
        <p:spPr>
          <a:xfrm>
            <a:off x="5321218" y="953703"/>
            <a:ext cx="1558266" cy="1257300"/>
          </a:xfrm>
          <a:custGeom>
            <a:avLst/>
            <a:gdLst/>
            <a:ahLst/>
            <a:cxnLst/>
            <a:rect l="l" t="t" r="r" b="b"/>
            <a:pathLst>
              <a:path w="4101416" h="3434936">
                <a:moveTo>
                  <a:pt x="0" y="0"/>
                </a:moveTo>
                <a:lnTo>
                  <a:pt x="4101416" y="0"/>
                </a:lnTo>
                <a:lnTo>
                  <a:pt x="4101416" y="3434936"/>
                </a:lnTo>
                <a:lnTo>
                  <a:pt x="0" y="343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55D8EE5F-7254-7BD3-7E06-515472461C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973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8AFC48B-8F70-3CEF-A352-5703608F9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795274"/>
              </p:ext>
            </p:extLst>
          </p:nvPr>
        </p:nvGraphicFramePr>
        <p:xfrm>
          <a:off x="2362200" y="875212"/>
          <a:ext cx="14706600" cy="83611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52545">
                  <a:extLst>
                    <a:ext uri="{9D8B030D-6E8A-4147-A177-3AD203B41FA5}">
                      <a16:colId xmlns:a16="http://schemas.microsoft.com/office/drawing/2014/main" val="1973256097"/>
                    </a:ext>
                  </a:extLst>
                </a:gridCol>
                <a:gridCol w="7354055">
                  <a:extLst>
                    <a:ext uri="{9D8B030D-6E8A-4147-A177-3AD203B41FA5}">
                      <a16:colId xmlns:a16="http://schemas.microsoft.com/office/drawing/2014/main" val="2962750210"/>
                    </a:ext>
                  </a:extLst>
                </a:gridCol>
              </a:tblGrid>
              <a:tr h="409975">
                <a:tc>
                  <a:txBody>
                    <a:bodyPr/>
                    <a:lstStyle/>
                    <a:p>
                      <a:pPr marL="302260" indent="-302260" algn="ctr">
                        <a:lnSpc>
                          <a:spcPct val="115000"/>
                        </a:lnSpc>
                        <a:buNone/>
                      </a:pP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第一段</a:t>
                      </a:r>
                      <a:endParaRPr lang="zh-TW" sz="24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2260" indent="-302260" algn="ctr">
                        <a:lnSpc>
                          <a:spcPct val="115000"/>
                        </a:lnSpc>
                        <a:buNone/>
                      </a:pP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第二段</a:t>
                      </a:r>
                      <a:endParaRPr lang="zh-TW" sz="24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887841"/>
                  </a:ext>
                </a:extLst>
              </a:tr>
              <a:tr h="3770593">
                <a:tc>
                  <a:txBody>
                    <a:bodyPr/>
                    <a:lstStyle/>
                    <a:p>
                      <a:pPr marL="302260" indent="-302260">
                        <a:lnSpc>
                          <a:spcPct val="200000"/>
                        </a:lnSpc>
                        <a:buNone/>
                      </a:pP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靜靜的 </a:t>
                      </a:r>
                      <a:r>
                        <a:rPr lang="en-US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_______________</a:t>
                      </a: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</a:t>
                      </a:r>
                    </a:p>
                    <a:p>
                      <a:pPr marL="302260" indent="-302260">
                        <a:lnSpc>
                          <a:spcPct val="200000"/>
                        </a:lnSpc>
                        <a:buNone/>
                      </a:pP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從 </a:t>
                      </a:r>
                      <a:r>
                        <a:rPr lang="en-US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_______________ </a:t>
                      </a: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流過，</a:t>
                      </a:r>
                    </a:p>
                    <a:p>
                      <a:pPr marL="302260" indent="-302260">
                        <a:lnSpc>
                          <a:spcPct val="200000"/>
                        </a:lnSpc>
                        <a:buNone/>
                      </a:pP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帶來 </a:t>
                      </a:r>
                      <a:r>
                        <a:rPr lang="en-US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____________ </a:t>
                      </a: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 </a:t>
                      </a:r>
                      <a:r>
                        <a:rPr lang="en-US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____________</a:t>
                      </a: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</a:p>
                    <a:p>
                      <a:pPr marL="302260" indent="-302260">
                        <a:lnSpc>
                          <a:spcPct val="200000"/>
                        </a:lnSpc>
                        <a:buNone/>
                      </a:pPr>
                      <a:r>
                        <a:rPr lang="en-US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_____________ </a:t>
                      </a: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把妳染</a:t>
                      </a:r>
                      <a:r>
                        <a:rPr lang="en-US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____________</a:t>
                      </a: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</a:t>
                      </a:r>
                    </a:p>
                    <a:p>
                      <a:pPr marL="302260" indent="-302260">
                        <a:lnSpc>
                          <a:spcPct val="200000"/>
                        </a:lnSpc>
                        <a:buNone/>
                      </a:pPr>
                      <a:r>
                        <a:rPr lang="en-US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________ </a:t>
                      </a: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</a:t>
                      </a:r>
                      <a:r>
                        <a:rPr lang="en-US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________ </a:t>
                      </a: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</a:t>
                      </a:r>
                      <a:r>
                        <a:rPr lang="en-US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________</a:t>
                      </a: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！</a:t>
                      </a:r>
                      <a:endParaRPr lang="zh-TW" sz="24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02260" indent="-302260">
                        <a:lnSpc>
                          <a:spcPct val="200000"/>
                        </a:lnSpc>
                        <a:buNone/>
                      </a:pPr>
                      <a:r>
                        <a:rPr lang="zh-TW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靜靜的 </a:t>
                      </a:r>
                      <a:r>
                        <a:rPr lang="en-US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_______________</a:t>
                      </a:r>
                      <a:r>
                        <a:rPr lang="zh-TW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</a:t>
                      </a:r>
                    </a:p>
                    <a:p>
                      <a:pPr marL="302260" indent="-302260">
                        <a:lnSpc>
                          <a:spcPct val="200000"/>
                        </a:lnSpc>
                        <a:buNone/>
                      </a:pPr>
                      <a:r>
                        <a:rPr lang="zh-TW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從 </a:t>
                      </a:r>
                      <a:r>
                        <a:rPr lang="en-US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_______________ </a:t>
                      </a:r>
                      <a:r>
                        <a:rPr lang="zh-TW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流過，</a:t>
                      </a:r>
                    </a:p>
                    <a:p>
                      <a:pPr marL="302260" indent="-302260">
                        <a:lnSpc>
                          <a:spcPct val="200000"/>
                        </a:lnSpc>
                        <a:buNone/>
                      </a:pPr>
                      <a:r>
                        <a:rPr lang="zh-TW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帶來 </a:t>
                      </a:r>
                      <a:r>
                        <a:rPr lang="en-US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____________ </a:t>
                      </a:r>
                      <a:r>
                        <a:rPr lang="zh-TW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 </a:t>
                      </a:r>
                      <a:r>
                        <a:rPr lang="en-US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____________</a:t>
                      </a:r>
                      <a:r>
                        <a:rPr lang="zh-TW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</a:p>
                    <a:p>
                      <a:pPr marL="302260" indent="-302260">
                        <a:lnSpc>
                          <a:spcPct val="200000"/>
                        </a:lnSpc>
                        <a:buNone/>
                      </a:pPr>
                      <a:r>
                        <a:rPr lang="en-US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_____________ </a:t>
                      </a:r>
                      <a:r>
                        <a:rPr lang="zh-TW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把妳染</a:t>
                      </a:r>
                      <a:r>
                        <a:rPr lang="en-US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____________</a:t>
                      </a:r>
                      <a:r>
                        <a:rPr lang="zh-TW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</a:t>
                      </a:r>
                    </a:p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________ </a:t>
                      </a:r>
                      <a:r>
                        <a:rPr lang="zh-TW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</a:t>
                      </a:r>
                      <a:r>
                        <a:rPr lang="en-US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________ </a:t>
                      </a:r>
                      <a:r>
                        <a:rPr lang="zh-TW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</a:t>
                      </a:r>
                      <a:r>
                        <a:rPr lang="en-US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________</a:t>
                      </a:r>
                      <a:r>
                        <a:rPr lang="zh-TW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！</a:t>
                      </a:r>
                      <a:endParaRPr lang="zh-TW" sz="24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362634"/>
                  </a:ext>
                </a:extLst>
              </a:tr>
              <a:tr h="409975">
                <a:tc>
                  <a:txBody>
                    <a:bodyPr/>
                    <a:lstStyle/>
                    <a:p>
                      <a:pPr marL="302260" indent="-302260" algn="ctr">
                        <a:lnSpc>
                          <a:spcPct val="115000"/>
                        </a:lnSpc>
                        <a:buNone/>
                      </a:pP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第三段</a:t>
                      </a:r>
                      <a:endParaRPr lang="zh-TW" sz="24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第四段</a:t>
                      </a:r>
                      <a:endParaRPr lang="zh-TW" sz="24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0030"/>
                  </a:ext>
                </a:extLst>
              </a:tr>
              <a:tr h="3770593">
                <a:tc>
                  <a:txBody>
                    <a:bodyPr/>
                    <a:lstStyle/>
                    <a:p>
                      <a:pPr marL="302260" indent="-302260">
                        <a:lnSpc>
                          <a:spcPct val="200000"/>
                        </a:lnSpc>
                        <a:buNone/>
                      </a:pPr>
                      <a:r>
                        <a:rPr lang="zh-TW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靜靜的 </a:t>
                      </a:r>
                      <a:r>
                        <a:rPr lang="en-US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_______________</a:t>
                      </a:r>
                      <a:r>
                        <a:rPr lang="zh-TW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</a:t>
                      </a:r>
                    </a:p>
                    <a:p>
                      <a:pPr marL="302260" indent="-302260">
                        <a:lnSpc>
                          <a:spcPct val="200000"/>
                        </a:lnSpc>
                        <a:buNone/>
                      </a:pPr>
                      <a:r>
                        <a:rPr lang="zh-TW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從 </a:t>
                      </a:r>
                      <a:r>
                        <a:rPr lang="en-US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_______________ </a:t>
                      </a:r>
                      <a:r>
                        <a:rPr lang="zh-TW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流過，</a:t>
                      </a:r>
                    </a:p>
                    <a:p>
                      <a:pPr marL="302260" indent="-302260">
                        <a:lnSpc>
                          <a:spcPct val="200000"/>
                        </a:lnSpc>
                        <a:buNone/>
                      </a:pPr>
                      <a:r>
                        <a:rPr lang="zh-TW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帶來 </a:t>
                      </a:r>
                      <a:r>
                        <a:rPr lang="en-US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____________ </a:t>
                      </a:r>
                      <a:r>
                        <a:rPr lang="zh-TW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 </a:t>
                      </a:r>
                      <a:r>
                        <a:rPr lang="en-US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____________</a:t>
                      </a:r>
                      <a:r>
                        <a:rPr lang="zh-TW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</a:p>
                    <a:p>
                      <a:pPr marL="302260" indent="-302260">
                        <a:lnSpc>
                          <a:spcPct val="200000"/>
                        </a:lnSpc>
                        <a:buNone/>
                      </a:pPr>
                      <a:r>
                        <a:rPr lang="en-US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_____________ </a:t>
                      </a:r>
                      <a:r>
                        <a:rPr lang="zh-TW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把妳染</a:t>
                      </a:r>
                      <a:r>
                        <a:rPr lang="en-US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____________</a:t>
                      </a:r>
                      <a:r>
                        <a:rPr lang="zh-TW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</a:t>
                      </a:r>
                    </a:p>
                    <a:p>
                      <a:pPr marL="302260" indent="-302260">
                        <a:lnSpc>
                          <a:spcPct val="200000"/>
                        </a:lnSpc>
                        <a:buNone/>
                      </a:pPr>
                      <a:r>
                        <a:rPr lang="en-US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________ </a:t>
                      </a:r>
                      <a:r>
                        <a:rPr lang="zh-TW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</a:t>
                      </a:r>
                      <a:r>
                        <a:rPr lang="en-US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________ </a:t>
                      </a:r>
                      <a:r>
                        <a:rPr lang="zh-TW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</a:t>
                      </a:r>
                      <a:r>
                        <a:rPr lang="en-US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________</a:t>
                      </a:r>
                      <a:r>
                        <a:rPr lang="zh-TW" sz="24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！</a:t>
                      </a:r>
                      <a:endParaRPr lang="zh-TW" sz="24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02260" indent="-302260">
                        <a:lnSpc>
                          <a:spcPct val="200000"/>
                        </a:lnSpc>
                        <a:buNone/>
                      </a:pP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靜靜的 </a:t>
                      </a:r>
                      <a:r>
                        <a:rPr lang="en-US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_______________</a:t>
                      </a: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</a:t>
                      </a:r>
                    </a:p>
                    <a:p>
                      <a:pPr marL="302260" indent="-302260">
                        <a:lnSpc>
                          <a:spcPct val="200000"/>
                        </a:lnSpc>
                        <a:buNone/>
                      </a:pP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從 </a:t>
                      </a:r>
                      <a:r>
                        <a:rPr lang="en-US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_______________ </a:t>
                      </a: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流過，</a:t>
                      </a:r>
                    </a:p>
                    <a:p>
                      <a:pPr marL="302260" indent="-302260">
                        <a:lnSpc>
                          <a:spcPct val="200000"/>
                        </a:lnSpc>
                        <a:buNone/>
                      </a:pP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帶來 </a:t>
                      </a:r>
                      <a:r>
                        <a:rPr lang="en-US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____________ </a:t>
                      </a: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 </a:t>
                      </a:r>
                      <a:r>
                        <a:rPr lang="en-US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____________</a:t>
                      </a: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</a:p>
                    <a:p>
                      <a:pPr marL="302260" indent="-302260">
                        <a:lnSpc>
                          <a:spcPct val="200000"/>
                        </a:lnSpc>
                        <a:buNone/>
                      </a:pPr>
                      <a:r>
                        <a:rPr lang="en-US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_____________ </a:t>
                      </a: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把妳染</a:t>
                      </a:r>
                      <a:r>
                        <a:rPr lang="en-US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____________</a:t>
                      </a: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</a:t>
                      </a:r>
                    </a:p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________ </a:t>
                      </a: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</a:t>
                      </a:r>
                      <a:r>
                        <a:rPr lang="en-US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________ </a:t>
                      </a: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</a:t>
                      </a:r>
                      <a:r>
                        <a:rPr lang="en-US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________</a:t>
                      </a:r>
                      <a:r>
                        <a:rPr lang="zh-TW" sz="24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！</a:t>
                      </a:r>
                      <a:endParaRPr lang="zh-TW" sz="24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800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8491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DD5D1-C161-FAA9-491C-DE92A490F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28CA525-C5D7-2E0E-7651-42BC3D4D766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3DA3280-435E-0A8A-C811-90B171461FBF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412565D-F773-FBAF-7B89-2D0EFDD7EDCF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CB78AF3-DA65-8325-AC59-0EFF77A9B317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3117A75-0744-6540-8AFE-17AE299FFCBA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EEA17B5-ED73-9F89-7C3E-53C6E421CA9C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800C747-A8DE-780F-561D-4F6B37C7C32E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94136F9-BDF4-BC62-FA2E-7197574DE3FC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4F1510F2-09AF-598C-5961-1DEF7B746B3F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18CCD2E-75D3-0E75-A8E1-2E9A9091B779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DF316E52-0ECB-5A4A-2367-0F0FD52CA017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CCD6C189-F56F-6468-6028-5BD4145E16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B3806401-814A-E282-2C2F-5CFDC8465CE2}"/>
              </a:ext>
            </a:extLst>
          </p:cNvPr>
          <p:cNvSpPr/>
          <p:nvPr/>
        </p:nvSpPr>
        <p:spPr>
          <a:xfrm>
            <a:off x="2218859" y="1183772"/>
            <a:ext cx="15160598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	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承接上題，請把自己寫的這首詩畫出來，並塗上顏色喔。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686F7C-90FB-3565-5B2B-A16FE30B50AC}"/>
              </a:ext>
            </a:extLst>
          </p:cNvPr>
          <p:cNvSpPr/>
          <p:nvPr/>
        </p:nvSpPr>
        <p:spPr>
          <a:xfrm>
            <a:off x="14630400" y="1409700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學生自行作答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C3F61D2A-20FB-9E61-4BFF-B0B951AD6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347885"/>
              </p:ext>
            </p:extLst>
          </p:nvPr>
        </p:nvGraphicFramePr>
        <p:xfrm>
          <a:off x="2218859" y="2359286"/>
          <a:ext cx="14543142" cy="66659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43142">
                  <a:extLst>
                    <a:ext uri="{9D8B030D-6E8A-4147-A177-3AD203B41FA5}">
                      <a16:colId xmlns:a16="http://schemas.microsoft.com/office/drawing/2014/main" val="3164843311"/>
                    </a:ext>
                  </a:extLst>
                </a:gridCol>
              </a:tblGrid>
              <a:tr h="666594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555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6971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5029200" y="4223193"/>
            <a:ext cx="933606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本課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MAPS</a:t>
            </a: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提問單學習完畢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!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077200" y="5372197"/>
            <a:ext cx="568671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下課啦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!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334" y="6745624"/>
            <a:ext cx="2530339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9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1473</TotalTime>
  <Words>766</Words>
  <Application>Microsoft Macintosh PowerPoint</Application>
  <PresentationFormat>自訂</PresentationFormat>
  <Paragraphs>218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21" baseType="lpstr">
      <vt:lpstr>Aptos</vt:lpstr>
      <vt:lpstr>華康新綜藝體</vt:lpstr>
      <vt:lpstr>微軟正黑體</vt:lpstr>
      <vt:lpstr>Arial</vt:lpstr>
      <vt:lpstr>AR ZhuYinEX Md</vt:lpstr>
      <vt:lpstr>微軟正黑體</vt:lpstr>
      <vt:lpstr>標楷體</vt:lpstr>
      <vt:lpstr>Calibri</vt:lpstr>
      <vt:lpstr>華康中圓體(P)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Orange Playful Illustration Memory Game Presentation</dc:title>
  <dc:creator>趙曼貽</dc:creator>
  <cp:lastModifiedBy>綺雯 林</cp:lastModifiedBy>
  <cp:revision>132</cp:revision>
  <dcterms:created xsi:type="dcterms:W3CDTF">2006-08-16T00:00:00Z</dcterms:created>
  <dcterms:modified xsi:type="dcterms:W3CDTF">2025-09-21T14:19:38Z</dcterms:modified>
  <dc:identifier>DAGOioWnJWE</dc:identifier>
</cp:coreProperties>
</file>