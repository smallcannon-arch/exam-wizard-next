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96" r:id="rId4"/>
    <p:sldId id="270" r:id="rId5"/>
    <p:sldId id="316" r:id="rId6"/>
    <p:sldId id="272" r:id="rId7"/>
    <p:sldId id="286" r:id="rId8"/>
    <p:sldId id="311" r:id="rId9"/>
    <p:sldId id="326" r:id="rId10"/>
    <p:sldId id="325" r:id="rId11"/>
    <p:sldId id="328" r:id="rId12"/>
    <p:sldId id="327" r:id="rId13"/>
    <p:sldId id="329" r:id="rId14"/>
    <p:sldId id="330" r:id="rId15"/>
    <p:sldId id="331" r:id="rId16"/>
    <p:sldId id="279" r:id="rId17"/>
    <p:sldId id="295" r:id="rId18"/>
  </p:sldIdLst>
  <p:sldSz cx="18288000" cy="10287000"/>
  <p:notesSz cx="6858000" cy="9144000"/>
  <p:embeddedFontLst>
    <p:embeddedFont>
      <p:font typeface="華康新綜藝體" panose="02010609000101010101" pitchFamily="49" charset="0"/>
      <p:regular r:id="rId20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微軟正黑體" panose="020B0604030504040204" pitchFamily="34" charset="-120"/>
      <p:regular r:id="rId21"/>
      <p:bold r:id="rId22"/>
    </p:embeddedFont>
    <p:embeddedFont>
      <p:font typeface="標楷體" panose="03000509000000000000" pitchFamily="49" charset="-120"/>
      <p:regular r:id="rId23"/>
    </p:embeddedFont>
    <p:embeddedFont>
      <p:font typeface="標楷體" panose="03000509000000000000" pitchFamily="49" charset="-12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0" autoAdjust="0"/>
    <p:restoredTop sz="94035" autoAdjust="0"/>
  </p:normalViewPr>
  <p:slideViewPr>
    <p:cSldViewPr>
      <p:cViewPr varScale="1">
        <p:scale>
          <a:sx n="45" d="100"/>
          <a:sy n="45" d="100"/>
        </p:scale>
        <p:origin x="216" y="1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3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5638800" y="6929951"/>
            <a:ext cx="7470246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5860299" y="7562666"/>
            <a:ext cx="7248747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十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飛行員和小王子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3590"/>
              </p:ext>
            </p:extLst>
          </p:nvPr>
        </p:nvGraphicFramePr>
        <p:xfrm>
          <a:off x="1854873" y="3470831"/>
          <a:ext cx="7593927" cy="5193518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kern="100" dirty="0">
                          <a:effectLst/>
                          <a:latin typeface="標楷體" panose="03000509000000000000" pitchFamily="49" charset="-120"/>
                          <a:ea typeface="+mn-ea"/>
                          <a:cs typeface="標楷體" panose="03000509000000000000" pitchFamily="49" charset="-120"/>
                        </a:rPr>
                        <a:t>1</a:t>
                      </a:r>
                      <a:endParaRPr lang="zh-TW" altLang="zh-TW" sz="2800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隕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勛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福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幅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956054"/>
              </p:ext>
            </p:extLst>
          </p:nvPr>
        </p:nvGraphicFramePr>
        <p:xfrm>
          <a:off x="40868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元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人員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54088"/>
              </p:ext>
            </p:extLst>
          </p:nvPr>
        </p:nvGraphicFramePr>
        <p:xfrm>
          <a:off x="4086821" y="454563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殞命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35816"/>
              </p:ext>
            </p:extLst>
          </p:nvPr>
        </p:nvGraphicFramePr>
        <p:xfrm>
          <a:off x="4086821" y="52183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允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隕落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19690"/>
              </p:ext>
            </p:extLst>
          </p:nvPr>
        </p:nvGraphicFramePr>
        <p:xfrm>
          <a:off x="4086821" y="59041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勳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功勛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0587"/>
              </p:ext>
            </p:extLst>
          </p:nvPr>
        </p:nvGraphicFramePr>
        <p:xfrm>
          <a:off x="4086821" y="659522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福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幸福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04292"/>
              </p:ext>
            </p:extLst>
          </p:nvPr>
        </p:nvGraphicFramePr>
        <p:xfrm>
          <a:off x="4086821" y="727842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福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幅員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86969"/>
              </p:ext>
            </p:extLst>
          </p:nvPr>
        </p:nvGraphicFramePr>
        <p:xfrm>
          <a:off x="9753303" y="3475305"/>
          <a:ext cx="7221158" cy="5130660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圖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圓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5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083547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橙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證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澄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607563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33839"/>
              </p:ext>
            </p:extLst>
          </p:nvPr>
        </p:nvGraphicFramePr>
        <p:xfrm>
          <a:off x="11758044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圖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圖案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948674"/>
              </p:ext>
            </p:extLst>
          </p:nvPr>
        </p:nvGraphicFramePr>
        <p:xfrm>
          <a:off x="11758044" y="450784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元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圓圈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95617"/>
              </p:ext>
            </p:extLst>
          </p:nvPr>
        </p:nvGraphicFramePr>
        <p:xfrm>
          <a:off x="11758044" y="5182313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鄧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乾瞪眼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900490"/>
              </p:ext>
            </p:extLst>
          </p:nvPr>
        </p:nvGraphicFramePr>
        <p:xfrm>
          <a:off x="11758044" y="585678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柳橙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691945"/>
              </p:ext>
            </p:extLst>
          </p:nvPr>
        </p:nvGraphicFramePr>
        <p:xfrm>
          <a:off x="11776182" y="6531257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鄧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蹭蹬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F57AEF7-1ED3-4F01-1FB4-9AABDA10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287796"/>
              </p:ext>
            </p:extLst>
          </p:nvPr>
        </p:nvGraphicFramePr>
        <p:xfrm>
          <a:off x="4086821" y="796161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福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蝙蝠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1984CE7-2B05-57BB-6BD6-D1FE1C0EA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129432"/>
              </p:ext>
            </p:extLst>
          </p:nvPr>
        </p:nvGraphicFramePr>
        <p:xfrm>
          <a:off x="11776182" y="7205730"/>
          <a:ext cx="519828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證明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6E7477D5-431F-DCA6-7CD8-A95A77FC3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834504"/>
              </p:ext>
            </p:extLst>
          </p:nvPr>
        </p:nvGraphicFramePr>
        <p:xfrm>
          <a:off x="11780660" y="790755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成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澄清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45962" y="57729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56328"/>
              </p:ext>
            </p:extLst>
          </p:nvPr>
        </p:nvGraphicFramePr>
        <p:xfrm>
          <a:off x="1807742" y="2705080"/>
          <a:ext cx="7593927" cy="588714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kern="100" dirty="0">
                          <a:effectLst/>
                          <a:latin typeface="標楷體" panose="03000509000000000000" pitchFamily="49" charset="-120"/>
                          <a:ea typeface="+mn-ea"/>
                          <a:cs typeface="標楷體" panose="03000509000000000000" pitchFamily="49" charset="-120"/>
                        </a:rPr>
                        <a:t>5</a:t>
                      </a:r>
                      <a:endParaRPr lang="zh-TW" altLang="zh-TW" sz="2800" kern="100" dirty="0">
                        <a:effectLst/>
                        <a:latin typeface="Aptos" panose="020B00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輝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揮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渾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91952"/>
                  </a:ext>
                </a:extLst>
              </a:tr>
              <a:tr h="693624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瞧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3418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焦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7916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礁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蕉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樵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75525"/>
              </p:ext>
            </p:extLst>
          </p:nvPr>
        </p:nvGraphicFramePr>
        <p:xfrm>
          <a:off x="4039690" y="2945862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輝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光輝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4A13360-000E-2D07-7B11-988AA1F4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02883"/>
              </p:ext>
            </p:extLst>
          </p:nvPr>
        </p:nvGraphicFramePr>
        <p:xfrm>
          <a:off x="4039690" y="377927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輝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揮手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61021"/>
              </p:ext>
            </p:extLst>
          </p:nvPr>
        </p:nvGraphicFramePr>
        <p:xfrm>
          <a:off x="4039690" y="446185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魂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渾水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54408"/>
              </p:ext>
            </p:extLst>
          </p:nvPr>
        </p:nvGraphicFramePr>
        <p:xfrm>
          <a:off x="4039690" y="5144438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瞧見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FA2BC7BD-E202-C91A-95C7-BB939FFB5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74484"/>
              </p:ext>
            </p:extLst>
          </p:nvPr>
        </p:nvGraphicFramePr>
        <p:xfrm>
          <a:off x="4039690" y="582701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交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燒焦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5223EEBE-066C-CC7C-F899-5CED7F525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619707"/>
              </p:ext>
            </p:extLst>
          </p:nvPr>
        </p:nvGraphicFramePr>
        <p:xfrm>
          <a:off x="4039689" y="651740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交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珊瑚礁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8BB11739-ED03-C698-89C3-E14EC28D3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823985"/>
              </p:ext>
            </p:extLst>
          </p:nvPr>
        </p:nvGraphicFramePr>
        <p:xfrm>
          <a:off x="4039689" y="719998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交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香蕉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5A2C4BB9-5D63-458A-E7CC-87560A755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303871"/>
              </p:ext>
            </p:extLst>
          </p:nvPr>
        </p:nvGraphicFramePr>
        <p:xfrm>
          <a:off x="4039689" y="788256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樵夫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E3ACC9A-6F20-B200-4048-CCF24EB3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83733"/>
              </p:ext>
            </p:extLst>
          </p:nvPr>
        </p:nvGraphicFramePr>
        <p:xfrm>
          <a:off x="9549622" y="2714164"/>
          <a:ext cx="7593927" cy="4475510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kumimoji="0" lang="zh-TW" altLang="zh-TW" sz="2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豎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堅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監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91952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kumimoji="0" lang="zh-TW" altLang="zh-TW" sz="28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姆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3418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拇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7916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母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A2D0F39A-4283-623A-041E-7B8F8B964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615983"/>
              </p:ext>
            </p:extLst>
          </p:nvPr>
        </p:nvGraphicFramePr>
        <p:xfrm>
          <a:off x="11781570" y="2954946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Times New Roman" panose="02020603050405020304" pitchFamily="18" charset="0"/>
                        </a:rPr>
                        <a:t>豎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豎琴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8A6203CC-AEE2-B429-A31C-FC63F050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678596"/>
              </p:ext>
            </p:extLst>
          </p:nvPr>
        </p:nvGraphicFramePr>
        <p:xfrm>
          <a:off x="11781570" y="3695700"/>
          <a:ext cx="5361978" cy="779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977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間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堅強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69E72728-5A23-FE19-5785-92E18D40C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57980"/>
              </p:ext>
            </p:extLst>
          </p:nvPr>
        </p:nvGraphicFramePr>
        <p:xfrm>
          <a:off x="11781570" y="4470940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間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監獄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16C056E-1E5F-FD02-A528-4FFFD96E7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80747"/>
              </p:ext>
            </p:extLst>
          </p:nvPr>
        </p:nvGraphicFramePr>
        <p:xfrm>
          <a:off x="11781570" y="515352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母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保姆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9B8F108F-6AAF-622C-BAB4-D1452009C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340636"/>
              </p:ext>
            </p:extLst>
          </p:nvPr>
        </p:nvGraphicFramePr>
        <p:xfrm>
          <a:off x="11781570" y="583610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母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拇指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8EEDB611-5EDD-B3AF-969D-7DD140B37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914188"/>
              </p:ext>
            </p:extLst>
          </p:nvPr>
        </p:nvGraphicFramePr>
        <p:xfrm>
          <a:off x="11781569" y="652648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母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母親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二、短語、造句練習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10373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一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吞了大象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蛇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FFD886-A0F5-273C-4A5C-F698C39A8E98}"/>
              </a:ext>
            </a:extLst>
          </p:cNvPr>
          <p:cNvSpPr/>
          <p:nvPr/>
        </p:nvSpPr>
        <p:spPr>
          <a:xfrm>
            <a:off x="2425083" y="5270784"/>
            <a:ext cx="4841390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瞧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了又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瞧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。</a:t>
            </a:r>
            <a:endParaRPr lang="zh-TW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9A1A05-A313-504B-79CF-1454333A3EFB}"/>
              </a:ext>
            </a:extLst>
          </p:cNvPr>
          <p:cNvSpPr/>
          <p:nvPr/>
        </p:nvSpPr>
        <p:spPr>
          <a:xfrm>
            <a:off x="2919863" y="4158007"/>
            <a:ext cx="999496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4B6713-D9EC-E6F5-5701-5FC6944DF2C1}"/>
              </a:ext>
            </a:extLst>
          </p:cNvPr>
          <p:cNvSpPr/>
          <p:nvPr/>
        </p:nvSpPr>
        <p:spPr>
          <a:xfrm>
            <a:off x="2917651" y="6092290"/>
            <a:ext cx="10491337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了又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2AFEF2-C99B-D596-02C1-8C21C9EB057C}"/>
              </a:ext>
            </a:extLst>
          </p:cNvPr>
          <p:cNvSpPr/>
          <p:nvPr/>
        </p:nvSpPr>
        <p:spPr>
          <a:xfrm>
            <a:off x="3204288" y="6120827"/>
            <a:ext cx="2184166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吃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60334" y="4171706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隻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190A8C-CCCA-EB77-49F6-4C62B456BCBD}"/>
              </a:ext>
            </a:extLst>
          </p:cNvPr>
          <p:cNvSpPr/>
          <p:nvPr/>
        </p:nvSpPr>
        <p:spPr>
          <a:xfrm>
            <a:off x="5471572" y="4193137"/>
            <a:ext cx="1637808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叼著魚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1E57DD-82EE-2039-9EE0-3570F2E52143}"/>
              </a:ext>
            </a:extLst>
          </p:cNvPr>
          <p:cNvSpPr/>
          <p:nvPr/>
        </p:nvSpPr>
        <p:spPr>
          <a:xfrm>
            <a:off x="8312156" y="4167991"/>
            <a:ext cx="1279199" cy="821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老鷹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4827BD-FC4C-2495-10AE-8D3021AFE040}"/>
              </a:ext>
            </a:extLst>
          </p:cNvPr>
          <p:cNvSpPr/>
          <p:nvPr/>
        </p:nvSpPr>
        <p:spPr>
          <a:xfrm>
            <a:off x="5555784" y="6104278"/>
            <a:ext cx="2184166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吃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87AF18-EAD6-78EF-24A2-A6CAC084B414}"/>
              </a:ext>
            </a:extLst>
          </p:cNvPr>
          <p:cNvSpPr/>
          <p:nvPr/>
        </p:nvSpPr>
        <p:spPr>
          <a:xfrm>
            <a:off x="2427690" y="7213514"/>
            <a:ext cx="6761787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因果複句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既然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就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0B5F8EB-6202-C851-50E0-ECC7811BC387}"/>
              </a:ext>
            </a:extLst>
          </p:cNvPr>
          <p:cNvCxnSpPr/>
          <p:nvPr/>
        </p:nvCxnSpPr>
        <p:spPr>
          <a:xfrm>
            <a:off x="2552700" y="8919072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7D8F01C-8295-FA0B-298F-085720D09061}"/>
              </a:ext>
            </a:extLst>
          </p:cNvPr>
          <p:cNvSpPr/>
          <p:nvPr/>
        </p:nvSpPr>
        <p:spPr>
          <a:xfrm>
            <a:off x="2552700" y="8267700"/>
            <a:ext cx="757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你既然不想參加這次聚會，那就別去了。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  <p:bldP spid="17" grpId="0"/>
      <p:bldP spid="9" grpId="0"/>
      <p:bldP spid="13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A3C9-8F89-8386-71FA-81E3D9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6CE89A-72F3-95A4-56E2-EA8282CD9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405C6E-E157-EBBF-B868-AABA2068074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F7C02D-E87A-ACC5-A12B-720B29EA946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064B56-B3BE-3256-CCBA-8D9F68FF500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13ACC72-7952-8168-BF8F-E562CB27B7C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A8C4A7-BE27-4476-F9BF-E6D66F73F94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75ACB7-D50C-B435-5D90-D14BB6301E6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FC4872-98EE-B055-AC7B-D079BE2F80A6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8C1C258-7386-8B97-462D-CA6D22B0D9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CC52BD6-9344-E0A3-0F4E-9A0048A42B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39CDB322-2A96-5964-3745-259CDA96ABF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DBE1789-177D-A11F-FC1A-CA9076B8743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BCF81B2B-4B79-7D92-1877-C8BC25A4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DC7BC6-EBCD-228A-3B5E-548BFE8AF93A}"/>
              </a:ext>
            </a:extLst>
          </p:cNvPr>
          <p:cNvSpPr/>
          <p:nvPr/>
        </p:nvSpPr>
        <p:spPr>
          <a:xfrm>
            <a:off x="2444844" y="2477223"/>
            <a:ext cx="13709556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B612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號小行星是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法國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小說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》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中的虛構小行星，在小說中這顆小行星於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1909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年被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土耳其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天文學家發現，它面積很小，你覺得這一顆小星球上可能會有什麼東西呢？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:a16="http://schemas.microsoft.com/office/drawing/2014/main" id="{C0FC8543-3436-A01E-748F-68B1C9C12DE6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8D50564C-1284-8A6F-6976-5F819DBF9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30680AC-2EBF-BC44-46D8-49E5BAC71E4B}"/>
              </a:ext>
            </a:extLst>
          </p:cNvPr>
          <p:cNvCxnSpPr>
            <a:cxnSpLocks/>
          </p:cNvCxnSpPr>
          <p:nvPr/>
        </p:nvCxnSpPr>
        <p:spPr>
          <a:xfrm>
            <a:off x="2444844" y="5720285"/>
            <a:ext cx="137095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0FB80F7-90C0-C7E6-FE42-0F10F70FC65F}"/>
              </a:ext>
            </a:extLst>
          </p:cNvPr>
          <p:cNvSpPr/>
          <p:nvPr/>
        </p:nvSpPr>
        <p:spPr>
          <a:xfrm>
            <a:off x="2444844" y="5068913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44E68C-BA1B-FCAE-DE89-1385C08C6235}"/>
              </a:ext>
            </a:extLst>
          </p:cNvPr>
          <p:cNvSpPr/>
          <p:nvPr/>
        </p:nvSpPr>
        <p:spPr>
          <a:xfrm>
            <a:off x="2444844" y="6324363"/>
            <a:ext cx="144772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如果你有機會遇見一位來自其他星球的朋友，你會問他什麼問題？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C31BA20-0075-D397-DD95-22DA37FF4F01}"/>
              </a:ext>
            </a:extLst>
          </p:cNvPr>
          <p:cNvCxnSpPr>
            <a:cxnSpLocks/>
          </p:cNvCxnSpPr>
          <p:nvPr/>
        </p:nvCxnSpPr>
        <p:spPr>
          <a:xfrm>
            <a:off x="2444844" y="8039100"/>
            <a:ext cx="137095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FC74084-4899-6B58-5057-F8B104A0D331}"/>
              </a:ext>
            </a:extLst>
          </p:cNvPr>
          <p:cNvSpPr/>
          <p:nvPr/>
        </p:nvSpPr>
        <p:spPr>
          <a:xfrm>
            <a:off x="2444844" y="7387728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47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330346"/>
            <a:ext cx="14266032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飛行員與小王子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是一篇劇本形式的應用文。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891FD8-2AC8-4720-5FD1-FF34E147C95B}"/>
              </a:ext>
            </a:extLst>
          </p:cNvPr>
          <p:cNvSpPr/>
          <p:nvPr/>
        </p:nvSpPr>
        <p:spPr>
          <a:xfrm>
            <a:off x="4444177" y="4513952"/>
            <a:ext cx="1551144" cy="593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871716-7F38-FBC8-6528-59D618B02E80}"/>
              </a:ext>
            </a:extLst>
          </p:cNvPr>
          <p:cNvSpPr/>
          <p:nvPr/>
        </p:nvSpPr>
        <p:spPr>
          <a:xfrm>
            <a:off x="6474584" y="4152900"/>
            <a:ext cx="2288416" cy="1236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1D997C-3E63-E059-6FC9-A6F79EDEDB4C}"/>
              </a:ext>
            </a:extLst>
          </p:cNvPr>
          <p:cNvSpPr/>
          <p:nvPr/>
        </p:nvSpPr>
        <p:spPr>
          <a:xfrm>
            <a:off x="9086576" y="4513952"/>
            <a:ext cx="2114824" cy="593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C1F560A-FF99-0211-08D1-1B47D7F3ABEC}"/>
              </a:ext>
            </a:extLst>
          </p:cNvPr>
          <p:cNvSpPr txBox="1"/>
          <p:nvPr/>
        </p:nvSpPr>
        <p:spPr>
          <a:xfrm>
            <a:off x="7291638" y="4213338"/>
            <a:ext cx="10646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200" b="1" kern="100" dirty="0">
                <a:solidFill>
                  <a:srgbClr val="FF0000"/>
                </a:solidFill>
                <a:effectLst/>
                <a:latin typeface="DFKai-SB" panose="03000509000000000000" pitchFamily="49" charset="-120"/>
                <a:ea typeface="DFKai-SB" panose="03000509000000000000" pitchFamily="49" charset="-120"/>
                <a:cs typeface="標楷體" panose="03000509000000000000" pitchFamily="49" charset="-120"/>
              </a:rPr>
              <a:t>帽子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840A29-7EA8-1D3D-4288-CB41ADE4F0F7}"/>
              </a:ext>
            </a:extLst>
          </p:cNvPr>
          <p:cNvSpPr/>
          <p:nvPr/>
        </p:nvSpPr>
        <p:spPr>
          <a:xfrm>
            <a:off x="11555055" y="4500399"/>
            <a:ext cx="2114824" cy="593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4EA11C-7CBE-898D-4C08-8815005049D4}"/>
              </a:ext>
            </a:extLst>
          </p:cNvPr>
          <p:cNvSpPr/>
          <p:nvPr/>
        </p:nvSpPr>
        <p:spPr>
          <a:xfrm>
            <a:off x="14039576" y="4505726"/>
            <a:ext cx="2114824" cy="593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ADE8FB10-C963-C3AE-E449-6CC2F2282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648123"/>
              </p:ext>
            </p:extLst>
          </p:nvPr>
        </p:nvGraphicFramePr>
        <p:xfrm>
          <a:off x="2092323" y="3800542"/>
          <a:ext cx="14266032" cy="3928972"/>
        </p:xfrm>
        <a:graphic>
          <a:graphicData uri="http://schemas.openxmlformats.org/drawingml/2006/table">
            <a:tbl>
              <a:tblPr bandRow="1"/>
              <a:tblGrid>
                <a:gridCol w="1793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4431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  <a:gridCol w="2494431">
                  <a:extLst>
                    <a:ext uri="{9D8B030D-6E8A-4147-A177-3AD203B41FA5}">
                      <a16:colId xmlns:a16="http://schemas.microsoft.com/office/drawing/2014/main" val="2659113976"/>
                    </a:ext>
                  </a:extLst>
                </a:gridCol>
                <a:gridCol w="2494431">
                  <a:extLst>
                    <a:ext uri="{9D8B030D-6E8A-4147-A177-3AD203B41FA5}">
                      <a16:colId xmlns:a16="http://schemas.microsoft.com/office/drawing/2014/main" val="110212984"/>
                    </a:ext>
                  </a:extLst>
                </a:gridCol>
              </a:tblGrid>
              <a:tr h="19644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背景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像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( </a:t>
                      </a:r>
                      <a:r>
                        <a:rPr lang="en-US" alt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     </a:t>
                      </a:r>
                      <a:r>
                        <a:rPr lang="en-US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 )</a:t>
                      </a: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的畫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飛行員畫羊</a:t>
                      </a:r>
                      <a:endParaRPr lang="zh-TW" sz="3200" kern="10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箱子裡的羊</a:t>
                      </a:r>
                      <a:endParaRPr lang="zh-TW" sz="3200" kern="10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  <a:cs typeface="標楷體" panose="03000509000000000000" pitchFamily="49" charset="-120"/>
                        </a:rPr>
                        <a:t>飛行員評價</a:t>
                      </a:r>
                      <a:endParaRPr lang="zh-TW" sz="32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4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32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3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44FC9C00-23C2-B4BC-1228-60469BEE0C11}"/>
              </a:ext>
            </a:extLst>
          </p:cNvPr>
          <p:cNvSpPr/>
          <p:nvPr/>
        </p:nvSpPr>
        <p:spPr>
          <a:xfrm>
            <a:off x="4862535" y="6286500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8BB0971-17F0-C3E9-B3E4-AEC53E15184C}"/>
              </a:ext>
            </a:extLst>
          </p:cNvPr>
          <p:cNvSpPr/>
          <p:nvPr/>
        </p:nvSpPr>
        <p:spPr>
          <a:xfrm>
            <a:off x="7401517" y="6286500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45FEE0-FD17-6367-B7A3-9712F8D3D495}"/>
              </a:ext>
            </a:extLst>
          </p:cNvPr>
          <p:cNvSpPr/>
          <p:nvPr/>
        </p:nvSpPr>
        <p:spPr>
          <a:xfrm>
            <a:off x="9940499" y="6286500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031420-E5A1-46DC-CFB4-206247C6523C}"/>
              </a:ext>
            </a:extLst>
          </p:cNvPr>
          <p:cNvSpPr/>
          <p:nvPr/>
        </p:nvSpPr>
        <p:spPr>
          <a:xfrm>
            <a:off x="12479481" y="6286500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1620ED-8E24-BB09-FC67-86EC9314AB23}"/>
              </a:ext>
            </a:extLst>
          </p:cNvPr>
          <p:cNvSpPr/>
          <p:nvPr/>
        </p:nvSpPr>
        <p:spPr>
          <a:xfrm>
            <a:off x="15018464" y="6286500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/>
      <p:bldP spid="5" grpId="0" animBg="1"/>
      <p:bldP spid="4" grpId="0" animBg="1"/>
      <p:bldP spid="10" grpId="0" animBg="1"/>
      <p:bldP spid="14" grpId="0"/>
      <p:bldP spid="23" grpId="0" animBg="1"/>
      <p:bldP spid="24" grpId="0" animBg="1"/>
      <p:bldP spid="27" grpId="0"/>
      <p:bldP spid="28" grpId="0"/>
      <p:bldP spid="29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270023" y="2375521"/>
            <a:ext cx="14178286" cy="6181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根據劇本的第一幕，故事中出現了哪些主要人物？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故事發生的地點在哪裡？</a:t>
            </a:r>
          </a:p>
          <a:p>
            <a:pPr>
              <a:lnSpc>
                <a:spcPct val="16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當飛行員畫出第一幅圖時，多數人是怎麼解讀的？</a:t>
            </a:r>
          </a:p>
          <a:p>
            <a:pPr>
              <a:lnSpc>
                <a:spcPct val="16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小王子的眼光和多數人不一樣，他是如何解讀這幅畫的？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Q2-3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這個吞了大象的蛇，在吞了大象之前還吞下什麼了呢？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C308B3D4-4025-70B0-A750-BDBDAFBC0E77}"/>
              </a:ext>
            </a:extLst>
          </p:cNvPr>
          <p:cNvSpPr/>
          <p:nvPr/>
        </p:nvSpPr>
        <p:spPr>
          <a:xfrm>
            <a:off x="12268200" y="2552700"/>
            <a:ext cx="982538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36C92F-B346-B123-CA29-E1166291043C}"/>
              </a:ext>
            </a:extLst>
          </p:cNvPr>
          <p:cNvSpPr/>
          <p:nvPr/>
        </p:nvSpPr>
        <p:spPr>
          <a:xfrm>
            <a:off x="5856458" y="4292289"/>
            <a:ext cx="982538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64F28A-A32B-44A7-A82A-2FBEED5079C2}"/>
              </a:ext>
            </a:extLst>
          </p:cNvPr>
          <p:cNvSpPr/>
          <p:nvPr/>
        </p:nvSpPr>
        <p:spPr>
          <a:xfrm>
            <a:off x="9047784" y="5171401"/>
            <a:ext cx="1391615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4F6FDA-05F9-9C89-1838-D5C731903F68}"/>
              </a:ext>
            </a:extLst>
          </p:cNvPr>
          <p:cNvSpPr/>
          <p:nvPr/>
        </p:nvSpPr>
        <p:spPr>
          <a:xfrm>
            <a:off x="3551759" y="6057900"/>
            <a:ext cx="1391615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14A5F0F-ADA8-FA28-B436-5B9B3856781F}"/>
              </a:ext>
            </a:extLst>
          </p:cNvPr>
          <p:cNvSpPr txBox="1"/>
          <p:nvPr/>
        </p:nvSpPr>
        <p:spPr>
          <a:xfrm>
            <a:off x="3449013" y="3139570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飛行員、小王子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BE28E13-02EF-967F-A465-F19E9948F848}"/>
              </a:ext>
            </a:extLst>
          </p:cNvPr>
          <p:cNvSpPr txBox="1"/>
          <p:nvPr/>
        </p:nvSpPr>
        <p:spPr>
          <a:xfrm>
            <a:off x="8705755" y="4134548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撒哈拉沙漠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55C60EE-0BAA-F32E-E50F-421BF894B0DA}"/>
              </a:ext>
            </a:extLst>
          </p:cNvPr>
          <p:cNvSpPr txBox="1"/>
          <p:nvPr/>
        </p:nvSpPr>
        <p:spPr>
          <a:xfrm>
            <a:off x="13792200" y="5010685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一頂帽子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DF6B027-EDD1-1B8F-75A0-1FB1B232586B}"/>
              </a:ext>
            </a:extLst>
          </p:cNvPr>
          <p:cNvSpPr txBox="1"/>
          <p:nvPr/>
        </p:nvSpPr>
        <p:spPr>
          <a:xfrm>
            <a:off x="3551759" y="6839969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吞了大象的蛇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C5EEBD4-5EAE-8A80-0CB5-59EC848D6FED}"/>
              </a:ext>
            </a:extLst>
          </p:cNvPr>
          <p:cNvSpPr txBox="1"/>
          <p:nvPr/>
        </p:nvSpPr>
        <p:spPr>
          <a:xfrm>
            <a:off x="14677040" y="7649819"/>
            <a:ext cx="2688858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大鯨魚</a:t>
            </a: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44" grpId="0" animBg="1"/>
      <p:bldP spid="23" grpId="0" animBg="1"/>
      <p:bldP spid="24" grpId="0" animBg="1"/>
      <p:bldP spid="25" grpId="0" animBg="1"/>
      <p:bldP spid="27" grpId="0"/>
      <p:bldP spid="29" grpId="0"/>
      <p:bldP spid="30" grpId="0"/>
      <p:bldP spid="31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2C2D-EB00-6E32-E4EB-4FE3EADD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B42D53F-B6D3-BB9D-4FBC-14EB7853465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604A3D-70AE-8B33-4546-07DFA61C96B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276247-AC2D-16EF-5E75-74607DE08C92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CF48AB2-42A2-99D0-7A3B-4BEA697803A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3B7FB2B-C835-B3A7-2275-4B6635571D8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FFE73C1-AA6F-0707-055C-9AF2FD235D1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ABBAB45-D69F-1201-A98B-29F2885B4C1B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E5B561C6-F85F-EC65-3B91-5F3F77002035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29B1C03-07A7-5816-9B6E-719500FB13B9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7207937-2922-F57E-E94E-A8935CB97E32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833610B1-7F8B-EE96-F0E1-E52A495470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8890826-19AA-0C2B-C976-67BE9587BBD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964AEBE8-3D79-AC90-C5F1-1819CD05148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9E8477B-041A-F489-CF1B-C98FCCAAF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043720-7628-F36E-121F-5C970DFA31B4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4DD75F-955C-EA72-1B67-3F158558F779}"/>
              </a:ext>
            </a:extLst>
          </p:cNvPr>
          <p:cNvSpPr/>
          <p:nvPr/>
        </p:nvSpPr>
        <p:spPr>
          <a:xfrm>
            <a:off x="2223962" y="2559325"/>
            <a:ext cx="14538039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飛行員總共畫了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次羊，小王子每次的反應都不太相同，請紀錄在表格裡。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554C4B42-E291-721F-B8BC-9D1008251C82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1231AEDE-B19E-93DC-DD38-64D983C4B9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77E1D79-C779-345C-13E6-8EBD3E663637}"/>
              </a:ext>
            </a:extLst>
          </p:cNvPr>
          <p:cNvSpPr/>
          <p:nvPr/>
        </p:nvSpPr>
        <p:spPr>
          <a:xfrm>
            <a:off x="6670011" y="2525160"/>
            <a:ext cx="5596246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endParaRPr lang="zh-TW" altLang="zh-TW" sz="3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B45B0E59-2A32-FA76-7DC7-F2FFBECC5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27212"/>
              </p:ext>
            </p:extLst>
          </p:nvPr>
        </p:nvGraphicFramePr>
        <p:xfrm>
          <a:off x="2223962" y="4452612"/>
          <a:ext cx="14795554" cy="3281688"/>
        </p:xfrm>
        <a:graphic>
          <a:graphicData uri="http://schemas.openxmlformats.org/drawingml/2006/table">
            <a:tbl>
              <a:tblPr bandRow="1"/>
              <a:tblGrid>
                <a:gridCol w="166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3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3329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  <a:gridCol w="3283329">
                  <a:extLst>
                    <a:ext uri="{9D8B030D-6E8A-4147-A177-3AD203B41FA5}">
                      <a16:colId xmlns:a16="http://schemas.microsoft.com/office/drawing/2014/main" val="2659113976"/>
                    </a:ext>
                  </a:extLst>
                </a:gridCol>
              </a:tblGrid>
              <a:tr h="13172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次數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第一次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第二次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第三次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第四次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小王子</a:t>
                      </a:r>
                      <a:endParaRPr lang="en-US" altLang="zh-TW" sz="3200" kern="100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反應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這隻太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這是一隻</a:t>
                      </a:r>
                    </a:p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這隻羊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一個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814A959E-BE6A-FABE-A0CE-967481677858}"/>
              </a:ext>
            </a:extLst>
          </p:cNvPr>
          <p:cNvSpPr/>
          <p:nvPr/>
        </p:nvSpPr>
        <p:spPr>
          <a:xfrm>
            <a:off x="5638800" y="6284582"/>
            <a:ext cx="8290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老</a:t>
            </a:r>
            <a:endParaRPr lang="zh-TW" altLang="zh-TW" sz="3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E71E8E5-7AD1-48BF-53BD-34A7461BE49F}"/>
              </a:ext>
            </a:extLst>
          </p:cNvPr>
          <p:cNvSpPr/>
          <p:nvPr/>
        </p:nvSpPr>
        <p:spPr>
          <a:xfrm>
            <a:off x="7696014" y="6577960"/>
            <a:ext cx="5637612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長大的公羊 </a:t>
            </a:r>
            <a:endParaRPr lang="zh-TW" altLang="zh-TW" sz="3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0EF9BF-7C08-82B5-F8D8-1CE7CDA9932C}"/>
              </a:ext>
            </a:extLst>
          </p:cNvPr>
          <p:cNvSpPr/>
          <p:nvPr/>
        </p:nvSpPr>
        <p:spPr>
          <a:xfrm>
            <a:off x="15011400" y="6323168"/>
            <a:ext cx="401665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寵物箱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813C2FE-68E0-BF3A-326C-6502EEB60C35}"/>
              </a:ext>
            </a:extLst>
          </p:cNvPr>
          <p:cNvSpPr/>
          <p:nvPr/>
        </p:nvSpPr>
        <p:spPr>
          <a:xfrm>
            <a:off x="11963400" y="6254670"/>
            <a:ext cx="401665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2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生病</a:t>
            </a:r>
            <a:endParaRPr lang="zh-TW" altLang="zh-TW" sz="32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483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1" grpId="0"/>
      <p:bldP spid="42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34AD-D355-EF0B-2F01-E10A4FA5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D0FC39C-7500-E88E-1DB5-E32FC1529DCC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D89513-7BDF-B795-902D-63E5E1526F20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3292B7-1415-87D0-293C-4D2E2D3DE5D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83FD813-3C91-F2A0-D4C3-94BDC84188C3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3FABEB7-158B-6863-6F26-61C05B1B29A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5E9EA68-3173-B8ED-BF97-2F51168A15F0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E5F58ED-8892-1F1A-7E66-D555ABE8777E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F5398AC7-32BF-756F-A8E5-9BADDFA00084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BE9AA6D9-268E-907D-1992-F79D9D18C7CF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8D73A396-4706-14B9-D3F0-7AC1E86FACE0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7A25B346-FD3D-5324-9B60-7F67CB7E0D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B29C83C-F668-AF57-1431-E285E91D3761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98B855F7-A5CB-1801-9BE0-B110BDEA6F4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DF66563A-35E5-7B4C-092B-138F6293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28CB98-CD37-E43B-2F46-7258199B9EBD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CAA028-E03B-2EF2-11F7-E5883550D262}"/>
              </a:ext>
            </a:extLst>
          </p:cNvPr>
          <p:cNvSpPr/>
          <p:nvPr/>
        </p:nvSpPr>
        <p:spPr>
          <a:xfrm>
            <a:off x="2302025" y="2445548"/>
            <a:ext cx="14178286" cy="587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Q4-1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小王子看到箱子時，為什麼覺得這隻羊是他想要的？ 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Q4-2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小王子擔心小羊會有什麼問題？ </a:t>
            </a:r>
            <a:endParaRPr lang="en-US" altLang="zh-TW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Q4-3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飛行員如何回應小王子的擔憂？</a:t>
            </a:r>
          </a:p>
          <a:p>
            <a:pPr>
              <a:lnSpc>
                <a:spcPct val="160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Q5	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為什麼飛行員覺得小王子「真了不起」？</a:t>
            </a:r>
          </a:p>
          <a:p>
            <a:pPr>
              <a:lnSpc>
                <a:spcPct val="160000"/>
              </a:lnSpc>
            </a:pP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因為飛行員是用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畫畫，小王子卻是用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)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在看畫。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F8A94164-4310-2C17-C3A2-FB9204C21F05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3E15362-0E04-DE38-88D3-10228E3D63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AA3730DB-22F1-321B-4EB0-0A484FB29129}"/>
              </a:ext>
            </a:extLst>
          </p:cNvPr>
          <p:cNvSpPr txBox="1"/>
          <p:nvPr/>
        </p:nvSpPr>
        <p:spPr>
          <a:xfrm>
            <a:off x="3657600" y="3328715"/>
            <a:ext cx="9781672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太適合他了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702555-626B-3ABF-8489-BBDAA7A3898B}"/>
              </a:ext>
            </a:extLst>
          </p:cNvPr>
          <p:cNvSpPr txBox="1"/>
          <p:nvPr/>
        </p:nvSpPr>
        <p:spPr>
          <a:xfrm>
            <a:off x="11095139" y="4388174"/>
            <a:ext cx="9781672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小羊要吃很多草嗎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745CC8-1B18-FA09-E6DA-2D364E089101}"/>
              </a:ext>
            </a:extLst>
          </p:cNvPr>
          <p:cNvSpPr txBox="1"/>
          <p:nvPr/>
        </p:nvSpPr>
        <p:spPr>
          <a:xfrm>
            <a:off x="11095139" y="5406290"/>
            <a:ext cx="9781672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小小的羊食量不大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394EB2D-6FEF-1400-E00E-8A8D15454202}"/>
              </a:ext>
            </a:extLst>
          </p:cNvPr>
          <p:cNvSpPr txBox="1"/>
          <p:nvPr/>
        </p:nvSpPr>
        <p:spPr>
          <a:xfrm>
            <a:off x="7322903" y="7342321"/>
            <a:ext cx="3497497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C04C943-7A42-9EBC-B8EE-B9834359ED58}"/>
              </a:ext>
            </a:extLst>
          </p:cNvPr>
          <p:cNvSpPr txBox="1"/>
          <p:nvPr/>
        </p:nvSpPr>
        <p:spPr>
          <a:xfrm>
            <a:off x="13495103" y="7344326"/>
            <a:ext cx="3497497" cy="94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4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心</a:t>
            </a:r>
          </a:p>
        </p:txBody>
      </p:sp>
    </p:spTree>
    <p:extLst>
      <p:ext uri="{BB962C8B-B14F-4D97-AF65-F5344CB8AC3E}">
        <p14:creationId xmlns:p14="http://schemas.microsoft.com/office/powerpoint/2010/main" val="245466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0" grpId="0"/>
      <p:bldP spid="11" grpId="0"/>
      <p:bldP spid="14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01964-516C-7189-49E5-B815EB1D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A0F681-D461-AA8F-2DB7-AFAD9B0ABC3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C5307CE-2A54-E5CD-788B-6470867D338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275EAFF-3049-14B3-D0FA-1E65DBDE151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1E811E3-0B50-FC1C-277C-EFC600E050D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E864899-4DE0-8F3B-0BFD-E2123AAE4A3F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361F05B-7447-FA49-EFE6-F36FB087D4F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5D8691D-5E6B-DAA1-7E4B-18C77E8D883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74BC103-A0F6-C093-7193-BBD21CD6C47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059877E-832F-80AE-1698-085C57A3F01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F27880B-D0DF-EB41-0210-5D08ADDC9B9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976A40D-17CC-F5F4-CF54-CBE8F757997E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E17C197E-4E32-4FF1-BA5D-48A39EE0874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id="{1BC995B6-8694-0A75-9A41-2A6EEE7B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CEC0ED0-64E1-74DC-5BD4-148841BEF5F7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DE54F3E8-63BF-CF5B-ECC3-ECA1EF2099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31C442C-21BA-65C1-2154-98318FC40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79501"/>
              </p:ext>
            </p:extLst>
          </p:nvPr>
        </p:nvGraphicFramePr>
        <p:xfrm>
          <a:off x="2102868" y="3997936"/>
          <a:ext cx="14763610" cy="53827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63610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53827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小王子遇見狐狸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小王子在旅行中遇到了一隻狐狸。「你好！」小王子說道。「你好！」狐狸回答。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小王子看著狐狸，說：「你是誰？你真可愛！來和我一起玩吧！我很傷心</a:t>
                      </a: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……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「我不能和你玩，」狐狸說，「我還沒有被你馴服呢。」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「什麼叫馴服？」小王子問。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「這是一個常被人遺忘的事情，」狐狸說，「它的意思是建立聯繫。」「建立聯繫？」</a:t>
                      </a:r>
                      <a:endParaRPr lang="zh-TW" altLang="en-US" sz="3200" b="1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C0B5643-056A-2971-1EE4-F728B786BD31}"/>
              </a:ext>
            </a:extLst>
          </p:cNvPr>
          <p:cNvSpPr/>
          <p:nvPr/>
        </p:nvSpPr>
        <p:spPr>
          <a:xfrm>
            <a:off x="2113673" y="2325060"/>
            <a:ext cx="14521045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小王子在旅行中遇到了許多不同的角色，其中狐狸的故事最為經典。請先閱讀小王子與狐狸相遇的故事段落，並回答相關問題。</a:t>
            </a:r>
          </a:p>
        </p:txBody>
      </p:sp>
    </p:spTree>
    <p:extLst>
      <p:ext uri="{BB962C8B-B14F-4D97-AF65-F5344CB8AC3E}">
        <p14:creationId xmlns:p14="http://schemas.microsoft.com/office/powerpoint/2010/main" val="250287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1E0C-58CA-2B81-00E8-AF4A0628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D3A8E0-AC06-696B-A7B3-6646878BE4A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2AEF0E-C4BB-347E-0C5E-B981C27BD77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53EF175-E7D7-B70C-98A5-AA64AC8CFBD8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4D9335-8A35-8D86-CC86-DDFA1D97AC2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2E3ED96-CEB2-2BD1-33CA-F20C5D460FE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3FBBE0-FA48-1F2D-D5BB-AB33CB3DEF7A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F019CF-A5E1-9FDE-F6E3-4D8C1CC10915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32E71BB-B932-BFD1-D6F4-9AFAC823D066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FE79D0F-EDBA-3B5D-8433-2048DE92D2F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88ACF91-D26F-17CC-5E30-2CF82273BB7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2B1E7C59-DA7A-8488-FCB0-C0F62588A02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35855CC-A2F5-3E98-FCA2-A02D5792B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CDD0C09-8AA7-E605-E95D-4152F8A70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50086"/>
              </p:ext>
            </p:extLst>
          </p:nvPr>
        </p:nvGraphicFramePr>
        <p:xfrm>
          <a:off x="1986359" y="899822"/>
          <a:ext cx="15002196" cy="85431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02196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854315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狐狸說，「是的，對我來說，你現在只是一個小男孩，和成千上萬其他小男孩沒有什麼不同。我不需要你，你也不需要我。我對你來說，只是一隻狐狸，和成千上萬其他狐狸沒有什麼兩樣。但如果你馴服了我，我們就會彼此需要。對我來說，你將是世界上獨一無二的；對你來說，我也將是世界上獨一無二的。」</a:t>
                      </a:r>
                      <a:endParaRPr lang="en-US" altLang="zh-TW" sz="32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zh-TW" sz="14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狐狸停下來，注視著小王子，說：「請馴服我吧！」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「我很願意，」小王子回答，「但我的時間不多了，我還要尋找朋友，了解許多事情。」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「應該怎麼做呢？」小王子問。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你必須非常有耐心。」狐狸說，「你必須每天在相同的時間來看我。比如說，如果你在下午四點來，那麼從三點開始，我就會感到幸福。時間越接近，我就越興奮。到了四點，我就會感到快樂。但如果你在一個隨便的時間來，我就不知道什麼時候</a:t>
                      </a:r>
                      <a:endParaRPr lang="zh-TW" altLang="en-US" sz="3200" b="1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36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817E-1CDC-F3DC-F5FA-DF5AE043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8E15AE-4409-A004-4288-F40693D05D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B0416C9-B4A8-76C6-D391-B1E129CAA401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2972E8-F6F8-763E-AF81-219A03FD8CFD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4404F7-B55A-5FA0-87B5-715C87F6A1A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36D34C3-6DD5-C969-82A1-C6F6D8CB5F73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1CAAC71-DE92-2211-3998-8F0733C05C0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F04E685-A4B2-3689-2B73-987801597F6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5EC839A-EC92-FB7F-7463-3738885A48A0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55F16D2-7355-3255-4317-A6B71D144EE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6CE58D2-17B2-2C5A-33D8-C69B86247D2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4C61C74-5160-53D5-A2FF-0393BE3E5A1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402F121B-6327-5C99-A747-C86006F70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61B93AA-D327-4434-FEF6-C342A8C8F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671344"/>
              </p:ext>
            </p:extLst>
          </p:nvPr>
        </p:nvGraphicFramePr>
        <p:xfrm>
          <a:off x="2168832" y="1867429"/>
          <a:ext cx="14747568" cy="6607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47568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660794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該準備我的心情</a:t>
                      </a: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……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」就這樣，小王子馴服了狐狸。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當分別的時候臨近時，狐狸說：「啊！我會哭的。」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「這是你的錯，」小王子說，「我本來不想讓你難過，但你要我馴服你。」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「沒錯，」狐狸說。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「那你什麼也沒有得到！」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「不，」狐狸說，「我得到了。我得到了麥田的顏色。」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「人們已經忘記了這個道理，」狐狸說，「但你不應該忘記。你永遠要對你所馴服的事物負責。」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301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A365-AF92-11F5-DB88-2F5ABF77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EBE0AE-A847-2A8E-8530-A1AA526D07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AC21DBE-00CF-7381-D05A-F1DF18899E4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4E8F7B-4231-E899-F72A-F90145E6860A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A130E2B-7216-AD34-7F18-3151223FEAE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4820D82-DA4A-E35D-1C1D-0361C0E6D7A0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40D5CC3-AF2C-0353-C7C9-C5A31FBE2C5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F7732E3-5138-FE31-FAA1-0C0E055B344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A488526-7043-86CE-5BD6-FF5333F19D40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08BDF94-C623-6A64-A155-5EE117A0B90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E4427CD-30EA-5B60-91AA-D0C8F9D159F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D78CE90-F35F-A6F7-DE6C-48824AB7E646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240BC9F4-0464-1D84-4132-CF7F5F50E3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B1DDC63-C617-E523-BC1B-DC0663C0CFA2}"/>
              </a:ext>
            </a:extLst>
          </p:cNvPr>
          <p:cNvSpPr/>
          <p:nvPr/>
        </p:nvSpPr>
        <p:spPr>
          <a:xfrm>
            <a:off x="2523940" y="1321244"/>
            <a:ext cx="13921465" cy="6930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狐狸認為「馴服」是什麼意思？在現實生活中，什麼樣的關係可以稱為「馴服」？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___________________________________________________________________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小王子和狐狸之間的關係，讓你想到自己和誰之間的關係？請說說看。</a:t>
            </a: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___________________________________________________________________</a:t>
            </a:r>
          </a:p>
          <a:p>
            <a:pPr>
              <a:lnSpc>
                <a:spcPts val="6000"/>
              </a:lnSpc>
            </a:pP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小王子能夠用「心」來看世界，你能從蛇的肚子裡看到什麼呢？這條大蛇剛剛吃什麼飽餐一頓呢？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B7441B3-A504-AA76-9013-E7E98283B66E}"/>
              </a:ext>
            </a:extLst>
          </p:cNvPr>
          <p:cNvSpPr txBox="1"/>
          <p:nvPr/>
        </p:nvSpPr>
        <p:spPr>
          <a:xfrm>
            <a:off x="2523940" y="2680243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BE44839-BB56-DCDE-2A71-01B489B292E6}"/>
              </a:ext>
            </a:extLst>
          </p:cNvPr>
          <p:cNvSpPr txBox="1"/>
          <p:nvPr/>
        </p:nvSpPr>
        <p:spPr>
          <a:xfrm>
            <a:off x="2523940" y="4966243"/>
            <a:ext cx="9781672" cy="863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</a:p>
        </p:txBody>
      </p:sp>
    </p:spTree>
    <p:extLst>
      <p:ext uri="{BB962C8B-B14F-4D97-AF65-F5344CB8AC3E}">
        <p14:creationId xmlns:p14="http://schemas.microsoft.com/office/powerpoint/2010/main" val="426503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51FF-5D90-DAF9-CE78-87EE7955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94A04E-A149-C3D1-87E9-70FBC76A20B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BB03ED-DA65-5C6E-7343-8470F23EEF2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2BE77E-9AB2-AF3A-4AA4-9BA9B80C64F0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9C98995-636A-0435-69E2-18680265145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C646335-FB0B-C764-A1C0-002D2F88C0E4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29A5D9-E0A0-A474-E4EA-B285E32E50C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D38EBC8-23D8-43A0-B08A-63D5D95FBF8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8CA908A-2623-F131-4008-EE3F89E06E23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D2D128D-6399-C449-4BE7-B837C4F7F71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1B01815-1C50-55F3-7C75-7A9CCC799B0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11D9CD2-99A9-3FFB-EEC4-554C4055363D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FA834919-0291-8C52-7727-48A56F9C0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1" name="圖片 10" descr="Click to see printable version of 蛇象燕子 著色">
            <a:extLst>
              <a:ext uri="{FF2B5EF4-FFF2-40B4-BE49-F238E27FC236}">
                <a16:creationId xmlns:a16="http://schemas.microsoft.com/office/drawing/2014/main" id="{E6F93DBA-D5E2-60F5-3523-24746A30DF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" t="26451" r="5432" b="18920"/>
          <a:stretch/>
        </p:blipFill>
        <p:spPr bwMode="auto">
          <a:xfrm>
            <a:off x="4102430" y="1050653"/>
            <a:ext cx="10083140" cy="82037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220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D4BA3-A37A-6323-5FB4-ABE45E4C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9DE618-FDA8-7739-997D-7EAB39764F3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058ACC-39C1-C052-6990-08E95DCB544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390824-9DFF-A124-355B-E76E9D2E4BA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5E91460-CF1F-702B-71FF-2BFD4817266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FCFDA2-21AA-ECCA-65FB-4998A17BE43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60EA918-4ED2-908A-8D18-3D1947203C5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ECAC925-53BB-7E96-3EC2-6CDF190F9320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87131CB-6A7C-0AFC-22AF-C00447393D08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0BC4BEA-4D0A-146F-4B3B-EF0FEF3A186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9AA89B3-B896-DFD8-20BE-1AC426E5FE5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F23F400B-2AFC-F263-EC2F-9C43C9E0F79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92C53EED-8DCB-DE5D-79AB-C5D79B0920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726E3E0-B661-9E3F-5C79-1A77D86CC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514643"/>
              </p:ext>
            </p:extLst>
          </p:nvPr>
        </p:nvGraphicFramePr>
        <p:xfrm>
          <a:off x="2147631" y="874890"/>
          <a:ext cx="14754183" cy="85372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1296">
                  <a:extLst>
                    <a:ext uri="{9D8B030D-6E8A-4147-A177-3AD203B41FA5}">
                      <a16:colId xmlns:a16="http://schemas.microsoft.com/office/drawing/2014/main" val="2713682271"/>
                    </a:ext>
                  </a:extLst>
                </a:gridCol>
                <a:gridCol w="12612887">
                  <a:extLst>
                    <a:ext uri="{9D8B030D-6E8A-4147-A177-3AD203B41FA5}">
                      <a16:colId xmlns:a16="http://schemas.microsoft.com/office/drawing/2014/main" val="3802466164"/>
                    </a:ext>
                  </a:extLst>
                </a:gridCol>
              </a:tblGrid>
              <a:tr h="759162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b="1" u="none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《小王子》故事背景</a:t>
                      </a:r>
                      <a:endParaRPr lang="zh-TW" sz="3600" b="1" u="none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104645"/>
                  </a:ext>
                </a:extLst>
              </a:tr>
              <a:tr h="759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作者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安東尼</a:t>
                      </a:r>
                      <a:r>
                        <a:rPr lang="en-US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·</a:t>
                      </a: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聖修伯里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（</a:t>
                      </a:r>
                      <a:r>
                        <a:rPr lang="en-US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Antoine de Saint-Exupéry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）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87791"/>
                  </a:ext>
                </a:extLst>
              </a:tr>
              <a:tr h="8466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國籍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法國</a:t>
                      </a:r>
                      <a:endParaRPr lang="zh-TW" sz="3600" u="sng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42558"/>
                  </a:ext>
                </a:extLst>
              </a:tr>
              <a:tr h="7591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職業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飛行員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813699"/>
                  </a:ext>
                </a:extLst>
              </a:tr>
              <a:tr h="25865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背景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《小王子》誕生於</a:t>
                      </a:r>
                      <a:r>
                        <a:rPr lang="en-US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1943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年，當時</a:t>
                      </a: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聖修伯里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身處</a:t>
                      </a: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美國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，正經歷第二次世界大戰的戰火和流亡生活。他將自己作為飛行員的經歷，以及對人類純真、愛與友誼的渴望，轉化為這部永恆的經典作品。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504228"/>
                  </a:ext>
                </a:extLst>
              </a:tr>
              <a:tr h="17596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寫作動機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聖修伯里</a:t>
                      </a: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希望透過《小王子》提醒人們保持純真的心靈，關注生命中真正重要的事物，而非被成人世界的功利心所蒙蔽。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05116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經典名言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DFKai-SB" panose="03000509000000000000" pitchFamily="49" charset="-120"/>
                          <a:ea typeface="DFKai-SB" panose="03000509000000000000" pitchFamily="49" charset="-120"/>
                        </a:rPr>
                        <a:t>「重要的東西，用眼睛是看不見的，必須用心去感受。」</a:t>
                      </a:r>
                      <a:endParaRPr lang="zh-TW" sz="3600" kern="100" dirty="0">
                        <a:effectLst/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35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218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螢幕擷取畫面, 陳列, 軟體 的圖片&#10;&#10;自動產生的描述">
            <a:extLst>
              <a:ext uri="{FF2B5EF4-FFF2-40B4-BE49-F238E27FC236}">
                <a16:creationId xmlns:a16="http://schemas.microsoft.com/office/drawing/2014/main" id="{EAF513C9-8A7B-739A-9385-E01993F7C8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46" t="25024" r="4516" b="26950"/>
          <a:stretch/>
        </p:blipFill>
        <p:spPr bwMode="auto">
          <a:xfrm>
            <a:off x="1752582" y="3107621"/>
            <a:ext cx="15392418" cy="5437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1526</Words>
  <Application>Microsoft Macintosh PowerPoint</Application>
  <PresentationFormat>自訂</PresentationFormat>
  <Paragraphs>249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Aptos</vt:lpstr>
      <vt:lpstr>華康新綜藝體</vt:lpstr>
      <vt:lpstr>微軟正黑體</vt:lpstr>
      <vt:lpstr>Arial</vt:lpstr>
      <vt:lpstr>標楷體</vt:lpstr>
      <vt:lpstr>微軟正黑體</vt:lpstr>
      <vt:lpstr>標楷體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179</cp:revision>
  <dcterms:created xsi:type="dcterms:W3CDTF">2006-08-16T00:00:00Z</dcterms:created>
  <dcterms:modified xsi:type="dcterms:W3CDTF">2025-09-21T14:51:40Z</dcterms:modified>
  <dc:identifier>DAGOioWnJWE</dc:identifier>
</cp:coreProperties>
</file>