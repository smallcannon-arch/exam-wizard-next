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69" r:id="rId3"/>
    <p:sldId id="296" r:id="rId4"/>
    <p:sldId id="320" r:id="rId5"/>
    <p:sldId id="316" r:id="rId6"/>
    <p:sldId id="330" r:id="rId7"/>
    <p:sldId id="334" r:id="rId8"/>
    <p:sldId id="272" r:id="rId9"/>
    <p:sldId id="331" r:id="rId10"/>
    <p:sldId id="326" r:id="rId11"/>
    <p:sldId id="332" r:id="rId12"/>
    <p:sldId id="325" r:id="rId13"/>
    <p:sldId id="333" r:id="rId14"/>
    <p:sldId id="328" r:id="rId15"/>
    <p:sldId id="279" r:id="rId16"/>
    <p:sldId id="295" r:id="rId17"/>
  </p:sldIdLst>
  <p:sldSz cx="18288000" cy="10287000"/>
  <p:notesSz cx="6858000" cy="9144000"/>
  <p:embeddedFontLst>
    <p:embeddedFont>
      <p:font typeface="標楷體" panose="03000509000000000000" pitchFamily="65" charset="-120"/>
      <p:regular r:id="rId19"/>
    </p:embeddedFont>
    <p:embeddedFont>
      <p:font typeface="文鼎注音寬字" panose="03000600000000000000" pitchFamily="65" charset="-120"/>
      <p:regular r:id="rId20"/>
    </p:embeddedFont>
    <p:embeddedFont>
      <p:font typeface="微軟正黑體" panose="020B0604030504040204" pitchFamily="34" charset="-120"/>
      <p:regular r:id="rId21"/>
      <p:bold r:id="rId22"/>
    </p:embeddedFont>
    <p:embeddedFont>
      <p:font typeface="標楷體" panose="03000509000000000000" pitchFamily="65" charset="-120"/>
      <p:regular r:id="rId19"/>
    </p:embeddedFont>
    <p:embeddedFont>
      <p:font typeface="微軟正黑體" panose="020B0604030504040204" pitchFamily="34" charset="-120"/>
      <p:regular r:id="rId21"/>
      <p:bold r:id="rId22"/>
    </p:embeddedFont>
    <p:embeddedFont>
      <p:font typeface="華康新綜藝體" panose="02010609000101010101" pitchFamily="49" charset="-120"/>
      <p:regular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CEED"/>
    <a:srgbClr val="C5F87F"/>
    <a:srgbClr val="FCD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9" autoAdjust="0"/>
    <p:restoredTop sz="94109" autoAdjust="0"/>
  </p:normalViewPr>
  <p:slideViewPr>
    <p:cSldViewPr>
      <p:cViewPr varScale="1">
        <p:scale>
          <a:sx n="74" d="100"/>
          <a:sy n="74" d="100"/>
        </p:scale>
        <p:origin x="58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9" d="100"/>
          <a:sy n="89" d="100"/>
        </p:scale>
        <p:origin x="378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737BC-0160-43F0-A57D-211EEFCA83B8}" type="datetimeFigureOut">
              <a:rPr lang="zh-TW" altLang="en-US" smtClean="0"/>
              <a:t>2025/11/27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F15EC-EB07-4462-A15A-319C71CF4B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3499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F15EC-EB07-4462-A15A-319C71CF4B01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2833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F15EC-EB07-4462-A15A-319C71CF4B01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5288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85E4159-FD9F-41A4-75F5-224E9928D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D9A12517-3578-E409-2505-47EB7C10EF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669D551F-AE78-5965-E03A-FB0C5F181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657F2368-1005-8FD6-5729-704039297A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F15EC-EB07-4462-A15A-319C71CF4B01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6954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85E4159-FD9F-41A4-75F5-224E9928D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D9A12517-3578-E409-2505-47EB7C10EF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669D551F-AE78-5965-E03A-FB0C5F181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657F2368-1005-8FD6-5729-704039297A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F15EC-EB07-4462-A15A-319C71CF4B01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3120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10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9.jp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24" Type="http://schemas.openxmlformats.org/officeDocument/2006/relationships/image" Target="../media/image14.png"/><Relationship Id="rId5" Type="http://schemas.openxmlformats.org/officeDocument/2006/relationships/image" Target="../media/image4.svg"/><Relationship Id="rId15" Type="http://schemas.openxmlformats.org/officeDocument/2006/relationships/image" Target="../media/image8.png"/><Relationship Id="rId23" Type="http://schemas.openxmlformats.org/officeDocument/2006/relationships/image" Target="../media/image13.png"/><Relationship Id="rId10" Type="http://schemas.openxmlformats.org/officeDocument/2006/relationships/image" Target="../media/image5.png"/><Relationship Id="rId19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Relationship Id="rId22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6.png"/><Relationship Id="rId18" Type="http://schemas.openxmlformats.org/officeDocument/2006/relationships/image" Target="../media/image25.sv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10" Type="http://schemas.openxmlformats.org/officeDocument/2006/relationships/image" Target="../media/image8.svg"/><Relationship Id="rId19" Type="http://schemas.openxmlformats.org/officeDocument/2006/relationships/image" Target="../media/image12.png"/><Relationship Id="rId4" Type="http://schemas.openxmlformats.org/officeDocument/2006/relationships/image" Target="../media/image2.svg"/><Relationship Id="rId9" Type="http://schemas.openxmlformats.org/officeDocument/2006/relationships/image" Target="../media/image4.png"/><Relationship Id="rId1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25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9.jp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5.sv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16.png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jpe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e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31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sv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31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Freeform 12"/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Freeform 13"/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Freeform 14"/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390404" y="569551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9" name="Freeform 29"/>
          <p:cNvSpPr/>
          <p:nvPr/>
        </p:nvSpPr>
        <p:spPr>
          <a:xfrm>
            <a:off x="5332160" y="1830982"/>
            <a:ext cx="1375279" cy="792661"/>
          </a:xfrm>
          <a:custGeom>
            <a:avLst/>
            <a:gdLst/>
            <a:ahLst/>
            <a:cxnLst/>
            <a:rect l="l" t="t" r="r" b="b"/>
            <a:pathLst>
              <a:path w="1375279" h="792661">
                <a:moveTo>
                  <a:pt x="0" y="0"/>
                </a:moveTo>
                <a:lnTo>
                  <a:pt x="1375278" y="0"/>
                </a:lnTo>
                <a:lnTo>
                  <a:pt x="1375278" y="792660"/>
                </a:lnTo>
                <a:lnTo>
                  <a:pt x="0" y="79266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4894777" y="3662162"/>
            <a:ext cx="9032950" cy="1119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dist">
              <a:lnSpc>
                <a:spcPts val="8400"/>
              </a:lnSpc>
            </a:pPr>
            <a:r>
              <a:rPr lang="zh-TW" altLang="en-US" sz="115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ore Sugar"/>
                <a:sym typeface="More Sugar"/>
              </a:rPr>
              <a:t>提問單</a:t>
            </a:r>
            <a:endParaRPr lang="en-US" sz="11500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ore Sugar"/>
              <a:sym typeface="More Sugar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550115" y="1559356"/>
            <a:ext cx="13636764" cy="166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21"/>
              </a:lnSpc>
            </a:pPr>
            <a:r>
              <a:rPr lang="en-US" sz="12521" dirty="0">
                <a:solidFill>
                  <a:srgbClr val="182C4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ore Sugar"/>
                <a:sym typeface="More Sugar"/>
              </a:rPr>
              <a:t>MAPS </a:t>
            </a:r>
          </a:p>
        </p:txBody>
      </p:sp>
      <p:sp>
        <p:nvSpPr>
          <p:cNvPr id="34" name="文字方塊 33"/>
          <p:cNvSpPr txBox="1"/>
          <p:nvPr/>
        </p:nvSpPr>
        <p:spPr>
          <a:xfrm>
            <a:off x="7409104" y="5087306"/>
            <a:ext cx="112684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蔡孟庭 老師編寫</a:t>
            </a:r>
          </a:p>
        </p:txBody>
      </p:sp>
      <p:pic>
        <p:nvPicPr>
          <p:cNvPr id="36" name="圖片 35"/>
          <p:cNvPicPr/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6019800" y="6929951"/>
            <a:ext cx="6705600" cy="18848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6294008" y="7610134"/>
            <a:ext cx="6148978" cy="1086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en-US" altLang="zh-TW" sz="1600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1600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endParaRPr lang="zh-TW" sz="1600" kern="100" dirty="0">
              <a:solidFill>
                <a:schemeClr val="tx2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第</a:t>
            </a:r>
            <a:r>
              <a:rPr lang="zh-TW" altLang="en-US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十</a:t>
            </a:r>
            <a:r>
              <a:rPr lang="zh-TW" altLang="en-US" sz="48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一</a:t>
            </a:r>
            <a:r>
              <a:rPr lang="zh-TW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zh-TW" altLang="en-US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畫龍點睛</a:t>
            </a:r>
            <a:endParaRPr lang="zh-TW" sz="4000" kern="100" dirty="0">
              <a:solidFill>
                <a:schemeClr val="tx2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5" name="Freeform 29"/>
          <p:cNvSpPr/>
          <p:nvPr/>
        </p:nvSpPr>
        <p:spPr>
          <a:xfrm>
            <a:off x="7962900" y="6296571"/>
            <a:ext cx="2362200" cy="945188"/>
          </a:xfrm>
          <a:custGeom>
            <a:avLst/>
            <a:gdLst/>
            <a:ahLst/>
            <a:cxnLst/>
            <a:rect l="l" t="t" r="r" b="b"/>
            <a:pathLst>
              <a:path w="4189793" h="1081728">
                <a:moveTo>
                  <a:pt x="0" y="0"/>
                </a:moveTo>
                <a:lnTo>
                  <a:pt x="4189794" y="0"/>
                </a:lnTo>
                <a:lnTo>
                  <a:pt x="4189794" y="1081729"/>
                </a:lnTo>
                <a:lnTo>
                  <a:pt x="0" y="108172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8" name="文字方塊 2"/>
          <p:cNvSpPr txBox="1">
            <a:spLocks noChangeArrowheads="1"/>
          </p:cNvSpPr>
          <p:nvPr/>
        </p:nvSpPr>
        <p:spPr bwMode="auto">
          <a:xfrm>
            <a:off x="6176277" y="6352529"/>
            <a:ext cx="6148978" cy="1086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endParaRPr lang="zh-TW" sz="12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0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三下</a:t>
            </a:r>
            <a:endParaRPr lang="zh-TW" sz="32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9" name="Freeform 31"/>
          <p:cNvSpPr/>
          <p:nvPr/>
        </p:nvSpPr>
        <p:spPr>
          <a:xfrm rot="10085071">
            <a:off x="5959511" y="4872591"/>
            <a:ext cx="1185379" cy="1159388"/>
          </a:xfrm>
          <a:custGeom>
            <a:avLst/>
            <a:gdLst/>
            <a:ahLst/>
            <a:cxnLst/>
            <a:rect l="l" t="t" r="r" b="b"/>
            <a:pathLst>
              <a:path w="1317310" h="1317310">
                <a:moveTo>
                  <a:pt x="0" y="0"/>
                </a:moveTo>
                <a:lnTo>
                  <a:pt x="1317310" y="0"/>
                </a:lnTo>
                <a:lnTo>
                  <a:pt x="1317310" y="1317310"/>
                </a:lnTo>
                <a:lnTo>
                  <a:pt x="0" y="131731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pic>
        <p:nvPicPr>
          <p:cNvPr id="24" name="圖片 23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5201" y="6828992"/>
            <a:ext cx="2003108" cy="3260698"/>
          </a:xfrm>
          <a:prstGeom prst="rect">
            <a:avLst/>
          </a:prstGeom>
        </p:spPr>
      </p:pic>
      <p:grpSp>
        <p:nvGrpSpPr>
          <p:cNvPr id="40" name="Group 19"/>
          <p:cNvGrpSpPr/>
          <p:nvPr/>
        </p:nvGrpSpPr>
        <p:grpSpPr>
          <a:xfrm>
            <a:off x="1840324" y="923747"/>
            <a:ext cx="2761763" cy="708578"/>
            <a:chOff x="0" y="0"/>
            <a:chExt cx="3038818" cy="748565"/>
          </a:xfrm>
        </p:grpSpPr>
        <p:sp>
          <p:nvSpPr>
            <p:cNvPr id="41" name="TextBox 20"/>
            <p:cNvSpPr txBox="1"/>
            <p:nvPr/>
          </p:nvSpPr>
          <p:spPr>
            <a:xfrm>
              <a:off x="1110400" y="6488"/>
              <a:ext cx="1928418" cy="7180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19"/>
                </a:lnSpc>
              </a:pPr>
              <a:r>
                <a:rPr lang="en-US" sz="4800" b="1" spc="334" dirty="0" err="1">
                  <a:solidFill>
                    <a:srgbClr val="0154A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王漢宗特黑體"/>
                  <a:sym typeface="王漢宗特黑體"/>
                </a:rPr>
                <a:t>國語</a:t>
              </a:r>
              <a:endParaRPr lang="en-US" sz="4800" b="1" spc="334" dirty="0">
                <a:solidFill>
                  <a:srgbClr val="0154A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王漢宗特黑體"/>
                <a:sym typeface="王漢宗特黑體"/>
              </a:endParaRPr>
            </a:p>
          </p:txBody>
        </p:sp>
        <p:sp>
          <p:nvSpPr>
            <p:cNvPr id="42" name="Freeform 21"/>
            <p:cNvSpPr/>
            <p:nvPr/>
          </p:nvSpPr>
          <p:spPr>
            <a:xfrm>
              <a:off x="0" y="0"/>
              <a:ext cx="1423684" cy="748565"/>
            </a:xfrm>
            <a:custGeom>
              <a:avLst/>
              <a:gdLst/>
              <a:ahLst/>
              <a:cxnLst/>
              <a:rect l="l" t="t" r="r" b="b"/>
              <a:pathLst>
                <a:path w="1423684" h="748565">
                  <a:moveTo>
                    <a:pt x="0" y="0"/>
                  </a:moveTo>
                  <a:lnTo>
                    <a:pt x="1423684" y="0"/>
                  </a:lnTo>
                  <a:lnTo>
                    <a:pt x="1423684" y="748565"/>
                  </a:lnTo>
                  <a:lnTo>
                    <a:pt x="0" y="748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r="-168996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1" name="Freeform 11"/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2" name="Freeform 12"/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3" name="Freeform 13"/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4" name="Freeform 14"/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6" name="Freeform 16"/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7" name="Freeform 17"/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8" name="Freeform 18"/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grpSp>
        <p:nvGrpSpPr>
          <p:cNvPr id="19" name="Group 19"/>
          <p:cNvGrpSpPr/>
          <p:nvPr/>
        </p:nvGrpSpPr>
        <p:grpSpPr>
          <a:xfrm>
            <a:off x="1290993" y="571855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b="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290993" y="2244724"/>
            <a:ext cx="129099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一、形近字知多少</a:t>
            </a:r>
            <a:endParaRPr lang="zh-TW" altLang="zh-TW" sz="36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465941"/>
              </p:ext>
            </p:extLst>
          </p:nvPr>
        </p:nvGraphicFramePr>
        <p:xfrm>
          <a:off x="1905000" y="3470831"/>
          <a:ext cx="7593927" cy="4499894"/>
        </p:xfrm>
        <a:graphic>
          <a:graphicData uri="http://schemas.openxmlformats.org/drawingml/2006/table">
            <a:tbl>
              <a:tblPr firstRow="1" firstCol="1" bandRow="1"/>
              <a:tblGrid>
                <a:gridCol w="59819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3513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137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93624">
                <a:tc rowSpan="6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1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維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惟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唯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椎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錐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133776075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進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43" name="Freeform 3"/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xmlns="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4" name="圖片 43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020832"/>
              </p:ext>
            </p:extLst>
          </p:nvPr>
        </p:nvGraphicFramePr>
        <p:xfrm>
          <a:off x="4136948" y="3711613"/>
          <a:ext cx="5361978" cy="83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8379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維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維持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744516"/>
              </p:ext>
            </p:extLst>
          </p:nvPr>
        </p:nvGraphicFramePr>
        <p:xfrm>
          <a:off x="4136948" y="4457700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維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思惟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179953"/>
              </p:ext>
            </p:extLst>
          </p:nvPr>
        </p:nvGraphicFramePr>
        <p:xfrm>
          <a:off x="4136948" y="5218383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維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唯美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756089"/>
              </p:ext>
            </p:extLst>
          </p:nvPr>
        </p:nvGraphicFramePr>
        <p:xfrm>
          <a:off x="4136948" y="5911293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椎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脊椎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739054"/>
              </p:ext>
            </p:extLst>
          </p:nvPr>
        </p:nvGraphicFramePr>
        <p:xfrm>
          <a:off x="4136948" y="6594243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椎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錐形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745627"/>
              </p:ext>
            </p:extLst>
          </p:nvPr>
        </p:nvGraphicFramePr>
        <p:xfrm>
          <a:off x="4136948" y="7277194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進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進步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441827"/>
              </p:ext>
            </p:extLst>
          </p:nvPr>
        </p:nvGraphicFramePr>
        <p:xfrm>
          <a:off x="9727527" y="3475305"/>
          <a:ext cx="7221158" cy="4443045"/>
        </p:xfrm>
        <a:graphic>
          <a:graphicData uri="http://schemas.openxmlformats.org/drawingml/2006/table">
            <a:tbl>
              <a:tblPr firstRow="1" firstCol="1" bandRow="1"/>
              <a:tblGrid>
                <a:gridCol w="84384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8476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59627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59627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173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87614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2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寺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87615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時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等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87614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3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邀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552446254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繳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激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903129"/>
              </p:ext>
            </p:extLst>
          </p:nvPr>
        </p:nvGraphicFramePr>
        <p:xfrm>
          <a:off x="11732268" y="3800274"/>
          <a:ext cx="5216418" cy="7283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72834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四</a:t>
                      </a:r>
                      <a:endParaRPr lang="zh-TW" sz="40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寺廟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909427"/>
              </p:ext>
            </p:extLst>
          </p:nvPr>
        </p:nvGraphicFramePr>
        <p:xfrm>
          <a:off x="11732268" y="4505072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十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時間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217198"/>
              </p:ext>
            </p:extLst>
          </p:nvPr>
        </p:nvGraphicFramePr>
        <p:xfrm>
          <a:off x="11732268" y="5176775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等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等待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596928"/>
              </p:ext>
            </p:extLst>
          </p:nvPr>
        </p:nvGraphicFramePr>
        <p:xfrm>
          <a:off x="11732268" y="5848478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邀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邀約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246522"/>
              </p:ext>
            </p:extLst>
          </p:nvPr>
        </p:nvGraphicFramePr>
        <p:xfrm>
          <a:off x="11750406" y="6520181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繳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繳交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xmlns="" id="{3F779BD6-C427-8A2F-4D0F-FB342F3639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002667"/>
              </p:ext>
            </p:extLst>
          </p:nvPr>
        </p:nvGraphicFramePr>
        <p:xfrm>
          <a:off x="11750406" y="7194775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機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激發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980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05A7306-129C-DC4B-38E0-CCCB4FD0B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913BA1CD-11C9-A921-ABA9-4F8BC4EBA0C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xmlns="" id="{CD4108B6-D59E-B75D-1893-631202E4BE65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xmlns="" id="{FE633385-65D3-E608-FBEA-9988B2A2259B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xmlns="" id="{B660B2D0-5DA5-3233-160A-3F37C1DEDD1A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xmlns="" id="{1559D6AA-13E1-89FC-DAA9-41526B85B1EE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AE9A0B12-C7ED-8690-A62E-EDA12C10F2A5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xmlns="" id="{BFF07D46-9426-355B-3BD6-70D7A03B2259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xmlns="" id="{EED26856-C4CA-DFC8-0D3A-D551C5EFEA34}"/>
              </a:ext>
            </a:extLst>
          </p:cNvPr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xmlns="" id="{233AE8B8-A5DF-36DD-FE52-00F77171C396}"/>
              </a:ext>
            </a:extLst>
          </p:cNvPr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xmlns="" id="{47604417-7846-0005-47B8-E0736E56BA54}"/>
              </a:ext>
            </a:extLst>
          </p:cNvPr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xmlns="" id="{AFC439D7-6DBE-DCE1-3D34-2AD98AE3F802}"/>
              </a:ext>
            </a:extLst>
          </p:cNvPr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xmlns="" id="{40A61603-2F9C-5282-99B8-36E553D7E804}"/>
              </a:ext>
            </a:extLst>
          </p:cNvPr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xmlns="" id="{C88D424A-A157-8FC3-A01A-4AA69FDC74CF}"/>
              </a:ext>
            </a:extLst>
          </p:cNvPr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xmlns="" id="{3B6873E4-FEF3-1986-70B1-B5F252F4E844}"/>
              </a:ext>
            </a:extLst>
          </p:cNvPr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xmlns="" id="{A390EC28-723D-617D-03CA-B0AF2EFFAD88}"/>
              </a:ext>
            </a:extLst>
          </p:cNvPr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xmlns="" id="{CBAA27A1-4B4B-2DCC-C087-47251508A4EE}"/>
              </a:ext>
            </a:extLst>
          </p:cNvPr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xmlns="" id="{5235512A-8E78-3917-FA65-D556950650A1}"/>
              </a:ext>
            </a:extLst>
          </p:cNvPr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8A5B9A8D-216A-8B80-753B-EEEA70965BB9}"/>
              </a:ext>
            </a:extLst>
          </p:cNvPr>
          <p:cNvGrpSpPr/>
          <p:nvPr/>
        </p:nvGrpSpPr>
        <p:grpSpPr>
          <a:xfrm>
            <a:off x="1345962" y="57729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F27940C3-817A-9A8B-A38B-4EDAB6F43A2D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EB4A5824-0AE4-7A8A-37BA-6827C14EF182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b="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xmlns="" id="{8E378782-13E7-D339-A06B-F15A92A987E7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xmlns="" id="{AB6138E6-3A7D-AF12-F815-AAD506E0A3CF}"/>
              </a:ext>
            </a:extLst>
          </p:cNvPr>
          <p:cNvPicPr/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xmlns="" id="{2317C13A-18AD-8C7C-E286-5F14E4B2D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3" name="Freeform 3">
            <a:extLst>
              <a:ext uri="{FF2B5EF4-FFF2-40B4-BE49-F238E27FC236}">
                <a16:creationId xmlns:a16="http://schemas.microsoft.com/office/drawing/2014/main" xmlns="" id="{2B216F95-A6DB-1DF6-0849-6DF6D21DACAA}"/>
              </a:ext>
            </a:extLst>
          </p:cNvPr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xmlns="" id="{912FCACC-7B0A-60C5-AA7A-ECE5AA293AD5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xmlns="" id="{B4558FFF-4899-4CDF-16AE-5F2FF0073D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736715"/>
              </p:ext>
            </p:extLst>
          </p:nvPr>
        </p:nvGraphicFramePr>
        <p:xfrm>
          <a:off x="1752600" y="2959954"/>
          <a:ext cx="7593927" cy="3806270"/>
        </p:xfrm>
        <a:graphic>
          <a:graphicData uri="http://schemas.openxmlformats.org/drawingml/2006/table">
            <a:tbl>
              <a:tblPr firstRow="1" firstCol="1" bandRow="1"/>
              <a:tblGrid>
                <a:gridCol w="59819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3513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137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93624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4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孫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系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係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05816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5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相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133776075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xmlns="" id="{3DE5ED1F-9A02-9AA5-4BAE-515E694F7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943868"/>
              </p:ext>
            </p:extLst>
          </p:nvPr>
        </p:nvGraphicFramePr>
        <p:xfrm>
          <a:off x="3984548" y="3200736"/>
          <a:ext cx="5361978" cy="83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8379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孫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孫女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xmlns="" id="{94A13360-000E-2D07-7B11-988AA1F42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939715"/>
              </p:ext>
            </p:extLst>
          </p:nvPr>
        </p:nvGraphicFramePr>
        <p:xfrm>
          <a:off x="3984548" y="4034148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系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系統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xmlns="" id="{5DC61D4B-0C4F-BDD3-9E05-956BB7206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115876"/>
              </p:ext>
            </p:extLst>
          </p:nvPr>
        </p:nvGraphicFramePr>
        <p:xfrm>
          <a:off x="3984548" y="4716730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系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關係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xmlns="" id="{3AB54FA7-0322-E7B3-6566-F5DD3C6E1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6775511"/>
              </p:ext>
            </p:extLst>
          </p:nvPr>
        </p:nvGraphicFramePr>
        <p:xfrm>
          <a:off x="3984548" y="5399312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香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互相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xmlns="" id="{FA2BC7BD-E202-C91A-95C7-BB939FFB5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452112"/>
              </p:ext>
            </p:extLst>
          </p:nvPr>
        </p:nvGraphicFramePr>
        <p:xfrm>
          <a:off x="3984548" y="6081893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向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長相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xmlns="" id="{04DC19ED-82AC-5633-D080-4782D250BA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230868"/>
              </p:ext>
            </p:extLst>
          </p:nvPr>
        </p:nvGraphicFramePr>
        <p:xfrm>
          <a:off x="9565355" y="2952426"/>
          <a:ext cx="7593927" cy="5217902"/>
        </p:xfrm>
        <a:graphic>
          <a:graphicData uri="http://schemas.openxmlformats.org/drawingml/2006/table">
            <a:tbl>
              <a:tblPr firstRow="1" firstCol="1" bandRow="1"/>
              <a:tblGrid>
                <a:gridCol w="59819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3513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137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93624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6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朗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郎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榔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廊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05816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7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蹤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805508129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縱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133776075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從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053724132"/>
                  </a:ext>
                </a:extLst>
              </a:tr>
            </a:tbl>
          </a:graphicData>
        </a:graphic>
      </p:graphicFrame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xmlns="" id="{FC546DBF-0058-B558-028F-704FD6E2C0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594945"/>
              </p:ext>
            </p:extLst>
          </p:nvPr>
        </p:nvGraphicFramePr>
        <p:xfrm>
          <a:off x="11797303" y="3193208"/>
          <a:ext cx="5361978" cy="83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8379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朗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開朗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xmlns="" id="{8ECB6CDE-5C76-CCA7-B67C-56E5C3ABF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626493"/>
              </p:ext>
            </p:extLst>
          </p:nvPr>
        </p:nvGraphicFramePr>
        <p:xfrm>
          <a:off x="11797303" y="4000500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郎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郎君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xmlns="" id="{63BF1EFD-A4C7-9298-07FB-C0EDD4AFED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553657"/>
              </p:ext>
            </p:extLst>
          </p:nvPr>
        </p:nvGraphicFramePr>
        <p:xfrm>
          <a:off x="11797303" y="4711016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郎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檳榔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xmlns="" id="{30314700-4241-C4DF-0C4B-39A65466F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610679"/>
              </p:ext>
            </p:extLst>
          </p:nvPr>
        </p:nvGraphicFramePr>
        <p:xfrm>
          <a:off x="11797303" y="5394505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郎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走廊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xmlns="" id="{0F09C51B-3B36-AF22-3DCE-0C8FB25433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495468"/>
              </p:ext>
            </p:extLst>
          </p:nvPr>
        </p:nvGraphicFramePr>
        <p:xfrm>
          <a:off x="11797303" y="6077994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宗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追蹤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xmlns="" id="{A9C194A5-E298-DD37-B4D1-73A770C06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42064"/>
              </p:ext>
            </p:extLst>
          </p:nvPr>
        </p:nvGraphicFramePr>
        <p:xfrm>
          <a:off x="11797303" y="6761482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宗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縱谷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8" name="表格 37">
            <a:extLst>
              <a:ext uri="{FF2B5EF4-FFF2-40B4-BE49-F238E27FC236}">
                <a16:creationId xmlns:a16="http://schemas.microsoft.com/office/drawing/2014/main" xmlns="" id="{CF86915A-5F37-2281-EAFD-23293F115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999598"/>
              </p:ext>
            </p:extLst>
          </p:nvPr>
        </p:nvGraphicFramePr>
        <p:xfrm>
          <a:off x="11799480" y="7462810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從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從前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308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89991" y="589170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60514" y="561269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9" name="圖片 28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0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420352" y="2238970"/>
            <a:ext cx="12909931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二、造句練習</a:t>
            </a:r>
            <a:endParaRPr lang="zh-TW" altLang="zh-TW" sz="36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427690" y="3221115"/>
            <a:ext cx="6184706" cy="821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 (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轉折複句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……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竟然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3" name="直線接點 12"/>
          <p:cNvCxnSpPr/>
          <p:nvPr/>
        </p:nvCxnSpPr>
        <p:spPr>
          <a:xfrm>
            <a:off x="2581986" y="4841194"/>
            <a:ext cx="13182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2581986" y="4189822"/>
            <a:ext cx="92127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原本萬里無雲的好天氣，竟然瞬間大雨傾盆而下。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Freeform 3"/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3" name="圖片 4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xmlns="" id="{0AC3BB5F-8EE0-6DD0-A419-BAB71AB70AF2}"/>
              </a:ext>
            </a:extLst>
          </p:cNvPr>
          <p:cNvSpPr/>
          <p:nvPr/>
        </p:nvSpPr>
        <p:spPr>
          <a:xfrm>
            <a:off x="2427690" y="5180685"/>
            <a:ext cx="6992620" cy="821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 (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條件複句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不管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，都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xmlns="" id="{E1E5924C-9EBC-0BF4-1F58-3A6E22BB2D1B}"/>
              </a:ext>
            </a:extLst>
          </p:cNvPr>
          <p:cNvCxnSpPr/>
          <p:nvPr/>
        </p:nvCxnSpPr>
        <p:spPr>
          <a:xfrm>
            <a:off x="2574471" y="6796878"/>
            <a:ext cx="13182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22E7CA14-F8AF-24B3-A952-A7A98093A39F}"/>
              </a:ext>
            </a:extLst>
          </p:cNvPr>
          <p:cNvSpPr/>
          <p:nvPr/>
        </p:nvSpPr>
        <p:spPr>
          <a:xfrm>
            <a:off x="2574471" y="6145506"/>
            <a:ext cx="89050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不管是籃球、羽毛球還是棒球，哥哥都很拿手。 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D6B494F0-6516-7C72-F462-8B4E63524687}"/>
              </a:ext>
            </a:extLst>
          </p:cNvPr>
          <p:cNvSpPr/>
          <p:nvPr/>
        </p:nvSpPr>
        <p:spPr>
          <a:xfrm>
            <a:off x="2422610" y="7205920"/>
            <a:ext cx="7685117" cy="821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3. (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假設複句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一      旦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，就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xmlns="" id="{30094882-7FAF-9155-0F46-765AE076E5F7}"/>
              </a:ext>
            </a:extLst>
          </p:cNvPr>
          <p:cNvCxnSpPr/>
          <p:nvPr/>
        </p:nvCxnSpPr>
        <p:spPr>
          <a:xfrm>
            <a:off x="2569391" y="8822113"/>
            <a:ext cx="13182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48382D8F-3F26-5C34-F12F-AAD1C454A0E3}"/>
              </a:ext>
            </a:extLst>
          </p:cNvPr>
          <p:cNvSpPr/>
          <p:nvPr/>
        </p:nvSpPr>
        <p:spPr>
          <a:xfrm>
            <a:off x="2569391" y="8170741"/>
            <a:ext cx="634019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一旦發生火災，警報器就會響起。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66802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2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194A3C9-8F89-8386-71FA-81E3D9DD8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226CE89A-72F3-95A4-56E2-EA8282CD9B4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xmlns="" id="{C4405C6E-E157-EBBF-B868-AABA2068074E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xmlns="" id="{1CF7C02D-E87A-ACC5-A12B-720B29EA9467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xmlns="" id="{BF064B56-B3BE-3256-CCBA-8D9F68FF5004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xmlns="" id="{113ACC72-7952-8168-BF8F-E562CB27B7CD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52A8C4A7-BE27-4476-F9BF-E6D66F73F943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xmlns="" id="{4575ACB7-D50C-B435-5D90-D14BB6301E68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05FC4872-98EE-B055-AC7B-D079BE2F80A6}"/>
              </a:ext>
            </a:extLst>
          </p:cNvPr>
          <p:cNvGrpSpPr/>
          <p:nvPr/>
        </p:nvGrpSpPr>
        <p:grpSpPr>
          <a:xfrm>
            <a:off x="1398217" y="537705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B8C1C258-7386-8B97-462D-CA6D22B0D99D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FCC52BD6-9344-E0A3-0F4E-9A0048A42B29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sz="11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xmlns="" id="{39CDB322-2A96-5964-3745-259CDA96ABFB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xmlns="" id="{7DBE1789-177D-A11F-FC1A-CA9076B8743C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xmlns="" id="{BCF81B2B-4B79-7D92-1877-C8BC25A48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暖身題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EEDC7BC6-EBCD-228A-3B5E-548BFE8AF93A}"/>
              </a:ext>
            </a:extLst>
          </p:cNvPr>
          <p:cNvSpPr/>
          <p:nvPr/>
        </p:nvSpPr>
        <p:spPr>
          <a:xfrm>
            <a:off x="2398451" y="2768924"/>
            <a:ext cx="14172443" cy="6161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本課課名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畫龍點睛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〉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是跟龍有關的成語，傳統上，龍象徵著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)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和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)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的力量。許多</a:t>
            </a:r>
            <a:r>
              <a:rPr lang="zh-TW" altLang="en-US" sz="40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中國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的諺語和成語都提到了龍，例如「望子成龍」和「龍馬精神」。</a:t>
            </a:r>
          </a:p>
          <a:p>
            <a:pPr>
              <a:lnSpc>
                <a:spcPts val="6000"/>
              </a:lnSpc>
            </a:pPr>
            <a:endParaRPr lang="zh-TW" altLang="en-US" sz="40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ts val="6000"/>
              </a:lnSpc>
            </a:pPr>
            <a:r>
              <a:rPr lang="zh-TW" altLang="en-US" sz="40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東漢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學者王符就認為，龍具有「兔眼、鹿角、牛嘴、駝頭、蜃腹、虎掌、鷹爪、魚鱗、蛇身」，九種動物合而為一的形象，請你試著辨別出這些不同的部位是從那些動物身上借來的吧！</a:t>
            </a:r>
          </a:p>
          <a:p>
            <a:pPr>
              <a:lnSpc>
                <a:spcPts val="6000"/>
              </a:lnSpc>
            </a:pPr>
            <a:endParaRPr lang="zh-TW" altLang="en-US" sz="40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7" name="Freeform 4">
            <a:extLst>
              <a:ext uri="{FF2B5EF4-FFF2-40B4-BE49-F238E27FC236}">
                <a16:creationId xmlns:a16="http://schemas.microsoft.com/office/drawing/2014/main" xmlns="" id="{C0FC8543-3436-A01E-748F-68B1C9C12DE6}"/>
              </a:ext>
            </a:extLst>
          </p:cNvPr>
          <p:cNvSpPr/>
          <p:nvPr/>
        </p:nvSpPr>
        <p:spPr>
          <a:xfrm>
            <a:off x="5312555" y="1050653"/>
            <a:ext cx="1211543" cy="932259"/>
          </a:xfrm>
          <a:custGeom>
            <a:avLst/>
            <a:gdLst/>
            <a:ahLst/>
            <a:cxnLst/>
            <a:rect l="l" t="t" r="r" b="b"/>
            <a:pathLst>
              <a:path w="3555018" h="3363936">
                <a:moveTo>
                  <a:pt x="0" y="0"/>
                </a:moveTo>
                <a:lnTo>
                  <a:pt x="3555018" y="0"/>
                </a:lnTo>
                <a:lnTo>
                  <a:pt x="3555018" y="3363937"/>
                </a:lnTo>
                <a:lnTo>
                  <a:pt x="0" y="33639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8" name="圖片 47">
            <a:extLst>
              <a:ext uri="{FF2B5EF4-FFF2-40B4-BE49-F238E27FC236}">
                <a16:creationId xmlns:a16="http://schemas.microsoft.com/office/drawing/2014/main" xmlns="" id="{8D50564C-1284-8A6F-6976-5F819DBF9C2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xmlns="" id="{0926AFD2-C814-7331-371F-D5B163581ABC}"/>
              </a:ext>
            </a:extLst>
          </p:cNvPr>
          <p:cNvSpPr/>
          <p:nvPr/>
        </p:nvSpPr>
        <p:spPr>
          <a:xfrm>
            <a:off x="2819400" y="3619500"/>
            <a:ext cx="1210589" cy="7409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zh-TW" altLang="en-US" sz="40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強大</a:t>
            </a:r>
            <a:endParaRPr lang="zh-TW" altLang="zh-TW" sz="40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9FA50A94-1251-D63F-9962-00F49F040F7A}"/>
              </a:ext>
            </a:extLst>
          </p:cNvPr>
          <p:cNvSpPr/>
          <p:nvPr/>
        </p:nvSpPr>
        <p:spPr>
          <a:xfrm>
            <a:off x="5037811" y="3619500"/>
            <a:ext cx="1210589" cy="7409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zh-TW" altLang="en-US" sz="40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吉祥</a:t>
            </a:r>
            <a:endParaRPr lang="zh-TW" altLang="zh-TW" sz="40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75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4CAB83F-00F7-5708-1D38-38D5C12E1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CA2777EA-5540-561E-8ED6-34B7EB8BC66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xmlns="" id="{67FC45E2-E1FE-89FA-A051-D5453BC82BDE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xmlns="" id="{E8D3F9CD-4E78-DFEF-7757-8E1FD59EE5CB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xmlns="" id="{AD4DE3B4-5703-8447-CCD8-3DADD342B43B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xmlns="" id="{9EEFCDAA-5E27-DFDC-95F2-75D6A7BAF50B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31EFFEA9-394E-2C3A-79B3-EB6E4841698B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xmlns="" id="{48740C01-170F-F0B5-7E26-B72DECA09BA8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7FAF3DE8-B500-3A1D-1D68-30799EC1F37F}"/>
              </a:ext>
            </a:extLst>
          </p:cNvPr>
          <p:cNvGrpSpPr/>
          <p:nvPr/>
        </p:nvGrpSpPr>
        <p:grpSpPr>
          <a:xfrm>
            <a:off x="1398217" y="537705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34AF6095-68D6-C2B6-BB72-709845E30B9F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59502C91-E21A-4C82-705A-822B446F1533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sz="11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xmlns="" id="{BFD3666D-6F9E-0703-1ED3-249B29B75086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8" name="圖片 47">
            <a:extLst>
              <a:ext uri="{FF2B5EF4-FFF2-40B4-BE49-F238E27FC236}">
                <a16:creationId xmlns:a16="http://schemas.microsoft.com/office/drawing/2014/main" xmlns="" id="{7B75817A-E4F0-A620-F39B-DED29583F3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pic>
        <p:nvPicPr>
          <p:cNvPr id="10" name="圖片 9" descr="一張含有 寫生, 圖畫, 圖表, 線條藝術 的圖片&#10;&#10;自動產生的描述">
            <a:extLst>
              <a:ext uri="{FF2B5EF4-FFF2-40B4-BE49-F238E27FC236}">
                <a16:creationId xmlns:a16="http://schemas.microsoft.com/office/drawing/2014/main" xmlns="" id="{1F24D71D-95D4-DA3B-012D-803F4DBFAF1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95"/>
          <a:stretch/>
        </p:blipFill>
        <p:spPr bwMode="auto">
          <a:xfrm>
            <a:off x="5695122" y="522188"/>
            <a:ext cx="7030278" cy="907162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15940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4CAB83F-00F7-5708-1D38-38D5C12E1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CA2777EA-5540-561E-8ED6-34B7EB8BC66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xmlns="" id="{67FC45E2-E1FE-89FA-A051-D5453BC82BDE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xmlns="" id="{E8D3F9CD-4E78-DFEF-7757-8E1FD59EE5CB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xmlns="" id="{AD4DE3B4-5703-8447-CCD8-3DADD342B43B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xmlns="" id="{9EEFCDAA-5E27-DFDC-95F2-75D6A7BAF50B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31EFFEA9-394E-2C3A-79B3-EB6E4841698B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xmlns="" id="{48740C01-170F-F0B5-7E26-B72DECA09BA8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7FAF3DE8-B500-3A1D-1D68-30799EC1F37F}"/>
              </a:ext>
            </a:extLst>
          </p:cNvPr>
          <p:cNvGrpSpPr/>
          <p:nvPr/>
        </p:nvGrpSpPr>
        <p:grpSpPr>
          <a:xfrm>
            <a:off x="1398217" y="537705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34AF6095-68D6-C2B6-BB72-709845E30B9F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59502C91-E21A-4C82-705A-822B446F1533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sz="11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xmlns="" id="{BFD3666D-6F9E-0703-1ED3-249B29B75086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8" name="圖片 47">
            <a:extLst>
              <a:ext uri="{FF2B5EF4-FFF2-40B4-BE49-F238E27FC236}">
                <a16:creationId xmlns:a16="http://schemas.microsoft.com/office/drawing/2014/main" xmlns="" id="{7B75817A-E4F0-A620-F39B-DED29583F3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pic>
        <p:nvPicPr>
          <p:cNvPr id="2050" name="Picture 2" descr="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830558"/>
            <a:ext cx="5943600" cy="840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647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/>
          <p:cNvGrpSpPr/>
          <p:nvPr/>
        </p:nvGrpSpPr>
        <p:grpSpPr>
          <a:xfrm>
            <a:off x="0" y="7699"/>
            <a:ext cx="18288000" cy="10287000"/>
            <a:chOff x="0" y="0"/>
            <a:chExt cx="18288000" cy="10287000"/>
          </a:xfrm>
        </p:grpSpPr>
        <p:sp>
          <p:nvSpPr>
            <p:cNvPr id="2" name="Freeform 2"/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525999" y="561269"/>
              <a:ext cx="15917348" cy="9164462"/>
              <a:chOff x="0" y="0"/>
              <a:chExt cx="3764577" cy="216746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347374" y="572822"/>
              <a:ext cx="15917348" cy="9164462"/>
              <a:chOff x="0" y="0"/>
              <a:chExt cx="3764577" cy="216746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629" y="98995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/>
          <p:cNvSpPr/>
          <p:nvPr/>
        </p:nvSpPr>
        <p:spPr>
          <a:xfrm>
            <a:off x="2084086" y="2330346"/>
            <a:ext cx="14856540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Q0 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呼應暖身題，本課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畫龍點睛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〉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是一篇記敘文形式的成語典故。</a:t>
            </a:r>
            <a:endParaRPr lang="zh-TW" altLang="zh-TW" sz="40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2" name="Freeform 7"/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8" name="圖片 3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34" name="圓角矩形 33"/>
          <p:cNvSpPr/>
          <p:nvPr/>
        </p:nvSpPr>
        <p:spPr>
          <a:xfrm>
            <a:off x="698774" y="8916775"/>
            <a:ext cx="7315200" cy="1141240"/>
          </a:xfrm>
          <a:prstGeom prst="roundRect">
            <a:avLst/>
          </a:prstGeom>
          <a:solidFill>
            <a:srgbClr val="FCD5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146574" y="9450761"/>
            <a:ext cx="762000" cy="4351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914400" y="8989993"/>
            <a:ext cx="701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心智圖架構提示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第一層 灰框、第二層 方框、第三層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800" u="db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底線</a:t>
            </a:r>
            <a:endParaRPr lang="zh-TW" altLang="en-US" sz="284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Freeform 2"/>
          <p:cNvSpPr/>
          <p:nvPr/>
        </p:nvSpPr>
        <p:spPr>
          <a:xfrm>
            <a:off x="32928" y="8112344"/>
            <a:ext cx="1313160" cy="1260562"/>
          </a:xfrm>
          <a:custGeom>
            <a:avLst/>
            <a:gdLst/>
            <a:ahLst/>
            <a:cxnLst/>
            <a:rect l="l" t="t" r="r" b="b"/>
            <a:pathLst>
              <a:path w="3688357" h="4114800">
                <a:moveTo>
                  <a:pt x="0" y="0"/>
                </a:moveTo>
                <a:lnTo>
                  <a:pt x="3688357" y="0"/>
                </a:lnTo>
                <a:lnTo>
                  <a:pt x="3688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CBEC00BE-CBEE-8F4B-8B51-2792A21C2BF7}"/>
              </a:ext>
            </a:extLst>
          </p:cNvPr>
          <p:cNvSpPr/>
          <p:nvPr/>
        </p:nvSpPr>
        <p:spPr>
          <a:xfrm>
            <a:off x="4356375" y="9498507"/>
            <a:ext cx="762000" cy="353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xmlns="" id="{ADE8FB10-C963-C3AE-E449-6CC2F2282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945190"/>
              </p:ext>
            </p:extLst>
          </p:nvPr>
        </p:nvGraphicFramePr>
        <p:xfrm>
          <a:off x="2092323" y="3733795"/>
          <a:ext cx="14717138" cy="4533905"/>
        </p:xfrm>
        <a:graphic>
          <a:graphicData uri="http://schemas.openxmlformats.org/drawingml/2006/table">
            <a:tbl>
              <a:tblPr bandRow="1"/>
              <a:tblGrid>
                <a:gridCol w="19175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199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1999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199900">
                  <a:extLst>
                    <a:ext uri="{9D8B030D-6E8A-4147-A177-3AD203B41FA5}">
                      <a16:colId xmlns:a16="http://schemas.microsoft.com/office/drawing/2014/main" xmlns="" val="1356933395"/>
                    </a:ext>
                  </a:extLst>
                </a:gridCol>
                <a:gridCol w="3199900">
                  <a:extLst>
                    <a:ext uri="{9D8B030D-6E8A-4147-A177-3AD203B41FA5}">
                      <a16:colId xmlns:a16="http://schemas.microsoft.com/office/drawing/2014/main" xmlns="" val="623196768"/>
                    </a:ext>
                  </a:extLst>
                </a:gridCol>
              </a:tblGrid>
              <a:tr h="1348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架構</a:t>
                      </a:r>
                      <a:endParaRPr lang="zh-TW" sz="36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起</a:t>
                      </a:r>
                      <a:endParaRPr lang="zh-TW" sz="36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承</a:t>
                      </a:r>
                      <a:endParaRPr lang="zh-TW" sz="36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轉</a:t>
                      </a:r>
                      <a:endParaRPr lang="zh-TW" sz="36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合</a:t>
                      </a:r>
                      <a:endParaRPr lang="zh-TW" sz="36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59283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6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意義段</a:t>
                      </a:r>
                      <a:endParaRPr lang="zh-TW" sz="3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600" u="sng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張僧繇</a:t>
                      </a:r>
                      <a:r>
                        <a:rPr lang="zh-TW" sz="36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的畫</a:t>
                      </a:r>
                      <a:endParaRPr lang="zh-TW" sz="36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維妙維肖</a:t>
                      </a:r>
                      <a:endParaRPr lang="zh-TW" sz="36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6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Times New Roman" panose="02020603050405020304" pitchFamily="18" charset="0"/>
                        </a:rPr>
                        <a:t>畫龍點睛前</a:t>
                      </a:r>
                      <a:endParaRPr lang="zh-TW" sz="3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6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Times New Roman" panose="02020603050405020304" pitchFamily="18" charset="0"/>
                        </a:rPr>
                        <a:t>畫龍點睛後</a:t>
                      </a:r>
                      <a:endParaRPr lang="zh-TW" sz="3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6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Times New Roman" panose="02020603050405020304" pitchFamily="18" charset="0"/>
                        </a:rPr>
                        <a:t>牆上只剩沒眼的龍</a:t>
                      </a:r>
                      <a:endParaRPr lang="zh-TW" sz="3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561307357"/>
                  </a:ext>
                </a:extLst>
              </a:tr>
              <a:tr h="159283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6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自然段</a:t>
                      </a:r>
                      <a:endParaRPr lang="zh-TW" sz="3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endParaRPr lang="zh-TW" sz="36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endParaRPr lang="zh-TW" sz="36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endParaRPr lang="zh-TW" sz="36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endParaRPr lang="zh-TW" sz="36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44FC9C00-23C2-B4BC-1228-60469BEE0C11}"/>
              </a:ext>
            </a:extLst>
          </p:cNvPr>
          <p:cNvSpPr/>
          <p:nvPr/>
        </p:nvSpPr>
        <p:spPr>
          <a:xfrm>
            <a:off x="5032769" y="7087380"/>
            <a:ext cx="1082348" cy="805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1-2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E3A1AF28-4223-1DEB-7DE9-8ACEDA9A0C63}"/>
              </a:ext>
            </a:extLst>
          </p:cNvPr>
          <p:cNvSpPr/>
          <p:nvPr/>
        </p:nvSpPr>
        <p:spPr>
          <a:xfrm>
            <a:off x="8368544" y="7087380"/>
            <a:ext cx="1082348" cy="805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3-4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A5818EC0-BBC1-48E6-3B2B-A7A87C18F691}"/>
              </a:ext>
            </a:extLst>
          </p:cNvPr>
          <p:cNvSpPr/>
          <p:nvPr/>
        </p:nvSpPr>
        <p:spPr>
          <a:xfrm>
            <a:off x="11506654" y="7087380"/>
            <a:ext cx="1082348" cy="805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5-7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CA37347F-2FB7-7E99-E70D-EEE5545AE9CB}"/>
              </a:ext>
            </a:extLst>
          </p:cNvPr>
          <p:cNvSpPr/>
          <p:nvPr/>
        </p:nvSpPr>
        <p:spPr>
          <a:xfrm>
            <a:off x="14535188" y="7087380"/>
            <a:ext cx="1390612" cy="805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98568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40" grpId="0"/>
      <p:bldP spid="27" grpId="0"/>
      <p:bldP spid="11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57905EC-AB82-1F86-B468-4675AC744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xmlns="" id="{50A33689-8B06-AB5C-6B2D-5AA49A874828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xmlns="" id="{B5E6ED69-AB92-C659-A461-21F2B4750E59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xmlns="" id="{1E8C28DB-3EDD-C627-627D-776B0BDD8131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xmlns="" id="{138766A0-4D9F-5D69-DE7C-9B0A72A30F97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D6110CCB-8909-0EED-CA53-FDF6EBA631FB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xmlns="" id="{0A09D417-1057-B47E-72DC-48003729CCBE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xmlns="" id="{D7EF0838-11B1-7F01-3635-E31CAEAE8614}"/>
              </a:ext>
            </a:extLst>
          </p:cNvPr>
          <p:cNvGrpSpPr/>
          <p:nvPr/>
        </p:nvGrpSpPr>
        <p:grpSpPr>
          <a:xfrm>
            <a:off x="-25734" y="0"/>
            <a:ext cx="18313734" cy="10311020"/>
            <a:chOff x="0" y="0"/>
            <a:chExt cx="18288000" cy="10287000"/>
          </a:xfrm>
        </p:grpSpPr>
        <p:sp>
          <p:nvSpPr>
            <p:cNvPr id="2" name="Freeform 2">
              <a:extLst>
                <a:ext uri="{FF2B5EF4-FFF2-40B4-BE49-F238E27FC236}">
                  <a16:creationId xmlns:a16="http://schemas.microsoft.com/office/drawing/2014/main" xmlns="" id="{9A1958F3-B4FD-C79D-6548-5E37CF12911F}"/>
                </a:ext>
              </a:extLst>
            </p:cNvPr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xmlns="" id="{6209DEEE-735E-9D17-23DE-19EABC7F0F38}"/>
                </a:ext>
              </a:extLst>
            </p:cNvPr>
            <p:cNvGrpSpPr/>
            <p:nvPr/>
          </p:nvGrpSpPr>
          <p:grpSpPr>
            <a:xfrm>
              <a:off x="1525999" y="454740"/>
              <a:ext cx="15917348" cy="9325556"/>
              <a:chOff x="0" y="-38100"/>
              <a:chExt cx="3764577" cy="2205567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xmlns="" id="{3447F7AF-91BC-A217-5FCA-A95F948D36BD}"/>
                  </a:ext>
                </a:extLst>
              </p:cNvPr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 dirty="0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xmlns="" id="{845688C7-7ADD-280C-2102-797405727BB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 sz="20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xmlns="" id="{22B21A51-41F9-C912-A914-4B4B7BBCE920}"/>
                </a:ext>
              </a:extLst>
            </p:cNvPr>
            <p:cNvSpPr/>
            <p:nvPr/>
          </p:nvSpPr>
          <p:spPr>
            <a:xfrm>
              <a:off x="922637" y="1050653"/>
              <a:ext cx="736712" cy="8185694"/>
            </a:xfrm>
            <a:custGeom>
              <a:avLst/>
              <a:gdLst/>
              <a:ahLst/>
              <a:cxnLst/>
              <a:rect l="l" t="t" r="r" b="b"/>
              <a:pathLst>
                <a:path w="736712" h="8185694">
                  <a:moveTo>
                    <a:pt x="0" y="0"/>
                  </a:moveTo>
                  <a:lnTo>
                    <a:pt x="736712" y="0"/>
                  </a:lnTo>
                  <a:lnTo>
                    <a:pt x="736712" y="8185694"/>
                  </a:lnTo>
                  <a:lnTo>
                    <a:pt x="0" y="8185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36" name="圖片 35">
            <a:extLst>
              <a:ext uri="{FF2B5EF4-FFF2-40B4-BE49-F238E27FC236}">
                <a16:creationId xmlns:a16="http://schemas.microsoft.com/office/drawing/2014/main" xmlns="" id="{781E6B88-273F-EDB5-4EF3-9B288488B63C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xmlns="" id="{CA4B1CB2-6A8B-5E9A-FF7A-F14D7D2A2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2786AE73-AB8F-C39E-1F69-825D0ED856C9}"/>
              </a:ext>
            </a:extLst>
          </p:cNvPr>
          <p:cNvSpPr/>
          <p:nvPr/>
        </p:nvSpPr>
        <p:spPr>
          <a:xfrm>
            <a:off x="0" y="153057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4C3B5399-5BEF-ACFA-9322-C362070D2081}"/>
              </a:ext>
            </a:extLst>
          </p:cNvPr>
          <p:cNvSpPr/>
          <p:nvPr/>
        </p:nvSpPr>
        <p:spPr>
          <a:xfrm>
            <a:off x="2229964" y="2315363"/>
            <a:ext cx="14142839" cy="1544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文本第一段所提到的大畫家是誰？他的繪畫功力如何？</a:t>
            </a:r>
          </a:p>
          <a:p>
            <a:pPr>
              <a:lnSpc>
                <a:spcPts val="6000"/>
              </a:lnSpc>
            </a:pP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大畫家名叫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   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，不管是花草、動物、人像都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      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xmlns="" id="{8507978A-C405-A0C7-83F2-5886D73A482C}"/>
              </a:ext>
            </a:extLst>
          </p:cNvPr>
          <p:cNvSpPr/>
          <p:nvPr/>
        </p:nvSpPr>
        <p:spPr>
          <a:xfrm>
            <a:off x="698774" y="8916775"/>
            <a:ext cx="7315200" cy="1141240"/>
          </a:xfrm>
          <a:prstGeom prst="roundRect">
            <a:avLst/>
          </a:prstGeom>
          <a:solidFill>
            <a:srgbClr val="FCD5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F3887854-ED2D-A7A3-117F-ABA389F0E15E}"/>
              </a:ext>
            </a:extLst>
          </p:cNvPr>
          <p:cNvSpPr/>
          <p:nvPr/>
        </p:nvSpPr>
        <p:spPr>
          <a:xfrm>
            <a:off x="2146574" y="9450761"/>
            <a:ext cx="762000" cy="4351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xmlns="" id="{AD44706B-6D6B-4801-ACAD-86B4CA09D451}"/>
              </a:ext>
            </a:extLst>
          </p:cNvPr>
          <p:cNvSpPr txBox="1"/>
          <p:nvPr/>
        </p:nvSpPr>
        <p:spPr>
          <a:xfrm>
            <a:off x="914400" y="8989993"/>
            <a:ext cx="701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心智圖架構提示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第一層 灰框、第二層 方框、第三層 </a:t>
            </a:r>
            <a:r>
              <a:rPr lang="zh-TW" altLang="en-US" sz="2840" u="db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底線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A38B8233-6022-E80E-A9B4-E25B1CA934F8}"/>
              </a:ext>
            </a:extLst>
          </p:cNvPr>
          <p:cNvSpPr/>
          <p:nvPr/>
        </p:nvSpPr>
        <p:spPr>
          <a:xfrm>
            <a:off x="4356375" y="9498507"/>
            <a:ext cx="762000" cy="353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xmlns="" id="{7C0AC8FF-7BCE-0BAA-C816-8CC1531CE14F}"/>
              </a:ext>
            </a:extLst>
          </p:cNvPr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5" name="Freeform 2">
            <a:extLst>
              <a:ext uri="{FF2B5EF4-FFF2-40B4-BE49-F238E27FC236}">
                <a16:creationId xmlns:a16="http://schemas.microsoft.com/office/drawing/2014/main" xmlns="" id="{2C8DF0D6-CC98-3D18-846E-E113C35DE6C4}"/>
              </a:ext>
            </a:extLst>
          </p:cNvPr>
          <p:cNvSpPr/>
          <p:nvPr/>
        </p:nvSpPr>
        <p:spPr>
          <a:xfrm>
            <a:off x="32928" y="8112344"/>
            <a:ext cx="1313160" cy="1260562"/>
          </a:xfrm>
          <a:custGeom>
            <a:avLst/>
            <a:gdLst/>
            <a:ahLst/>
            <a:cxnLst/>
            <a:rect l="l" t="t" r="r" b="b"/>
            <a:pathLst>
              <a:path w="3688357" h="4114800">
                <a:moveTo>
                  <a:pt x="0" y="0"/>
                </a:moveTo>
                <a:lnTo>
                  <a:pt x="3688357" y="0"/>
                </a:lnTo>
                <a:lnTo>
                  <a:pt x="3688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xmlns="" id="{02C2F818-4261-26DA-BF5C-9E034E85D89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1800" y="132784"/>
            <a:ext cx="2019197" cy="394683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75C49C41-58F3-6E6C-3263-CBA096964434}"/>
              </a:ext>
            </a:extLst>
          </p:cNvPr>
          <p:cNvSpPr/>
          <p:nvPr/>
        </p:nvSpPr>
        <p:spPr>
          <a:xfrm>
            <a:off x="4990015" y="3077635"/>
            <a:ext cx="8992570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u="sng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張僧繇</a:t>
            </a:r>
            <a:endParaRPr lang="zh-TW" altLang="zh-TW" sz="3600" b="1" u="sng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AE95E6F7-F270-0040-1EDC-E538648B0DB6}"/>
              </a:ext>
            </a:extLst>
          </p:cNvPr>
          <p:cNvSpPr/>
          <p:nvPr/>
        </p:nvSpPr>
        <p:spPr>
          <a:xfrm>
            <a:off x="13206715" y="3092387"/>
            <a:ext cx="8992570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維妙維肖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65D373AD-D7ED-DC4E-BED8-EF33293A4028}"/>
              </a:ext>
            </a:extLst>
          </p:cNvPr>
          <p:cNvSpPr/>
          <p:nvPr/>
        </p:nvSpPr>
        <p:spPr>
          <a:xfrm>
            <a:off x="2242176" y="4100515"/>
            <a:ext cx="14369424" cy="1544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根據第二段，舉了一個例子佐證他的繪畫功力了得，請你整理事情的經過。</a:t>
            </a:r>
          </a:p>
        </p:txBody>
      </p:sp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xmlns="" id="{5FFAEEA7-39A6-69AC-F74D-B35C35F83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187012"/>
              </p:ext>
            </p:extLst>
          </p:nvPr>
        </p:nvGraphicFramePr>
        <p:xfrm>
          <a:off x="4800600" y="5307542"/>
          <a:ext cx="11961401" cy="3092355"/>
        </p:xfrm>
        <a:graphic>
          <a:graphicData uri="http://schemas.openxmlformats.org/drawingml/2006/table">
            <a:tbl>
              <a:tblPr bandRow="1"/>
              <a:tblGrid>
                <a:gridCol w="1905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05640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0307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起因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(            )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因</a:t>
                      </a:r>
                      <a:r>
                        <a:rPr lang="en-US" alt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(            )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而困擾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0307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6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經過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(               )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在牆上畫兩隻</a:t>
                      </a:r>
                      <a:r>
                        <a:rPr lang="en-US" alt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(            )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0307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6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結果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(            )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嚇得不敢靠近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350503314"/>
                  </a:ext>
                </a:extLst>
              </a:tr>
            </a:tbl>
          </a:graphicData>
        </a:graphic>
      </p:graphicFrame>
      <p:sp>
        <p:nvSpPr>
          <p:cNvPr id="33" name="矩形 32">
            <a:extLst>
              <a:ext uri="{FF2B5EF4-FFF2-40B4-BE49-F238E27FC236}">
                <a16:creationId xmlns:a16="http://schemas.microsoft.com/office/drawing/2014/main" xmlns="" id="{5B8EC40F-6AA3-095E-69CD-0B249F5B4590}"/>
              </a:ext>
            </a:extLst>
          </p:cNvPr>
          <p:cNvSpPr/>
          <p:nvPr/>
        </p:nvSpPr>
        <p:spPr>
          <a:xfrm>
            <a:off x="7022596" y="5439931"/>
            <a:ext cx="1279199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和尚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xmlns="" id="{3A5F867F-B245-5801-0EAB-FEF9BD354BCC}"/>
              </a:ext>
            </a:extLst>
          </p:cNvPr>
          <p:cNvSpPr/>
          <p:nvPr/>
        </p:nvSpPr>
        <p:spPr>
          <a:xfrm>
            <a:off x="5179601" y="5539196"/>
            <a:ext cx="1221199" cy="622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xmlns="" id="{BB33C901-C556-61CC-ECC1-96CD55553B5E}"/>
              </a:ext>
            </a:extLst>
          </p:cNvPr>
          <p:cNvSpPr/>
          <p:nvPr/>
        </p:nvSpPr>
        <p:spPr>
          <a:xfrm>
            <a:off x="5185463" y="6581105"/>
            <a:ext cx="1221199" cy="622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xmlns="" id="{E7F2ACE3-08D0-5D3C-574D-377F3F0331BB}"/>
              </a:ext>
            </a:extLst>
          </p:cNvPr>
          <p:cNvSpPr/>
          <p:nvPr/>
        </p:nvSpPr>
        <p:spPr>
          <a:xfrm>
            <a:off x="5171818" y="7623014"/>
            <a:ext cx="1221199" cy="622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xmlns="" id="{B9D17900-2756-81F1-2E6C-982E0AA88EDB}"/>
              </a:ext>
            </a:extLst>
          </p:cNvPr>
          <p:cNvSpPr/>
          <p:nvPr/>
        </p:nvSpPr>
        <p:spPr>
          <a:xfrm>
            <a:off x="9188194" y="5420691"/>
            <a:ext cx="1279199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鳥糞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xmlns="" id="{CBD4464E-5740-35F3-4158-A31494F33213}"/>
              </a:ext>
            </a:extLst>
          </p:cNvPr>
          <p:cNvSpPr/>
          <p:nvPr/>
        </p:nvSpPr>
        <p:spPr>
          <a:xfrm>
            <a:off x="6978991" y="6441570"/>
            <a:ext cx="2069965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b="1" u="sng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張僧繇 </a:t>
            </a:r>
            <a:endParaRPr lang="zh-TW" altLang="en-US" sz="36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xmlns="" id="{65060032-901D-D232-8483-CFF28BCB3495}"/>
              </a:ext>
            </a:extLst>
          </p:cNvPr>
          <p:cNvSpPr/>
          <p:nvPr/>
        </p:nvSpPr>
        <p:spPr>
          <a:xfrm>
            <a:off x="11827201" y="6438900"/>
            <a:ext cx="1279199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老鷹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xmlns="" id="{506ADC49-3CFD-978B-EE3E-EFA78C63E424}"/>
              </a:ext>
            </a:extLst>
          </p:cNvPr>
          <p:cNvSpPr/>
          <p:nvPr/>
        </p:nvSpPr>
        <p:spPr>
          <a:xfrm>
            <a:off x="7069460" y="7507405"/>
            <a:ext cx="1279199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野鳥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34074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28" grpId="0"/>
      <p:bldP spid="14" grpId="0"/>
      <p:bldP spid="33" grpId="0"/>
      <p:bldP spid="46" grpId="0"/>
      <p:bldP spid="48" grpId="0"/>
      <p:bldP spid="49" grpId="0"/>
      <p:bldP spid="5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7381113-0D60-85FE-DFA4-DE111E90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xmlns="" id="{7ADCF27D-07DB-07D8-58E5-9F6012B38126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xmlns="" id="{025743A3-CEA9-F468-F9DF-E667A4223801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xmlns="" id="{8EAC0FF9-0611-BEAC-C6E3-2C0EC1A740D8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xmlns="" id="{63FDC8D1-FFBA-98D7-639B-A37720ADECED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886686B2-361A-FA31-3B2B-BE903E327600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xmlns="" id="{EF89F1A6-93FC-61A1-0CDD-AFAFBD5A6B04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xmlns="" id="{3A67C2EB-CF76-AEC6-B5C1-2F51898ABBBB}"/>
              </a:ext>
            </a:extLst>
          </p:cNvPr>
          <p:cNvGrpSpPr/>
          <p:nvPr/>
        </p:nvGrpSpPr>
        <p:grpSpPr>
          <a:xfrm>
            <a:off x="-25734" y="0"/>
            <a:ext cx="18313734" cy="10311020"/>
            <a:chOff x="0" y="0"/>
            <a:chExt cx="18288000" cy="10287000"/>
          </a:xfrm>
        </p:grpSpPr>
        <p:sp>
          <p:nvSpPr>
            <p:cNvPr id="2" name="Freeform 2">
              <a:extLst>
                <a:ext uri="{FF2B5EF4-FFF2-40B4-BE49-F238E27FC236}">
                  <a16:creationId xmlns:a16="http://schemas.microsoft.com/office/drawing/2014/main" xmlns="" id="{407826BB-E9B4-4EC4-72C5-3733FFE660F7}"/>
                </a:ext>
              </a:extLst>
            </p:cNvPr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xmlns="" id="{ED0B86B1-52E1-FCC3-5B44-A9E2837C7E1B}"/>
                </a:ext>
              </a:extLst>
            </p:cNvPr>
            <p:cNvGrpSpPr/>
            <p:nvPr/>
          </p:nvGrpSpPr>
          <p:grpSpPr>
            <a:xfrm>
              <a:off x="1525999" y="454740"/>
              <a:ext cx="15917348" cy="9325556"/>
              <a:chOff x="0" y="-38100"/>
              <a:chExt cx="3764577" cy="2205567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xmlns="" id="{2F813DEB-900E-A696-64E4-4B5B6365764B}"/>
                  </a:ext>
                </a:extLst>
              </p:cNvPr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 dirty="0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xmlns="" id="{4394916D-7D02-5ED1-14A9-1B6F0A891C8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 sz="20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xmlns="" id="{2E794DCF-5274-6442-F71C-F70E6ED5E5DC}"/>
                </a:ext>
              </a:extLst>
            </p:cNvPr>
            <p:cNvSpPr/>
            <p:nvPr/>
          </p:nvSpPr>
          <p:spPr>
            <a:xfrm>
              <a:off x="922637" y="1050653"/>
              <a:ext cx="736712" cy="8185694"/>
            </a:xfrm>
            <a:custGeom>
              <a:avLst/>
              <a:gdLst/>
              <a:ahLst/>
              <a:cxnLst/>
              <a:rect l="l" t="t" r="r" b="b"/>
              <a:pathLst>
                <a:path w="736712" h="8185694">
                  <a:moveTo>
                    <a:pt x="0" y="0"/>
                  </a:moveTo>
                  <a:lnTo>
                    <a:pt x="736712" y="0"/>
                  </a:lnTo>
                  <a:lnTo>
                    <a:pt x="736712" y="8185694"/>
                  </a:lnTo>
                  <a:lnTo>
                    <a:pt x="0" y="8185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36" name="圖片 35">
            <a:extLst>
              <a:ext uri="{FF2B5EF4-FFF2-40B4-BE49-F238E27FC236}">
                <a16:creationId xmlns:a16="http://schemas.microsoft.com/office/drawing/2014/main" xmlns="" id="{D3315813-B328-45E3-8EDA-160BC779BFCC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xmlns="" id="{A85EA4A9-AE3C-7D01-BE13-E643CADD9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6FCF09F2-C0C9-3ACD-AEEC-41414968DC52}"/>
              </a:ext>
            </a:extLst>
          </p:cNvPr>
          <p:cNvSpPr/>
          <p:nvPr/>
        </p:nvSpPr>
        <p:spPr>
          <a:xfrm>
            <a:off x="0" y="153057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B8315B5B-9CCC-BA82-C629-55982FD1554D}"/>
              </a:ext>
            </a:extLst>
          </p:cNvPr>
          <p:cNvSpPr/>
          <p:nvPr/>
        </p:nvSpPr>
        <p:spPr>
          <a:xfrm>
            <a:off x="2293469" y="2324100"/>
            <a:ext cx="15460824" cy="6161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Q3-1 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張僧繇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受邀到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安樂寺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做什麼事？ 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受邀至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安樂寺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)</a:t>
            </a:r>
          </a:p>
          <a:p>
            <a:pPr>
              <a:lnSpc>
                <a:spcPts val="6000"/>
              </a:lnSpc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Q3-2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有人追問他為何不畫眼睛時，他怎麼解釋？ 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張僧繇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解釋說，點上眼睛龍會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)</a:t>
            </a:r>
          </a:p>
          <a:p>
            <a:pPr>
              <a:lnSpc>
                <a:spcPts val="6000"/>
              </a:lnSpc>
            </a:pP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Q3-3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眾人爭鬧不休，最後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張僧繇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如何證明點睛的效果？ 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張僧繇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當場為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龍點上眼珠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xmlns="" id="{FD036261-C45F-052E-F953-89D29D51AEF2}"/>
              </a:ext>
            </a:extLst>
          </p:cNvPr>
          <p:cNvSpPr/>
          <p:nvPr/>
        </p:nvSpPr>
        <p:spPr>
          <a:xfrm>
            <a:off x="698774" y="8916775"/>
            <a:ext cx="7315200" cy="1141240"/>
          </a:xfrm>
          <a:prstGeom prst="roundRect">
            <a:avLst/>
          </a:prstGeom>
          <a:solidFill>
            <a:srgbClr val="FCD5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A998D416-60B8-7B64-F259-CDBB34260FD7}"/>
              </a:ext>
            </a:extLst>
          </p:cNvPr>
          <p:cNvSpPr/>
          <p:nvPr/>
        </p:nvSpPr>
        <p:spPr>
          <a:xfrm>
            <a:off x="2146574" y="9450761"/>
            <a:ext cx="762000" cy="4351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xmlns="" id="{66273726-6189-91D9-B15D-29902DC48929}"/>
              </a:ext>
            </a:extLst>
          </p:cNvPr>
          <p:cNvSpPr txBox="1"/>
          <p:nvPr/>
        </p:nvSpPr>
        <p:spPr>
          <a:xfrm>
            <a:off x="914400" y="8989993"/>
            <a:ext cx="701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心智圖架構提示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第一層 灰框、第二層 方框、第三層 </a:t>
            </a:r>
            <a:r>
              <a:rPr lang="zh-TW" altLang="en-US" sz="2840" u="db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底線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27B6A7A9-1544-B372-2B30-90A615567214}"/>
              </a:ext>
            </a:extLst>
          </p:cNvPr>
          <p:cNvSpPr/>
          <p:nvPr/>
        </p:nvSpPr>
        <p:spPr>
          <a:xfrm>
            <a:off x="4356375" y="9498507"/>
            <a:ext cx="762000" cy="353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xmlns="" id="{081ED8A8-142B-35FB-914F-149D68E025F7}"/>
              </a:ext>
            </a:extLst>
          </p:cNvPr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xmlns="" id="{45199AB6-2DD7-C73E-DC91-411643D8671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1800" y="132784"/>
            <a:ext cx="2019197" cy="394683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9EA9C884-14CD-666F-A346-149DA8548A27}"/>
              </a:ext>
            </a:extLst>
          </p:cNvPr>
          <p:cNvSpPr/>
          <p:nvPr/>
        </p:nvSpPr>
        <p:spPr>
          <a:xfrm>
            <a:off x="6854637" y="3136360"/>
            <a:ext cx="1374963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畫龍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xmlns="" id="{9A1E32AB-A123-BA0F-E983-AD72152234B7}"/>
              </a:ext>
            </a:extLst>
          </p:cNvPr>
          <p:cNvSpPr/>
          <p:nvPr/>
        </p:nvSpPr>
        <p:spPr>
          <a:xfrm>
            <a:off x="3656181" y="4687232"/>
            <a:ext cx="4954419" cy="6926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Freeform 2">
            <a:extLst>
              <a:ext uri="{FF2B5EF4-FFF2-40B4-BE49-F238E27FC236}">
                <a16:creationId xmlns:a16="http://schemas.microsoft.com/office/drawing/2014/main" xmlns="" id="{959616C6-85E1-50E4-9275-BD06ADEE5FC1}"/>
              </a:ext>
            </a:extLst>
          </p:cNvPr>
          <p:cNvSpPr/>
          <p:nvPr/>
        </p:nvSpPr>
        <p:spPr>
          <a:xfrm>
            <a:off x="32928" y="8112344"/>
            <a:ext cx="1313160" cy="1260562"/>
          </a:xfrm>
          <a:custGeom>
            <a:avLst/>
            <a:gdLst/>
            <a:ahLst/>
            <a:cxnLst/>
            <a:rect l="l" t="t" r="r" b="b"/>
            <a:pathLst>
              <a:path w="3688357" h="4114800">
                <a:moveTo>
                  <a:pt x="0" y="0"/>
                </a:moveTo>
                <a:lnTo>
                  <a:pt x="3688357" y="0"/>
                </a:lnTo>
                <a:lnTo>
                  <a:pt x="3688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595B061F-FB56-1DAC-0E0E-8EE93951C4A3}"/>
              </a:ext>
            </a:extLst>
          </p:cNvPr>
          <p:cNvSpPr/>
          <p:nvPr/>
        </p:nvSpPr>
        <p:spPr>
          <a:xfrm>
            <a:off x="10023881" y="5404815"/>
            <a:ext cx="1374963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飛走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C465D2A3-7E8A-A115-30E6-9E2BB8C510C7}"/>
              </a:ext>
            </a:extLst>
          </p:cNvPr>
          <p:cNvSpPr/>
          <p:nvPr/>
        </p:nvSpPr>
        <p:spPr>
          <a:xfrm>
            <a:off x="6833134" y="7694489"/>
            <a:ext cx="1374963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兩條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8151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28" grpId="0"/>
      <p:bldP spid="27" grpId="0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5EF975-F29E-1E46-D3C1-720F93920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xmlns="" id="{9DEF3478-CF76-FA69-7F21-5D8ADED0D634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xmlns="" id="{1E44913D-CC66-BCA6-D12F-75739AFB2868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xmlns="" id="{EB7709CA-F782-8870-379C-0D0609022A8A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xmlns="" id="{E2A6C67C-7EA2-355F-5032-E571589DFA98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DEF6E2B4-E00F-C96E-C06C-F6165C9EEEA5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xmlns="" id="{96A297E1-0299-C8AC-1092-F09C67F00B61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xmlns="" id="{345662C8-C329-D9F4-0E73-948B4B4C37E1}"/>
              </a:ext>
            </a:extLst>
          </p:cNvPr>
          <p:cNvGrpSpPr/>
          <p:nvPr/>
        </p:nvGrpSpPr>
        <p:grpSpPr>
          <a:xfrm>
            <a:off x="-25734" y="0"/>
            <a:ext cx="18313734" cy="10311020"/>
            <a:chOff x="0" y="0"/>
            <a:chExt cx="18288000" cy="10287000"/>
          </a:xfrm>
        </p:grpSpPr>
        <p:sp>
          <p:nvSpPr>
            <p:cNvPr id="2" name="Freeform 2">
              <a:extLst>
                <a:ext uri="{FF2B5EF4-FFF2-40B4-BE49-F238E27FC236}">
                  <a16:creationId xmlns:a16="http://schemas.microsoft.com/office/drawing/2014/main" xmlns="" id="{F7F88F6C-B997-D007-4305-34859F9C1731}"/>
                </a:ext>
              </a:extLst>
            </p:cNvPr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xmlns="" id="{1496F3CE-626B-EFD0-2CAE-7BBFD6C3BDE5}"/>
                </a:ext>
              </a:extLst>
            </p:cNvPr>
            <p:cNvGrpSpPr/>
            <p:nvPr/>
          </p:nvGrpSpPr>
          <p:grpSpPr>
            <a:xfrm>
              <a:off x="1525999" y="454740"/>
              <a:ext cx="15917348" cy="9325556"/>
              <a:chOff x="0" y="-38100"/>
              <a:chExt cx="3764577" cy="2205567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xmlns="" id="{FD85E2D8-86F1-68A6-0489-904398BA743E}"/>
                  </a:ext>
                </a:extLst>
              </p:cNvPr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 dirty="0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xmlns="" id="{EEFB42F8-9912-F20F-BA5A-B74871300AF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 sz="20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xmlns="" id="{C083986F-AAEB-1319-8E81-3E478FF49BDA}"/>
                </a:ext>
              </a:extLst>
            </p:cNvPr>
            <p:cNvSpPr/>
            <p:nvPr/>
          </p:nvSpPr>
          <p:spPr>
            <a:xfrm>
              <a:off x="922637" y="1050653"/>
              <a:ext cx="736712" cy="8185694"/>
            </a:xfrm>
            <a:custGeom>
              <a:avLst/>
              <a:gdLst/>
              <a:ahLst/>
              <a:cxnLst/>
              <a:rect l="l" t="t" r="r" b="b"/>
              <a:pathLst>
                <a:path w="736712" h="8185694">
                  <a:moveTo>
                    <a:pt x="0" y="0"/>
                  </a:moveTo>
                  <a:lnTo>
                    <a:pt x="736712" y="0"/>
                  </a:lnTo>
                  <a:lnTo>
                    <a:pt x="736712" y="8185694"/>
                  </a:lnTo>
                  <a:lnTo>
                    <a:pt x="0" y="8185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36" name="圖片 35">
            <a:extLst>
              <a:ext uri="{FF2B5EF4-FFF2-40B4-BE49-F238E27FC236}">
                <a16:creationId xmlns:a16="http://schemas.microsoft.com/office/drawing/2014/main" xmlns="" id="{D3BB7BF5-FDE7-EA45-8830-0EE9937661EF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xmlns="" id="{42EEF27C-0F32-1DA5-ECDE-E2687AA4D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CAB04E54-BDE9-CC6E-2DBD-EDDE3CD65BEB}"/>
              </a:ext>
            </a:extLst>
          </p:cNvPr>
          <p:cNvSpPr/>
          <p:nvPr/>
        </p:nvSpPr>
        <p:spPr>
          <a:xfrm>
            <a:off x="0" y="153057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F5E9CB8E-D3A1-1E4B-0896-4CBFFE229DB1}"/>
              </a:ext>
            </a:extLst>
          </p:cNvPr>
          <p:cNvSpPr/>
          <p:nvPr/>
        </p:nvSpPr>
        <p:spPr>
          <a:xfrm>
            <a:off x="2293469" y="2324100"/>
            <a:ext cx="15460824" cy="6930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Q4-1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當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張僧繇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為龍點睛時發生了什麼事？ 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點上眼珠的兩條龍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    )</a:t>
            </a:r>
          </a:p>
          <a:p>
            <a:pPr>
              <a:lnSpc>
                <a:spcPts val="6000"/>
              </a:lnSpc>
            </a:pP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Q4-2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圍觀的人有什麼反應？ 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圍觀眾人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    )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，無法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)</a:t>
            </a:r>
          </a:p>
          <a:p>
            <a:pPr>
              <a:lnSpc>
                <a:spcPts val="6000"/>
              </a:lnSpc>
            </a:pP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Q4-3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牆上最後留下了什麼？ 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牆上只剩下兩條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             )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的龍</a:t>
            </a:r>
          </a:p>
          <a:p>
            <a:pPr>
              <a:lnSpc>
                <a:spcPts val="6000"/>
              </a:lnSpc>
            </a:pP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xmlns="" id="{23A117D6-72D7-312B-C8B2-627FD9599A5E}"/>
              </a:ext>
            </a:extLst>
          </p:cNvPr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xmlns="" id="{20330D0A-2098-554F-431F-FA884205A93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1800" y="132784"/>
            <a:ext cx="2019197" cy="394683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99B3AB12-3CB5-EA11-B76F-D4EAF91813F3}"/>
              </a:ext>
            </a:extLst>
          </p:cNvPr>
          <p:cNvSpPr/>
          <p:nvPr/>
        </p:nvSpPr>
        <p:spPr>
          <a:xfrm>
            <a:off x="7497169" y="3086100"/>
            <a:ext cx="2289363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飛出牆壁 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E53ECCDA-4881-C7B8-2B72-F9060349963D}"/>
              </a:ext>
            </a:extLst>
          </p:cNvPr>
          <p:cNvSpPr/>
          <p:nvPr/>
        </p:nvSpPr>
        <p:spPr>
          <a:xfrm>
            <a:off x="5680481" y="5374681"/>
            <a:ext cx="2853919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目瞪口呆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37A7618E-CA54-99B9-09B3-CB4FA746C711}"/>
              </a:ext>
            </a:extLst>
          </p:cNvPr>
          <p:cNvSpPr/>
          <p:nvPr/>
        </p:nvSpPr>
        <p:spPr>
          <a:xfrm>
            <a:off x="9786532" y="5395966"/>
            <a:ext cx="1374963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回神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A57E8B85-FC93-8E74-0D47-565A351976C9}"/>
              </a:ext>
            </a:extLst>
          </p:cNvPr>
          <p:cNvSpPr/>
          <p:nvPr/>
        </p:nvSpPr>
        <p:spPr>
          <a:xfrm>
            <a:off x="7162800" y="7684547"/>
            <a:ext cx="3472268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沒有點眼珠子 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979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7" grpId="0"/>
      <p:bldP spid="2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8301964-516C-7189-49E5-B815EB1DF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26A0F681-D461-AA8F-2DB7-AFAD9B0ABC3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xmlns="" id="{3C5307CE-2A54-E5CD-788B-6470867D338B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xmlns="" id="{D275EAFF-3049-14B3-D0FA-1E65DBDE151E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xmlns="" id="{51E811E3-0B50-FC1C-277C-EFC600E050D9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xmlns="" id="{EE864899-4DE0-8F3B-0BFD-E2123AAE4A3F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6361F05B-7447-FA49-EFE6-F36FB087D4F0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xmlns="" id="{55D8691D-5E6B-DAA1-7E4B-18C77E8D8834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074BC103-A0F6-C093-7193-BBD21CD6C47F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A059877E-832F-80AE-1698-085C57A3F016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0F27880B-D0DF-EB41-0210-5D08ADDC9B9A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xmlns="" id="{5976A40D-17CC-F5F4-CF54-CBE8F757997E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xmlns="" id="{E17C197E-4E32-4FF1-BA5D-48A39EE0874C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8" name="文字方塊 2">
            <a:extLst>
              <a:ext uri="{FF2B5EF4-FFF2-40B4-BE49-F238E27FC236}">
                <a16:creationId xmlns:a16="http://schemas.microsoft.com/office/drawing/2014/main" xmlns="" id="{1BC995B6-8694-0A75-9A41-2A6EEE7B1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挑戰題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xmlns="" id="{7CEC0ED0-64E1-74DC-5BD4-148841BEF5F7}"/>
              </a:ext>
            </a:extLst>
          </p:cNvPr>
          <p:cNvSpPr/>
          <p:nvPr/>
        </p:nvSpPr>
        <p:spPr>
          <a:xfrm>
            <a:off x="5321218" y="953703"/>
            <a:ext cx="1558266" cy="1257300"/>
          </a:xfrm>
          <a:custGeom>
            <a:avLst/>
            <a:gdLst/>
            <a:ahLst/>
            <a:cxnLst/>
            <a:rect l="l" t="t" r="r" b="b"/>
            <a:pathLst>
              <a:path w="4101416" h="3434936">
                <a:moveTo>
                  <a:pt x="0" y="0"/>
                </a:moveTo>
                <a:lnTo>
                  <a:pt x="4101416" y="0"/>
                </a:lnTo>
                <a:lnTo>
                  <a:pt x="4101416" y="3434936"/>
                </a:lnTo>
                <a:lnTo>
                  <a:pt x="0" y="343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xmlns="" id="{DE54F3E8-63BF-CF5B-ECC3-ECA1EF2099E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xmlns="" id="{9C0B5643-056A-2971-1EE4-F728B786BD31}"/>
              </a:ext>
            </a:extLst>
          </p:cNvPr>
          <p:cNvSpPr/>
          <p:nvPr/>
        </p:nvSpPr>
        <p:spPr>
          <a:xfrm>
            <a:off x="2179784" y="2391721"/>
            <a:ext cx="14627071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 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張僧繇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「畫龍點睛」這則故事，想告訴我們什麼事情？</a:t>
            </a:r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xmlns="" id="{9B0260FA-C7D9-B4F3-14D8-88997F077386}"/>
              </a:ext>
            </a:extLst>
          </p:cNvPr>
          <p:cNvCxnSpPr>
            <a:cxnSpLocks/>
          </p:cNvCxnSpPr>
          <p:nvPr/>
        </p:nvCxnSpPr>
        <p:spPr>
          <a:xfrm>
            <a:off x="2573771" y="4150894"/>
            <a:ext cx="136430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D49B9B9A-9F60-9199-8A98-40480CE40D21}"/>
              </a:ext>
            </a:extLst>
          </p:cNvPr>
          <p:cNvSpPr/>
          <p:nvPr/>
        </p:nvSpPr>
        <p:spPr>
          <a:xfrm>
            <a:off x="2656507" y="3328155"/>
            <a:ext cx="13560332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同學自行作答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F228457E-4F86-9FD2-976D-B7E2384F2282}"/>
              </a:ext>
            </a:extLst>
          </p:cNvPr>
          <p:cNvSpPr/>
          <p:nvPr/>
        </p:nvSpPr>
        <p:spPr>
          <a:xfrm>
            <a:off x="2179783" y="4499641"/>
            <a:ext cx="14627071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延伸閱讀：請先閱讀成語小故事並回答問題。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xmlns="" id="{5FADD4E5-034F-7672-331F-859AF4346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314150"/>
              </p:ext>
            </p:extLst>
          </p:nvPr>
        </p:nvGraphicFramePr>
        <p:xfrm>
          <a:off x="2286745" y="5543869"/>
          <a:ext cx="14413146" cy="37073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13146">
                  <a:extLst>
                    <a:ext uri="{9D8B030D-6E8A-4147-A177-3AD203B41FA5}">
                      <a16:colId xmlns:a16="http://schemas.microsoft.com/office/drawing/2014/main" xmlns="" val="4270811568"/>
                    </a:ext>
                  </a:extLst>
                </a:gridCol>
              </a:tblGrid>
              <a:tr h="37073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揠苗助長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    很久以前，在一個小村莊裡，有位農夫希望自己的稻苗快快長高，於是每天細心地澆水、除草。然而，他覺得稻苗長得太慢了，心裡非常著急。有一天，農夫突然想到一個辦法：如果能將稻苗拔高一點，豈不是能讓它看起來長得更快？他立刻動手，把田裡的稻苗一棵棵往上拔。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3534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2870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8F256B3-F3CB-D569-E5FA-8416682DC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9E02046D-2871-290B-D771-20928A45DB2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xmlns="" id="{C6A1710C-6B12-B1A9-F72C-D5B0F8D93882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xmlns="" id="{7B2711F0-A687-C0A7-039F-BA1736D57157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xmlns="" id="{D8DE7BD0-4A23-4176-C22C-9911C01EF5E7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xmlns="" id="{FEA3FA10-2871-1F0B-D388-58D44D310AF7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67A3E4D5-84B2-2119-D90D-CE9849BA1A07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xmlns="" id="{02BD062B-05BD-0841-C3EE-F8694B7F9E2F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009BF3CB-D1D9-2459-FCB8-FC5798AD4B19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67B20C5C-F716-6D2E-CDFD-5A8B9B857162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5ED67FBF-741A-A260-F4C1-1B27E32AC496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xmlns="" id="{C73022F5-7E24-4A7F-87B9-28252B8E3A02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xmlns="" id="{F380A89F-A39C-747E-9430-CAFDFA40D8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xmlns="" id="{31E7091A-7674-C260-10E8-7E4EC5D29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376113"/>
              </p:ext>
            </p:extLst>
          </p:nvPr>
        </p:nvGraphicFramePr>
        <p:xfrm>
          <a:off x="2278100" y="1790700"/>
          <a:ext cx="14413146" cy="6934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13146">
                  <a:extLst>
                    <a:ext uri="{9D8B030D-6E8A-4147-A177-3AD203B41FA5}">
                      <a16:colId xmlns:a16="http://schemas.microsoft.com/office/drawing/2014/main" xmlns="" val="4270811568"/>
                    </a:ext>
                  </a:extLst>
                </a:gridCol>
              </a:tblGrid>
              <a:tr h="693420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TW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農夫的兒子看到田裡的稻苗變得參差不齊，連忙跑去問父親：「爸爸，你在做什麼？」農夫得意地回答：「我在幫稻苗長高呀！這樣它們就能更快地成熟了。」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    然而，第二天，農夫發現田裡的稻苗全都枯死了。他這才明白，稻苗的生長需要時間，急於求成只會害了它們。從此，農夫學會了耐心等待，也不再做類似的事情。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這個故事告訴我們，任何事物的成長都需要自然的過程，不能過於心急，否則可能適得其反。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3534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003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8679DE6-0995-84BA-F990-66B56BDA9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B3889AE4-6565-8FD3-DD9D-4373F00223E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xmlns="" id="{7C28C81A-CE00-4E24-95BE-DEF6532DDD28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xmlns="" id="{EF0A7BB2-BDF9-3440-8971-F275D094FDFB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xmlns="" id="{23E25D57-7B0B-7891-4D9A-C52B74D37F1C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xmlns="" id="{D6D1F394-5404-9D30-13D6-EFBAC84CD715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13F61F26-83B3-2C8A-3A0D-A1A2971B1CBE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xmlns="" id="{935B3C70-9B96-2DBD-DB1C-8C43CC18E0EA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67F0F83B-5F6E-CB0F-8673-FF2ABDF9570A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E7161026-4C66-12B6-12A5-8F60F14412B9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811AA806-F27A-BAB1-D448-D818B6D9BBAF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xmlns="" id="{B41C85E1-452A-B23A-97A1-9B12E9BAFC3C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xmlns="" id="{A077CC1C-DCAC-A50F-7F76-5AEF7E1CC60A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8" name="文字方塊 2">
            <a:extLst>
              <a:ext uri="{FF2B5EF4-FFF2-40B4-BE49-F238E27FC236}">
                <a16:creationId xmlns:a16="http://schemas.microsoft.com/office/drawing/2014/main" xmlns="" id="{BD1EA5C3-2BED-1893-3053-7DD8EC5EC1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挑戰題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xmlns="" id="{AC235B64-8AB9-DB72-56CF-2A11CEC641B5}"/>
              </a:ext>
            </a:extLst>
          </p:cNvPr>
          <p:cNvSpPr/>
          <p:nvPr/>
        </p:nvSpPr>
        <p:spPr>
          <a:xfrm>
            <a:off x="5321218" y="953703"/>
            <a:ext cx="1558266" cy="1257300"/>
          </a:xfrm>
          <a:custGeom>
            <a:avLst/>
            <a:gdLst/>
            <a:ahLst/>
            <a:cxnLst/>
            <a:rect l="l" t="t" r="r" b="b"/>
            <a:pathLst>
              <a:path w="4101416" h="3434936">
                <a:moveTo>
                  <a:pt x="0" y="0"/>
                </a:moveTo>
                <a:lnTo>
                  <a:pt x="4101416" y="0"/>
                </a:lnTo>
                <a:lnTo>
                  <a:pt x="4101416" y="3434936"/>
                </a:lnTo>
                <a:lnTo>
                  <a:pt x="0" y="343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xmlns="" id="{F6831077-6AF4-F3D8-8459-5A45135A43F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xmlns="" id="{47960842-949D-864F-294E-A0B3D5F7A870}"/>
              </a:ext>
            </a:extLst>
          </p:cNvPr>
          <p:cNvSpPr/>
          <p:nvPr/>
        </p:nvSpPr>
        <p:spPr>
          <a:xfrm>
            <a:off x="2134930" y="2535292"/>
            <a:ext cx="14627071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農夫為什麼想要將稻苗拔高？這說明了他對成長的看法有什麼問題？</a:t>
            </a:r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xmlns="" id="{F43A4493-F46C-D7AB-6B8E-6AEDA36981E4}"/>
              </a:ext>
            </a:extLst>
          </p:cNvPr>
          <p:cNvCxnSpPr>
            <a:cxnSpLocks/>
          </p:cNvCxnSpPr>
          <p:nvPr/>
        </p:nvCxnSpPr>
        <p:spPr>
          <a:xfrm>
            <a:off x="2622696" y="4325427"/>
            <a:ext cx="136430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1966B6D1-2587-EAB6-664F-C02A1FCCA61F}"/>
              </a:ext>
            </a:extLst>
          </p:cNvPr>
          <p:cNvSpPr/>
          <p:nvPr/>
        </p:nvSpPr>
        <p:spPr>
          <a:xfrm>
            <a:off x="2705432" y="3502688"/>
            <a:ext cx="13560332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同學自行作答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96B646C7-ED30-43A8-7704-F1D60E29BD8C}"/>
              </a:ext>
            </a:extLst>
          </p:cNvPr>
          <p:cNvSpPr/>
          <p:nvPr/>
        </p:nvSpPr>
        <p:spPr>
          <a:xfrm>
            <a:off x="2134930" y="4751745"/>
            <a:ext cx="14627071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你有過因為心急而導致事情失敗的經驗嗎？ </a:t>
            </a: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xmlns="" id="{5C6FF20E-E03A-035E-33EA-DD072F5CFFFE}"/>
              </a:ext>
            </a:extLst>
          </p:cNvPr>
          <p:cNvCxnSpPr>
            <a:cxnSpLocks/>
          </p:cNvCxnSpPr>
          <p:nvPr/>
        </p:nvCxnSpPr>
        <p:spPr>
          <a:xfrm>
            <a:off x="2622696" y="6541880"/>
            <a:ext cx="136430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6408E367-A43C-3BDE-54A2-291D20B3860E}"/>
              </a:ext>
            </a:extLst>
          </p:cNvPr>
          <p:cNvSpPr/>
          <p:nvPr/>
        </p:nvSpPr>
        <p:spPr>
          <a:xfrm>
            <a:off x="2705432" y="5719141"/>
            <a:ext cx="13560332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同學自行作答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77344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8"/>
            <a:ext cx="15917348" cy="9535231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90993" y="534978"/>
            <a:ext cx="15917348" cy="9535231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ea typeface="華康新綜藝體" panose="02010609000101010101" pitchFamily="49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矩形 14"/>
          <p:cNvSpPr/>
          <p:nvPr/>
        </p:nvSpPr>
        <p:spPr>
          <a:xfrm>
            <a:off x="6908097" y="1257300"/>
            <a:ext cx="104438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※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請根據每一題的題目與答案，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繪製成「課文心智圖」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課文心智圖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pic>
        <p:nvPicPr>
          <p:cNvPr id="9" name="圖片 8" descr="一張含有 文字, 螢幕擷取畫面, 軟體, 陳列 的圖片&#10;&#10;自動產生的描述">
            <a:extLst>
              <a:ext uri="{FF2B5EF4-FFF2-40B4-BE49-F238E27FC236}">
                <a16:creationId xmlns:a16="http://schemas.microsoft.com/office/drawing/2014/main" xmlns="" id="{28124B21-7E52-51EF-652E-BD0D6303F97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724" t="29555" r="2618" b="30381"/>
          <a:stretch/>
        </p:blipFill>
        <p:spPr bwMode="auto">
          <a:xfrm>
            <a:off x="1659349" y="3238500"/>
            <a:ext cx="15412442" cy="46416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54229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ea typeface="華康新綜藝體" panose="02010609000101010101" pitchFamily="49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5029200" y="4223193"/>
            <a:ext cx="933606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本課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MAPS</a:t>
            </a: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提問單學習完畢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!</a:t>
            </a:r>
            <a:endParaRPr lang="zh-TW" altLang="en-US" sz="60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077200" y="5372197"/>
            <a:ext cx="568671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下課啦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!</a:t>
            </a:r>
            <a:endParaRPr lang="zh-TW" altLang="en-US" sz="60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334" y="6745624"/>
            <a:ext cx="2530339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9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4991</TotalTime>
  <Words>1072</Words>
  <Application>Microsoft Office PowerPoint</Application>
  <PresentationFormat>自訂</PresentationFormat>
  <Paragraphs>211</Paragraphs>
  <Slides>16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30" baseType="lpstr">
      <vt:lpstr>More Sugar</vt:lpstr>
      <vt:lpstr>標楷體</vt:lpstr>
      <vt:lpstr>文鼎注音寬字</vt:lpstr>
      <vt:lpstr>微軟正黑體</vt:lpstr>
      <vt:lpstr>標楷體</vt:lpstr>
      <vt:lpstr>王漢宗特黑體</vt:lpstr>
      <vt:lpstr>Aptos</vt:lpstr>
      <vt:lpstr>微軟正黑體</vt:lpstr>
      <vt:lpstr>華康新綜藝體</vt:lpstr>
      <vt:lpstr>Calibri</vt:lpstr>
      <vt:lpstr>Times New Roman</vt:lpstr>
      <vt:lpstr>Arial</vt:lpstr>
      <vt:lpstr>新細明體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Orange Playful Illustration Memory Game Presentation</dc:title>
  <dc:creator>趙曼貽</dc:creator>
  <cp:lastModifiedBy>趙曼貽</cp:lastModifiedBy>
  <cp:revision>190</cp:revision>
  <dcterms:created xsi:type="dcterms:W3CDTF">2006-08-16T00:00:00Z</dcterms:created>
  <dcterms:modified xsi:type="dcterms:W3CDTF">2025-11-27T07:30:08Z</dcterms:modified>
  <dc:identifier>DAGOioWnJWE</dc:identifier>
</cp:coreProperties>
</file>