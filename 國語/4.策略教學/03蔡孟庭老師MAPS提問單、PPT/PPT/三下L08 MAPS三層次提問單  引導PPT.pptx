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329" r:id="rId4"/>
    <p:sldId id="270" r:id="rId5"/>
    <p:sldId id="319" r:id="rId6"/>
    <p:sldId id="316" r:id="rId7"/>
    <p:sldId id="330" r:id="rId8"/>
    <p:sldId id="286" r:id="rId9"/>
    <p:sldId id="320" r:id="rId10"/>
    <p:sldId id="322" r:id="rId11"/>
    <p:sldId id="288" r:id="rId12"/>
    <p:sldId id="331" r:id="rId13"/>
    <p:sldId id="332" r:id="rId14"/>
    <p:sldId id="333" r:id="rId15"/>
    <p:sldId id="318" r:id="rId16"/>
    <p:sldId id="279" r:id="rId17"/>
    <p:sldId id="295" r:id="rId18"/>
  </p:sldIdLst>
  <p:sldSz cx="18288000" cy="10287000"/>
  <p:notesSz cx="6858000" cy="9144000"/>
  <p:embeddedFontLst>
    <p:embeddedFont>
      <p:font typeface="華康新綜藝體" panose="02010609000101010101" pitchFamily="49" charset="0"/>
      <p:regular r:id="rId20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標楷體" panose="03000509000000000000" pitchFamily="49" charset="-120"/>
      <p:regular r:id="rId23"/>
    </p:embeddedFont>
    <p:embeddedFont>
      <p:font typeface="標楷體" panose="03000509000000000000" pitchFamily="49" charset="-12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2D0"/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47" autoAdjust="0"/>
    <p:restoredTop sz="94035" autoAdjust="0"/>
  </p:normalViewPr>
  <p:slideViewPr>
    <p:cSldViewPr>
      <p:cViewPr varScale="1">
        <p:scale>
          <a:sx n="56" d="100"/>
          <a:sy n="56" d="100"/>
        </p:scale>
        <p:origin x="232" y="7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613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DC25-181A-F6FE-E016-5D6355AA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945FB5-2C05-EA24-5B44-7C70D38C3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12EBAF4-B161-7EB3-12B6-E6976D505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F2393-69B9-526F-8E06-1776CBB3A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41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2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gif"/><Relationship Id="rId3" Type="http://schemas.openxmlformats.org/officeDocument/2006/relationships/image" Target="../media/image16.jpg"/><Relationship Id="rId7" Type="http://schemas.openxmlformats.org/officeDocument/2006/relationships/image" Target="../media/image28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10" Type="http://schemas.openxmlformats.org/officeDocument/2006/relationships/image" Target="../media/image31.gif"/><Relationship Id="rId4" Type="http://schemas.openxmlformats.org/officeDocument/2006/relationships/image" Target="../media/image26.png"/><Relationship Id="rId9" Type="http://schemas.openxmlformats.org/officeDocument/2006/relationships/image" Target="../media/image3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5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gif"/><Relationship Id="rId5" Type="http://schemas.openxmlformats.org/officeDocument/2006/relationships/image" Target="../media/image33.jpeg"/><Relationship Id="rId4" Type="http://schemas.openxmlformats.org/officeDocument/2006/relationships/image" Target="../media/image3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八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行人的守護者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81203"/>
              </p:ext>
            </p:extLst>
          </p:nvPr>
        </p:nvGraphicFramePr>
        <p:xfrm>
          <a:off x="1854873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護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獲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穫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者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考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老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19880"/>
              </p:ext>
            </p:extLst>
          </p:nvPr>
        </p:nvGraphicFramePr>
        <p:xfrm>
          <a:off x="40868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戶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保護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09612"/>
              </p:ext>
            </p:extLst>
          </p:nvPr>
        </p:nvGraphicFramePr>
        <p:xfrm>
          <a:off x="4086821" y="45453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或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獲得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0857"/>
              </p:ext>
            </p:extLst>
          </p:nvPr>
        </p:nvGraphicFramePr>
        <p:xfrm>
          <a:off x="4068682" y="51642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或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收穫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69941"/>
              </p:ext>
            </p:extLst>
          </p:nvPr>
        </p:nvGraphicFramePr>
        <p:xfrm>
          <a:off x="4086821" y="591129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者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學者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56942"/>
              </p:ext>
            </p:extLst>
          </p:nvPr>
        </p:nvGraphicFramePr>
        <p:xfrm>
          <a:off x="4086821" y="659424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考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考慮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316030"/>
              </p:ext>
            </p:extLst>
          </p:nvPr>
        </p:nvGraphicFramePr>
        <p:xfrm>
          <a:off x="4086821" y="727719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老師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885811"/>
              </p:ext>
            </p:extLst>
          </p:nvPr>
        </p:nvGraphicFramePr>
        <p:xfrm>
          <a:off x="9775847" y="3475305"/>
          <a:ext cx="7221158" cy="5878460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72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潑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7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撥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發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72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芒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茫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忙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607563"/>
                  </a:ext>
                </a:extLst>
              </a:tr>
              <a:tr h="69472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邁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719728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遇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08817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419856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波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活潑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729494"/>
              </p:ext>
            </p:extLst>
          </p:nvPr>
        </p:nvGraphicFramePr>
        <p:xfrm>
          <a:off x="11780588" y="450784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波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撥開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39382"/>
              </p:ext>
            </p:extLst>
          </p:nvPr>
        </p:nvGraphicFramePr>
        <p:xfrm>
          <a:off x="11780588" y="5182313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發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發行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076745"/>
              </p:ext>
            </p:extLst>
          </p:nvPr>
        </p:nvGraphicFramePr>
        <p:xfrm>
          <a:off x="11780588" y="585678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忙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+mn-cs"/>
                        </a:rPr>
                        <a:t>芒果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846438"/>
              </p:ext>
            </p:extLst>
          </p:nvPr>
        </p:nvGraphicFramePr>
        <p:xfrm>
          <a:off x="11798726" y="6531257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忙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茫然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1984CE7-2B05-57BB-6BD6-D1FE1C0EA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99950"/>
              </p:ext>
            </p:extLst>
          </p:nvPr>
        </p:nvGraphicFramePr>
        <p:xfrm>
          <a:off x="11816864" y="7258678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忙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忙碌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DCBF4E5B-DFA6-3D88-DD19-6A7E9404C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397549"/>
              </p:ext>
            </p:extLst>
          </p:nvPr>
        </p:nvGraphicFramePr>
        <p:xfrm>
          <a:off x="11798279" y="795372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邁步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22347846-37FB-CD47-7AA6-922064E34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11308"/>
              </p:ext>
            </p:extLst>
          </p:nvPr>
        </p:nvGraphicFramePr>
        <p:xfrm>
          <a:off x="11816417" y="8681142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相遇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389F-E46B-B3FE-05FA-0360A670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3500EC-D758-12B0-FEB1-DE592DBA3B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E343C7D-20C1-9C08-DEDD-50CD3C100820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F1B2B3-C0A9-558F-FD4F-D64A0A3C7492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920088-0398-854F-84D3-4D5555BE794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106E241-291F-45AF-6178-A503B9F779C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28C625-C93A-8CB1-84E8-E75CE20C75A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B0BB29-3A7E-43E5-E200-9D3A30DF001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0A74156-9F47-3B7F-1348-DCC99967CE23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BBB4CB4-CABB-BA6C-2111-19017870EFCD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D24F228-54DC-2B4C-65FD-6C5F9752F01D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FB0F350-9304-8A60-9AE2-216AB8D98FE3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FEB726D-F595-902C-8191-C9E2D225614C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309DFCA-53E1-8AAA-F5C5-34D88BF8BF25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F1140A4-3673-9593-5CD0-7F9BF055206B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F699627-2936-8A58-E2CE-B46BE4D46FBD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D35514E-DBA7-512A-6588-F3E0DBD11C26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39C7826-DB12-98A7-D3A2-ED8E68D6BE09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34C0854-F9C1-86C1-0223-12D67DCFC249}"/>
              </a:ext>
            </a:extLst>
          </p:cNvPr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D895B9D-94FC-660B-B4F0-173BE0EF0CB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4070964-A721-20DD-CFDF-15ABE2D63825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64CE6841-8ABC-DCAB-D034-D16FB4F9475E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4F37FA47-5870-7E0C-09C6-B9CEBFC0A206}"/>
              </a:ext>
            </a:extLst>
          </p:cNvPr>
          <p:cNvPicPr/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83C66D0E-A980-AEA6-F700-B9321FEF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3EDAFC78-B0A6-DCC4-6833-9D2E9CB3A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7269"/>
              </p:ext>
            </p:extLst>
          </p:nvPr>
        </p:nvGraphicFramePr>
        <p:xfrm>
          <a:off x="1834495" y="2936542"/>
          <a:ext cx="7593927" cy="3806270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徐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途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拾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</a:tbl>
          </a:graphicData>
        </a:graphic>
      </p:graphicFrame>
      <p:sp>
        <p:nvSpPr>
          <p:cNvPr id="43" name="Freeform 3">
            <a:extLst>
              <a:ext uri="{FF2B5EF4-FFF2-40B4-BE49-F238E27FC236}">
                <a16:creationId xmlns:a16="http://schemas.microsoft.com/office/drawing/2014/main" id="{3F9D93F8-4758-769A-F49C-E259D576C3BE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069FE228-6EC7-C36F-50E7-841FA83E788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F368785-75EB-425E-82CF-CA4A6DCE8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497684"/>
              </p:ext>
            </p:extLst>
          </p:nvPr>
        </p:nvGraphicFramePr>
        <p:xfrm>
          <a:off x="4066443" y="3177324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徐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徐行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83D71AD6-A5A6-C3D0-8EB1-23CE7854F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6843"/>
              </p:ext>
            </p:extLst>
          </p:nvPr>
        </p:nvGraphicFramePr>
        <p:xfrm>
          <a:off x="4066443" y="391249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圖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旅途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A211B6B7-FD6A-E452-8D50-1762DB9A2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665990"/>
              </p:ext>
            </p:extLst>
          </p:nvPr>
        </p:nvGraphicFramePr>
        <p:xfrm>
          <a:off x="4048304" y="463000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於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剩餘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D3C42B14-F588-0DB0-9198-37FBD5935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67035"/>
              </p:ext>
            </p:extLst>
          </p:nvPr>
        </p:nvGraphicFramePr>
        <p:xfrm>
          <a:off x="4066443" y="537700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台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抬高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672000A-CFD5-C826-E6D4-EE379FB3C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4419"/>
              </p:ext>
            </p:extLst>
          </p:nvPr>
        </p:nvGraphicFramePr>
        <p:xfrm>
          <a:off x="4066443" y="605995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收拾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7EB30528-1AC7-F616-2E48-1B5AFB9D1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56911"/>
              </p:ext>
            </p:extLst>
          </p:nvPr>
        </p:nvGraphicFramePr>
        <p:xfrm>
          <a:off x="9755469" y="2941016"/>
          <a:ext cx="7221158" cy="6573187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727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挺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7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庭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延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304881"/>
                  </a:ext>
                </a:extLst>
              </a:tr>
              <a:tr h="694727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9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607563"/>
                  </a:ext>
                </a:extLst>
              </a:tr>
              <a:tr h="69472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10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伐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719728"/>
                  </a:ext>
                </a:extLst>
              </a:tr>
              <a:tr h="6947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代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08817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132DA0AB-FEF1-0B99-E495-FCBF1ACF0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07557"/>
              </p:ext>
            </p:extLst>
          </p:nvPr>
        </p:nvGraphicFramePr>
        <p:xfrm>
          <a:off x="11760210" y="3265985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挺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筆挺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029B920E-9243-601C-9268-20563B67A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75466"/>
              </p:ext>
            </p:extLst>
          </p:nvPr>
        </p:nvGraphicFramePr>
        <p:xfrm>
          <a:off x="11760210" y="3973552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停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朝廷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C1F4FC5F-EE80-FC29-8D10-81BF08419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820820"/>
              </p:ext>
            </p:extLst>
          </p:nvPr>
        </p:nvGraphicFramePr>
        <p:xfrm>
          <a:off x="11760210" y="464802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停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庭院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B7ECB5CC-0805-8138-D94C-8C97EA571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495387"/>
              </p:ext>
            </p:extLst>
          </p:nvPr>
        </p:nvGraphicFramePr>
        <p:xfrm>
          <a:off x="11760210" y="5322496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顏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+mn-cs"/>
                        </a:rPr>
                        <a:t>延伸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B2B63453-E232-3983-B737-FEF68E358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99473"/>
              </p:ext>
            </p:extLst>
          </p:nvPr>
        </p:nvGraphicFramePr>
        <p:xfrm>
          <a:off x="11778348" y="5996968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造型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5CE94DBB-1C8B-824F-D7DD-542102DE4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620976"/>
              </p:ext>
            </p:extLst>
          </p:nvPr>
        </p:nvGraphicFramePr>
        <p:xfrm>
          <a:off x="11796486" y="6724389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形狀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56CAFD89-4EAE-71DC-BFBB-B99EEDFCC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022107"/>
              </p:ext>
            </p:extLst>
          </p:nvPr>
        </p:nvGraphicFramePr>
        <p:xfrm>
          <a:off x="11777901" y="7419432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刑責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86F1C88-0AD4-43BD-CF4D-9F3946594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31640"/>
              </p:ext>
            </p:extLst>
          </p:nvPr>
        </p:nvGraphicFramePr>
        <p:xfrm>
          <a:off x="11796039" y="8146853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發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砍伐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9FE5BDE6-FA18-2291-7078-242610962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80222"/>
              </p:ext>
            </p:extLst>
          </p:nvPr>
        </p:nvGraphicFramePr>
        <p:xfrm>
          <a:off x="11796039" y="8791376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帶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代替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42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10373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邁出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疾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徐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步伐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9A1A05-A313-504B-79CF-1454333A3EFB}"/>
              </a:ext>
            </a:extLst>
          </p:cNvPr>
          <p:cNvSpPr/>
          <p:nvPr/>
        </p:nvSpPr>
        <p:spPr>
          <a:xfrm>
            <a:off x="2540913" y="4158007"/>
            <a:ext cx="10373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FFD886-A0F5-273C-4A5C-F698C39A8E98}"/>
              </a:ext>
            </a:extLst>
          </p:cNvPr>
          <p:cNvSpPr/>
          <p:nvPr/>
        </p:nvSpPr>
        <p:spPr>
          <a:xfrm>
            <a:off x="2480753" y="5594223"/>
            <a:ext cx="7560083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認真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守護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著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行人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76600" y="4195503"/>
            <a:ext cx="160020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保持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190A8C-CCCA-EB77-49F6-4C62B456BCBD}"/>
              </a:ext>
            </a:extLst>
          </p:cNvPr>
          <p:cNvSpPr/>
          <p:nvPr/>
        </p:nvSpPr>
        <p:spPr>
          <a:xfrm>
            <a:off x="5496694" y="4171706"/>
            <a:ext cx="1208354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遠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C26019-76BE-5CEC-084F-0A69200291B6}"/>
              </a:ext>
            </a:extLst>
          </p:cNvPr>
          <p:cNvSpPr/>
          <p:nvPr/>
        </p:nvSpPr>
        <p:spPr>
          <a:xfrm>
            <a:off x="7160887" y="4171705"/>
            <a:ext cx="2059313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近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4B6713-D9EC-E6F5-5701-5FC6944DF2C1}"/>
              </a:ext>
            </a:extLst>
          </p:cNvPr>
          <p:cNvSpPr/>
          <p:nvPr/>
        </p:nvSpPr>
        <p:spPr>
          <a:xfrm>
            <a:off x="2997497" y="6411902"/>
            <a:ext cx="8889703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著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2AFEF2-C99B-D596-02C1-8C21C9EB057C}"/>
              </a:ext>
            </a:extLst>
          </p:cNvPr>
          <p:cNvSpPr/>
          <p:nvPr/>
        </p:nvSpPr>
        <p:spPr>
          <a:xfrm>
            <a:off x="3355474" y="6455593"/>
            <a:ext cx="1140326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疲憊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E0AC70-9778-308E-0C6F-A91DD2787534}"/>
              </a:ext>
            </a:extLst>
          </p:cNvPr>
          <p:cNvSpPr/>
          <p:nvPr/>
        </p:nvSpPr>
        <p:spPr>
          <a:xfrm>
            <a:off x="5752882" y="6452227"/>
            <a:ext cx="2122435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執行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020BE0-8241-53C2-0714-9EA7CCFB1351}"/>
              </a:ext>
            </a:extLst>
          </p:cNvPr>
          <p:cNvSpPr/>
          <p:nvPr/>
        </p:nvSpPr>
        <p:spPr>
          <a:xfrm>
            <a:off x="8092853" y="6472804"/>
            <a:ext cx="203742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任務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5E897F-5134-18CA-2599-4C7665EDC8AF}"/>
              </a:ext>
            </a:extLst>
          </p:cNvPr>
          <p:cNvSpPr/>
          <p:nvPr/>
        </p:nvSpPr>
        <p:spPr>
          <a:xfrm>
            <a:off x="8943158" y="4186544"/>
            <a:ext cx="2059313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距離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9" grpId="0"/>
      <p:bldP spid="23" grpId="0"/>
      <p:bldP spid="24" grpId="0"/>
      <p:bldP spid="25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A4DD-9BAD-EA17-B37E-5A54B845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6EDFA8-4A1B-28F3-11BA-DC14DB22EB2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B0A1F29-3CF7-5F1C-AEE8-0D56CD9390A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D4C533-EFA0-CEC4-6AFF-A871E07065A8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BD94B0-491D-C529-6D18-1B4FF41D5EFF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355CF83-6BA3-043A-AEAE-A4B40DDBBF6A}"/>
              </a:ext>
            </a:extLst>
          </p:cNvPr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8E51B7-E255-7C84-9D0B-B99F3FF6DE9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9399302-166C-634F-FFD5-12E398583720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83F8462-8139-B495-979A-7B1C4A5A18BA}"/>
              </a:ext>
            </a:extLst>
          </p:cNvPr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A841B7F-4119-8B2C-148C-FBA870ED65C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627FE8D-D619-DE74-E9DE-9E999F76995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2266D77-481A-6F27-6668-2F845429C9C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72F3CE2E-4B7A-AA79-223C-CC5EB7FBB88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>
            <a:extLst>
              <a:ext uri="{FF2B5EF4-FFF2-40B4-BE49-F238E27FC236}">
                <a16:creationId xmlns:a16="http://schemas.microsoft.com/office/drawing/2014/main" id="{EAE34BC8-2BE1-C3D6-B72E-710FE6B41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5DC5A75-0CDE-003D-7710-FD3074C9E90A}"/>
              </a:ext>
            </a:extLst>
          </p:cNvPr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三、造句練習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FB045-E104-7984-1DC5-9A80F87C833C}"/>
              </a:ext>
            </a:extLst>
          </p:cNvPr>
          <p:cNvSpPr/>
          <p:nvPr/>
        </p:nvSpPr>
        <p:spPr>
          <a:xfrm>
            <a:off x="2427690" y="3221115"/>
            <a:ext cx="10373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，總是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E9A28E93-A381-6AD0-6AF6-9B8F4D515D01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F92D9B0D-39E8-6DE2-C363-BEA301280F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21ED60D-1280-73C6-CD08-AB06700FB7E9}"/>
              </a:ext>
            </a:extLst>
          </p:cNvPr>
          <p:cNvCxnSpPr/>
          <p:nvPr/>
        </p:nvCxnSpPr>
        <p:spPr>
          <a:xfrm>
            <a:off x="3120021" y="49911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31211D8-657E-987B-3FE6-59F984368613}"/>
              </a:ext>
            </a:extLst>
          </p:cNvPr>
          <p:cNvSpPr/>
          <p:nvPr/>
        </p:nvSpPr>
        <p:spPr>
          <a:xfrm>
            <a:off x="3120021" y="4336797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不管發生什麼事，家人總是守護著我。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741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A3C9-8F89-8386-71FA-81E3D9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6CE89A-72F3-95A4-56E2-EA8282CD9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405C6E-E157-EBBF-B868-AABA2068074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F7C02D-E87A-ACC5-A12B-720B29EA946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064B56-B3BE-3256-CCBA-8D9F68FF500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13ACC72-7952-8168-BF8F-E562CB27B7C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A8C4A7-BE27-4476-F9BF-E6D66F73F94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75ACB7-D50C-B435-5D90-D14BB6301E6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FC4872-98EE-B055-AC7B-D079BE2F80A6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8C1C258-7386-8B97-462D-CA6D22B0D9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CC52BD6-9344-E0A3-0F4E-9A0048A42B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39CDB322-2A96-5964-3745-259CDA96ABF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DBE1789-177D-A11F-FC1A-CA9076B8743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BCF81B2B-4B79-7D92-1877-C8BC25A4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DC7BC6-EBCD-228A-3B5E-548BFE8AF93A}"/>
              </a:ext>
            </a:extLst>
          </p:cNvPr>
          <p:cNvSpPr/>
          <p:nvPr/>
        </p:nvSpPr>
        <p:spPr>
          <a:xfrm>
            <a:off x="2307060" y="2303559"/>
            <a:ext cx="14477243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生活中有許多常見的符號和標誌，請觀察下列的圖示，並寫出標誌代表的意思。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C0FC8543-3436-A01E-748F-68B1C9C12DE6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8D50564C-1284-8A6F-6976-5F819DBF9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33AF64F-E4D8-3010-8446-51BE13FD2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02563"/>
              </p:ext>
            </p:extLst>
          </p:nvPr>
        </p:nvGraphicFramePr>
        <p:xfrm>
          <a:off x="2434299" y="4159930"/>
          <a:ext cx="14222764" cy="5071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5691">
                  <a:extLst>
                    <a:ext uri="{9D8B030D-6E8A-4147-A177-3AD203B41FA5}">
                      <a16:colId xmlns:a16="http://schemas.microsoft.com/office/drawing/2014/main" val="2151721970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851288633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4146740277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1729494731"/>
                    </a:ext>
                  </a:extLst>
                </a:gridCol>
              </a:tblGrid>
              <a:tr h="40447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60677"/>
                  </a:ext>
                </a:extLst>
              </a:tr>
              <a:tr h="10264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75106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0FB80F7-90C0-C7E6-FE42-0F10F70FC65F}"/>
              </a:ext>
            </a:extLst>
          </p:cNvPr>
          <p:cNvSpPr/>
          <p:nvPr/>
        </p:nvSpPr>
        <p:spPr>
          <a:xfrm>
            <a:off x="2513759" y="84201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禁止任何車輛進入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2E81EC-B983-CFEA-3C84-F0D689E80311}"/>
              </a:ext>
            </a:extLst>
          </p:cNvPr>
          <p:cNvSpPr/>
          <p:nvPr/>
        </p:nvSpPr>
        <p:spPr>
          <a:xfrm>
            <a:off x="6844420" y="84201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最低限速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B537C2-6345-A415-FFBD-8894400FDB18}"/>
              </a:ext>
            </a:extLst>
          </p:cNvPr>
          <p:cNvSpPr/>
          <p:nvPr/>
        </p:nvSpPr>
        <p:spPr>
          <a:xfrm>
            <a:off x="10600515" y="84201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當心行人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9123F0-0411-16DE-388A-C17362AD3B1F}"/>
              </a:ext>
            </a:extLst>
          </p:cNvPr>
          <p:cNvSpPr/>
          <p:nvPr/>
        </p:nvSpPr>
        <p:spPr>
          <a:xfrm>
            <a:off x="14356610" y="8420100"/>
            <a:ext cx="1415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單行道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04C39292-0192-841F-78D8-734BC390F8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0" r="10248" b="21276"/>
          <a:stretch/>
        </p:blipFill>
        <p:spPr bwMode="auto">
          <a:xfrm>
            <a:off x="2819400" y="4832216"/>
            <a:ext cx="2701876" cy="27496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3BF8B09F-652B-DFDB-8909-0C3CEE77869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6" r="9728" b="22406"/>
          <a:stretch/>
        </p:blipFill>
        <p:spPr bwMode="auto">
          <a:xfrm>
            <a:off x="6435516" y="4832216"/>
            <a:ext cx="2736362" cy="27496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E4ADC942-8E6B-DB01-F156-7C0F0E22173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6" r="5766" b="21359"/>
          <a:stretch/>
        </p:blipFill>
        <p:spPr bwMode="auto">
          <a:xfrm>
            <a:off x="9954262" y="4979260"/>
            <a:ext cx="2819232" cy="25887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994AAE0-FB04-411A-FD71-8912A3F6FB1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7" t="13854" r="6516" b="31823"/>
          <a:stretch/>
        </p:blipFill>
        <p:spPr bwMode="auto">
          <a:xfrm>
            <a:off x="13336393" y="5298131"/>
            <a:ext cx="3122807" cy="19270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47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486F-C131-F8B1-B506-DE98AEDB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A49A0B-A602-57D7-2597-9275EACC9B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424D2BE-83C1-6C7F-AC5E-C846402DD39A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805593D-19D8-5E56-15CD-8B2C08BB5124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6D713B-00AF-5766-E0FA-8D8C5840AB0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D6C219-5663-36EB-17CA-04DED07983E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84E8DED-6031-6284-1892-58E6FB4965CC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6357B9-E068-AA08-3649-2CB2A9099E0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A28BDE8-E046-EB12-24D4-DBC6A3ADE037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6D818DE-257D-18AD-3603-E1633A4F106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79279AB-C8AA-22EB-E8FA-478D41F32CA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F1240FD8-7C03-B10D-1545-F93652CC2D11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E3F89081-72DB-8984-6016-158B0DFA84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7052980-A0AB-A3D1-DC6D-A96B49650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045786"/>
              </p:ext>
            </p:extLst>
          </p:nvPr>
        </p:nvGraphicFramePr>
        <p:xfrm>
          <a:off x="2376075" y="1480467"/>
          <a:ext cx="14222764" cy="5071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5691">
                  <a:extLst>
                    <a:ext uri="{9D8B030D-6E8A-4147-A177-3AD203B41FA5}">
                      <a16:colId xmlns:a16="http://schemas.microsoft.com/office/drawing/2014/main" val="2151721970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851288633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4146740277"/>
                    </a:ext>
                  </a:extLst>
                </a:gridCol>
                <a:gridCol w="3555691">
                  <a:extLst>
                    <a:ext uri="{9D8B030D-6E8A-4147-A177-3AD203B41FA5}">
                      <a16:colId xmlns:a16="http://schemas.microsoft.com/office/drawing/2014/main" val="1729494731"/>
                    </a:ext>
                  </a:extLst>
                </a:gridCol>
              </a:tblGrid>
              <a:tr h="404479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sz="1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60677"/>
                  </a:ext>
                </a:extLst>
              </a:tr>
              <a:tr h="10264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75106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85F0C36-3566-5830-D282-4B085ADAF8DC}"/>
              </a:ext>
            </a:extLst>
          </p:cNvPr>
          <p:cNvSpPr/>
          <p:nvPr/>
        </p:nvSpPr>
        <p:spPr>
          <a:xfrm>
            <a:off x="3185348" y="573713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當心兒童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DECC03-64D7-3B07-3AE4-A47211B96857}"/>
              </a:ext>
            </a:extLst>
          </p:cNvPr>
          <p:cNvSpPr/>
          <p:nvPr/>
        </p:nvSpPr>
        <p:spPr>
          <a:xfrm>
            <a:off x="6915726" y="576503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道路施工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077CAA3-BEE0-1130-A3F9-163BF41C7339}"/>
              </a:ext>
            </a:extLst>
          </p:cNvPr>
          <p:cNvSpPr/>
          <p:nvPr/>
        </p:nvSpPr>
        <p:spPr>
          <a:xfrm>
            <a:off x="9829345" y="5741493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機慢車兩段左轉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47C1A8-96C8-E242-6874-264B250567EC}"/>
              </a:ext>
            </a:extLst>
          </p:cNvPr>
          <p:cNvSpPr/>
          <p:nvPr/>
        </p:nvSpPr>
        <p:spPr>
          <a:xfrm>
            <a:off x="13923519" y="5739972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禁止停車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EF244EF-AD42-92E8-56C4-224125183F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47"/>
          <a:stretch/>
        </p:blipFill>
        <p:spPr bwMode="auto">
          <a:xfrm>
            <a:off x="2421337" y="1996540"/>
            <a:ext cx="3448286" cy="26274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DF218FC-DE1F-6F21-1E7F-9038EAE78A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77"/>
          <a:stretch/>
        </p:blipFill>
        <p:spPr bwMode="auto">
          <a:xfrm>
            <a:off x="6226462" y="1996540"/>
            <a:ext cx="2917538" cy="29066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36F5715-876B-3513-56F1-B38360D8C8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3" r="12144" b="24477"/>
          <a:stretch/>
        </p:blipFill>
        <p:spPr bwMode="auto">
          <a:xfrm>
            <a:off x="9860726" y="2008620"/>
            <a:ext cx="2994487" cy="29066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5B22D91-8D90-C2E6-6209-498DAC484A1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5" r="13277" b="22218"/>
          <a:stretch/>
        </p:blipFill>
        <p:spPr bwMode="auto">
          <a:xfrm>
            <a:off x="13422736" y="2167821"/>
            <a:ext cx="2795120" cy="27474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F422588-C6CE-7390-228E-07852A5CFE1B}"/>
              </a:ext>
            </a:extLst>
          </p:cNvPr>
          <p:cNvSpPr/>
          <p:nvPr/>
        </p:nvSpPr>
        <p:spPr>
          <a:xfrm>
            <a:off x="2426177" y="7036547"/>
            <a:ext cx="13825133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在過馬路時，除了會看到上述的標誌，還會看到那些東西呢？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1A5C1818-497D-4F5A-3AA3-814DF26AB7A6}"/>
              </a:ext>
            </a:extLst>
          </p:cNvPr>
          <p:cNvCxnSpPr/>
          <p:nvPr/>
        </p:nvCxnSpPr>
        <p:spPr>
          <a:xfrm>
            <a:off x="3118509" y="8806532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BBE52B4-F50E-A28E-5354-81ABC4352A6D}"/>
              </a:ext>
            </a:extLst>
          </p:cNvPr>
          <p:cNvSpPr/>
          <p:nvPr/>
        </p:nvSpPr>
        <p:spPr>
          <a:xfrm>
            <a:off x="3118509" y="8152229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978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7" grpId="0"/>
      <p:bldP spid="28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223962" y="2471515"/>
            <a:ext cx="14561626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呼應暖身題，本課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行人守護者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是一篇介紹行人專用號誌和交通安全的記敘文。根據意義段，可以分為總說、分說和總結三個部分，請根據文章內容填入相應的自然段。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5A81E8D-E7E2-7B6A-1B27-A0794649B854}"/>
              </a:ext>
            </a:extLst>
          </p:cNvPr>
          <p:cNvSpPr/>
          <p:nvPr/>
        </p:nvSpPr>
        <p:spPr>
          <a:xfrm>
            <a:off x="6317968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D6F235-8956-BB2D-38F0-7BA38E7414C5}"/>
              </a:ext>
            </a:extLst>
          </p:cNvPr>
          <p:cNvSpPr/>
          <p:nvPr/>
        </p:nvSpPr>
        <p:spPr>
          <a:xfrm>
            <a:off x="9751536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9E5FE9-6EEF-5A9C-09CC-1E7198F8A6E1}"/>
              </a:ext>
            </a:extLst>
          </p:cNvPr>
          <p:cNvSpPr/>
          <p:nvPr/>
        </p:nvSpPr>
        <p:spPr>
          <a:xfrm>
            <a:off x="13106399" y="5737531"/>
            <a:ext cx="914400" cy="4615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2280EE37-55A5-48F7-1FFD-3F2402F8A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0021"/>
              </p:ext>
            </p:extLst>
          </p:nvPr>
        </p:nvGraphicFramePr>
        <p:xfrm>
          <a:off x="3547310" y="5219700"/>
          <a:ext cx="11692690" cy="2813154"/>
        </p:xfrm>
        <a:graphic>
          <a:graphicData uri="http://schemas.openxmlformats.org/drawingml/2006/table">
            <a:tbl>
              <a:tblPr bandRow="1"/>
              <a:tblGrid>
                <a:gridCol w="142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</a:tblGrid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總說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分說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總結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5D3EEE0A-C543-0476-63B0-827F48EB616B}"/>
              </a:ext>
            </a:extLst>
          </p:cNvPr>
          <p:cNvSpPr/>
          <p:nvPr/>
        </p:nvSpPr>
        <p:spPr>
          <a:xfrm>
            <a:off x="6519329" y="6928502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D21A8BD-A985-CB65-BBF0-C5C2B96070D2}"/>
              </a:ext>
            </a:extLst>
          </p:cNvPr>
          <p:cNvSpPr/>
          <p:nvPr/>
        </p:nvSpPr>
        <p:spPr>
          <a:xfrm>
            <a:off x="9751536" y="6928502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361C08-7B26-3C87-D424-D313A25326C4}"/>
              </a:ext>
            </a:extLst>
          </p:cNvPr>
          <p:cNvSpPr/>
          <p:nvPr/>
        </p:nvSpPr>
        <p:spPr>
          <a:xfrm>
            <a:off x="13022425" y="6923716"/>
            <a:ext cx="108234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4-5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0" grpId="0" animBg="1"/>
      <p:bldP spid="25" grpId="0" animBg="1"/>
      <p:bldP spid="26" grpId="0" animBg="1"/>
      <p:bldP spid="33" grpId="0"/>
      <p:bldP spid="34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02A4-CE0A-1136-937D-7B14680A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CEE8009-A12F-5E78-FA9A-4BD173A62CE1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9C988E-74F7-F9E7-5753-A693F2B9125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A79EFA0-64A6-6970-8EB4-294C75F4D6A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7D5ECB7-785D-4A33-42B5-A9E9CD21365C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D39D7B8-459D-1BBF-8258-A1598075E32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A76536-861F-2C92-1A0E-6D296F0875C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A1CDD7B-BF30-CAC3-7156-8DFA6AA85F95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86D3B0A0-FD4C-6D21-2197-BFDAD4A13287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2FACA163-BD73-65F6-F310-3D90A1E26F75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398C298-F58A-8B87-FFF8-761F1CBC63BA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47BDBAB-E882-DB6C-A82E-273838AFDB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01AA70A-A705-7267-CD15-C26937E4258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F84EF080-16ED-02C3-5E53-F2C6947AB5A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32A75FB1-9AD5-4058-5826-B11437ADC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B59A90-DA78-4098-C4A6-AD4B1BF36E81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2EF77CFA-398D-8804-1EC4-440BDAEEE1B8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792D050B-FAF8-83BC-65F7-C65E28C883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C3B84C0-6055-C3C7-EB55-EE9D9F3E8689}"/>
              </a:ext>
            </a:extLst>
          </p:cNvPr>
          <p:cNvSpPr/>
          <p:nvPr/>
        </p:nvSpPr>
        <p:spPr>
          <a:xfrm>
            <a:off x="2200375" y="2548599"/>
            <a:ext cx="14561626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根據課文第一段，提取重要訊息並完成下列表格。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2D921D91-3FCE-9552-7AB2-B636600C0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13674"/>
              </p:ext>
            </p:extLst>
          </p:nvPr>
        </p:nvGraphicFramePr>
        <p:xfrm>
          <a:off x="2255129" y="3627902"/>
          <a:ext cx="14411914" cy="2616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1226">
                  <a:extLst>
                    <a:ext uri="{9D8B030D-6E8A-4147-A177-3AD203B41FA5}">
                      <a16:colId xmlns:a16="http://schemas.microsoft.com/office/drawing/2014/main" val="2518480699"/>
                    </a:ext>
                  </a:extLst>
                </a:gridCol>
                <a:gridCol w="2099024">
                  <a:extLst>
                    <a:ext uri="{9D8B030D-6E8A-4147-A177-3AD203B41FA5}">
                      <a16:colId xmlns:a16="http://schemas.microsoft.com/office/drawing/2014/main" val="2920382684"/>
                    </a:ext>
                  </a:extLst>
                </a:gridCol>
                <a:gridCol w="5664995">
                  <a:extLst>
                    <a:ext uri="{9D8B030D-6E8A-4147-A177-3AD203B41FA5}">
                      <a16:colId xmlns:a16="http://schemas.microsoft.com/office/drawing/2014/main" val="3727190493"/>
                    </a:ext>
                  </a:extLst>
                </a:gridCol>
                <a:gridCol w="3147055">
                  <a:extLst>
                    <a:ext uri="{9D8B030D-6E8A-4147-A177-3AD203B41FA5}">
                      <a16:colId xmlns:a16="http://schemas.microsoft.com/office/drawing/2014/main" val="2190102905"/>
                    </a:ext>
                  </a:extLst>
                </a:gridCol>
                <a:gridCol w="1829614">
                  <a:extLst>
                    <a:ext uri="{9D8B030D-6E8A-4147-A177-3AD203B41FA5}">
                      <a16:colId xmlns:a16="http://schemas.microsoft.com/office/drawing/2014/main" val="644947562"/>
                    </a:ext>
                  </a:extLst>
                </a:gridCol>
              </a:tblGrid>
              <a:tr h="83341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主角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工作地點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工作內容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特徵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好同伴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5585"/>
                  </a:ext>
                </a:extLst>
              </a:tr>
              <a:tr h="17831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配合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引導行人走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)</a:t>
                      </a:r>
                      <a:endParaRPr lang="zh-TW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光芒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的身手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87838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188FC0D7-A0EB-78CC-B2BD-E6D172D0478D}"/>
              </a:ext>
            </a:extLst>
          </p:cNvPr>
          <p:cNvSpPr/>
          <p:nvPr/>
        </p:nvSpPr>
        <p:spPr>
          <a:xfrm>
            <a:off x="4267200" y="4891038"/>
            <a:ext cx="1662689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馬路口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79B279-744E-1AE9-3785-AC222313ADD6}"/>
              </a:ext>
            </a:extLst>
          </p:cNvPr>
          <p:cNvSpPr/>
          <p:nvPr/>
        </p:nvSpPr>
        <p:spPr>
          <a:xfrm>
            <a:off x="2409781" y="4891038"/>
            <a:ext cx="16626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6F8794-57DE-383D-FFE6-2E78AC7BDF86}"/>
              </a:ext>
            </a:extLst>
          </p:cNvPr>
          <p:cNvSpPr/>
          <p:nvPr/>
        </p:nvSpPr>
        <p:spPr>
          <a:xfrm>
            <a:off x="8763000" y="5327213"/>
            <a:ext cx="2433375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行人穿越道 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682345-6D03-9096-AE99-EBBD9D5D11FD}"/>
              </a:ext>
            </a:extLst>
          </p:cNvPr>
          <p:cNvSpPr/>
          <p:nvPr/>
        </p:nvSpPr>
        <p:spPr>
          <a:xfrm>
            <a:off x="8368312" y="4623187"/>
            <a:ext cx="1953436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倒數計時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5B322E-3BFD-25E0-981E-A5EC7E2915C0}"/>
              </a:ext>
            </a:extLst>
          </p:cNvPr>
          <p:cNvSpPr/>
          <p:nvPr/>
        </p:nvSpPr>
        <p:spPr>
          <a:xfrm>
            <a:off x="15009569" y="4902771"/>
            <a:ext cx="1662689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小紅人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9CC7DF-D072-C610-5A7E-AB73F44BC4A3}"/>
              </a:ext>
            </a:extLst>
          </p:cNvPr>
          <p:cNvSpPr/>
          <p:nvPr/>
        </p:nvSpPr>
        <p:spPr>
          <a:xfrm>
            <a:off x="12344400" y="4617320"/>
            <a:ext cx="16626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綠色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4032C4-80EE-A6C4-B53C-5E1A44BC72ED}"/>
              </a:ext>
            </a:extLst>
          </p:cNvPr>
          <p:cNvSpPr/>
          <p:nvPr/>
        </p:nvSpPr>
        <p:spPr>
          <a:xfrm>
            <a:off x="12198854" y="5340442"/>
            <a:ext cx="16626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活潑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8916323-6F57-1068-8FF7-602A4137D292}"/>
              </a:ext>
            </a:extLst>
          </p:cNvPr>
          <p:cNvSpPr/>
          <p:nvPr/>
        </p:nvSpPr>
        <p:spPr>
          <a:xfrm>
            <a:off x="2180273" y="6583249"/>
            <a:ext cx="14561626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Q2-1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小綠人最喜歡路口風光，當號誌出現小紅人或小綠人時分別代表什麼呢？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	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小紅人：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	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6B4C3C-D90D-D0A7-C9F6-BBF80487CA50}"/>
              </a:ext>
            </a:extLst>
          </p:cNvPr>
          <p:cNvSpPr/>
          <p:nvPr/>
        </p:nvSpPr>
        <p:spPr>
          <a:xfrm>
            <a:off x="4786238" y="8021475"/>
            <a:ext cx="9075306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代表行人可以安全地穿越馬路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D0AB6C9-6E09-6A49-7705-A24EFAE06DFE}"/>
              </a:ext>
            </a:extLst>
          </p:cNvPr>
          <p:cNvSpPr/>
          <p:nvPr/>
        </p:nvSpPr>
        <p:spPr>
          <a:xfrm>
            <a:off x="4822293" y="7268653"/>
            <a:ext cx="3199115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代表不能過馬路</a:t>
            </a:r>
          </a:p>
        </p:txBody>
      </p:sp>
    </p:spTree>
    <p:extLst>
      <p:ext uri="{BB962C8B-B14F-4D97-AF65-F5344CB8AC3E}">
        <p14:creationId xmlns:p14="http://schemas.microsoft.com/office/powerpoint/2010/main" val="115960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0" grpId="0"/>
      <p:bldP spid="25" grpId="0"/>
      <p:bldP spid="26" grpId="0"/>
      <p:bldP spid="28" grpId="0"/>
      <p:bldP spid="29" grpId="0"/>
      <p:bldP spid="31" grpId="0"/>
      <p:bldP spid="34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4FD4-E9EB-B8EB-0FEB-57C2F5B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E55A036-5690-0AA2-FD8E-BD25972ED2F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7847BBA-2C3A-8AAC-6CC1-C41E7C4F0BFC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A14548-D90D-6245-04D9-6EFC70A7C4B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C30F271-137C-714A-074A-9EEAAE6CF2B0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998EE46-9EDB-5AD2-CEA1-C131C49C0FC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4DD8D89-2ACB-5C3A-5827-64597418C17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5DBD060-E089-D118-2AF8-8BA0E6FAF621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92971BDA-1AD8-D198-B21C-D72C33E98EB9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A73E539-CE8B-B622-415B-DAF1F7F458E4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1D7D5C2C-A31F-FB26-6780-97A31EE93F85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B2805BA6-AE5D-F149-8BCD-B9DE90A442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6962368-FFAB-1B2E-43C0-A0603B091160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03F3582B-6C29-59B4-4C64-01C9028184D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5A408983-FBF8-A4D0-D91A-DEC24F09F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91516-DBDC-5B07-27D8-367C96457ECA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C0C1914-05B9-F514-5758-09CBB8A6E3F1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73FF743F-61BB-58FC-0EA9-F68562455A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6A2FEC5-0038-8E0C-40E0-12A9017A6F40}"/>
              </a:ext>
            </a:extLst>
          </p:cNvPr>
          <p:cNvSpPr/>
          <p:nvPr/>
        </p:nvSpPr>
        <p:spPr>
          <a:xfrm>
            <a:off x="2258240" y="2421753"/>
            <a:ext cx="15183917" cy="5536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Q2-2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小綠人是如何引導行人的？</a:t>
            </a:r>
          </a:p>
          <a:p>
            <a:pPr>
              <a:lnSpc>
                <a:spcPct val="150000"/>
              </a:lnSpc>
            </a:pP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小綠人邁著</a:t>
            </a:r>
            <a:r>
              <a:rPr lang="en-US" altLang="zh-TW" sz="36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                     )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的步伐，引導行人安全通過馬路。</a:t>
            </a:r>
          </a:p>
          <a:p>
            <a:pPr>
              <a:lnSpc>
                <a:spcPct val="150000"/>
              </a:lnSpc>
            </a:pP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Q2-3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小綠人在倒數計時結束時會怎麼做？ </a:t>
            </a:r>
            <a:endParaRPr lang="en-US" altLang="zh-TW" sz="34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Q2-4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小綠人是如何守護行人的？</a:t>
            </a:r>
          </a:p>
          <a:p>
            <a:pPr>
              <a:lnSpc>
                <a:spcPct val="150000"/>
              </a:lnSpc>
            </a:pP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無論</a:t>
            </a: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)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       )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       )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       )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，小綠人都認真守護行人安全。</a:t>
            </a:r>
            <a:endParaRPr lang="en-US" altLang="zh-TW" sz="34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Q3-1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小綠人的心願是什麼？ 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                     )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出門，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                      )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回家</a:t>
            </a:r>
          </a:p>
          <a:p>
            <a:pPr>
              <a:lnSpc>
                <a:spcPct val="150000"/>
              </a:lnSpc>
            </a:pPr>
            <a:r>
              <a:rPr lang="en" altLang="zh-TW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Q3-2 </a:t>
            </a:r>
            <a:r>
              <a: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課文的最後一段，小綠人偷偷靠訴我們什麼呢？ </a:t>
            </a:r>
            <a:endParaRPr lang="en-US" altLang="zh-TW" sz="34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A6D069-001F-8AF5-E626-CA3CE45B5267}"/>
              </a:ext>
            </a:extLst>
          </p:cNvPr>
          <p:cNvSpPr/>
          <p:nvPr/>
        </p:nvSpPr>
        <p:spPr>
          <a:xfrm>
            <a:off x="6160023" y="3235273"/>
            <a:ext cx="3199115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不疾不徐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51D2EE-7B69-A1FE-B236-838526DD6CDB}"/>
              </a:ext>
            </a:extLst>
          </p:cNvPr>
          <p:cNvSpPr/>
          <p:nvPr/>
        </p:nvSpPr>
        <p:spPr>
          <a:xfrm>
            <a:off x="10515600" y="4011138"/>
            <a:ext cx="88513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加快步伐，引導行人加快腳步。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DA6A2-A94A-219B-4A28-BE21D159B640}"/>
              </a:ext>
            </a:extLst>
          </p:cNvPr>
          <p:cNvSpPr/>
          <p:nvPr/>
        </p:nvSpPr>
        <p:spPr>
          <a:xfrm>
            <a:off x="4485195" y="5581186"/>
            <a:ext cx="1143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白天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B0121D8-2536-877C-1E09-B8B748F6B69D}"/>
              </a:ext>
            </a:extLst>
          </p:cNvPr>
          <p:cNvSpPr/>
          <p:nvPr/>
        </p:nvSpPr>
        <p:spPr>
          <a:xfrm>
            <a:off x="6324600" y="5581186"/>
            <a:ext cx="1143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17C37F-0F7B-71DF-6BB7-A8EDEA5584A4}"/>
              </a:ext>
            </a:extLst>
          </p:cNvPr>
          <p:cNvSpPr/>
          <p:nvPr/>
        </p:nvSpPr>
        <p:spPr>
          <a:xfrm>
            <a:off x="8229600" y="5581186"/>
            <a:ext cx="1143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晴天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405FA2-FA1A-4046-B768-4013F24C09A2}"/>
              </a:ext>
            </a:extLst>
          </p:cNvPr>
          <p:cNvSpPr/>
          <p:nvPr/>
        </p:nvSpPr>
        <p:spPr>
          <a:xfrm>
            <a:off x="10210800" y="5581186"/>
            <a:ext cx="1143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雨天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CE9F34-8185-9AF7-4B78-0F465210B259}"/>
              </a:ext>
            </a:extLst>
          </p:cNvPr>
          <p:cNvSpPr/>
          <p:nvPr/>
        </p:nvSpPr>
        <p:spPr>
          <a:xfrm>
            <a:off x="8212459" y="6360334"/>
            <a:ext cx="21976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快快樂樂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F4F266-DCBD-03AC-C379-8919D99133D3}"/>
              </a:ext>
            </a:extLst>
          </p:cNvPr>
          <p:cNvSpPr/>
          <p:nvPr/>
        </p:nvSpPr>
        <p:spPr>
          <a:xfrm>
            <a:off x="12192000" y="6369964"/>
            <a:ext cx="2133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平平安安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3B4FD71-F5D5-CB30-3186-A9AA2646D3D6}"/>
              </a:ext>
            </a:extLst>
          </p:cNvPr>
          <p:cNvSpPr/>
          <p:nvPr/>
        </p:nvSpPr>
        <p:spPr>
          <a:xfrm>
            <a:off x="3403832" y="7968681"/>
            <a:ext cx="68069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小綠人還有很多不同的造型</a:t>
            </a:r>
          </a:p>
        </p:txBody>
      </p:sp>
    </p:spTree>
    <p:extLst>
      <p:ext uri="{BB962C8B-B14F-4D97-AF65-F5344CB8AC3E}">
        <p14:creationId xmlns:p14="http://schemas.microsoft.com/office/powerpoint/2010/main" val="172201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6" grpId="0"/>
      <p:bldP spid="27" grpId="0"/>
      <p:bldP spid="28" grpId="0"/>
      <p:bldP spid="29" grpId="0"/>
      <p:bldP spid="30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FC3EBA1-168D-9D6F-C496-220E72E0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579851"/>
              </p:ext>
            </p:extLst>
          </p:nvPr>
        </p:nvGraphicFramePr>
        <p:xfrm>
          <a:off x="2581986" y="4292196"/>
          <a:ext cx="13877214" cy="4623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77214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44761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動畫式行人專用號誌：守護行人的小幫手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當你走在馬路上，準備過斑馬線時，是否注意到馬路口有個「小綠人」或「小紅人」的燈號？這些燈號並不只是靜止不動的圖案，有些甚至會動起來！這就是動畫式行人專用號誌，它不僅更生動，還能有效地提醒行人安全過馬路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B8D67A9-D0A4-2D14-2540-62FFF797D714}"/>
              </a:ext>
            </a:extLst>
          </p:cNvPr>
          <p:cNvSpPr/>
          <p:nvPr/>
        </p:nvSpPr>
        <p:spPr>
          <a:xfrm>
            <a:off x="2581986" y="2455718"/>
            <a:ext cx="13877214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為了讓小朋友更熟悉本課的兩位「行人守護者」，不妨先閱讀文章，並回答問題。</a:t>
            </a:r>
          </a:p>
        </p:txBody>
      </p:sp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4F98-CBD7-6EBD-1683-C0765BA5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2E78EE-DC72-6AE6-0100-C8849D791BF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03DB5A1-E6F8-746A-1686-5C7505E710C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A974BCF-9DCD-2FD0-7B10-9499441008FD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A144DB8-B9FF-C724-1BC8-ACED896ED275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965B0C4-60EF-61D6-D72D-55BD2570D29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01AF1B-304B-9EC9-D892-786CC508FA08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28361D-6C36-9C7E-92A0-3E0D41D2B59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D816C4F-078C-91A3-99B6-5A529BDEB452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CCD0CFE-1362-5517-6DDD-C9DFF817EE4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1D112B1-D57A-0901-1F82-9341081CC89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069BF0AA-A9DA-B98E-2B68-C0BC948B5A1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5924739-AD40-3226-EC76-01631BD224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7D79494-926B-625C-0AE7-C8DE3D61A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036329"/>
              </p:ext>
            </p:extLst>
          </p:nvPr>
        </p:nvGraphicFramePr>
        <p:xfrm>
          <a:off x="2345336" y="1159101"/>
          <a:ext cx="14343716" cy="8185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4371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81856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動畫式號誌的誕生</a:t>
                      </a:r>
                      <a:endParaRPr lang="zh-TW" altLang="en-US" sz="3600" b="0" i="0" u="none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傳統的行人號誌燈大多是靜態的圖案，像是「站立的小紅人」代表禁止通行，而「走路的小綠人」代表可以通行。然而，這些靜態圖案有時候不能引起行人的注意，特別是在車流量大、燈光昏暗或行人分心的時候。於是，有些城市開始設計動畫式行人號誌，用流動的圖案來引起注意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例如，當綠燈亮起時，小綠人可能會邁開步伐，甚至在倒數計時快結束時，步伐會加快，提醒行人盡快穿越馬路。而當紅燈亮起時，小紅人會穩穩地站在那裡，有時甚至會揮手提醒行人不要貿然穿越。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458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A67F-0F9C-BC6A-4E1F-DD1426B7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CA857E-14B0-336F-B2F8-5FA87E86FE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5C73C03-4829-9694-8624-61E49867114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4D2CC9-C1E8-903D-97CE-B3F82FB3CE22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AB0C774-7555-4D46-9B9F-341C9AB54F55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340B038-D55E-4389-48B2-57F8E8EEDC10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17E35A-53CD-9AF7-93E4-77BA93157BF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74001EB-F886-5A2F-B711-30B5DFA95CF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F772C0-E329-4CD6-4268-9A07B1F9A82D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4210DAD-D8D8-5DB1-B9D1-D91D1EA4444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83D60C1-3986-56BA-2F70-A1670F7BF09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F011DED-B40B-B059-533A-0DBC07EF393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0A72ED8-6AE1-F280-B21A-175D0CE0B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618B038-4E62-74AB-8CBF-912044E50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45401"/>
              </p:ext>
            </p:extLst>
          </p:nvPr>
        </p:nvGraphicFramePr>
        <p:xfrm>
          <a:off x="2362200" y="1705756"/>
          <a:ext cx="14343716" cy="7092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4371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687999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動畫號誌的優點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動畫式行人號誌有幾個明顯的優點：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	</a:t>
                      </a: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提高注意力：動態的燈號更容易吸引行人的目光，特別是兒童或分心的行人。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2.	</a:t>
                      </a: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增強安全意識：動態圖像能更直觀地傳達「快走」或「停下」的訊息。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	</a:t>
                      </a: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友善且有趣：有些設計還加入了可愛的動作或表情，讓行人感到親切，進而願意遵守交通規則。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449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A22E-1DCA-9B68-B400-C15C8CC8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721A50-DC3A-3BF1-41D9-4D1A03FAAFC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FEB26A9-8489-4EE8-65B2-026DB02CD4C0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8D6F0FA-FC17-F05B-7D8E-B9D8A2A8C19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B7C4E60-776D-E3E8-B1C7-019D1B45DF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62A425D-FA0D-8B28-7C8D-8A31A356EFEA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7D0826A-3361-1722-0EBB-0F022EF58BB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D9CEC46-B866-35BC-39B2-4B27ED0D95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9700570-C1B1-6849-EBB2-249966AAB2C6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2888847-88C7-467E-D8A7-B5AED4FA543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412F862-6C40-BA98-2186-54BEB1F3C28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0E2BA635-3E1E-7415-FA2A-930840FD48FE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E86B2882-C924-096B-1383-52A61094B1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1D5900C-7959-7437-1E95-5F14E935D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51748"/>
              </p:ext>
            </p:extLst>
          </p:nvPr>
        </p:nvGraphicFramePr>
        <p:xfrm>
          <a:off x="2418285" y="774348"/>
          <a:ext cx="14343716" cy="8738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4371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83579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各地的動畫號誌</a:t>
                      </a:r>
                      <a:endParaRPr lang="zh-TW" altLang="en-US" sz="3600" b="0" i="0" u="none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在不同國家和城市，動畫式行人號誌各有特色。例如，台灣的小綠人號誌在倒數計時時會加快腳步，提醒行人抓緊時間。而在其他國家，還可能看到小綠人跳舞、揮手，甚至做出有趣的表情。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6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未來的發展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6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隨著科技進步，未來的行人號誌燈可能會更加智慧化，甚至與行人手機連線，提醒分心的行人注意安全。動畫式行人號誌不只是交通工具，更是現代城市中守護行人安全的重要角色。下次當你在馬路口等紅綠燈時，不妨多留意這些「小綠人」和「小紅人」的動作吧！它們正在默默地守護每一位行人的安全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45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00A4-DA22-7201-B99E-802FD873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08307D-C758-34F5-3AA8-A3B699E23C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36B28F-A91B-A4AC-B42D-95368F27757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B07325-216D-ED41-2688-F70BCDCCA1B2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C7720C-6222-8DE4-C9A1-C84C2864D835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5CACE3C-E200-6084-4838-86F63EEF8E8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C978C24-284B-F8B6-D110-A6D7095C80F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42BA703-CF25-9873-2A44-BB3247BEDDA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DB13A5-B8F8-886D-8A34-D2E75C9C6F62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AF49E77-F8CC-632D-FC2D-4D952B97D92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C55082A-F5A7-B24D-7F3A-33CB2CEBA8EB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B2CCBD56-3581-105F-2565-8C2C0A39852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DDE6C4B3-6A10-353A-58A0-DA28F05D6D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9456861-2859-DE43-A1AA-2C56E8305D9E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文字方塊 2">
            <a:extLst>
              <a:ext uri="{FF2B5EF4-FFF2-40B4-BE49-F238E27FC236}">
                <a16:creationId xmlns:a16="http://schemas.microsoft.com/office/drawing/2014/main" id="{D9087D87-8953-0F45-C787-FAA983D63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C56C6767-AA52-4C93-0C08-8F811671A7DC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411AB3-B6B3-B300-9E43-A0E7A998E01F}"/>
              </a:ext>
            </a:extLst>
          </p:cNvPr>
          <p:cNvSpPr/>
          <p:nvPr/>
        </p:nvSpPr>
        <p:spPr>
          <a:xfrm>
            <a:off x="2304809" y="2313235"/>
            <a:ext cx="1384959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動畫式行人號誌比傳統靜態號誌更有效引起行人注意，請你分享自己在生活中看到的行人號誌設計，並說說它給你留下了什麼印象？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EC5DAE-C418-468F-F406-236E08B6EB33}"/>
              </a:ext>
            </a:extLst>
          </p:cNvPr>
          <p:cNvSpPr/>
          <p:nvPr/>
        </p:nvSpPr>
        <p:spPr>
          <a:xfrm>
            <a:off x="2412124" y="3715974"/>
            <a:ext cx="12822497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24AE6B-8E11-BBD2-41DC-69EE5AC106DA}"/>
              </a:ext>
            </a:extLst>
          </p:cNvPr>
          <p:cNvSpPr/>
          <p:nvPr/>
        </p:nvSpPr>
        <p:spPr>
          <a:xfrm>
            <a:off x="2328970" y="4712048"/>
            <a:ext cx="1384959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如果你有機會設計一個全新的動畫式行人號誌，你會設計成什麼樣子？它會有什麼特別的動作或功能？</a:t>
            </a: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A0720B1-C30F-C075-5F63-8AFE3E4C8AC0}"/>
              </a:ext>
            </a:extLst>
          </p:cNvPr>
          <p:cNvCxnSpPr>
            <a:cxnSpLocks/>
          </p:cNvCxnSpPr>
          <p:nvPr/>
        </p:nvCxnSpPr>
        <p:spPr>
          <a:xfrm>
            <a:off x="2412125" y="4572385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DE7E1BF2-9F70-B237-273F-103E1519CD3D}"/>
              </a:ext>
            </a:extLst>
          </p:cNvPr>
          <p:cNvSpPr/>
          <p:nvPr/>
        </p:nvSpPr>
        <p:spPr>
          <a:xfrm>
            <a:off x="2419744" y="6137293"/>
            <a:ext cx="12822497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E0AEFF4-98D1-3C8C-EEAB-633AD3D5C20D}"/>
              </a:ext>
            </a:extLst>
          </p:cNvPr>
          <p:cNvCxnSpPr>
            <a:cxnSpLocks/>
          </p:cNvCxnSpPr>
          <p:nvPr/>
        </p:nvCxnSpPr>
        <p:spPr>
          <a:xfrm>
            <a:off x="2328971" y="6971198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E0DC3F8-4DE0-3DA1-BE18-BC49DE0F8ED8}"/>
              </a:ext>
            </a:extLst>
          </p:cNvPr>
          <p:cNvSpPr/>
          <p:nvPr/>
        </p:nvSpPr>
        <p:spPr>
          <a:xfrm>
            <a:off x="2328970" y="7164041"/>
            <a:ext cx="13849591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文章提到未來的號誌燈可能會更加智慧化，甚至與手機連線。你覺得這種設計會帶來哪些好處和潛在的問題？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0CA9D4-A663-C662-4368-9EB1043747A6}"/>
              </a:ext>
            </a:extLst>
          </p:cNvPr>
          <p:cNvSpPr/>
          <p:nvPr/>
        </p:nvSpPr>
        <p:spPr>
          <a:xfrm>
            <a:off x="2419744" y="8589286"/>
            <a:ext cx="12822497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A7DBA24D-4212-8738-CC07-09440925FB9E}"/>
              </a:ext>
            </a:extLst>
          </p:cNvPr>
          <p:cNvCxnSpPr>
            <a:cxnSpLocks/>
          </p:cNvCxnSpPr>
          <p:nvPr/>
        </p:nvCxnSpPr>
        <p:spPr>
          <a:xfrm>
            <a:off x="2328971" y="9423191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軟體, 電腦圖示, 作業系統 的圖片&#10;&#10;自動產生的描述">
            <a:extLst>
              <a:ext uri="{FF2B5EF4-FFF2-40B4-BE49-F238E27FC236}">
                <a16:creationId xmlns:a16="http://schemas.microsoft.com/office/drawing/2014/main" id="{4B3BDFB0-4CA4-BC9D-739D-BEDF441F0A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05" t="22707" r="4468" b="25243"/>
          <a:stretch/>
        </p:blipFill>
        <p:spPr bwMode="auto">
          <a:xfrm>
            <a:off x="1828800" y="2976174"/>
            <a:ext cx="15135403" cy="57004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5322</TotalTime>
  <Words>1320</Words>
  <Application>Microsoft Macintosh PowerPoint</Application>
  <PresentationFormat>自訂</PresentationFormat>
  <Paragraphs>234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Aptos</vt:lpstr>
      <vt:lpstr>華康新綜藝體</vt:lpstr>
      <vt:lpstr>微軟正黑體</vt:lpstr>
      <vt:lpstr>Arial</vt:lpstr>
      <vt:lpstr>標楷體</vt:lpstr>
      <vt:lpstr>微軟正黑體</vt:lpstr>
      <vt:lpstr>標楷體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173</cp:revision>
  <dcterms:created xsi:type="dcterms:W3CDTF">2006-08-16T00:00:00Z</dcterms:created>
  <dcterms:modified xsi:type="dcterms:W3CDTF">2025-09-21T14:42:03Z</dcterms:modified>
  <dc:identifier>DAGOioWnJWE</dc:identifier>
</cp:coreProperties>
</file>