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96" r:id="rId4"/>
    <p:sldId id="291" r:id="rId5"/>
    <p:sldId id="270" r:id="rId6"/>
    <p:sldId id="297" r:id="rId7"/>
    <p:sldId id="272" r:id="rId8"/>
    <p:sldId id="286" r:id="rId9"/>
    <p:sldId id="298" r:id="rId10"/>
    <p:sldId id="288" r:id="rId11"/>
    <p:sldId id="301" r:id="rId12"/>
    <p:sldId id="302" r:id="rId13"/>
    <p:sldId id="279" r:id="rId14"/>
    <p:sldId id="295" r:id="rId15"/>
  </p:sldIdLst>
  <p:sldSz cx="18288000" cy="10287000"/>
  <p:notesSz cx="6858000" cy="9144000"/>
  <p:embeddedFontLst>
    <p:embeddedFont>
      <p:font typeface="華康中圓體(P)" panose="020F0502020204030204" pitchFamily="34" charset="0"/>
      <p:regular r:id="rId17"/>
      <p:bold r:id="rId18"/>
      <p:italic r:id="rId19"/>
      <p:boldItalic r:id="rId20"/>
    </p:embeddedFont>
    <p:embeddedFont>
      <p:font typeface="華康新綜藝體" panose="02010609000101010101" pitchFamily="49" charset="0"/>
      <p:regular r:id="rId21"/>
    </p:embeddedFont>
    <p:embeddedFont>
      <p:font typeface="微軟正黑體" panose="020B0604030504040204" pitchFamily="34" charset="-120"/>
      <p:regular r:id="rId22"/>
      <p:bold r:id="rId23"/>
    </p:embeddedFont>
    <p:embeddedFont>
      <p:font typeface="微軟正黑體" panose="020B0604030504040204" pitchFamily="34" charset="-120"/>
      <p:regular r:id="rId22"/>
      <p:bold r:id="rId23"/>
    </p:embeddedFont>
    <p:embeddedFont>
      <p:font typeface="標楷體" panose="03000509000000000000" pitchFamily="49" charset="-120"/>
      <p:regular r:id="rId24"/>
    </p:embeddedFont>
    <p:embeddedFont>
      <p:font typeface="AR ZhuYinEX Md" panose="020B0602010101010101" pitchFamily="49" charset="-12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F87F"/>
    <a:srgbClr val="FCD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77" autoAdjust="0"/>
    <p:restoredTop sz="94035" autoAdjust="0"/>
  </p:normalViewPr>
  <p:slideViewPr>
    <p:cSldViewPr>
      <p:cViewPr varScale="1">
        <p:scale>
          <a:sx n="58" d="100"/>
          <a:sy n="58" d="100"/>
        </p:scale>
        <p:origin x="232" y="7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9" d="100"/>
          <a:sy n="89" d="100"/>
        </p:scale>
        <p:origin x="37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737BC-0160-43F0-A57D-211EEFCA83B8}" type="datetimeFigureOut">
              <a:rPr lang="zh-TW" altLang="en-US" smtClean="0"/>
              <a:t>2025/9/21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F15EC-EB07-4462-A15A-319C71CF4B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3499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jp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5.svg"/><Relationship Id="rId2" Type="http://schemas.openxmlformats.org/officeDocument/2006/relationships/image" Target="../media/image1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6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5.svg"/><Relationship Id="rId2" Type="http://schemas.openxmlformats.org/officeDocument/2006/relationships/image" Target="../media/image1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6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30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Freeform 12"/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390404" y="569551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9" name="Freeform 29"/>
          <p:cNvSpPr/>
          <p:nvPr/>
        </p:nvSpPr>
        <p:spPr>
          <a:xfrm>
            <a:off x="5332160" y="1830982"/>
            <a:ext cx="1375279" cy="792661"/>
          </a:xfrm>
          <a:custGeom>
            <a:avLst/>
            <a:gdLst/>
            <a:ahLst/>
            <a:cxnLst/>
            <a:rect l="l" t="t" r="r" b="b"/>
            <a:pathLst>
              <a:path w="1375279" h="792661">
                <a:moveTo>
                  <a:pt x="0" y="0"/>
                </a:moveTo>
                <a:lnTo>
                  <a:pt x="1375278" y="0"/>
                </a:lnTo>
                <a:lnTo>
                  <a:pt x="1375278" y="792660"/>
                </a:lnTo>
                <a:lnTo>
                  <a:pt x="0" y="79266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4894777" y="3662162"/>
            <a:ext cx="9032950" cy="1119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dist">
              <a:lnSpc>
                <a:spcPts val="8400"/>
              </a:lnSpc>
            </a:pPr>
            <a:r>
              <a:rPr lang="zh-TW" altLang="en-US" sz="115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ore Sugar"/>
                <a:sym typeface="More Sugar"/>
              </a:rPr>
              <a:t>提問單</a:t>
            </a:r>
            <a:endParaRPr lang="en-US" sz="11500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ore Sugar"/>
              <a:sym typeface="More Suga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550115" y="1559356"/>
            <a:ext cx="13636764" cy="166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21"/>
              </a:lnSpc>
            </a:pPr>
            <a:r>
              <a:rPr lang="en-US" sz="12521" dirty="0">
                <a:solidFill>
                  <a:srgbClr val="182C4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ore Sugar"/>
                <a:sym typeface="More Sugar"/>
              </a:rPr>
              <a:t>MAPS </a:t>
            </a:r>
          </a:p>
        </p:txBody>
      </p:sp>
      <p:sp>
        <p:nvSpPr>
          <p:cNvPr id="34" name="文字方塊 33"/>
          <p:cNvSpPr txBox="1"/>
          <p:nvPr/>
        </p:nvSpPr>
        <p:spPr>
          <a:xfrm>
            <a:off x="7409104" y="5087306"/>
            <a:ext cx="11268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蔡孟庭 老師編寫</a:t>
            </a:r>
          </a:p>
        </p:txBody>
      </p:sp>
      <p:pic>
        <p:nvPicPr>
          <p:cNvPr id="36" name="圖片 35"/>
          <p:cNvPicPr/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6019800" y="6929951"/>
            <a:ext cx="6705600" cy="18848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6294008" y="7610134"/>
            <a:ext cx="6148978" cy="1086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endParaRPr lang="zh-TW" sz="1600" kern="100" dirty="0">
              <a:solidFill>
                <a:schemeClr val="tx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第</a:t>
            </a:r>
            <a:r>
              <a:rPr lang="zh-TW" altLang="en-US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一</a:t>
            </a:r>
            <a:r>
              <a:rPr 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zh-TW" altLang="en-US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拔不起來的筆</a:t>
            </a:r>
            <a:endParaRPr lang="zh-TW" sz="4000" kern="100" dirty="0">
              <a:solidFill>
                <a:schemeClr val="tx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5" name="Freeform 29"/>
          <p:cNvSpPr/>
          <p:nvPr/>
        </p:nvSpPr>
        <p:spPr>
          <a:xfrm>
            <a:off x="7962900" y="6296571"/>
            <a:ext cx="2362200" cy="945188"/>
          </a:xfrm>
          <a:custGeom>
            <a:avLst/>
            <a:gdLst/>
            <a:ahLst/>
            <a:cxnLst/>
            <a:rect l="l" t="t" r="r" b="b"/>
            <a:pathLst>
              <a:path w="4189793" h="1081728">
                <a:moveTo>
                  <a:pt x="0" y="0"/>
                </a:moveTo>
                <a:lnTo>
                  <a:pt x="4189794" y="0"/>
                </a:lnTo>
                <a:lnTo>
                  <a:pt x="4189794" y="1081729"/>
                </a:lnTo>
                <a:lnTo>
                  <a:pt x="0" y="108172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8" name="文字方塊 2"/>
          <p:cNvSpPr txBox="1">
            <a:spLocks noChangeArrowheads="1"/>
          </p:cNvSpPr>
          <p:nvPr/>
        </p:nvSpPr>
        <p:spPr bwMode="auto">
          <a:xfrm>
            <a:off x="6176277" y="6352529"/>
            <a:ext cx="6148978" cy="1086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endParaRPr lang="zh-TW" sz="12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0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三下</a:t>
            </a:r>
            <a:endParaRPr lang="zh-TW" sz="32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9" name="Freeform 31"/>
          <p:cNvSpPr/>
          <p:nvPr/>
        </p:nvSpPr>
        <p:spPr>
          <a:xfrm rot="10085071">
            <a:off x="5959511" y="4872591"/>
            <a:ext cx="1185379" cy="1159388"/>
          </a:xfrm>
          <a:custGeom>
            <a:avLst/>
            <a:gdLst/>
            <a:ahLst/>
            <a:cxnLst/>
            <a:rect l="l" t="t" r="r" b="b"/>
            <a:pathLst>
              <a:path w="1317310" h="1317310">
                <a:moveTo>
                  <a:pt x="0" y="0"/>
                </a:moveTo>
                <a:lnTo>
                  <a:pt x="1317310" y="0"/>
                </a:lnTo>
                <a:lnTo>
                  <a:pt x="1317310" y="1317310"/>
                </a:lnTo>
                <a:lnTo>
                  <a:pt x="0" y="131731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5201" y="6828992"/>
            <a:ext cx="2003108" cy="3260698"/>
          </a:xfrm>
          <a:prstGeom prst="rect">
            <a:avLst/>
          </a:prstGeom>
        </p:spPr>
      </p:pic>
      <p:grpSp>
        <p:nvGrpSpPr>
          <p:cNvPr id="40" name="Group 19"/>
          <p:cNvGrpSpPr/>
          <p:nvPr/>
        </p:nvGrpSpPr>
        <p:grpSpPr>
          <a:xfrm>
            <a:off x="1840324" y="923747"/>
            <a:ext cx="2761763" cy="708578"/>
            <a:chOff x="0" y="0"/>
            <a:chExt cx="3038818" cy="748565"/>
          </a:xfrm>
        </p:grpSpPr>
        <p:sp>
          <p:nvSpPr>
            <p:cNvPr id="41" name="TextBox 20"/>
            <p:cNvSpPr txBox="1"/>
            <p:nvPr/>
          </p:nvSpPr>
          <p:spPr>
            <a:xfrm>
              <a:off x="1110400" y="6488"/>
              <a:ext cx="1928418" cy="7180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4800" b="1" spc="334" dirty="0" err="1">
                  <a:solidFill>
                    <a:srgbClr val="0154A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王漢宗特黑體"/>
                  <a:sym typeface="王漢宗特黑體"/>
                </a:rPr>
                <a:t>國語</a:t>
              </a:r>
              <a:endParaRPr lang="en-US" sz="4800" b="1" spc="334" dirty="0">
                <a:solidFill>
                  <a:srgbClr val="0154A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王漢宗特黑體"/>
                <a:sym typeface="王漢宗特黑體"/>
              </a:endParaRPr>
            </a:p>
          </p:txBody>
        </p:sp>
        <p:sp>
          <p:nvSpPr>
            <p:cNvPr id="42" name="Freeform 21"/>
            <p:cNvSpPr/>
            <p:nvPr/>
          </p:nvSpPr>
          <p:spPr>
            <a:xfrm>
              <a:off x="0" y="0"/>
              <a:ext cx="1423684" cy="748565"/>
            </a:xfrm>
            <a:custGeom>
              <a:avLst/>
              <a:gdLst/>
              <a:ahLst/>
              <a:cxnLst/>
              <a:rect l="l" t="t" r="r" b="b"/>
              <a:pathLst>
                <a:path w="1423684" h="748565">
                  <a:moveTo>
                    <a:pt x="0" y="0"/>
                  </a:moveTo>
                  <a:lnTo>
                    <a:pt x="1423684" y="0"/>
                  </a:lnTo>
                  <a:lnTo>
                    <a:pt x="1423684" y="748565"/>
                  </a:lnTo>
                  <a:lnTo>
                    <a:pt x="0" y="748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r="-16899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1" name="Freeform 11"/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2" name="Freeform 12"/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3" name="Freeform 13"/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4" name="Freeform 14"/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6" name="Freeform 16"/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7" name="Freeform 17"/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8" name="Freeform 18"/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grpSp>
        <p:nvGrpSpPr>
          <p:cNvPr id="19" name="Group 19"/>
          <p:cNvGrpSpPr/>
          <p:nvPr/>
        </p:nvGrpSpPr>
        <p:grpSpPr>
          <a:xfrm>
            <a:off x="1323419" y="571855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290993" y="2244724"/>
            <a:ext cx="129099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一、形近字知多少</a:t>
            </a:r>
            <a:endParaRPr lang="zh-TW" altLang="zh-TW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930297"/>
              </p:ext>
            </p:extLst>
          </p:nvPr>
        </p:nvGraphicFramePr>
        <p:xfrm>
          <a:off x="1752600" y="3470831"/>
          <a:ext cx="7891774" cy="5862758"/>
        </p:xfrm>
        <a:graphic>
          <a:graphicData uri="http://schemas.openxmlformats.org/drawingml/2006/table">
            <a:tbl>
              <a:tblPr firstRow="1" firstCol="1" bandRow="1"/>
              <a:tblGrid>
                <a:gridCol w="621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5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7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7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624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1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壁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避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臂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083407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璧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624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2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膽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擔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瞻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簷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3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4" name="圖片 43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067761"/>
              </p:ext>
            </p:extLst>
          </p:nvPr>
        </p:nvGraphicFramePr>
        <p:xfrm>
          <a:off x="4017554" y="7889923"/>
          <a:ext cx="562682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4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詹</a:t>
                      </a:r>
                      <a:endParaRPr lang="zh-TW" sz="24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瞻仰</a:t>
                      </a:r>
                      <a:endParaRPr lang="zh-TW" sz="24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341156"/>
              </p:ext>
            </p:extLst>
          </p:nvPr>
        </p:nvGraphicFramePr>
        <p:xfrm>
          <a:off x="4017554" y="3711613"/>
          <a:ext cx="5626820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臂</a:t>
                      </a:r>
                      <a:endParaRPr lang="zh-TW" sz="1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隔壁</a:t>
                      </a:r>
                      <a:endParaRPr lang="zh-TW" sz="20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873934"/>
              </p:ext>
            </p:extLst>
          </p:nvPr>
        </p:nvGraphicFramePr>
        <p:xfrm>
          <a:off x="4017554" y="4533690"/>
          <a:ext cx="562682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R ZhuYinEX Md" panose="020B0602010101010101" pitchFamily="49" charset="-120"/>
                          <a:ea typeface="AR ZhuYinEX Md" panose="020B0602010101010101" pitchFamily="49" charset="-120"/>
                          <a:cs typeface="標楷體" panose="03000509000000000000" pitchFamily="49" charset="-120"/>
                        </a:rPr>
                        <a:t>臂</a:t>
                      </a:r>
                      <a:endParaRPr lang="zh-TW" sz="2000" kern="100" dirty="0">
                        <a:effectLst/>
                        <a:latin typeface="AR ZhuYinEX Md" panose="020B0602010101010101" pitchFamily="49" charset="-120"/>
                        <a:ea typeface="AR ZhuYinEX Md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躲避</a:t>
                      </a:r>
                      <a:endParaRPr lang="zh-TW" sz="24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952586"/>
              </p:ext>
            </p:extLst>
          </p:nvPr>
        </p:nvGraphicFramePr>
        <p:xfrm>
          <a:off x="4017554" y="5204937"/>
          <a:ext cx="562682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臂</a:t>
                      </a:r>
                      <a:endParaRPr lang="zh-TW" sz="20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手臂</a:t>
                      </a:r>
                      <a:endParaRPr lang="zh-TW" sz="24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44398"/>
              </p:ext>
            </p:extLst>
          </p:nvPr>
        </p:nvGraphicFramePr>
        <p:xfrm>
          <a:off x="4017554" y="5876184"/>
          <a:ext cx="562682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臂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璧玉</a:t>
                      </a:r>
                      <a:endParaRPr lang="zh-TW" sz="24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480816"/>
              </p:ext>
            </p:extLst>
          </p:nvPr>
        </p:nvGraphicFramePr>
        <p:xfrm>
          <a:off x="4017554" y="6547431"/>
          <a:ext cx="562682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4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膽</a:t>
                      </a:r>
                      <a:endParaRPr lang="zh-TW" sz="24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40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膽量</a:t>
                      </a:r>
                      <a:endParaRPr lang="zh-TW" sz="24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438887"/>
              </p:ext>
            </p:extLst>
          </p:nvPr>
        </p:nvGraphicFramePr>
        <p:xfrm>
          <a:off x="4017554" y="7218678"/>
          <a:ext cx="562682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4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單</a:t>
                      </a:r>
                      <a:endParaRPr lang="zh-TW" sz="24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擔保</a:t>
                      </a:r>
                      <a:endParaRPr lang="zh-TW" sz="24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810777"/>
              </p:ext>
            </p:extLst>
          </p:nvPr>
        </p:nvGraphicFramePr>
        <p:xfrm>
          <a:off x="9775848" y="3475305"/>
          <a:ext cx="7374458" cy="5130658"/>
        </p:xfrm>
        <a:graphic>
          <a:graphicData uri="http://schemas.openxmlformats.org/drawingml/2006/table">
            <a:tbl>
              <a:tblPr firstRow="1" firstCol="1" bandRow="1"/>
              <a:tblGrid>
                <a:gridCol w="861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3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3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61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3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為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614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4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練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鍊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煉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61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5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顏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願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2575108"/>
                  </a:ext>
                </a:extLst>
              </a:tr>
            </a:tbl>
          </a:graphicData>
        </a:graphic>
      </p:graphicFrame>
      <p:graphicFrame>
        <p:nvGraphicFramePr>
          <p:cNvPr id="35" name="表格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512930"/>
              </p:ext>
            </p:extLst>
          </p:nvPr>
        </p:nvGraphicFramePr>
        <p:xfrm>
          <a:off x="11780588" y="7227527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顏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顏色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247280"/>
              </p:ext>
            </p:extLst>
          </p:nvPr>
        </p:nvGraphicFramePr>
        <p:xfrm>
          <a:off x="11780588" y="3800274"/>
          <a:ext cx="5402724" cy="7283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834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維</a:t>
                      </a:r>
                      <a:endParaRPr lang="zh-TW" sz="20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認為</a:t>
                      </a:r>
                      <a:endParaRPr lang="zh-TW" sz="24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560588"/>
              </p:ext>
            </p:extLst>
          </p:nvPr>
        </p:nvGraphicFramePr>
        <p:xfrm>
          <a:off x="11780588" y="4512201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為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因為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085839"/>
              </p:ext>
            </p:extLst>
          </p:nvPr>
        </p:nvGraphicFramePr>
        <p:xfrm>
          <a:off x="11780588" y="5191033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煉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練習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88517"/>
              </p:ext>
            </p:extLst>
          </p:nvPr>
        </p:nvGraphicFramePr>
        <p:xfrm>
          <a:off x="11780588" y="5869865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煉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項鍊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155426"/>
              </p:ext>
            </p:extLst>
          </p:nvPr>
        </p:nvGraphicFramePr>
        <p:xfrm>
          <a:off x="11798726" y="6548697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煉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煉乳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B6D9618A-53C1-0AF9-13B4-B851B3486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501814"/>
              </p:ext>
            </p:extLst>
          </p:nvPr>
        </p:nvGraphicFramePr>
        <p:xfrm>
          <a:off x="4037516" y="8625867"/>
          <a:ext cx="562682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4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顏</a:t>
                      </a:r>
                      <a:endParaRPr lang="zh-TW" sz="24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屋簷</a:t>
                      </a:r>
                      <a:endParaRPr lang="zh-TW" sz="24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1765DA12-D537-677D-7F31-DCB9DBD69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961024"/>
              </p:ext>
            </p:extLst>
          </p:nvPr>
        </p:nvGraphicFramePr>
        <p:xfrm>
          <a:off x="11798726" y="7889936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願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願望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80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A7306-129C-DC4B-38E0-CCCB4FD0B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13BA1CD-11C9-A921-ABA9-4F8BC4EBA0C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D4108B6-D59E-B75D-1893-631202E4BE65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E633385-65D3-E608-FBEA-9988B2A2259B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660B2D0-5DA5-3233-160A-3F37C1DEDD1A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559D6AA-13E1-89FC-DAA9-41526B85B1EE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E9A0B12-C7ED-8690-A62E-EDA12C10F2A5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FF07D46-9426-355B-3BD6-70D7A03B2259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EED26856-C4CA-DFC8-0D3A-D551C5EFEA34}"/>
              </a:ext>
            </a:extLst>
          </p:cNvPr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33AE8B8-A5DF-36DD-FE52-00F77171C396}"/>
              </a:ext>
            </a:extLst>
          </p:cNvPr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7604417-7846-0005-47B8-E0736E56BA54}"/>
              </a:ext>
            </a:extLst>
          </p:cNvPr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FC439D7-6DBE-DCE1-3D34-2AD98AE3F802}"/>
              </a:ext>
            </a:extLst>
          </p:cNvPr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40A61603-2F9C-5282-99B8-36E553D7E804}"/>
              </a:ext>
            </a:extLst>
          </p:cNvPr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C88D424A-A157-8FC3-A01A-4AA69FDC74CF}"/>
              </a:ext>
            </a:extLst>
          </p:cNvPr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3B6873E4-FEF3-1986-70B1-B5F252F4E844}"/>
              </a:ext>
            </a:extLst>
          </p:cNvPr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390EC28-723D-617D-03CA-B0AF2EFFAD88}"/>
              </a:ext>
            </a:extLst>
          </p:cNvPr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CBAA27A1-4B4B-2DCC-C087-47251508A4EE}"/>
              </a:ext>
            </a:extLst>
          </p:cNvPr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5235512A-8E78-3917-FA65-D556950650A1}"/>
              </a:ext>
            </a:extLst>
          </p:cNvPr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8A5B9A8D-216A-8B80-753B-EEEA70965BB9}"/>
              </a:ext>
            </a:extLst>
          </p:cNvPr>
          <p:cNvGrpSpPr/>
          <p:nvPr/>
        </p:nvGrpSpPr>
        <p:grpSpPr>
          <a:xfrm>
            <a:off x="1323419" y="571855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F27940C3-817A-9A8B-A38B-4EDAB6F43A2D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B4A5824-0AE4-7A8A-37BA-6827C14EF182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8E378782-13E7-D339-A06B-F15A92A987E7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AB6138E6-3A7D-AF12-F815-AAD506E0A3CF}"/>
              </a:ext>
            </a:extLst>
          </p:cNvPr>
          <p:cNvPicPr/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2317C13A-18AD-8C7C-E286-5F14E4B2D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160BEABE-587E-5548-ED70-16C7F1156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432923"/>
              </p:ext>
            </p:extLst>
          </p:nvPr>
        </p:nvGraphicFramePr>
        <p:xfrm>
          <a:off x="1709426" y="3470831"/>
          <a:ext cx="7891774" cy="3781886"/>
        </p:xfrm>
        <a:graphic>
          <a:graphicData uri="http://schemas.openxmlformats.org/drawingml/2006/table">
            <a:tbl>
              <a:tblPr firstRow="1" firstCol="1" bandRow="1"/>
              <a:tblGrid>
                <a:gridCol w="621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5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7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7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62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6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即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既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624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7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村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材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杖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3" name="Freeform 3">
            <a:extLst>
              <a:ext uri="{FF2B5EF4-FFF2-40B4-BE49-F238E27FC236}">
                <a16:creationId xmlns:a16="http://schemas.microsoft.com/office/drawing/2014/main" id="{2B216F95-A6DB-1DF6-0849-6DF6D21DACAA}"/>
              </a:ext>
            </a:extLst>
          </p:cNvPr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912FCACC-7B0A-60C5-AA7A-ECE5AA293AD5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9F2076D6-7945-A96C-C9D9-5D87C9E672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975257"/>
              </p:ext>
            </p:extLst>
          </p:nvPr>
        </p:nvGraphicFramePr>
        <p:xfrm>
          <a:off x="3974380" y="3711613"/>
          <a:ext cx="5626820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級</a:t>
                      </a:r>
                      <a:endParaRPr lang="zh-TW" sz="20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立即</a:t>
                      </a:r>
                      <a:endParaRPr lang="zh-TW" sz="24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A15EB408-7D76-689E-DD44-77BDD527C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458564"/>
              </p:ext>
            </p:extLst>
          </p:nvPr>
        </p:nvGraphicFramePr>
        <p:xfrm>
          <a:off x="3974380" y="4540431"/>
          <a:ext cx="562682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季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既然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5012FA52-FED5-01E4-FA70-EF34E6999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221335"/>
              </p:ext>
            </p:extLst>
          </p:nvPr>
        </p:nvGraphicFramePr>
        <p:xfrm>
          <a:off x="3974380" y="5218419"/>
          <a:ext cx="562682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村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鄉村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1978869F-520A-F72E-D7FB-26D7FA3B9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626672"/>
              </p:ext>
            </p:extLst>
          </p:nvPr>
        </p:nvGraphicFramePr>
        <p:xfrm>
          <a:off x="3974380" y="5896407"/>
          <a:ext cx="562682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才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身材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81F8383D-A2A9-2CF8-9C06-CF07E5F66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610998"/>
              </p:ext>
            </p:extLst>
          </p:nvPr>
        </p:nvGraphicFramePr>
        <p:xfrm>
          <a:off x="3974380" y="6574395"/>
          <a:ext cx="562682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障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拐杖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表格 47">
            <a:extLst>
              <a:ext uri="{FF2B5EF4-FFF2-40B4-BE49-F238E27FC236}">
                <a16:creationId xmlns:a16="http://schemas.microsoft.com/office/drawing/2014/main" id="{C581BEC5-3EAE-2AA3-E0D4-73436B23E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63866"/>
              </p:ext>
            </p:extLst>
          </p:nvPr>
        </p:nvGraphicFramePr>
        <p:xfrm>
          <a:off x="9775848" y="3475305"/>
          <a:ext cx="7374458" cy="4443044"/>
        </p:xfrm>
        <a:graphic>
          <a:graphicData uri="http://schemas.openxmlformats.org/drawingml/2006/table">
            <a:tbl>
              <a:tblPr firstRow="1" firstCol="1" bandRow="1"/>
              <a:tblGrid>
                <a:gridCol w="861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3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3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61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8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專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惠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61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9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仍</a:t>
                      </a:r>
                      <a:endParaRPr lang="zh-TW" altLang="zh-TW" sz="2800" kern="100" dirty="0">
                        <a:effectLst/>
                        <a:latin typeface="Aptos" panose="020B00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扔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61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10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嚇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54AB7EA8-D4EE-80C7-BD7E-EFA5B2F8C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359713"/>
              </p:ext>
            </p:extLst>
          </p:nvPr>
        </p:nvGraphicFramePr>
        <p:xfrm>
          <a:off x="11780588" y="7244364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賀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嚇阻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表格 37">
            <a:extLst>
              <a:ext uri="{FF2B5EF4-FFF2-40B4-BE49-F238E27FC236}">
                <a16:creationId xmlns:a16="http://schemas.microsoft.com/office/drawing/2014/main" id="{19BDDEC0-A40D-B4B0-34B6-166EA2E016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541596"/>
              </p:ext>
            </p:extLst>
          </p:nvPr>
        </p:nvGraphicFramePr>
        <p:xfrm>
          <a:off x="11780588" y="3800274"/>
          <a:ext cx="5402724" cy="7283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834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專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專家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8B509262-9A42-AFA5-1861-182363C972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153493"/>
              </p:ext>
            </p:extLst>
          </p:nvPr>
        </p:nvGraphicFramePr>
        <p:xfrm>
          <a:off x="11780588" y="4515568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會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恩惠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F9B49E3F-33B0-95DF-D1FA-01BAB9268F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649341"/>
              </p:ext>
            </p:extLst>
          </p:nvPr>
        </p:nvGraphicFramePr>
        <p:xfrm>
          <a:off x="11780588" y="5197767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仍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仍舊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1BD19B53-A68E-6275-8702-2A9DE7180E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45452"/>
              </p:ext>
            </p:extLst>
          </p:nvPr>
        </p:nvGraphicFramePr>
        <p:xfrm>
          <a:off x="11780588" y="5879966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扔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扔掉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表格 41">
            <a:extLst>
              <a:ext uri="{FF2B5EF4-FFF2-40B4-BE49-F238E27FC236}">
                <a16:creationId xmlns:a16="http://schemas.microsoft.com/office/drawing/2014/main" id="{564EDE42-3CF5-0B5E-A94E-2FC04EDA6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593507"/>
              </p:ext>
            </p:extLst>
          </p:nvPr>
        </p:nvGraphicFramePr>
        <p:xfrm>
          <a:off x="11780588" y="6562165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下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驚嚇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308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89991" y="589170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65593" y="559155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2302823" y="3516326"/>
            <a:ext cx="14363700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1.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一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個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一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個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問清楚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)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。                           </a:t>
            </a:r>
            <a:endParaRPr lang="zh-TW" altLang="en-US" sz="3600" dirty="0"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389991" y="2283156"/>
            <a:ext cx="129099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二、短語練習</a:t>
            </a:r>
            <a:endParaRPr lang="zh-TW" altLang="zh-TW" sz="3600" b="1" kern="100" dirty="0">
              <a:latin typeface="華康中圓體(P)" panose="020F0500000000000000" pitchFamily="34" charset="-120"/>
              <a:ea typeface="華康中圓體(P)" panose="020F0500000000000000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29" name="圖片 28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0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2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3" name="圖片 4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1F013D66-1DBD-67A4-A9AF-EB6219C45F2F}"/>
              </a:ext>
            </a:extLst>
          </p:cNvPr>
          <p:cNvSpPr/>
          <p:nvPr/>
        </p:nvSpPr>
        <p:spPr>
          <a:xfrm>
            <a:off x="2924941" y="4556819"/>
            <a:ext cx="13741581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一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一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             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。                           </a:t>
            </a:r>
            <a:endParaRPr lang="zh-TW" altLang="en-US" sz="3600" dirty="0"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974513" y="4747223"/>
            <a:ext cx="12448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題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34200" y="4762500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題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9081130" y="4613709"/>
            <a:ext cx="2116111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算正確</a:t>
            </a:r>
            <a:endParaRPr lang="zh-TW" altLang="en-US" sz="3600" dirty="0">
              <a:solidFill>
                <a:srgbClr val="FF0000"/>
              </a:solidFill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CCA400-DC7E-8984-7044-93956F760004}"/>
              </a:ext>
            </a:extLst>
          </p:cNvPr>
          <p:cNvSpPr/>
          <p:nvPr/>
        </p:nvSpPr>
        <p:spPr>
          <a:xfrm>
            <a:off x="2328223" y="5982767"/>
            <a:ext cx="14363700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2.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(     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拔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不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起來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筆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。</a:t>
            </a:r>
            <a:endParaRPr lang="zh-TW" altLang="en-US" sz="3600" dirty="0"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8C2F28F-48C5-1DCC-CD3B-79CC4CC4C466}"/>
              </a:ext>
            </a:extLst>
          </p:cNvPr>
          <p:cNvSpPr/>
          <p:nvPr/>
        </p:nvSpPr>
        <p:spPr>
          <a:xfrm>
            <a:off x="2924941" y="6965934"/>
            <a:ext cx="13762859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(              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不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        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   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。</a:t>
            </a:r>
            <a:endParaRPr lang="zh-TW" altLang="en-US" sz="3600" dirty="0"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FBD8A56-142C-E136-AC91-16164A41F4C3}"/>
              </a:ext>
            </a:extLst>
          </p:cNvPr>
          <p:cNvSpPr/>
          <p:nvPr/>
        </p:nvSpPr>
        <p:spPr>
          <a:xfrm>
            <a:off x="3569547" y="7164585"/>
            <a:ext cx="12448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吞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6FAAB01-ADDC-B9C9-C893-53EEBBDA22C8}"/>
              </a:ext>
            </a:extLst>
          </p:cNvPr>
          <p:cNvSpPr/>
          <p:nvPr/>
        </p:nvSpPr>
        <p:spPr>
          <a:xfrm>
            <a:off x="6573538" y="7177296"/>
            <a:ext cx="11079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下去</a:t>
            </a:r>
            <a:endParaRPr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1A81C0A-5846-D78F-83AA-6B21BE7DE2D1}"/>
              </a:ext>
            </a:extLst>
          </p:cNvPr>
          <p:cNvSpPr/>
          <p:nvPr/>
        </p:nvSpPr>
        <p:spPr>
          <a:xfrm>
            <a:off x="9510073" y="7024815"/>
            <a:ext cx="2116111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藥</a:t>
            </a:r>
            <a:endParaRPr lang="zh-TW" altLang="en-US" sz="3600" dirty="0">
              <a:solidFill>
                <a:srgbClr val="FF0000"/>
              </a:solidFill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0213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35" grpId="0"/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89991" y="589170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60514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9" name="圖片 28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0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420352" y="2238970"/>
            <a:ext cx="129099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三、造句練習</a:t>
            </a:r>
            <a:endParaRPr lang="zh-TW" altLang="zh-TW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427690" y="3221115"/>
            <a:ext cx="8941871" cy="821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 (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轉折複句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……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以為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，沒想到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2552700" y="5067300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552700" y="4415928"/>
            <a:ext cx="88024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媽媽以為今天會出大太陽，沒想到下起大雷雨。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3" name="圖片 4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0AB1A98-009E-82A7-C981-5042104FC337}"/>
              </a:ext>
            </a:extLst>
          </p:cNvPr>
          <p:cNvSpPr/>
          <p:nvPr/>
        </p:nvSpPr>
        <p:spPr>
          <a:xfrm>
            <a:off x="2427690" y="5858722"/>
            <a:ext cx="7454285" cy="821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 (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條件複句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只要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，一定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ECACA0F9-B409-9CD8-9CA2-141E94ABD44B}"/>
              </a:ext>
            </a:extLst>
          </p:cNvPr>
          <p:cNvCxnSpPr/>
          <p:nvPr/>
        </p:nvCxnSpPr>
        <p:spPr>
          <a:xfrm>
            <a:off x="2552700" y="7704907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176320E6-DF53-0A01-06AB-9EDBE24C8859}"/>
              </a:ext>
            </a:extLst>
          </p:cNvPr>
          <p:cNvSpPr/>
          <p:nvPr/>
        </p:nvSpPr>
        <p:spPr>
          <a:xfrm>
            <a:off x="2552700" y="7053535"/>
            <a:ext cx="67505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只要規律運動，身體一定會更健康。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2575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001CF-3647-5D2D-5D94-3C54555B1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EA4D5B9-A18C-33BC-E01F-4DA0CD5EFAB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3ABAAA9-8B3E-8BD4-93C3-1C7401C58736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FEFFDFC-D0E3-51DC-8FFB-571F229931D9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1F0250E-449D-E71D-C64B-D165181066ED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6687DDA-0B36-3512-83A9-BEC180247094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BF94798-F74F-BCD2-497E-9816F01DEA36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D767206-DD9D-DEFA-D994-B0259D568C44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67B9B120-94CA-DD69-537C-B15F14386827}"/>
              </a:ext>
            </a:extLst>
          </p:cNvPr>
          <p:cNvGrpSpPr/>
          <p:nvPr/>
        </p:nvGrpSpPr>
        <p:grpSpPr>
          <a:xfrm>
            <a:off x="1398217" y="537705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895722C-5276-74DD-C022-1A21F78B5505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024AE11-A906-132C-4ADF-6B28237FDE1A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sz="11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91CA17A6-5C22-ABA6-385E-E8F8D663EB27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369A12CC-BE22-1213-DFDB-B72A8D875E27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B638B7B2-2469-F1B3-8B84-25F6370F4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暖身題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DB109B5-8E2B-2641-82A6-E0E2A7C41CB7}"/>
              </a:ext>
            </a:extLst>
          </p:cNvPr>
          <p:cNvSpPr/>
          <p:nvPr/>
        </p:nvSpPr>
        <p:spPr>
          <a:xfrm>
            <a:off x="2210557" y="2471186"/>
            <a:ext cx="13943843" cy="1544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預測課文，請從課名「拔不起來的筆」進行思考，小朋友你覺得可能是什麼原因，讓這支筆拔不起來呢？</a:t>
            </a:r>
          </a:p>
        </p:txBody>
      </p:sp>
      <p:sp>
        <p:nvSpPr>
          <p:cNvPr id="47" name="Freeform 4">
            <a:extLst>
              <a:ext uri="{FF2B5EF4-FFF2-40B4-BE49-F238E27FC236}">
                <a16:creationId xmlns:a16="http://schemas.microsoft.com/office/drawing/2014/main" id="{0B04E941-6F71-44F8-46AE-C401E8311E94}"/>
              </a:ext>
            </a:extLst>
          </p:cNvPr>
          <p:cNvSpPr/>
          <p:nvPr/>
        </p:nvSpPr>
        <p:spPr>
          <a:xfrm>
            <a:off x="5312555" y="1050653"/>
            <a:ext cx="1211543" cy="932259"/>
          </a:xfrm>
          <a:custGeom>
            <a:avLst/>
            <a:gdLst/>
            <a:ahLst/>
            <a:cxnLst/>
            <a:rect l="l" t="t" r="r" b="b"/>
            <a:pathLst>
              <a:path w="3555018" h="3363936">
                <a:moveTo>
                  <a:pt x="0" y="0"/>
                </a:moveTo>
                <a:lnTo>
                  <a:pt x="3555018" y="0"/>
                </a:lnTo>
                <a:lnTo>
                  <a:pt x="3555018" y="3363937"/>
                </a:lnTo>
                <a:lnTo>
                  <a:pt x="0" y="3363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8" name="圖片 47">
            <a:extLst>
              <a:ext uri="{FF2B5EF4-FFF2-40B4-BE49-F238E27FC236}">
                <a16:creationId xmlns:a16="http://schemas.microsoft.com/office/drawing/2014/main" id="{EF6A2E77-6659-CBF2-F88C-130AC530EF0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B1BF36FD-F970-63E7-BD8F-05857BC3DB9A}"/>
              </a:ext>
            </a:extLst>
          </p:cNvPr>
          <p:cNvCxnSpPr>
            <a:cxnSpLocks/>
          </p:cNvCxnSpPr>
          <p:nvPr/>
        </p:nvCxnSpPr>
        <p:spPr>
          <a:xfrm>
            <a:off x="2322871" y="4978194"/>
            <a:ext cx="13601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838AAFD0-B9FC-B933-C807-55CD0561D97D}"/>
              </a:ext>
            </a:extLst>
          </p:cNvPr>
          <p:cNvSpPr/>
          <p:nvPr/>
        </p:nvSpPr>
        <p:spPr>
          <a:xfrm>
            <a:off x="2322871" y="4326822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學生自行作答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DACA798-EE9B-0463-7137-8FBE1F10158E}"/>
              </a:ext>
            </a:extLst>
          </p:cNvPr>
          <p:cNvSpPr/>
          <p:nvPr/>
        </p:nvSpPr>
        <p:spPr>
          <a:xfrm>
            <a:off x="2210557" y="5420176"/>
            <a:ext cx="13943843" cy="2314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你有沒有曾經想要學會某一件事情，卻遇到困難？像是學會騎腳踏車、寫一手漂亮的字或者是完成一篇作文？請簡單說明你遇到的困難，並和夥伴分享自己如何克服。</a:t>
            </a: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37991056-FCBB-BE64-58C3-F7398A88455D}"/>
              </a:ext>
            </a:extLst>
          </p:cNvPr>
          <p:cNvCxnSpPr>
            <a:cxnSpLocks/>
          </p:cNvCxnSpPr>
          <p:nvPr/>
        </p:nvCxnSpPr>
        <p:spPr>
          <a:xfrm>
            <a:off x="2210557" y="8710060"/>
            <a:ext cx="13601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7583E9B4-B887-DA3B-78C0-16AB0055713B}"/>
              </a:ext>
            </a:extLst>
          </p:cNvPr>
          <p:cNvSpPr/>
          <p:nvPr/>
        </p:nvSpPr>
        <p:spPr>
          <a:xfrm>
            <a:off x="2210557" y="8058688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學生自行作答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45596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2" name="Freeform 2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525999" y="561269"/>
              <a:ext cx="15917348" cy="9164462"/>
              <a:chOff x="0" y="0"/>
              <a:chExt cx="3764577" cy="216746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347374" y="572822"/>
              <a:ext cx="15917348" cy="9164462"/>
              <a:chOff x="0" y="0"/>
              <a:chExt cx="3764577" cy="216746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629" y="98995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/>
          <p:cNvSpPr/>
          <p:nvPr/>
        </p:nvSpPr>
        <p:spPr>
          <a:xfrm>
            <a:off x="2348069" y="2541754"/>
            <a:ext cx="14266032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Q0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呼應暖身題，本課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拔不起來的筆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〉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是一篇記敘文。對應文章中作者的描述可以將內容分成「起因」、「經過」和「結果」，請把對應的自然段填入下方的表格。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419929" y="5904217"/>
            <a:ext cx="914400" cy="4615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9995795" y="5904217"/>
            <a:ext cx="914400" cy="4615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Freeform 7"/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8" name="圖片 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34" name="圓角矩形 33"/>
          <p:cNvSpPr/>
          <p:nvPr/>
        </p:nvSpPr>
        <p:spPr>
          <a:xfrm>
            <a:off x="698774" y="8916775"/>
            <a:ext cx="7315200" cy="1141240"/>
          </a:xfrm>
          <a:prstGeom prst="roundRect">
            <a:avLst/>
          </a:prstGeom>
          <a:solidFill>
            <a:srgbClr val="FCD5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146574" y="9450761"/>
            <a:ext cx="762000" cy="435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914400" y="8989993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心智圖架構提示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 灰框、第二層 方框、第三層 </a:t>
            </a:r>
            <a:r>
              <a:rPr lang="zh-TW" altLang="en-US" sz="284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85DE21-D782-38C7-482F-FDCFD3C042A6}"/>
              </a:ext>
            </a:extLst>
          </p:cNvPr>
          <p:cNvSpPr/>
          <p:nvPr/>
        </p:nvSpPr>
        <p:spPr>
          <a:xfrm>
            <a:off x="13335000" y="5904216"/>
            <a:ext cx="914400" cy="4615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Freeform 2"/>
          <p:cNvSpPr/>
          <p:nvPr/>
        </p:nvSpPr>
        <p:spPr>
          <a:xfrm>
            <a:off x="32928" y="8112344"/>
            <a:ext cx="1313160" cy="1260562"/>
          </a:xfrm>
          <a:custGeom>
            <a:avLst/>
            <a:gdLst/>
            <a:ahLst/>
            <a:cxnLst/>
            <a:rect l="l" t="t" r="r" b="b"/>
            <a:pathLst>
              <a:path w="3688357" h="4114800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EC00BE-CBEE-8F4B-8B51-2792A21C2BF7}"/>
              </a:ext>
            </a:extLst>
          </p:cNvPr>
          <p:cNvSpPr/>
          <p:nvPr/>
        </p:nvSpPr>
        <p:spPr>
          <a:xfrm>
            <a:off x="4356375" y="9498507"/>
            <a:ext cx="762000" cy="353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633004"/>
              </p:ext>
            </p:extLst>
          </p:nvPr>
        </p:nvGraphicFramePr>
        <p:xfrm>
          <a:off x="3629396" y="5462586"/>
          <a:ext cx="11890611" cy="2649758"/>
        </p:xfrm>
        <a:graphic>
          <a:graphicData uri="http://schemas.openxmlformats.org/drawingml/2006/table">
            <a:tbl>
              <a:tblPr bandRow="1"/>
              <a:tblGrid>
                <a:gridCol w="1445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3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5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5781">
                  <a:extLst>
                    <a:ext uri="{9D8B030D-6E8A-4147-A177-3AD203B41FA5}">
                      <a16:colId xmlns:a16="http://schemas.microsoft.com/office/drawing/2014/main" val="2063346701"/>
                    </a:ext>
                  </a:extLst>
                </a:gridCol>
              </a:tblGrid>
              <a:tr h="13248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sz="2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意義段</a:t>
                      </a: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起因</a:t>
                      </a: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經過</a:t>
                      </a: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結果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48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sz="2800" kern="10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自然段</a:t>
                      </a:r>
                      <a:endParaRPr lang="zh-TW" sz="28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矩形 23"/>
          <p:cNvSpPr/>
          <p:nvPr/>
        </p:nvSpPr>
        <p:spPr>
          <a:xfrm>
            <a:off x="6394280" y="7001746"/>
            <a:ext cx="1082348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1-3</a:t>
            </a:r>
            <a:endParaRPr lang="zh-TW" altLang="zh-TW" sz="4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0191106" y="7001746"/>
            <a:ext cx="511679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endParaRPr lang="zh-TW" altLang="zh-TW" sz="4400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8E5532-1FB2-10AA-44AD-DEE0A1519603}"/>
              </a:ext>
            </a:extLst>
          </p:cNvPr>
          <p:cNvSpPr/>
          <p:nvPr/>
        </p:nvSpPr>
        <p:spPr>
          <a:xfrm>
            <a:off x="13536360" y="7001746"/>
            <a:ext cx="511679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endParaRPr lang="zh-TW" altLang="zh-TW" sz="4400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68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6" grpId="0" animBg="1"/>
      <p:bldP spid="34" grpId="0" animBg="1"/>
      <p:bldP spid="40" grpId="0"/>
      <p:bldP spid="4" grpId="0" animBg="1"/>
      <p:bldP spid="24" grpId="0"/>
      <p:bldP spid="25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/>
          <p:cNvSpPr/>
          <p:nvPr/>
        </p:nvSpPr>
        <p:spPr>
          <a:xfrm>
            <a:off x="2059137" y="2857500"/>
            <a:ext cx="15460824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根據課文的一到三段，整理出故事的起因，並完成下面的表格：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2" name="Freeform 7"/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251519"/>
              </p:ext>
            </p:extLst>
          </p:nvPr>
        </p:nvGraphicFramePr>
        <p:xfrm>
          <a:off x="2639384" y="4077569"/>
          <a:ext cx="13690577" cy="41551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22031">
                  <a:extLst>
                    <a:ext uri="{9D8B030D-6E8A-4147-A177-3AD203B41FA5}">
                      <a16:colId xmlns:a16="http://schemas.microsoft.com/office/drawing/2014/main" val="1965121515"/>
                    </a:ext>
                  </a:extLst>
                </a:gridCol>
                <a:gridCol w="4344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3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338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地點</a:t>
                      </a: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altLang="zh-TW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</a:t>
                      </a:r>
                      <a:r>
                        <a:rPr lang="en-US" altLang="zh-TW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的家</a:t>
                      </a:r>
                    </a:p>
                  </a:txBody>
                  <a:tcPr marL="0" marR="68580" marT="0" marB="0" anchor="ctr"/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感覺</a:t>
                      </a:r>
                    </a:p>
                  </a:txBody>
                  <a:tcPr marL="0" marR="68580" marT="0" marB="0" anchor="ctr"/>
                </a:tc>
                <a:extLst>
                  <a:ext uri="{0D108BD9-81ED-4DB2-BD59-A6C34878D82A}">
                    <a16:rowId xmlns:a16="http://schemas.microsoft.com/office/drawing/2014/main" val="3555844616"/>
                  </a:ext>
                </a:extLst>
              </a:tr>
              <a:tr h="83338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人物</a:t>
                      </a: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altLang="zh-TW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</a:t>
                      </a:r>
                      <a:r>
                        <a:rPr lang="en-US" altLang="zh-TW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TW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</a:t>
                      </a:r>
                      <a:r>
                        <a:rPr lang="en-US" altLang="zh-TW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、行人</a:t>
                      </a:r>
                    </a:p>
                  </a:txBody>
                  <a:tcPr marL="0" marR="68580" marT="0" marB="0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68580" marT="0" marB="0" anchor="ctr"/>
                </a:tc>
                <a:extLst>
                  <a:ext uri="{0D108BD9-81ED-4DB2-BD59-A6C34878D82A}">
                    <a16:rowId xmlns:a16="http://schemas.microsoft.com/office/drawing/2014/main" val="1544675939"/>
                  </a:ext>
                </a:extLst>
              </a:tr>
              <a:tr h="83338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事件</a:t>
                      </a: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altLang="zh-TW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</a:t>
                      </a:r>
                      <a:r>
                        <a:rPr lang="en-US" altLang="zh-TW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被寫了一個 </a:t>
                      </a:r>
                      <a:r>
                        <a:rPr lang="en-US" altLang="zh-TW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</a:t>
                      </a:r>
                      <a:r>
                        <a:rPr lang="en-US" altLang="zh-TW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字</a:t>
                      </a:r>
                      <a:endParaRPr lang="zh-TW" altLang="zh-TW" sz="32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7684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反應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行人</a:t>
                      </a: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寫字的人太 </a:t>
                      </a:r>
                      <a:r>
                        <a:rPr lang="en-US" altLang="zh-TW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</a:t>
                      </a:r>
                      <a:r>
                        <a:rPr lang="en-US" altLang="zh-TW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了</a:t>
                      </a:r>
                    </a:p>
                  </a:txBody>
                  <a:tcPr marL="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31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200" b="1" u="sng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王羲之</a:t>
                      </a: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同意 </a:t>
                      </a:r>
                      <a:r>
                        <a:rPr lang="en-US" altLang="zh-TW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                      )</a:t>
                      </a: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可以學寫字</a:t>
                      </a:r>
                    </a:p>
                  </a:txBody>
                  <a:tcPr marL="0" marR="68580" marT="0" marB="0" anchor="ctr"/>
                </a:tc>
                <a:extLst>
                  <a:ext uri="{0D108BD9-81ED-4DB2-BD59-A6C34878D82A}">
                    <a16:rowId xmlns:a16="http://schemas.microsoft.com/office/drawing/2014/main" val="2709583759"/>
                  </a:ext>
                </a:extLst>
              </a:tr>
            </a:tbl>
          </a:graphicData>
        </a:graphic>
      </p:graphicFrame>
      <p:sp>
        <p:nvSpPr>
          <p:cNvPr id="25" name="矩形 24">
            <a:extLst>
              <a:ext uri="{FF2B5EF4-FFF2-40B4-BE49-F238E27FC236}">
                <a16:creationId xmlns:a16="http://schemas.microsoft.com/office/drawing/2014/main" id="{E36DB156-76B7-351D-B273-43053EBAA043}"/>
              </a:ext>
            </a:extLst>
          </p:cNvPr>
          <p:cNvSpPr/>
          <p:nvPr/>
        </p:nvSpPr>
        <p:spPr>
          <a:xfrm>
            <a:off x="5685130" y="4287456"/>
            <a:ext cx="14157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3200" b="1" u="sng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王羲之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CE41799-B6CD-40E4-A944-0D2BD0543F98}"/>
              </a:ext>
            </a:extLst>
          </p:cNvPr>
          <p:cNvSpPr/>
          <p:nvPr/>
        </p:nvSpPr>
        <p:spPr>
          <a:xfrm>
            <a:off x="5685130" y="5079801"/>
            <a:ext cx="14157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3200" b="1" u="sng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王羲之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825B9F2-12B1-C8D8-09FD-D15FA9235DE6}"/>
              </a:ext>
            </a:extLst>
          </p:cNvPr>
          <p:cNvSpPr/>
          <p:nvPr/>
        </p:nvSpPr>
        <p:spPr>
          <a:xfrm>
            <a:off x="8626902" y="5026427"/>
            <a:ext cx="14157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3200" b="1" u="sng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A4FCDC7-BCD5-DEC2-C5BB-88EB8D323769}"/>
              </a:ext>
            </a:extLst>
          </p:cNvPr>
          <p:cNvSpPr/>
          <p:nvPr/>
        </p:nvSpPr>
        <p:spPr>
          <a:xfrm>
            <a:off x="5890315" y="5863917"/>
            <a:ext cx="10054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牆上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A06366A-A0C8-0376-CFCE-B264E84084BF}"/>
              </a:ext>
            </a:extLst>
          </p:cNvPr>
          <p:cNvSpPr/>
          <p:nvPr/>
        </p:nvSpPr>
        <p:spPr>
          <a:xfrm>
            <a:off x="10873184" y="5862758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大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050E892-A446-51BE-0A77-89AB51461372}"/>
              </a:ext>
            </a:extLst>
          </p:cNvPr>
          <p:cNvSpPr/>
          <p:nvPr/>
        </p:nvSpPr>
        <p:spPr>
          <a:xfrm>
            <a:off x="13091597" y="6687500"/>
            <a:ext cx="10054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大膽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A1E86AB-F1F0-1FB8-D367-0220A8353FE8}"/>
              </a:ext>
            </a:extLst>
          </p:cNvPr>
          <p:cNvSpPr/>
          <p:nvPr/>
        </p:nvSpPr>
        <p:spPr>
          <a:xfrm>
            <a:off x="11430000" y="7550525"/>
            <a:ext cx="14157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3200" b="1" u="sng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</a:p>
        </p:txBody>
      </p:sp>
    </p:spTree>
    <p:extLst>
      <p:ext uri="{BB962C8B-B14F-4D97-AF65-F5344CB8AC3E}">
        <p14:creationId xmlns:p14="http://schemas.microsoft.com/office/powerpoint/2010/main" val="3264204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11" grpId="0"/>
      <p:bldP spid="26" grpId="0"/>
      <p:bldP spid="27" grpId="0"/>
      <p:bldP spid="28" grpId="0"/>
      <p:bldP spid="41" grpId="0"/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13EA1-DDE0-295F-9D99-14BAC16C0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9778714-F56B-697E-3908-044332AFCCD7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A7A0050-1E94-C516-94B3-FBC15F13603D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6964570-F4BC-968B-6407-715964717779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BC94991-1B5A-F2B6-4496-642456B3FE96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E15A77C-071D-4EF1-05AE-07970CB78EB7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CEC718A-C99C-2CD8-1010-7966AE2EA72E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F9B972F9-DAFD-79A8-9ACA-30E5D747A885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2" name="Freeform 2">
              <a:extLst>
                <a:ext uri="{FF2B5EF4-FFF2-40B4-BE49-F238E27FC236}">
                  <a16:creationId xmlns:a16="http://schemas.microsoft.com/office/drawing/2014/main" id="{79711E82-F320-6907-14F5-4C7ECCCD6011}"/>
                </a:ext>
              </a:extLst>
            </p:cNvPr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A663449C-AE3A-84AF-51C5-6CA0411D58C5}"/>
                </a:ext>
              </a:extLst>
            </p:cNvPr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745605F7-FFC1-39A7-265E-514827D5F321}"/>
                  </a:ext>
                </a:extLst>
              </p:cNvPr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A8846EA7-871D-880A-C2EC-84609A997D2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E1714696-2D15-F12F-BD88-BEF0E4351A61}"/>
                </a:ext>
              </a:extLst>
            </p:cNvPr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>
            <a:extLst>
              <a:ext uri="{FF2B5EF4-FFF2-40B4-BE49-F238E27FC236}">
                <a16:creationId xmlns:a16="http://schemas.microsoft.com/office/drawing/2014/main" id="{32ED4B7B-1F4A-1D3B-E1C6-65196D4DCD7D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9BBE6F84-7D7E-ED4C-2F64-2816AD664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DB7DA2-889E-8711-2E01-08F296F3E207}"/>
              </a:ext>
            </a:extLst>
          </p:cNvPr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924F0A8D-8922-5FAD-E97F-F63E0E72344E}"/>
              </a:ext>
            </a:extLst>
          </p:cNvPr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50F2B97F-1DE3-3E1D-BD2F-484CE179B2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sp>
        <p:nvSpPr>
          <p:cNvPr id="50" name="矩形 49">
            <a:extLst>
              <a:ext uri="{FF2B5EF4-FFF2-40B4-BE49-F238E27FC236}">
                <a16:creationId xmlns:a16="http://schemas.microsoft.com/office/drawing/2014/main" id="{49AF68FF-9E95-75B7-60C9-4BE4EC42479A}"/>
              </a:ext>
            </a:extLst>
          </p:cNvPr>
          <p:cNvSpPr/>
          <p:nvPr/>
        </p:nvSpPr>
        <p:spPr>
          <a:xfrm>
            <a:off x="1754261" y="2415872"/>
            <a:ext cx="15460824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Ｑ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請思考文本中用什麼描述，讓我們知道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學字非常專注、用心？ 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998701B-0BA0-A49C-DBBF-955B7D0861E1}"/>
              </a:ext>
            </a:extLst>
          </p:cNvPr>
          <p:cNvSpPr/>
          <p:nvPr/>
        </p:nvSpPr>
        <p:spPr>
          <a:xfrm>
            <a:off x="2212605" y="3311172"/>
            <a:ext cx="13359705" cy="1652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	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村裡的孩子約他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，他也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	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父親抓住他的筆，用力向上提，毛筆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D88698C0-6792-A27A-7381-8230804BD353}"/>
              </a:ext>
            </a:extLst>
          </p:cNvPr>
          <p:cNvCxnSpPr/>
          <p:nvPr/>
        </p:nvCxnSpPr>
        <p:spPr>
          <a:xfrm>
            <a:off x="2209800" y="4105562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616C3DF3-737B-45D0-BE44-7E2CADD9DC3F}"/>
              </a:ext>
            </a:extLst>
          </p:cNvPr>
          <p:cNvCxnSpPr/>
          <p:nvPr/>
        </p:nvCxnSpPr>
        <p:spPr>
          <a:xfrm>
            <a:off x="2209800" y="4991100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68A0D1B-46D2-341A-3422-0AD4C954AC26}"/>
              </a:ext>
            </a:extLst>
          </p:cNvPr>
          <p:cNvSpPr txBox="1"/>
          <p:nvPr/>
        </p:nvSpPr>
        <p:spPr>
          <a:xfrm>
            <a:off x="6838996" y="3491093"/>
            <a:ext cx="1895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出門玩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25F1103-A49B-1113-161E-B235C8C89130}"/>
              </a:ext>
            </a:extLst>
          </p:cNvPr>
          <p:cNvSpPr txBox="1"/>
          <p:nvPr/>
        </p:nvSpPr>
        <p:spPr>
          <a:xfrm>
            <a:off x="10591800" y="3496237"/>
            <a:ext cx="1895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不理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3F4424C-B40C-6DEE-F4AF-B2F88E18CFF9}"/>
              </a:ext>
            </a:extLst>
          </p:cNvPr>
          <p:cNvSpPr txBox="1"/>
          <p:nvPr/>
        </p:nvSpPr>
        <p:spPr>
          <a:xfrm>
            <a:off x="10877233" y="4337841"/>
            <a:ext cx="32209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仍然在他手上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E96762D-2C6B-2EC9-4B03-3FFD08960F4B}"/>
              </a:ext>
            </a:extLst>
          </p:cNvPr>
          <p:cNvSpPr/>
          <p:nvPr/>
        </p:nvSpPr>
        <p:spPr>
          <a:xfrm>
            <a:off x="1740574" y="5384347"/>
            <a:ext cx="15460824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Ｑ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寫字專注，父親給他什麼鼓勵？</a:t>
            </a: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482C0AE2-C2AA-5AD2-9AB7-47D29DD1E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301625"/>
              </p:ext>
            </p:extLst>
          </p:nvPr>
        </p:nvGraphicFramePr>
        <p:xfrm>
          <a:off x="2530448" y="6559862"/>
          <a:ext cx="13661352" cy="22368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28760">
                  <a:extLst>
                    <a:ext uri="{9D8B030D-6E8A-4147-A177-3AD203B41FA5}">
                      <a16:colId xmlns:a16="http://schemas.microsoft.com/office/drawing/2014/main" val="556649710"/>
                    </a:ext>
                  </a:extLst>
                </a:gridCol>
                <a:gridCol w="10332592">
                  <a:extLst>
                    <a:ext uri="{9D8B030D-6E8A-4147-A177-3AD203B41FA5}">
                      <a16:colId xmlns:a16="http://schemas.microsoft.com/office/drawing/2014/main" val="3011254141"/>
                    </a:ext>
                  </a:extLst>
                </a:gridCol>
              </a:tblGrid>
              <a:tr h="11184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6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父親稱讚</a:t>
                      </a:r>
                      <a:endParaRPr lang="zh-TW" sz="36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zh-TW" sz="36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寫字時 </a:t>
                      </a:r>
                      <a:r>
                        <a:rPr lang="en-US" sz="36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                       )</a:t>
                      </a:r>
                      <a:endParaRPr lang="zh-TW" sz="36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586559"/>
                  </a:ext>
                </a:extLst>
              </a:tr>
              <a:tr h="11184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6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未來期許</a:t>
                      </a:r>
                      <a:endParaRPr lang="zh-TW" sz="36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zh-TW" sz="36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只要</a:t>
                      </a:r>
                      <a:r>
                        <a:rPr lang="en-US" sz="36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(                     )</a:t>
                      </a:r>
                      <a:r>
                        <a:rPr lang="zh-TW" sz="36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，成就會比</a:t>
                      </a:r>
                      <a:r>
                        <a:rPr lang="en-US" sz="36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(             ) </a:t>
                      </a:r>
                      <a:r>
                        <a:rPr lang="zh-TW" sz="36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好</a:t>
                      </a:r>
                      <a:endParaRPr lang="zh-TW" sz="36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1365508"/>
                  </a:ext>
                </a:extLst>
              </a:tr>
            </a:tbl>
          </a:graphicData>
        </a:graphic>
      </p:graphicFrame>
      <p:sp>
        <p:nvSpPr>
          <p:cNvPr id="28" name="文字方塊 27">
            <a:extLst>
              <a:ext uri="{FF2B5EF4-FFF2-40B4-BE49-F238E27FC236}">
                <a16:creationId xmlns:a16="http://schemas.microsoft.com/office/drawing/2014/main" id="{DC25F454-DF09-B518-1CCA-2575854E1684}"/>
              </a:ext>
            </a:extLst>
          </p:cNvPr>
          <p:cNvSpPr txBox="1"/>
          <p:nvPr/>
        </p:nvSpPr>
        <p:spPr>
          <a:xfrm>
            <a:off x="7696200" y="6861070"/>
            <a:ext cx="49132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手中有勁，筆握得牢 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8CDC65F-98CF-4AFF-A5CB-67483BD01542}"/>
              </a:ext>
            </a:extLst>
          </p:cNvPr>
          <p:cNvSpPr txBox="1"/>
          <p:nvPr/>
        </p:nvSpPr>
        <p:spPr>
          <a:xfrm>
            <a:off x="7315200" y="7972253"/>
            <a:ext cx="49132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好好練習 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35DA9C1F-36C3-9147-CF76-EEAFF334AF11}"/>
              </a:ext>
            </a:extLst>
          </p:cNvPr>
          <p:cNvSpPr txBox="1"/>
          <p:nvPr/>
        </p:nvSpPr>
        <p:spPr>
          <a:xfrm>
            <a:off x="12437031" y="7972253"/>
            <a:ext cx="49132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父親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720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25" grpId="0"/>
      <p:bldP spid="28" grpId="0"/>
      <p:bldP spid="29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5" name="矩形 44"/>
          <p:cNvSpPr/>
          <p:nvPr/>
        </p:nvSpPr>
        <p:spPr>
          <a:xfrm>
            <a:off x="2123890" y="2573616"/>
            <a:ext cx="14828717" cy="1544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呼應基礎題，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為了說服父親教他寫字，在牆上寫了「大」字。如果你是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，父親不肯教你，你會用什麼方法說服父親呢？</a:t>
            </a:r>
          </a:p>
        </p:txBody>
      </p:sp>
      <p:sp>
        <p:nvSpPr>
          <p:cNvPr id="48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挑戰題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6"/>
          <p:cNvSpPr/>
          <p:nvPr/>
        </p:nvSpPr>
        <p:spPr>
          <a:xfrm>
            <a:off x="5321218" y="953703"/>
            <a:ext cx="1558266" cy="1257300"/>
          </a:xfrm>
          <a:custGeom>
            <a:avLst/>
            <a:gdLst/>
            <a:ahLst/>
            <a:cxnLst/>
            <a:rect l="l" t="t" r="r" b="b"/>
            <a:pathLst>
              <a:path w="4101416" h="3434936">
                <a:moveTo>
                  <a:pt x="0" y="0"/>
                </a:moveTo>
                <a:lnTo>
                  <a:pt x="4101416" y="0"/>
                </a:lnTo>
                <a:lnTo>
                  <a:pt x="4101416" y="3434936"/>
                </a:lnTo>
                <a:lnTo>
                  <a:pt x="0" y="343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9B23A668-C477-7FCF-C1C7-E3507C3FC9F3}"/>
              </a:ext>
            </a:extLst>
          </p:cNvPr>
          <p:cNvCxnSpPr>
            <a:cxnSpLocks/>
          </p:cNvCxnSpPr>
          <p:nvPr/>
        </p:nvCxnSpPr>
        <p:spPr>
          <a:xfrm>
            <a:off x="2379357" y="5221059"/>
            <a:ext cx="13601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6EEE9CC6-0DD1-1FCE-49FA-FDB59F583135}"/>
              </a:ext>
            </a:extLst>
          </p:cNvPr>
          <p:cNvSpPr/>
          <p:nvPr/>
        </p:nvSpPr>
        <p:spPr>
          <a:xfrm>
            <a:off x="2379357" y="4569687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學生自行作答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D74ED39-BD37-1A39-46FA-2F9F13379BAF}"/>
              </a:ext>
            </a:extLst>
          </p:cNvPr>
          <p:cNvSpPr/>
          <p:nvPr/>
        </p:nvSpPr>
        <p:spPr>
          <a:xfrm>
            <a:off x="2171137" y="5730069"/>
            <a:ext cx="14627071" cy="30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 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（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344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年－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386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年），字子敬，是東晉著名書法家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王羲之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的第七子，也是書法史上極具影響力的人物。他的一生充滿了對書法創作的激情與藝術追求，同時也流傳著許多有趣的故事，以下是其中一個著名的例子，請閱讀文章並回答問題。</a:t>
            </a:r>
          </a:p>
        </p:txBody>
      </p:sp>
    </p:spTree>
    <p:extLst>
      <p:ext uri="{BB962C8B-B14F-4D97-AF65-F5344CB8AC3E}">
        <p14:creationId xmlns:p14="http://schemas.microsoft.com/office/powerpoint/2010/main" val="2304093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B46C9-61A4-F0A0-E041-A5C1EF6BA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D74EB7F-1C89-CCCC-15D8-4B03673A4CE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E0F9769-D2B6-777E-37DE-9C7A57C51ED7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C368BC7-D661-E09A-76D3-8447723305EB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FFD16B0-3010-D38B-F283-6B017D02F98C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690DB54-4938-6CBC-941C-5E088CB31C73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802626A-B49D-5B1D-26E9-7F2FEC0043A1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BE85A35-0EBA-94B2-7AEA-63F1CE00D80F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0BD82C9-CF80-23FF-7891-423A8E2DF568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4C06655-5C32-9700-2D99-C858180E6648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20561E4-EE44-70D8-4A46-74B1AB919E71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752357FF-F3FF-77EF-066D-3ADECB821E01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C28CA774-2AF2-BE36-3631-81372C38C3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B37AF402-09B4-A68C-8131-E96808CB87BE}"/>
              </a:ext>
            </a:extLst>
          </p:cNvPr>
          <p:cNvSpPr/>
          <p:nvPr/>
        </p:nvSpPr>
        <p:spPr>
          <a:xfrm>
            <a:off x="2262711" y="942390"/>
            <a:ext cx="14627071" cy="84580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臨池學書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〉</a:t>
            </a:r>
          </a:p>
          <a:p>
            <a:pPr>
              <a:lnSpc>
                <a:spcPts val="6000"/>
              </a:lnSpc>
            </a:pP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東晉時期，有一位小男孩叫</a:t>
            </a:r>
            <a:r>
              <a:rPr lang="zh-TW" altLang="en-US" sz="32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，他的父親是名揚天下的書法家</a:t>
            </a:r>
            <a:r>
              <a:rPr lang="zh-TW" altLang="en-US" sz="32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王羲之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r>
              <a:rPr lang="zh-TW" altLang="en-US" sz="32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從小受到父親的影響，對書法充滿了興趣，立志有一天要成為像父親一樣的書法大家。</a:t>
            </a:r>
          </a:p>
          <a:p>
            <a:pPr>
              <a:lnSpc>
                <a:spcPts val="6000"/>
              </a:lnSpc>
            </a:pP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為了練好字，</a:t>
            </a:r>
            <a:r>
              <a:rPr lang="zh-TW" altLang="en-US" sz="32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每天都堅持練習。他端正坐在書案前，一筆一畫地寫著，無論春夏秋冬，從不間斷。每次練習後，他都會到家旁的池塘清洗毛筆，日復一日，池水漸漸被墨染成了黑色。有一天，鄰居看到池塘的水顏色變了，十分驚奇，便問王獻之：「你為什麼每天這麼努力練字？」</a:t>
            </a:r>
            <a:r>
              <a:rPr lang="zh-TW" altLang="en-US" sz="32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回答：「我希望自己的字能比父親寫得更好，讓更多人看到書法的美。」多年後，</a:t>
            </a:r>
            <a:r>
              <a:rPr lang="zh-TW" altLang="en-US" sz="32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的字不僅得到了父親的認可，還成為歷史上與父親齊名的大書法家。他用自己的努力證明，只要堅持不懈，就一定能實現目標。</a:t>
            </a:r>
          </a:p>
        </p:txBody>
      </p:sp>
    </p:spTree>
    <p:extLst>
      <p:ext uri="{BB962C8B-B14F-4D97-AF65-F5344CB8AC3E}">
        <p14:creationId xmlns:p14="http://schemas.microsoft.com/office/powerpoint/2010/main" val="3188568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4C8FA-087A-E3B7-24CD-BEF58B4D8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7C0923F-9886-8631-F790-04D82AF545F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AF5521B-6077-69D1-BAB8-C5BB5C5F4A09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3E7A121-7C38-7634-399D-A4675CEFC81F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9E534E4-9E95-D7D1-B9B9-29ABC94588C6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284AB52-6835-348F-72E9-140E3414E302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77B7BA2-8CFC-434E-2761-46F906F1E9AC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1A6ED6D-3DCF-56DA-DC71-7F346239603B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26467E7-9896-C053-9D6C-3CAC9032C298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25198D0-3CD8-5DFA-4EDC-F77BE01CF582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70D2C785-4B26-1BC8-5B0A-E55F4E85425B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46C41A22-4F6D-C6A7-A10D-9D288ABB5029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6FCF2ED6-48E5-2DD2-8786-430C91B1F044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5" name="矩形 44">
            <a:extLst>
              <a:ext uri="{FF2B5EF4-FFF2-40B4-BE49-F238E27FC236}">
                <a16:creationId xmlns:a16="http://schemas.microsoft.com/office/drawing/2014/main" id="{F3DDA8F9-7D70-912B-9FCE-C9384B170DE8}"/>
              </a:ext>
            </a:extLst>
          </p:cNvPr>
          <p:cNvSpPr/>
          <p:nvPr/>
        </p:nvSpPr>
        <p:spPr>
          <a:xfrm>
            <a:off x="2332110" y="2495537"/>
            <a:ext cx="14828717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為什麼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練字時要經常去池塘清洗毛筆？</a:t>
            </a:r>
          </a:p>
        </p:txBody>
      </p:sp>
      <p:sp>
        <p:nvSpPr>
          <p:cNvPr id="48" name="文字方塊 2">
            <a:extLst>
              <a:ext uri="{FF2B5EF4-FFF2-40B4-BE49-F238E27FC236}">
                <a16:creationId xmlns:a16="http://schemas.microsoft.com/office/drawing/2014/main" id="{39ED46A8-4A4D-0527-8FDE-F11292BB6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挑戰題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22E3CA8C-7C09-05EE-21B5-B9D7F5A5EBBB}"/>
              </a:ext>
            </a:extLst>
          </p:cNvPr>
          <p:cNvSpPr/>
          <p:nvPr/>
        </p:nvSpPr>
        <p:spPr>
          <a:xfrm>
            <a:off x="5321218" y="953703"/>
            <a:ext cx="1558266" cy="1257300"/>
          </a:xfrm>
          <a:custGeom>
            <a:avLst/>
            <a:gdLst/>
            <a:ahLst/>
            <a:cxnLst/>
            <a:rect l="l" t="t" r="r" b="b"/>
            <a:pathLst>
              <a:path w="4101416" h="3434936">
                <a:moveTo>
                  <a:pt x="0" y="0"/>
                </a:moveTo>
                <a:lnTo>
                  <a:pt x="4101416" y="0"/>
                </a:lnTo>
                <a:lnTo>
                  <a:pt x="4101416" y="3434936"/>
                </a:lnTo>
                <a:lnTo>
                  <a:pt x="0" y="343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7C694B39-BF1A-11C2-12FD-60AFBDCD03A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68D7D188-3FC6-47F0-A280-79AB94B957EF}"/>
              </a:ext>
            </a:extLst>
          </p:cNvPr>
          <p:cNvCxnSpPr>
            <a:cxnSpLocks/>
          </p:cNvCxnSpPr>
          <p:nvPr/>
        </p:nvCxnSpPr>
        <p:spPr>
          <a:xfrm>
            <a:off x="2390396" y="4221421"/>
            <a:ext cx="13601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ED9F3BDC-1AD3-7C63-5572-804BF1529D09}"/>
              </a:ext>
            </a:extLst>
          </p:cNvPr>
          <p:cNvSpPr/>
          <p:nvPr/>
        </p:nvSpPr>
        <p:spPr>
          <a:xfrm>
            <a:off x="2390396" y="3570049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學生自行作答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E01E716-2247-D178-6B0F-92D7D986391B}"/>
              </a:ext>
            </a:extLst>
          </p:cNvPr>
          <p:cNvSpPr/>
          <p:nvPr/>
        </p:nvSpPr>
        <p:spPr>
          <a:xfrm>
            <a:off x="2343150" y="4919385"/>
            <a:ext cx="14627071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鄰居問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為什麼努力練字時，他是怎麼回答的？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201803D-171B-A199-C83B-12250CFB2E30}"/>
              </a:ext>
            </a:extLst>
          </p:cNvPr>
          <p:cNvSpPr/>
          <p:nvPr/>
        </p:nvSpPr>
        <p:spPr>
          <a:xfrm>
            <a:off x="2343150" y="7343233"/>
            <a:ext cx="14627071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池塘的水變黑象徵了什麼？你從這個故事中學到了什麼？</a:t>
            </a: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BBF90747-1655-36DB-B0E0-5C6DAD4EE9EA}"/>
              </a:ext>
            </a:extLst>
          </p:cNvPr>
          <p:cNvCxnSpPr>
            <a:cxnSpLocks/>
          </p:cNvCxnSpPr>
          <p:nvPr/>
        </p:nvCxnSpPr>
        <p:spPr>
          <a:xfrm>
            <a:off x="2390396" y="6560994"/>
            <a:ext cx="13601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CEB5BBF5-511E-E45B-AEF0-41CE3EB2CC17}"/>
              </a:ext>
            </a:extLst>
          </p:cNvPr>
          <p:cNvSpPr/>
          <p:nvPr/>
        </p:nvSpPr>
        <p:spPr>
          <a:xfrm>
            <a:off x="2390396" y="5909622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學生自行作答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3E0EF1D-CDA2-AD0F-8092-2CD01A101438}"/>
              </a:ext>
            </a:extLst>
          </p:cNvPr>
          <p:cNvCxnSpPr>
            <a:cxnSpLocks/>
          </p:cNvCxnSpPr>
          <p:nvPr/>
        </p:nvCxnSpPr>
        <p:spPr>
          <a:xfrm>
            <a:off x="2343150" y="8969597"/>
            <a:ext cx="13601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8539E957-BBF0-E9B8-0869-ECCEBABC2AEA}"/>
              </a:ext>
            </a:extLst>
          </p:cNvPr>
          <p:cNvSpPr/>
          <p:nvPr/>
        </p:nvSpPr>
        <p:spPr>
          <a:xfrm>
            <a:off x="2343150" y="8318225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學生自行作答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650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8"/>
            <a:ext cx="15917348" cy="9535231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90993" y="534978"/>
            <a:ext cx="15917348" cy="9535231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矩形 14"/>
          <p:cNvSpPr/>
          <p:nvPr/>
        </p:nvSpPr>
        <p:spPr>
          <a:xfrm>
            <a:off x="6908097" y="1257300"/>
            <a:ext cx="104438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※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請根據每一題的題目與答案，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繪製成「課文心智圖」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課文心智圖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E0667E7-2200-34E8-D1AE-EBF38EFB81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1867" y="3185034"/>
            <a:ext cx="15069566" cy="4287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229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5029200" y="4223193"/>
            <a:ext cx="933606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本課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MAPS</a:t>
            </a: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提問單學習完畢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!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077200" y="5372197"/>
            <a:ext cx="568671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下課啦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!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334" y="6745624"/>
            <a:ext cx="2530339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9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</TotalTime>
  <Words>1123</Words>
  <Application>Microsoft Macintosh PowerPoint</Application>
  <PresentationFormat>自訂</PresentationFormat>
  <Paragraphs>204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4" baseType="lpstr">
      <vt:lpstr>Aptos</vt:lpstr>
      <vt:lpstr>華康新綜藝體</vt:lpstr>
      <vt:lpstr>微軟正黑體</vt:lpstr>
      <vt:lpstr>Arial</vt:lpstr>
      <vt:lpstr>AR ZhuYinEX Md</vt:lpstr>
      <vt:lpstr>微軟正黑體</vt:lpstr>
      <vt:lpstr>標楷體</vt:lpstr>
      <vt:lpstr>Calibri</vt:lpstr>
      <vt:lpstr>華康中圓體(P)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Orange Playful Illustration Memory Game Presentation</dc:title>
  <dc:creator>趙曼貽</dc:creator>
  <cp:lastModifiedBy>綺雯 林</cp:lastModifiedBy>
  <cp:revision>97</cp:revision>
  <dcterms:created xsi:type="dcterms:W3CDTF">2006-08-16T00:00:00Z</dcterms:created>
  <dcterms:modified xsi:type="dcterms:W3CDTF">2025-09-21T14:00:48Z</dcterms:modified>
  <dc:identifier>DAGOioWnJWE</dc:identifier>
</cp:coreProperties>
</file>