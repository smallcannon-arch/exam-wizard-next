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303" r:id="rId4"/>
    <p:sldId id="291" r:id="rId5"/>
    <p:sldId id="304" r:id="rId6"/>
    <p:sldId id="270" r:id="rId7"/>
    <p:sldId id="271" r:id="rId8"/>
    <p:sldId id="272" r:id="rId9"/>
    <p:sldId id="305" r:id="rId10"/>
    <p:sldId id="286" r:id="rId11"/>
    <p:sldId id="288" r:id="rId12"/>
    <p:sldId id="299" r:id="rId13"/>
    <p:sldId id="302" r:id="rId14"/>
    <p:sldId id="279" r:id="rId15"/>
    <p:sldId id="295" r:id="rId16"/>
  </p:sldIdLst>
  <p:sldSz cx="18288000" cy="10287000"/>
  <p:notesSz cx="6858000" cy="9144000"/>
  <p:embeddedFontLst>
    <p:embeddedFont>
      <p:font typeface="華康中圓體(P)" panose="020F0502020204030204" pitchFamily="34" charset="0"/>
      <p:regular r:id="rId18"/>
      <p:bold r:id="rId19"/>
      <p:italic r:id="rId20"/>
      <p:boldItalic r:id="rId21"/>
    </p:embeddedFont>
    <p:embeddedFont>
      <p:font typeface="華康新綜藝體" panose="02010609000101010101" pitchFamily="49" charset="0"/>
      <p:regular r:id="rId22"/>
    </p:embeddedFont>
    <p:embeddedFont>
      <p:font typeface="微軟正黑體" panose="020B0604030504040204" pitchFamily="34" charset="-120"/>
      <p:regular r:id="rId23"/>
      <p:bold r:id="rId24"/>
    </p:embeddedFont>
    <p:embeddedFont>
      <p:font typeface="微軟正黑體" panose="020B0604030504040204" pitchFamily="34" charset="-120"/>
      <p:regular r:id="rId23"/>
      <p:bold r:id="rId24"/>
    </p:embeddedFont>
    <p:embeddedFont>
      <p:font typeface="標楷體" panose="03000509000000000000" pitchFamily="49" charset="-120"/>
      <p:regular r:id="rId25"/>
    </p:embeddedFont>
    <p:embeddedFont>
      <p:font typeface="標楷體" panose="03000509000000000000" pitchFamily="49" charset="-120"/>
      <p:regular r:id="rId25"/>
    </p:embeddedFont>
    <p:embeddedFont>
      <p:font typeface="AR ZhuYinEX Md" panose="020B0602010101010101" pitchFamily="49" charset="-12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444" autoAdjust="0"/>
    <p:restoredTop sz="94035" autoAdjust="0"/>
  </p:normalViewPr>
  <p:slideViewPr>
    <p:cSldViewPr>
      <p:cViewPr varScale="1">
        <p:scale>
          <a:sx n="63" d="100"/>
          <a:sy n="63" d="100"/>
        </p:scale>
        <p:origin x="224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346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4744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336763" y="7480978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二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還差一點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409" y="3975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64008"/>
              </p:ext>
            </p:extLst>
          </p:nvPr>
        </p:nvGraphicFramePr>
        <p:xfrm>
          <a:off x="1709426" y="3470831"/>
          <a:ext cx="7891774" cy="3781886"/>
        </p:xfrm>
        <a:graphic>
          <a:graphicData uri="http://schemas.openxmlformats.org/drawingml/2006/table">
            <a:tbl>
              <a:tblPr firstRow="1" firstCol="1" bandRow="1"/>
              <a:tblGrid>
                <a:gridCol w="62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差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檔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當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27445"/>
              </p:ext>
            </p:extLst>
          </p:nvPr>
        </p:nvGraphicFramePr>
        <p:xfrm>
          <a:off x="3974380" y="3711613"/>
          <a:ext cx="5626820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差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差異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715401"/>
              </p:ext>
            </p:extLst>
          </p:nvPr>
        </p:nvGraphicFramePr>
        <p:xfrm>
          <a:off x="3974380" y="4533690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拆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 </a:t>
                      </a:r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郵差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304991"/>
              </p:ext>
            </p:extLst>
          </p:nvPr>
        </p:nvGraphicFramePr>
        <p:xfrm>
          <a:off x="3974380" y="5204937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黨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檔案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02993"/>
              </p:ext>
            </p:extLst>
          </p:nvPr>
        </p:nvGraphicFramePr>
        <p:xfrm>
          <a:off x="3974380" y="5876184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當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當年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563002"/>
              </p:ext>
            </p:extLst>
          </p:nvPr>
        </p:nvGraphicFramePr>
        <p:xfrm>
          <a:off x="3974380" y="6547431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黨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擋風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434230"/>
              </p:ext>
            </p:extLst>
          </p:nvPr>
        </p:nvGraphicFramePr>
        <p:xfrm>
          <a:off x="9775848" y="3475305"/>
          <a:ext cx="7374458" cy="5818272"/>
        </p:xfrm>
        <a:graphic>
          <a:graphicData uri="http://schemas.openxmlformats.org/drawingml/2006/table">
            <a:tbl>
              <a:tblPr firstRow="1" firstCol="1" bandRow="1"/>
              <a:tblGrid>
                <a:gridCol w="861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決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訣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快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6132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缺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222376"/>
                  </a:ext>
                </a:extLst>
              </a:tr>
              <a:tr h="68761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扛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缸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紅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虹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04223"/>
              </p:ext>
            </p:extLst>
          </p:nvPr>
        </p:nvGraphicFramePr>
        <p:xfrm>
          <a:off x="11792813" y="7201167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剛</a:t>
                      </a:r>
                      <a:endParaRPr lang="zh-TW" alt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水缸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16538"/>
              </p:ext>
            </p:extLst>
          </p:nvPr>
        </p:nvGraphicFramePr>
        <p:xfrm>
          <a:off x="11780588" y="3800274"/>
          <a:ext cx="5402724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絕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決定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52330"/>
              </p:ext>
            </p:extLst>
          </p:nvPr>
        </p:nvGraphicFramePr>
        <p:xfrm>
          <a:off x="11780588" y="4512201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絕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口訣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428919"/>
              </p:ext>
            </p:extLst>
          </p:nvPr>
        </p:nvGraphicFramePr>
        <p:xfrm>
          <a:off x="11780588" y="5191033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快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快速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55467"/>
              </p:ext>
            </p:extLst>
          </p:nvPr>
        </p:nvGraphicFramePr>
        <p:xfrm>
          <a:off x="11780588" y="5869865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缺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缺乏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481460"/>
              </p:ext>
            </p:extLst>
          </p:nvPr>
        </p:nvGraphicFramePr>
        <p:xfrm>
          <a:off x="11798726" y="6548697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破音一" panose="020B0602010101010101" pitchFamily="49" charset="-120"/>
                          <a:cs typeface="標楷體" panose="03000509000000000000" pitchFamily="49" charset="-120"/>
                        </a:rPr>
                        <a:t>扛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扛槍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5084D79-B3EE-6FFB-2C06-46E93BA93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808637"/>
              </p:ext>
            </p:extLst>
          </p:nvPr>
        </p:nvGraphicFramePr>
        <p:xfrm>
          <a:off x="11783744" y="8631818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泓</a:t>
                      </a:r>
                      <a:endParaRPr lang="zh-TW" altLang="zh-TW" sz="4000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彩虹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352F3FA2-198C-CA82-813F-2D9241E7C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677385"/>
              </p:ext>
            </p:extLst>
          </p:nvPr>
        </p:nvGraphicFramePr>
        <p:xfrm>
          <a:off x="11801882" y="7952988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泓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紅色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2CCC-3C04-0A7B-AA0C-401F72DE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5BC7E7-4EB4-333B-C632-EAE16CE6AC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175A368-1A4D-102B-9EBD-F53A77417198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483DFE-708D-CA51-7A23-EE7CEE2EC80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A4BB64-ECBE-583A-D9EE-DC9AD97E983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2D6BFF0-FCAB-8391-CDCE-1D1B00CDA03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1174D4A-6847-7D25-1F0F-215A5C4CDF6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3374C15-6DBE-8BDE-30C0-8F97462A9C3C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323F2E0-4509-B955-26ED-3688549F351E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C53CA74-5836-534B-0C3B-5622CB122A5F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4708652-D330-1312-C24D-D3830E19AC02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A5D6718-CCC1-3CE8-E22A-643D2846005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B1A9998-28F4-5837-2436-525FE17A00A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B572E3C-DB75-1A6B-17C1-4C5917C56940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9E1EA33-F580-98A4-EE6E-C8B96F4B1FCD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89837A3-9A5C-E8C8-B24A-7C9252FF2172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F0DEBCA-1630-B1CD-8CF3-88F7C6D00230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9D4D022-79E5-1768-53A1-527EA18CE65C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966770E-B1AF-4518-82C1-4FB83AE4E01B}"/>
              </a:ext>
            </a:extLst>
          </p:cNvPr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2B356E2-9BB6-AD40-18D9-3B55ECE5728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3414017-C77A-C012-F11E-8FDFB38EB58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6D6A21E-EC24-4E89-09C2-D7B08E2A3A91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DD901E7-54AB-726D-6B71-46CCFE7051F9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DF35B141-A036-A57D-A15E-401A5C014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F36FFA88-B41A-49FF-FE64-56BE2D82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650085"/>
              </p:ext>
            </p:extLst>
          </p:nvPr>
        </p:nvGraphicFramePr>
        <p:xfrm>
          <a:off x="1709426" y="3470831"/>
          <a:ext cx="7891774" cy="5862758"/>
        </p:xfrm>
        <a:graphic>
          <a:graphicData uri="http://schemas.openxmlformats.org/drawingml/2006/table">
            <a:tbl>
              <a:tblPr firstRow="1" firstCol="1" bandRow="1"/>
              <a:tblGrid>
                <a:gridCol w="62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管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館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20134"/>
                  </a:ext>
                </a:extLst>
              </a:tr>
              <a:tr h="693624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摸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莫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2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寞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659901"/>
                  </a:ext>
                </a:extLst>
              </a:tr>
            </a:tbl>
          </a:graphicData>
        </a:graphic>
      </p:graphicFrame>
      <p:sp>
        <p:nvSpPr>
          <p:cNvPr id="43" name="Freeform 3">
            <a:extLst>
              <a:ext uri="{FF2B5EF4-FFF2-40B4-BE49-F238E27FC236}">
                <a16:creationId xmlns:a16="http://schemas.microsoft.com/office/drawing/2014/main" id="{5E6CF263-1C80-F5E4-E4B7-F306936E6F6F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AE2F8686-7612-524B-4706-C1C2FBD020B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2F9032F4-F733-0C61-724A-CD1A61340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759269"/>
              </p:ext>
            </p:extLst>
          </p:nvPr>
        </p:nvGraphicFramePr>
        <p:xfrm>
          <a:off x="3974380" y="7889923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莫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沙漠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162C440C-0AF4-EEF4-4795-5618B82B8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375706"/>
              </p:ext>
            </p:extLst>
          </p:nvPr>
        </p:nvGraphicFramePr>
        <p:xfrm>
          <a:off x="3974380" y="3711613"/>
          <a:ext cx="5626820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館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管理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7A1E3E5B-D008-95CD-E2E4-B923BF6AC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83391"/>
              </p:ext>
            </p:extLst>
          </p:nvPr>
        </p:nvGraphicFramePr>
        <p:xfrm>
          <a:off x="3974380" y="4533690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關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官員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7B0926AB-58EE-EF94-0CA8-778619B0A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954063"/>
              </p:ext>
            </p:extLst>
          </p:nvPr>
        </p:nvGraphicFramePr>
        <p:xfrm>
          <a:off x="3974380" y="5204937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館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茶館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AE7F8DDF-83E3-DD6F-4592-47DED211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04722"/>
              </p:ext>
            </p:extLst>
          </p:nvPr>
        </p:nvGraphicFramePr>
        <p:xfrm>
          <a:off x="3974380" y="5876184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摩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模範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1E5A7A4C-787F-90AA-6330-4955E8A5E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88541"/>
              </p:ext>
            </p:extLst>
          </p:nvPr>
        </p:nvGraphicFramePr>
        <p:xfrm>
          <a:off x="3974380" y="6547431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摸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摸魚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44908B29-64C7-6DF3-E521-6E396596D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705915"/>
              </p:ext>
            </p:extLst>
          </p:nvPr>
        </p:nvGraphicFramePr>
        <p:xfrm>
          <a:off x="3974380" y="7218678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莫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莫非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54B80E3A-7115-C554-69CF-CD1AE1BA4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140471"/>
              </p:ext>
            </p:extLst>
          </p:nvPr>
        </p:nvGraphicFramePr>
        <p:xfrm>
          <a:off x="9775848" y="3475305"/>
          <a:ext cx="7374458" cy="3755430"/>
        </p:xfrm>
        <a:graphic>
          <a:graphicData uri="http://schemas.openxmlformats.org/drawingml/2006/table">
            <a:tbl>
              <a:tblPr firstRow="1" firstCol="1" bandRow="1"/>
              <a:tblGrid>
                <a:gridCol w="861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興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微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6132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徵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222376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徽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4C7214BE-17C4-ACA3-6546-9A2B36B05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911183"/>
              </p:ext>
            </p:extLst>
          </p:nvPr>
        </p:nvGraphicFramePr>
        <p:xfrm>
          <a:off x="11780588" y="3800274"/>
          <a:ext cx="5402724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興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興盛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639457E7-E95E-9A40-85E7-3F2C5914E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654655"/>
              </p:ext>
            </p:extLst>
          </p:nvPr>
        </p:nvGraphicFramePr>
        <p:xfrm>
          <a:off x="11780588" y="4512201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姓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高興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505393D9-37C9-460C-B26B-0DB85D5D7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187649"/>
              </p:ext>
            </p:extLst>
          </p:nvPr>
        </p:nvGraphicFramePr>
        <p:xfrm>
          <a:off x="11780588" y="5191033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稍微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C290B43A-4E8B-8D6D-D340-D0FC4A34D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21205"/>
              </p:ext>
            </p:extLst>
          </p:nvPr>
        </p:nvGraphicFramePr>
        <p:xfrm>
          <a:off x="11780588" y="5869865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爭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特徵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FAFF27F0-3512-79E5-774B-DC55AACA5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07384"/>
              </p:ext>
            </p:extLst>
          </p:nvPr>
        </p:nvGraphicFramePr>
        <p:xfrm>
          <a:off x="11798726" y="6548697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輝</a:t>
                      </a:r>
                      <a:endParaRPr 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徽章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7A78CCD-688B-4B09-AF54-6973A4F51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381721"/>
              </p:ext>
            </p:extLst>
          </p:nvPr>
        </p:nvGraphicFramePr>
        <p:xfrm>
          <a:off x="3983758" y="8605396"/>
          <a:ext cx="56268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3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莫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寂寞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27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1.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寫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來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寫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去。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389991" y="2283156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華康中圓體(P)" panose="020F0500000000000000" pitchFamily="34" charset="-120"/>
              <a:ea typeface="華康中圓體(P)" panose="020F05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2470126" y="4479454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來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去。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2924942" y="4507992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看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29F860-0678-AD0F-2AEA-1B3AE872E29D}"/>
              </a:ext>
            </a:extLst>
          </p:cNvPr>
          <p:cNvSpPr/>
          <p:nvPr/>
        </p:nvSpPr>
        <p:spPr>
          <a:xfrm>
            <a:off x="2291937" y="5770288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2.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一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面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牆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)(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擋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在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前頭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   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3060F0-307F-608B-50CD-C79399586626}"/>
              </a:ext>
            </a:extLst>
          </p:cNvPr>
          <p:cNvSpPr/>
          <p:nvPr/>
        </p:nvSpPr>
        <p:spPr>
          <a:xfrm>
            <a:off x="2459240" y="673341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一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 (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)(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在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 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A7BF0C-2497-B683-3D69-43A87D594919}"/>
              </a:ext>
            </a:extLst>
          </p:cNvPr>
          <p:cNvSpPr/>
          <p:nvPr/>
        </p:nvSpPr>
        <p:spPr>
          <a:xfrm>
            <a:off x="3737857" y="6911466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支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61DD81-263B-8FEE-AC73-3D3E35DA68F8}"/>
              </a:ext>
            </a:extLst>
          </p:cNvPr>
          <p:cNvSpPr/>
          <p:nvPr/>
        </p:nvSpPr>
        <p:spPr>
          <a:xfrm>
            <a:off x="9106396" y="6782243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裡頭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127ED7-C69C-FAD9-A0C7-E339C251E1FF}"/>
              </a:ext>
            </a:extLst>
          </p:cNvPr>
          <p:cNvSpPr/>
          <p:nvPr/>
        </p:nvSpPr>
        <p:spPr>
          <a:xfrm>
            <a:off x="5334961" y="4496044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看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579A7E-0853-E102-67FF-EFCDEEBF97CB}"/>
              </a:ext>
            </a:extLst>
          </p:cNvPr>
          <p:cNvSpPr/>
          <p:nvPr/>
        </p:nvSpPr>
        <p:spPr>
          <a:xfrm>
            <a:off x="5289486" y="6932067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筆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40B5DE-2567-28BD-4A15-B40DD379EC8D}"/>
              </a:ext>
            </a:extLst>
          </p:cNvPr>
          <p:cNvSpPr/>
          <p:nvPr/>
        </p:nvSpPr>
        <p:spPr>
          <a:xfrm>
            <a:off x="6662539" y="6947005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插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3" grpId="0"/>
      <p:bldP spid="15" grpId="0"/>
      <p:bldP spid="9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497C5-8418-5842-9DA3-C0C82E6D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DD896F-DA60-CEAD-E056-C7035C3C04A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78053DC-698D-15B7-248F-4183795A53A1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BDC8E8-BE89-0013-54AB-FACC7CE39D2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9AD4254-0993-B9CC-D6DE-76490137E7E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EA4A28B-AFC2-4E62-42F0-A69B31DAC1B1}"/>
              </a:ext>
            </a:extLst>
          </p:cNvPr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A9CA46-9647-6A03-8489-4266985124A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44F7540-2DBF-24C9-FB47-2B7D5565A31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5E87AA5-B860-7512-F477-B33B96C2EE72}"/>
              </a:ext>
            </a:extLst>
          </p:cNvPr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FE16993-37F3-7D04-1C1C-927FE91A593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64759DF-1DCE-C1FA-034E-806BBB3CD94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F2FEDEC6-E8DA-F58F-97BA-5758F5D68471}"/>
              </a:ext>
            </a:extLst>
          </p:cNvPr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母親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把那些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字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)(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一張張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)(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看過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62CD8A6D-37EF-5C48-C9AE-AABFEB75BFBF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956AE8B-BD4E-30CB-B7C2-8FC7FF48971A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>
            <a:extLst>
              <a:ext uri="{FF2B5EF4-FFF2-40B4-BE49-F238E27FC236}">
                <a16:creationId xmlns:a16="http://schemas.microsoft.com/office/drawing/2014/main" id="{1B10B602-7F67-721D-D9BC-F180236F1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>
            <a:extLst>
              <a:ext uri="{FF2B5EF4-FFF2-40B4-BE49-F238E27FC236}">
                <a16:creationId xmlns:a16="http://schemas.microsoft.com/office/drawing/2014/main" id="{F24CC94D-230F-6858-361B-372CC2A44B06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1E2A8B27-4C38-C3AC-5BAA-809968FC53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65D20F6-AD89-6848-A255-73188BCCB20E}"/>
              </a:ext>
            </a:extLst>
          </p:cNvPr>
          <p:cNvSpPr/>
          <p:nvPr/>
        </p:nvSpPr>
        <p:spPr>
          <a:xfrm>
            <a:off x="2924941" y="4466029"/>
            <a:ext cx="1374158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把那些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)(   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)(  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232559-BFDC-8082-2D32-ED6B1327089A}"/>
              </a:ext>
            </a:extLst>
          </p:cNvPr>
          <p:cNvSpPr/>
          <p:nvPr/>
        </p:nvSpPr>
        <p:spPr>
          <a:xfrm>
            <a:off x="2924942" y="4507992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明星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75D233-6D58-6C7F-B22F-8EFE4E8E207F}"/>
              </a:ext>
            </a:extLst>
          </p:cNvPr>
          <p:cNvSpPr/>
          <p:nvPr/>
        </p:nvSpPr>
        <p:spPr>
          <a:xfrm>
            <a:off x="6096000" y="4507992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歌曲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97AD4D-BAA8-0C62-DC7C-42BAF58F9E5E}"/>
              </a:ext>
            </a:extLst>
          </p:cNvPr>
          <p:cNvSpPr/>
          <p:nvPr/>
        </p:nvSpPr>
        <p:spPr>
          <a:xfrm>
            <a:off x="8166211" y="4585086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一首首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A49470-015C-FBB8-FEAC-DB7E77309A59}"/>
              </a:ext>
            </a:extLst>
          </p:cNvPr>
          <p:cNvSpPr/>
          <p:nvPr/>
        </p:nvSpPr>
        <p:spPr>
          <a:xfrm>
            <a:off x="10346155" y="4570049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唱過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742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7" grpId="0"/>
      <p:bldP spid="18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三、造句練習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5723042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轉折複句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2427690" y="4827187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427690" y="4175815"/>
            <a:ext cx="124957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哥哥為了趕上火車，特別提早五分鐘出門，卻發現自己忘記帶錢包。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AC3BB5F-8EE0-6DD0-A419-BAB71AB70AF2}"/>
              </a:ext>
            </a:extLst>
          </p:cNvPr>
          <p:cNvSpPr/>
          <p:nvPr/>
        </p:nvSpPr>
        <p:spPr>
          <a:xfrm>
            <a:off x="2427690" y="5249211"/>
            <a:ext cx="5158785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目的複句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1E5924C-9EBC-0BF4-1F58-3A6E22BB2D1B}"/>
              </a:ext>
            </a:extLst>
          </p:cNvPr>
          <p:cNvCxnSpPr/>
          <p:nvPr/>
        </p:nvCxnSpPr>
        <p:spPr>
          <a:xfrm>
            <a:off x="2427690" y="6849272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2E7CA14-F8AF-24B3-A952-A7A98093A39F}"/>
              </a:ext>
            </a:extLst>
          </p:cNvPr>
          <p:cNvSpPr/>
          <p:nvPr/>
        </p:nvSpPr>
        <p:spPr>
          <a:xfrm>
            <a:off x="2427690" y="6197900"/>
            <a:ext cx="92127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為了實現環遊世界的夢想，他省吃儉用存下旅費。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297EA0-5AD1-DA5B-6518-0EC9C17D8C97}"/>
              </a:ext>
            </a:extLst>
          </p:cNvPr>
          <p:cNvSpPr/>
          <p:nvPr/>
        </p:nvSpPr>
        <p:spPr>
          <a:xfrm>
            <a:off x="2427690" y="7226523"/>
            <a:ext cx="6184706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因果複句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所以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5AEE841A-37E3-7971-C1BA-4ED41E7EE9B1}"/>
              </a:ext>
            </a:extLst>
          </p:cNvPr>
          <p:cNvCxnSpPr/>
          <p:nvPr/>
        </p:nvCxnSpPr>
        <p:spPr>
          <a:xfrm>
            <a:off x="2427690" y="8826584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7B678FF-2BE0-031B-A584-541397A9B2DE}"/>
              </a:ext>
            </a:extLst>
          </p:cNvPr>
          <p:cNvSpPr/>
          <p:nvPr/>
        </p:nvSpPr>
        <p:spPr>
          <a:xfrm>
            <a:off x="2427690" y="8175212"/>
            <a:ext cx="79816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小明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早上突然肚子痛，所以請假沒來上課。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48835" y="2532782"/>
            <a:ext cx="14400865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本課的課文名稱是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還差一點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，內容一樣是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習字的故事，請你試著從課名「還差一點」和前一課內容做個連結，你覺得可能是什麼事情還差一點呢？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/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94B29E0-BD88-A0C3-9F35-68AFE8F5C647}"/>
              </a:ext>
            </a:extLst>
          </p:cNvPr>
          <p:cNvCxnSpPr>
            <a:cxnSpLocks/>
          </p:cNvCxnSpPr>
          <p:nvPr/>
        </p:nvCxnSpPr>
        <p:spPr>
          <a:xfrm>
            <a:off x="2436245" y="5786402"/>
            <a:ext cx="13906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7F875C1-56C7-5920-1E89-4A4A453A701E}"/>
              </a:ext>
            </a:extLst>
          </p:cNvPr>
          <p:cNvSpPr/>
          <p:nvPr/>
        </p:nvSpPr>
        <p:spPr>
          <a:xfrm>
            <a:off x="2436245" y="513503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76612D-E5DC-2EAD-9EA3-72858FDB8DA8}"/>
              </a:ext>
            </a:extLst>
          </p:cNvPr>
          <p:cNvSpPr/>
          <p:nvPr/>
        </p:nvSpPr>
        <p:spPr>
          <a:xfrm>
            <a:off x="2325213" y="6405340"/>
            <a:ext cx="14400865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想一想，在你的學習或生活中，有沒有遇到「差一點」的時候？是什麼事情？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4777AC8-FF25-E86C-6B0E-6DE0C3059A29}"/>
              </a:ext>
            </a:extLst>
          </p:cNvPr>
          <p:cNvCxnSpPr>
            <a:cxnSpLocks/>
          </p:cNvCxnSpPr>
          <p:nvPr/>
        </p:nvCxnSpPr>
        <p:spPr>
          <a:xfrm>
            <a:off x="2440124" y="8895296"/>
            <a:ext cx="13906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5CD145F4-CF18-A530-2212-9451292F9BB2}"/>
              </a:ext>
            </a:extLst>
          </p:cNvPr>
          <p:cNvSpPr/>
          <p:nvPr/>
        </p:nvSpPr>
        <p:spPr>
          <a:xfrm>
            <a:off x="2440124" y="824392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60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269368" y="2438043"/>
            <a:ext cx="14266032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拔不起來的筆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是一篇記敘文。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81078" y="4679980"/>
            <a:ext cx="2202365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42062" y="4679979"/>
            <a:ext cx="2202365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FD4724A-9BBE-2072-85C8-FD51CB868525}"/>
              </a:ext>
            </a:extLst>
          </p:cNvPr>
          <p:cNvSpPr/>
          <p:nvPr/>
        </p:nvSpPr>
        <p:spPr>
          <a:xfrm>
            <a:off x="9279600" y="4679979"/>
            <a:ext cx="2202365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6F18B9-DC20-5525-5820-23AEBE81162C}"/>
              </a:ext>
            </a:extLst>
          </p:cNvPr>
          <p:cNvSpPr/>
          <p:nvPr/>
        </p:nvSpPr>
        <p:spPr>
          <a:xfrm>
            <a:off x="11881152" y="4692806"/>
            <a:ext cx="2202365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95D435-4CB5-85DE-6EC6-BC24E7EE8F8F}"/>
              </a:ext>
            </a:extLst>
          </p:cNvPr>
          <p:cNvSpPr/>
          <p:nvPr/>
        </p:nvSpPr>
        <p:spPr>
          <a:xfrm>
            <a:off x="14859000" y="4693804"/>
            <a:ext cx="1143000" cy="4605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600722"/>
              </p:ext>
            </p:extLst>
          </p:nvPr>
        </p:nvGraphicFramePr>
        <p:xfrm>
          <a:off x="2117968" y="3907147"/>
          <a:ext cx="14688132" cy="3826012"/>
        </p:xfrm>
        <a:graphic>
          <a:graphicData uri="http://schemas.openxmlformats.org/drawingml/2006/table">
            <a:tbl>
              <a:tblPr bandRow="1"/>
              <a:tblGrid>
                <a:gridCol w="1734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62757957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701877079"/>
                    </a:ext>
                  </a:extLst>
                </a:gridCol>
              </a:tblGrid>
              <a:tr h="1913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32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練習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(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困境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練習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(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秘訣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早晚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(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勤練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(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埋頭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)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苦練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結果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3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32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3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4800433" y="6304837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441160" y="6304837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4-7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205945-6829-32FB-D9F5-50D297F852A2}"/>
              </a:ext>
            </a:extLst>
          </p:cNvPr>
          <p:cNvSpPr/>
          <p:nvPr/>
        </p:nvSpPr>
        <p:spPr>
          <a:xfrm>
            <a:off x="14944462" y="6304837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8-9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06467B-941C-5D43-4A59-3D9AF8B64BCE}"/>
              </a:ext>
            </a:extLst>
          </p:cNvPr>
          <p:cNvSpPr/>
          <p:nvPr/>
        </p:nvSpPr>
        <p:spPr>
          <a:xfrm>
            <a:off x="7502295" y="6304837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5BE7F7-4173-4B40-1632-A940E76A634A}"/>
              </a:ext>
            </a:extLst>
          </p:cNvPr>
          <p:cNvSpPr/>
          <p:nvPr/>
        </p:nvSpPr>
        <p:spPr>
          <a:xfrm>
            <a:off x="10124942" y="6304837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4" grpId="0" animBg="1"/>
      <p:bldP spid="34" grpId="0" animBg="1"/>
      <p:bldP spid="40" grpId="0"/>
      <p:bldP spid="5" grpId="0" animBg="1"/>
      <p:bldP spid="13" grpId="0" animBg="1"/>
      <p:bldP spid="24" grpId="0"/>
      <p:bldP spid="25" grpId="0"/>
      <p:bldP spid="12" grpId="0"/>
      <p:bldP spid="14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88F97-9E7B-E1B7-6BB9-E6835B8E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42D8F4D-CFEA-24AA-5D9B-FAAD34248DBA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34B8F7-8590-CEF1-D737-4AE4D36F027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34605C-4AF2-4F7E-9DA0-CFCF2919A18E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EC5130C-B35E-5648-AEFF-963DBDD32205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01E5E35-58C6-BFDA-2A66-FFA99ADF1DB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8AD7AC8-6E72-33F4-A655-D8A2F4053A8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AFF2052-04AD-A3DD-8F37-57798D8F985A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753D072F-F067-2F58-377A-5B1CD128382B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40034F3-37D3-F541-82B0-EE34613212E5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6B9B1B2-74DB-26C9-15C3-F3EE8F799436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9D13064-A34B-7598-6B7A-3D55E12D790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1AE5AF5-9A0D-94CF-17AD-E418E5C905D2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1B59B5D8-21BA-36B2-564E-D5808F4AC6F9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8C8B6051-0560-6E32-915D-0945594FF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CEEF22-E277-3990-1EDB-25925E88613D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DD1214-3595-E9FA-A29E-9676375C96B3}"/>
              </a:ext>
            </a:extLst>
          </p:cNvPr>
          <p:cNvSpPr/>
          <p:nvPr/>
        </p:nvSpPr>
        <p:spPr>
          <a:xfrm>
            <a:off x="1973336" y="2434407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根據文本內容，讀出重點並完成下列的表格。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2DB0FF62-D0C9-A5E1-3615-A2E81F0ACA81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B4F821CD-C39D-E310-B7B1-82F9B4357F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4FCBD17-848A-C856-8EDC-87BC6DE54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797215"/>
              </p:ext>
            </p:extLst>
          </p:nvPr>
        </p:nvGraphicFramePr>
        <p:xfrm>
          <a:off x="2162040" y="3572813"/>
          <a:ext cx="14623548" cy="5685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6824">
                  <a:extLst>
                    <a:ext uri="{9D8B030D-6E8A-4147-A177-3AD203B41FA5}">
                      <a16:colId xmlns:a16="http://schemas.microsoft.com/office/drawing/2014/main" val="3416396251"/>
                    </a:ext>
                  </a:extLst>
                </a:gridCol>
                <a:gridCol w="5978362">
                  <a:extLst>
                    <a:ext uri="{9D8B030D-6E8A-4147-A177-3AD203B41FA5}">
                      <a16:colId xmlns:a16="http://schemas.microsoft.com/office/drawing/2014/main" val="3212098307"/>
                    </a:ext>
                  </a:extLst>
                </a:gridCol>
                <a:gridCol w="5978362">
                  <a:extLst>
                    <a:ext uri="{9D8B030D-6E8A-4147-A177-3AD203B41FA5}">
                      <a16:colId xmlns:a16="http://schemas.microsoft.com/office/drawing/2014/main" val="3878780021"/>
                    </a:ext>
                  </a:extLst>
                </a:gridCol>
              </a:tblGrid>
              <a:tr h="812157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練習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人物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206844"/>
                  </a:ext>
                </a:extLst>
              </a:tr>
              <a:tr h="8121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事件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努力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卻沒有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096283"/>
                  </a:ext>
                </a:extLst>
              </a:tr>
              <a:tr h="812157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練習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請教對象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935063"/>
                  </a:ext>
                </a:extLst>
              </a:tr>
              <a:tr h="8121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傳授秘訣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寫完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556902"/>
                  </a:ext>
                </a:extLst>
              </a:tr>
              <a:tr h="812157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勤練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努力過程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學每個字的筆畫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78692"/>
                  </a:ext>
                </a:extLst>
              </a:tr>
              <a:tr h="8121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花費時間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885804"/>
                  </a:ext>
                </a:extLst>
              </a:tr>
              <a:tr h="8121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評價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有點樣子了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73938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C03D3E6C-C2D7-1F07-4D58-1DDFFD0F15BB}"/>
              </a:ext>
            </a:extLst>
          </p:cNvPr>
          <p:cNvSpPr txBox="1"/>
          <p:nvPr/>
        </p:nvSpPr>
        <p:spPr>
          <a:xfrm>
            <a:off x="3417278" y="4177725"/>
            <a:ext cx="3974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困境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5B4126-62BE-6263-E0E6-2D4FB8352C73}"/>
              </a:ext>
            </a:extLst>
          </p:cNvPr>
          <p:cNvSpPr txBox="1"/>
          <p:nvPr/>
        </p:nvSpPr>
        <p:spPr>
          <a:xfrm>
            <a:off x="3417278" y="5830587"/>
            <a:ext cx="5105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秘訣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D2C3779-5D26-0F5B-4C95-D45C8C24777C}"/>
              </a:ext>
            </a:extLst>
          </p:cNvPr>
          <p:cNvSpPr txBox="1"/>
          <p:nvPr/>
        </p:nvSpPr>
        <p:spPr>
          <a:xfrm>
            <a:off x="2559932" y="7852593"/>
            <a:ext cx="7803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早晚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D3D9351-507C-FD58-B20B-E3145BD6C4C4}"/>
              </a:ext>
            </a:extLst>
          </p:cNvPr>
          <p:cNvSpPr txBox="1"/>
          <p:nvPr/>
        </p:nvSpPr>
        <p:spPr>
          <a:xfrm>
            <a:off x="11243299" y="3753859"/>
            <a:ext cx="97653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u="sng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王獻之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237D41-ED2A-C099-FC97-108E4E641ECF}"/>
              </a:ext>
            </a:extLst>
          </p:cNvPr>
          <p:cNvSpPr txBox="1"/>
          <p:nvPr/>
        </p:nvSpPr>
        <p:spPr>
          <a:xfrm>
            <a:off x="11879340" y="4586626"/>
            <a:ext cx="1935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練字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85DADE9-E080-DDC5-5C69-003A3643B9A2}"/>
              </a:ext>
            </a:extLst>
          </p:cNvPr>
          <p:cNvSpPr txBox="1"/>
          <p:nvPr/>
        </p:nvSpPr>
        <p:spPr>
          <a:xfrm>
            <a:off x="14485447" y="4585752"/>
            <a:ext cx="97653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進步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A06C2BF-3C4B-A5F1-82D8-4110C39D6ED7}"/>
              </a:ext>
            </a:extLst>
          </p:cNvPr>
          <p:cNvSpPr txBox="1"/>
          <p:nvPr/>
        </p:nvSpPr>
        <p:spPr>
          <a:xfrm>
            <a:off x="11243299" y="5404504"/>
            <a:ext cx="22441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父親</a:t>
            </a:r>
            <a:r>
              <a:rPr lang="zh-TW" altLang="en-US" sz="3200" b="1" u="sng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王羲之 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7FDE125-F76F-FBCB-E7CB-D9D43603F513}"/>
              </a:ext>
            </a:extLst>
          </p:cNvPr>
          <p:cNvSpPr txBox="1"/>
          <p:nvPr/>
        </p:nvSpPr>
        <p:spPr>
          <a:xfrm>
            <a:off x="12113803" y="6236397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屋外十八缸水 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B425ED5-74E0-6FB0-45DE-397EAB6DF0FC}"/>
              </a:ext>
            </a:extLst>
          </p:cNvPr>
          <p:cNvSpPr txBox="1"/>
          <p:nvPr/>
        </p:nvSpPr>
        <p:spPr>
          <a:xfrm>
            <a:off x="11243299" y="7020700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用心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7480653-468B-6E48-30E9-336010488595}"/>
              </a:ext>
            </a:extLst>
          </p:cNvPr>
          <p:cNvSpPr txBox="1"/>
          <p:nvPr/>
        </p:nvSpPr>
        <p:spPr>
          <a:xfrm>
            <a:off x="11360138" y="7852593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兩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8090E37-B753-1536-F908-4AA0742FED5C}"/>
              </a:ext>
            </a:extLst>
          </p:cNvPr>
          <p:cNvSpPr txBox="1"/>
          <p:nvPr/>
        </p:nvSpPr>
        <p:spPr>
          <a:xfrm>
            <a:off x="6955162" y="8639214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母親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4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7" grpId="0"/>
      <p:bldP spid="18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2990C13-0B63-F4C3-032F-FD35C632F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300656"/>
              </p:ext>
            </p:extLst>
          </p:nvPr>
        </p:nvGraphicFramePr>
        <p:xfrm>
          <a:off x="2162040" y="3162300"/>
          <a:ext cx="14623548" cy="53428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6824">
                  <a:extLst>
                    <a:ext uri="{9D8B030D-6E8A-4147-A177-3AD203B41FA5}">
                      <a16:colId xmlns:a16="http://schemas.microsoft.com/office/drawing/2014/main" val="3416396251"/>
                    </a:ext>
                  </a:extLst>
                </a:gridCol>
                <a:gridCol w="5458136">
                  <a:extLst>
                    <a:ext uri="{9D8B030D-6E8A-4147-A177-3AD203B41FA5}">
                      <a16:colId xmlns:a16="http://schemas.microsoft.com/office/drawing/2014/main" val="3212098307"/>
                    </a:ext>
                  </a:extLst>
                </a:gridCol>
                <a:gridCol w="6498588">
                  <a:extLst>
                    <a:ext uri="{9D8B030D-6E8A-4147-A177-3AD203B41FA5}">
                      <a16:colId xmlns:a16="http://schemas.microsoft.com/office/drawing/2014/main" val="3878780021"/>
                    </a:ext>
                  </a:extLst>
                </a:gridCol>
              </a:tblGrid>
              <a:tr h="763269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埋頭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花費時間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25509"/>
                  </a:ext>
                </a:extLst>
              </a:tr>
              <a:tr h="76326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評價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自覺和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一模一樣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062565"/>
                  </a:ext>
                </a:extLst>
              </a:tr>
              <a:tr h="76326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評價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字下一點，有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的味道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909622"/>
                  </a:ext>
                </a:extLst>
              </a:tr>
              <a:tr h="76326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難過原因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那一點是父親寫的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152840"/>
                  </a:ext>
                </a:extLst>
              </a:tr>
              <a:tr h="763269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結果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決心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多年書法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379559"/>
                  </a:ext>
                </a:extLst>
              </a:tr>
              <a:tr h="76326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成果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字和父親一樣好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25324"/>
                  </a:ext>
                </a:extLst>
              </a:tr>
              <a:tr h="76326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秘訣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寫完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67325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A1204258-FC90-06F2-4E3F-D05B254A4588}"/>
              </a:ext>
            </a:extLst>
          </p:cNvPr>
          <p:cNvSpPr txBox="1"/>
          <p:nvPr/>
        </p:nvSpPr>
        <p:spPr>
          <a:xfrm>
            <a:off x="3419220" y="4501852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苦練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A83EDBA-00C9-B191-279F-59AB99BFAC38}"/>
              </a:ext>
            </a:extLst>
          </p:cNvPr>
          <p:cNvSpPr txBox="1"/>
          <p:nvPr/>
        </p:nvSpPr>
        <p:spPr>
          <a:xfrm>
            <a:off x="6729951" y="4082318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自我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8E6FE2E-8445-714B-9563-8D7834CB3600}"/>
              </a:ext>
            </a:extLst>
          </p:cNvPr>
          <p:cNvSpPr txBox="1"/>
          <p:nvPr/>
        </p:nvSpPr>
        <p:spPr>
          <a:xfrm>
            <a:off x="6729950" y="4884248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母親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E72E790-A54F-E4AF-C399-0EC4EEED4FDF}"/>
              </a:ext>
            </a:extLst>
          </p:cNvPr>
          <p:cNvSpPr txBox="1"/>
          <p:nvPr/>
        </p:nvSpPr>
        <p:spPr>
          <a:xfrm>
            <a:off x="10744200" y="3310011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兩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08F273E-707C-F969-75EA-D135F9C5CCA5}"/>
              </a:ext>
            </a:extLst>
          </p:cNvPr>
          <p:cNvSpPr txBox="1"/>
          <p:nvPr/>
        </p:nvSpPr>
        <p:spPr>
          <a:xfrm>
            <a:off x="10651006" y="4842399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太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04E94DA-9ED4-D4A4-D4ED-605895C17F74}"/>
              </a:ext>
            </a:extLst>
          </p:cNvPr>
          <p:cNvSpPr txBox="1"/>
          <p:nvPr/>
        </p:nvSpPr>
        <p:spPr>
          <a:xfrm>
            <a:off x="11918429" y="4091554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父親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98C5C91-D3BE-7ECA-26EB-B523953040AF}"/>
              </a:ext>
            </a:extLst>
          </p:cNvPr>
          <p:cNvSpPr txBox="1"/>
          <p:nvPr/>
        </p:nvSpPr>
        <p:spPr>
          <a:xfrm>
            <a:off x="14046582" y="4867934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父親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0C15552-2D52-1E19-5E8C-61FC66410273}"/>
              </a:ext>
            </a:extLst>
          </p:cNvPr>
          <p:cNvSpPr txBox="1"/>
          <p:nvPr/>
        </p:nvSpPr>
        <p:spPr>
          <a:xfrm>
            <a:off x="10651005" y="6381403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持續苦練 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AF208E7-AE2C-9D3E-0C44-0533A5955FEC}"/>
              </a:ext>
            </a:extLst>
          </p:cNvPr>
          <p:cNvSpPr txBox="1"/>
          <p:nvPr/>
        </p:nvSpPr>
        <p:spPr>
          <a:xfrm>
            <a:off x="11430000" y="7939007"/>
            <a:ext cx="2973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十八缸水</a:t>
            </a:r>
            <a:endParaRPr lang="zh-TW" altLang="en-US" sz="32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24" grpId="0"/>
      <p:bldP spid="25" grpId="0"/>
      <p:bldP spid="29" grpId="0"/>
      <p:bldP spid="30" grpId="0"/>
      <p:bldP spid="31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/>
          <p:cNvSpPr/>
          <p:nvPr/>
        </p:nvSpPr>
        <p:spPr>
          <a:xfrm>
            <a:off x="2524238" y="2506415"/>
            <a:ext cx="14237763" cy="6930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從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《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還差一點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中，我們看到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練習書法的過程，請仔細思考他的表現，並從以下選項中，勾選出你認為符合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個性的特質。選擇後，請簡單說明你的理由，並分享你最欣賞或最不欣賞的特質是什麼？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□有毅力  □不服輸  □細心  □虛心  □堅持到底  □驕傲自滿  □懶惰    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□專注</a:t>
            </a: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我最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欣賞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不欣賞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，因為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________________________________________________________________________________________________________________________________________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C5E4E28-5ED4-0D97-5B1A-BF9C85FEED34}"/>
              </a:ext>
            </a:extLst>
          </p:cNvPr>
          <p:cNvSpPr/>
          <p:nvPr/>
        </p:nvSpPr>
        <p:spPr>
          <a:xfrm>
            <a:off x="7887257" y="7000820"/>
            <a:ext cx="3200400" cy="77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EE8E33-2107-617A-657C-A17FE4ABDC33}"/>
              </a:ext>
            </a:extLst>
          </p:cNvPr>
          <p:cNvSpPr/>
          <p:nvPr/>
        </p:nvSpPr>
        <p:spPr>
          <a:xfrm>
            <a:off x="12318767" y="7000820"/>
            <a:ext cx="3200400" cy="77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</a:p>
        </p:txBody>
      </p:sp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BE6A-8D6D-CA5A-AE2E-298AFBC5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B84013-58F3-6CEC-AF0E-CE40EDEC811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FAE90F-205B-3854-B0A5-85F0AA42E5E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C77D22-7CE8-CE33-E13F-AFB5BF135EF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2AF316-076A-F896-8594-948724DE9AD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8CA91E7-E976-9E65-E4FD-D3D101F2FA8B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3F60C9-411B-C3B3-91C9-C1D41424801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F0806A0-08E8-78B1-0327-1313F9C5F10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6B414C-CCC0-3395-B1D3-8CCE05A550D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017766C-D879-62DB-1DF8-2C1662F47F9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1E321DE-4E8A-48CF-04C5-85B494D4EC3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2AC7DFC-4A8B-FAD8-6C9B-90497BDB6B83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7810265-694A-32FE-1DD8-AB6676B6829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5FBCFFA6-3D90-B76E-31F8-151948D15620}"/>
              </a:ext>
            </a:extLst>
          </p:cNvPr>
          <p:cNvSpPr/>
          <p:nvPr/>
        </p:nvSpPr>
        <p:spPr>
          <a:xfrm>
            <a:off x="2681699" y="2690136"/>
            <a:ext cx="13611516" cy="6161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Ｑ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讀完第一、二課之後，請問你從王獻之的身上學習到什麼呢？請小朋友具體的寫出來。</a:t>
            </a: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我從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的身上學習到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________________________________________</a:t>
            </a:r>
          </a:p>
          <a:p>
            <a:pPr>
              <a:lnSpc>
                <a:spcPts val="6000"/>
              </a:lnSpc>
            </a:pP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這一課我們透過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故事知道這「十八缸水」代表他堅持努力的過程，你自己有沒有想要努力達成的目標呢？請你選定一個目標，並設計屬於你自己的「十八缸水計畫表」，每一缸水代表一個具體的小行動或步驟，請逐步填寫完成進度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文字方塊 2">
            <a:extLst>
              <a:ext uri="{FF2B5EF4-FFF2-40B4-BE49-F238E27FC236}">
                <a16:creationId xmlns:a16="http://schemas.microsoft.com/office/drawing/2014/main" id="{40D3A192-D54C-BE11-E4D1-2FBCD8EA9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84468B79-B4D5-8135-E189-3A1381F84E61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5D8EE5F-7254-7BD3-7E06-515472461C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0C5A8F0-7FF8-E279-C27C-4215290C48A3}"/>
              </a:ext>
            </a:extLst>
          </p:cNvPr>
          <p:cNvSpPr/>
          <p:nvPr/>
        </p:nvSpPr>
        <p:spPr>
          <a:xfrm>
            <a:off x="8077200" y="4076700"/>
            <a:ext cx="3200400" cy="77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</a:p>
        </p:txBody>
      </p:sp>
    </p:spTree>
    <p:extLst>
      <p:ext uri="{BB962C8B-B14F-4D97-AF65-F5344CB8AC3E}">
        <p14:creationId xmlns:p14="http://schemas.microsoft.com/office/powerpoint/2010/main" val="303097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1CF094D-7F4B-7229-0948-C0A616C9F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241431"/>
              </p:ext>
            </p:extLst>
          </p:nvPr>
        </p:nvGraphicFramePr>
        <p:xfrm>
          <a:off x="2436619" y="940398"/>
          <a:ext cx="14307797" cy="8462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68777">
                  <a:extLst>
                    <a:ext uri="{9D8B030D-6E8A-4147-A177-3AD203B41FA5}">
                      <a16:colId xmlns:a16="http://schemas.microsoft.com/office/drawing/2014/main" val="2510871402"/>
                    </a:ext>
                  </a:extLst>
                </a:gridCol>
                <a:gridCol w="4768777">
                  <a:extLst>
                    <a:ext uri="{9D8B030D-6E8A-4147-A177-3AD203B41FA5}">
                      <a16:colId xmlns:a16="http://schemas.microsoft.com/office/drawing/2014/main" val="2692972589"/>
                    </a:ext>
                  </a:extLst>
                </a:gridCol>
                <a:gridCol w="4770243">
                  <a:extLst>
                    <a:ext uri="{9D8B030D-6E8A-4147-A177-3AD203B41FA5}">
                      <a16:colId xmlns:a16="http://schemas.microsoft.com/office/drawing/2014/main" val="801426576"/>
                    </a:ext>
                  </a:extLst>
                </a:gridCol>
              </a:tblGrid>
              <a:tr h="713691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我的努力目標是：</a:t>
                      </a: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_______________________________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763813"/>
                  </a:ext>
                </a:extLst>
              </a:tr>
              <a:tr h="1517143">
                <a:tc gridSpan="3"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Wingdings" pitchFamily="2" charset="2"/>
                        <a:buChar char=""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請寫出十八個你為達成目標所要付出的具體行動，每完成一個，就打勾✔。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757174"/>
                  </a:ext>
                </a:extLst>
              </a:tr>
              <a:tr h="7897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05747"/>
                  </a:ext>
                </a:extLst>
              </a:tr>
              <a:tr h="7897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943558"/>
                  </a:ext>
                </a:extLst>
              </a:tr>
              <a:tr h="7897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572053"/>
                  </a:ext>
                </a:extLst>
              </a:tr>
              <a:tr h="7897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255487"/>
                  </a:ext>
                </a:extLst>
              </a:tr>
              <a:tr h="7897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776142"/>
                  </a:ext>
                </a:extLst>
              </a:tr>
              <a:tr h="7897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85759"/>
                  </a:ext>
                </a:extLst>
              </a:tr>
              <a:tr h="1492605">
                <a:tc gridSpan="3"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Wingdings" pitchFamily="2" charset="2"/>
                        <a:buChar char=""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你覺得在達成這個目標的過程中，最困難的是什麼？</a:t>
                      </a:r>
                    </a:p>
                    <a:p>
                      <a:pPr indent="304800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答：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_________________________________________________________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38902" marR="389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08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491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81E446D5-9CB9-4C8D-9EDB-D16CADC9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037" y="3027946"/>
            <a:ext cx="15435000" cy="559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1006</Words>
  <Application>Microsoft Macintosh PowerPoint</Application>
  <PresentationFormat>自訂</PresentationFormat>
  <Paragraphs>260</Paragraphs>
  <Slides>15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7" baseType="lpstr">
      <vt:lpstr>Aptos</vt:lpstr>
      <vt:lpstr>標楷體</vt:lpstr>
      <vt:lpstr>Arial</vt:lpstr>
      <vt:lpstr>標楷體</vt:lpstr>
      <vt:lpstr>微軟正黑體</vt:lpstr>
      <vt:lpstr>微軟正黑體</vt:lpstr>
      <vt:lpstr>AR ZhuYinEX Md</vt:lpstr>
      <vt:lpstr>華康新綜藝體</vt:lpstr>
      <vt:lpstr>華康中圓體(P)</vt:lpstr>
      <vt:lpstr>Wingdings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107</cp:revision>
  <dcterms:created xsi:type="dcterms:W3CDTF">2006-08-16T00:00:00Z</dcterms:created>
  <dcterms:modified xsi:type="dcterms:W3CDTF">2025-09-21T14:18:34Z</dcterms:modified>
  <dc:identifier>DAGOioWnJWE</dc:identifier>
</cp:coreProperties>
</file>