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96" r:id="rId4"/>
    <p:sldId id="291" r:id="rId5"/>
    <p:sldId id="271" r:id="rId6"/>
    <p:sldId id="272" r:id="rId7"/>
    <p:sldId id="286" r:id="rId8"/>
    <p:sldId id="316" r:id="rId9"/>
    <p:sldId id="311" r:id="rId10"/>
    <p:sldId id="312" r:id="rId11"/>
    <p:sldId id="288" r:id="rId12"/>
    <p:sldId id="317" r:id="rId13"/>
    <p:sldId id="308" r:id="rId14"/>
    <p:sldId id="279" r:id="rId15"/>
    <p:sldId id="295" r:id="rId16"/>
  </p:sldIdLst>
  <p:sldSz cx="18288000" cy="10287000"/>
  <p:notesSz cx="6858000" cy="9144000"/>
  <p:embeddedFontLst>
    <p:embeddedFont>
      <p:font typeface="華康中圓體(P)" panose="020F0500000000000000" pitchFamily="34" charset="-120"/>
      <p:regular r:id="rId18"/>
    </p:embeddedFont>
    <p:embeddedFont>
      <p:font typeface="標楷體" panose="03000509000000000000" pitchFamily="65" charset="-120"/>
      <p:regular r:id="rId19"/>
    </p:embeddedFont>
    <p:embeddedFont>
      <p:font typeface="微軟正黑體" panose="020B0604030504040204" pitchFamily="34" charset="-120"/>
      <p:regular r:id="rId20"/>
      <p:bold r:id="rId21"/>
    </p:embeddedFont>
    <p:embeddedFont>
      <p:font typeface="微軟正黑體" panose="020B0604030504040204" pitchFamily="34" charset="-120"/>
      <p:regular r:id="rId20"/>
      <p:bold r:id="rId21"/>
    </p:embeddedFont>
    <p:embeddedFont>
      <p:font typeface="華康新綜藝體" panose="02010609000101010101" pitchFamily="49" charset="-120"/>
      <p:regular r:id="rId22"/>
    </p:embeddedFont>
    <p:embeddedFont>
      <p:font typeface="文鼎注音寬字" panose="03000600000000000000" pitchFamily="65" charset="-120"/>
      <p:regular r:id="rId23"/>
    </p:embeddedFont>
    <p:embeddedFont>
      <p:font typeface="AR ZhuYinEX Md" panose="03000600000000000000" pitchFamily="65" charset="-12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標楷體" panose="03000509000000000000" pitchFamily="65" charset="-12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EED"/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47" autoAdjust="0"/>
    <p:restoredTop sz="94035" autoAdjust="0"/>
  </p:normalViewPr>
  <p:slideViewPr>
    <p:cSldViewPr>
      <p:cViewPr varScale="1">
        <p:scale>
          <a:sx n="74" d="100"/>
          <a:sy n="74" d="100"/>
        </p:scale>
        <p:origin x="43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9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4.png"/><Relationship Id="rId5" Type="http://schemas.openxmlformats.org/officeDocument/2006/relationships/image" Target="../media/image4.svg"/><Relationship Id="rId15" Type="http://schemas.openxmlformats.org/officeDocument/2006/relationships/image" Target="../media/image8.png"/><Relationship Id="rId23" Type="http://schemas.openxmlformats.org/officeDocument/2006/relationships/image" Target="../media/image13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9.jp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9.jp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5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0C4wD1uZ2YY?si=KNbYkZC84LozFFEf" TargetMode="External"/><Relationship Id="rId3" Type="http://schemas.openxmlformats.org/officeDocument/2006/relationships/image" Target="../media/image9.jp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3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6019800" y="6929951"/>
            <a:ext cx="6705600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6336763" y="7480978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六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月世界之旅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521587"/>
              </p:ext>
            </p:extLst>
          </p:nvPr>
        </p:nvGraphicFramePr>
        <p:xfrm>
          <a:off x="1931073" y="3470831"/>
          <a:ext cx="7593927" cy="5193518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懷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壞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訪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仿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彷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33776075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的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331"/>
              </p:ext>
            </p:extLst>
          </p:nvPr>
        </p:nvGraphicFramePr>
        <p:xfrm>
          <a:off x="4163021" y="3711613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懷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關懷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753161"/>
              </p:ext>
            </p:extLst>
          </p:nvPr>
        </p:nvGraphicFramePr>
        <p:xfrm>
          <a:off x="4163021" y="454163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標楷體" panose="03000509000000000000" pitchFamily="49" charset="-120"/>
                        </a:rPr>
                        <a:t>壞</a:t>
                      </a:r>
                      <a:endParaRPr lang="zh-TW" sz="4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破壞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868375"/>
              </p:ext>
            </p:extLst>
          </p:nvPr>
        </p:nvGraphicFramePr>
        <p:xfrm>
          <a:off x="4163021" y="5220821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訪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訪問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906146"/>
              </p:ext>
            </p:extLst>
          </p:nvPr>
        </p:nvGraphicFramePr>
        <p:xfrm>
          <a:off x="4163021" y="590001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訪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模仿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386762"/>
              </p:ext>
            </p:extLst>
          </p:nvPr>
        </p:nvGraphicFramePr>
        <p:xfrm>
          <a:off x="4163021" y="6579199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訪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彷彿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050715"/>
              </p:ext>
            </p:extLst>
          </p:nvPr>
        </p:nvGraphicFramePr>
        <p:xfrm>
          <a:off x="4163021" y="7258388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Times New Roman" panose="02020603050405020304" pitchFamily="18" charset="0"/>
                        </a:rPr>
                        <a:t>地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目的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976204"/>
              </p:ext>
            </p:extLst>
          </p:nvPr>
        </p:nvGraphicFramePr>
        <p:xfrm>
          <a:off x="9775847" y="3475305"/>
          <a:ext cx="7221158" cy="3755431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像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76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象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5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文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紋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蚊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822570"/>
              </p:ext>
            </p:extLst>
          </p:nvPr>
        </p:nvGraphicFramePr>
        <p:xfrm>
          <a:off x="11780588" y="3800274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向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畫像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054128"/>
              </p:ext>
            </p:extLst>
          </p:nvPr>
        </p:nvGraphicFramePr>
        <p:xfrm>
          <a:off x="11780588" y="4507841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向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景象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817910"/>
              </p:ext>
            </p:extLst>
          </p:nvPr>
        </p:nvGraphicFramePr>
        <p:xfrm>
          <a:off x="11780588" y="5182313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文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文章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426287"/>
              </p:ext>
            </p:extLst>
          </p:nvPr>
        </p:nvGraphicFramePr>
        <p:xfrm>
          <a:off x="11780588" y="5856785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文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皺紋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657379"/>
              </p:ext>
            </p:extLst>
          </p:nvPr>
        </p:nvGraphicFramePr>
        <p:xfrm>
          <a:off x="11798726" y="6531257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Times New Roman" panose="02020603050405020304" pitchFamily="18" charset="0"/>
                        </a:rPr>
                        <a:t>文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蚊帳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xmlns="" id="{1F57AEF7-1ED3-4F01-1FB4-9AABDA105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691293"/>
              </p:ext>
            </p:extLst>
          </p:nvPr>
        </p:nvGraphicFramePr>
        <p:xfrm>
          <a:off x="4163021" y="7987818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的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美麗的風景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5A7306-129C-DC4B-38E0-CCCB4FD0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913BA1CD-11C9-A921-ABA9-4F8BC4EBA0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CD4108B6-D59E-B75D-1893-631202E4BE6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FE633385-65D3-E608-FBEA-9988B2A2259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B660B2D0-5DA5-3233-160A-3F37C1DEDD1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1559D6AA-13E1-89FC-DAA9-41526B85B1EE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AE9A0B12-C7ED-8690-A62E-EDA12C10F2A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BFF07D46-9426-355B-3BD6-70D7A03B225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xmlns="" id="{EED26856-C4CA-DFC8-0D3A-D551C5EFEA34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xmlns="" id="{233AE8B8-A5DF-36DD-FE52-00F77171C396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xmlns="" id="{47604417-7846-0005-47B8-E0736E56BA54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xmlns="" id="{AFC439D7-6DBE-DCE1-3D34-2AD98AE3F802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xmlns="" id="{40A61603-2F9C-5282-99B8-36E553D7E804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xmlns="" id="{C88D424A-A157-8FC3-A01A-4AA69FDC74CF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xmlns="" id="{3B6873E4-FEF3-1986-70B1-B5F252F4E844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xmlns="" id="{A390EC28-723D-617D-03CA-B0AF2EFFAD88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xmlns="" id="{CBAA27A1-4B4B-2DCC-C087-47251508A4EE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xmlns="" id="{5235512A-8E78-3917-FA65-D556950650A1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8A5B9A8D-216A-8B80-753B-EEEA70965BB9}"/>
              </a:ext>
            </a:extLst>
          </p:cNvPr>
          <p:cNvGrpSpPr/>
          <p:nvPr/>
        </p:nvGrpSpPr>
        <p:grpSpPr>
          <a:xfrm>
            <a:off x="1323419" y="57185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F27940C3-817A-9A8B-A38B-4EDAB6F43A2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EB4A5824-0AE4-7A8A-37BA-6827C14EF18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8E378782-13E7-D339-A06B-F15A92A987E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AB6138E6-3A7D-AF12-F815-AAD506E0A3CF}"/>
              </a:ext>
            </a:extLst>
          </p:cNvPr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xmlns="" id="{2317C13A-18AD-8C7C-E286-5F14E4B2D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xmlns="" id="{2B216F95-A6DB-1DF6-0849-6DF6D21DACAA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xmlns="" id="{912FCACC-7B0A-60C5-AA7A-ECE5AA293AD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xmlns="" id="{B4558FFF-4899-4CDF-16AE-5F2FF0073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177847"/>
              </p:ext>
            </p:extLst>
          </p:nvPr>
        </p:nvGraphicFramePr>
        <p:xfrm>
          <a:off x="2581986" y="3247901"/>
          <a:ext cx="7593927" cy="4512086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密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蜜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7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驚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警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0581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8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灰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33776075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恢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78571555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xmlns="" id="{3DE5ED1F-9A02-9AA5-4BAE-515E694F7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067624"/>
              </p:ext>
            </p:extLst>
          </p:nvPr>
        </p:nvGraphicFramePr>
        <p:xfrm>
          <a:off x="4813934" y="3488683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Times New Roman" panose="02020603050405020304" pitchFamily="18" charset="0"/>
                        </a:rPr>
                        <a:t>密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密集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xmlns="" id="{94A13360-000E-2D07-7B11-988AA1F42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544974"/>
              </p:ext>
            </p:extLst>
          </p:nvPr>
        </p:nvGraphicFramePr>
        <p:xfrm>
          <a:off x="4813934" y="4322095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Times New Roman" panose="02020603050405020304" pitchFamily="18" charset="0"/>
                        </a:rPr>
                        <a:t>密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蜜蜂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xmlns="" id="{5DC61D4B-0C4F-BDD3-9E05-956BB7206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730797"/>
              </p:ext>
            </p:extLst>
          </p:nvPr>
        </p:nvGraphicFramePr>
        <p:xfrm>
          <a:off x="4813934" y="5004677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標楷體" panose="03000509000000000000" pitchFamily="49" charset="-120"/>
                        </a:rPr>
                        <a:t>經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驚喜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xmlns="" id="{3AB54FA7-0322-E7B3-6566-F5DD3C6E1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39397"/>
              </p:ext>
            </p:extLst>
          </p:nvPr>
        </p:nvGraphicFramePr>
        <p:xfrm>
          <a:off x="4813934" y="5687259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警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警告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xmlns="" id="{FA2BC7BD-E202-C91A-95C7-BB939FFB5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678750"/>
              </p:ext>
            </p:extLst>
          </p:nvPr>
        </p:nvGraphicFramePr>
        <p:xfrm>
          <a:off x="4813934" y="636984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微軟正黑體" panose="020B0604030504040204" pitchFamily="34" charset="-120"/>
                        </a:rPr>
                        <a:t>輝</a:t>
                      </a:r>
                      <a:endParaRPr lang="zh-TW" sz="4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灰塵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xmlns="" id="{533C5261-5B4C-C7CF-F232-94E67503C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3672"/>
              </p:ext>
            </p:extLst>
          </p:nvPr>
        </p:nvGraphicFramePr>
        <p:xfrm>
          <a:off x="4813934" y="705791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微軟正黑體" panose="020B0604030504040204" pitchFamily="34" charset="-120"/>
                        </a:rPr>
                        <a:t>輝</a:t>
                      </a:r>
                      <a:endParaRPr lang="zh-TW" altLang="zh-TW" sz="4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恢復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0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5593" y="5591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302823" y="3516326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1. 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靜靜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躺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在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群山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懷抱裡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89991" y="2283156"/>
            <a:ext cx="12909931" cy="834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二、短語、造句練習</a:t>
            </a:r>
            <a:endParaRPr lang="zh-TW" altLang="zh-TW" sz="3600" b="1" kern="100" dirty="0">
              <a:latin typeface="華康中圓體(P)" panose="020F0500000000000000" pitchFamily="34" charset="-120"/>
              <a:ea typeface="華康中圓體(P)" panose="020F0500000000000000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EF29F860-0678-AD0F-2AEA-1B3AE872E29D}"/>
              </a:ext>
            </a:extLst>
          </p:cNvPr>
          <p:cNvSpPr/>
          <p:nvPr/>
        </p:nvSpPr>
        <p:spPr>
          <a:xfrm>
            <a:off x="2291937" y="5770288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2. </a:t>
            </a:r>
            <a:r>
              <a:rPr lang="en-US" altLang="zh-TW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遞進複句</a:t>
            </a:r>
            <a:r>
              <a:rPr lang="en-US" altLang="zh-TW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……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，連 </a:t>
            </a:r>
            <a:r>
              <a:rPr lang="en-US" altLang="zh-TW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……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都 </a:t>
            </a:r>
            <a:r>
              <a:rPr lang="en-US" altLang="zh-TW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b="1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BF0C7134-BD90-6175-4897-9686E0BB4AEC}"/>
              </a:ext>
            </a:extLst>
          </p:cNvPr>
          <p:cNvSpPr/>
          <p:nvPr/>
        </p:nvSpPr>
        <p:spPr>
          <a:xfrm>
            <a:off x="2819400" y="4440139"/>
            <a:ext cx="1374158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在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8443" y="4669326"/>
            <a:ext cx="12577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慢慢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5832924" y="4464040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走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D1655558-B70E-9E0E-5B40-1FCE52625321}"/>
              </a:ext>
            </a:extLst>
          </p:cNvPr>
          <p:cNvSpPr/>
          <p:nvPr/>
        </p:nvSpPr>
        <p:spPr>
          <a:xfrm>
            <a:off x="8634835" y="4464040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媽媽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5B306E6B-B23F-9CFC-DF81-0A9F0A3E422D}"/>
              </a:ext>
            </a:extLst>
          </p:cNvPr>
          <p:cNvSpPr/>
          <p:nvPr/>
        </p:nvSpPr>
        <p:spPr>
          <a:xfrm>
            <a:off x="11904689" y="4440139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左手邊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C40A7F2B-4532-13AA-C44C-AD2456FA2A00}"/>
              </a:ext>
            </a:extLst>
          </p:cNvPr>
          <p:cNvCxnSpPr/>
          <p:nvPr/>
        </p:nvCxnSpPr>
        <p:spPr>
          <a:xfrm>
            <a:off x="2803949" y="7469769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6C695264-FA61-8323-04C6-BB9DAF934FB7}"/>
              </a:ext>
            </a:extLst>
          </p:cNvPr>
          <p:cNvSpPr/>
          <p:nvPr/>
        </p:nvSpPr>
        <p:spPr>
          <a:xfrm>
            <a:off x="2803949" y="6730175"/>
            <a:ext cx="13182600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教室裡很乾淨，連一點灰塵都沒有。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21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5" grpId="0"/>
      <p:bldP spid="14" grpId="0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en-US" altLang="zh-TW" b="1" dirty="0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391486" y="2656224"/>
            <a:ext cx="14173200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根據課文名稱，你覺得「月世界」是一個怎麼樣的地方？和月亮有什麼關係呢？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/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994B29E0-BD88-A0C3-9F35-68AFE8F5C647}"/>
              </a:ext>
            </a:extLst>
          </p:cNvPr>
          <p:cNvCxnSpPr/>
          <p:nvPr/>
        </p:nvCxnSpPr>
        <p:spPr>
          <a:xfrm>
            <a:off x="2581986" y="5127703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67F875C1-56C7-5920-1E89-4A4A453A701E}"/>
              </a:ext>
            </a:extLst>
          </p:cNvPr>
          <p:cNvSpPr/>
          <p:nvPr/>
        </p:nvSpPr>
        <p:spPr>
          <a:xfrm>
            <a:off x="2581986" y="4476331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學生自由回答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3D2F5DC8-BD14-8335-A7D6-9C7FE341397D}"/>
              </a:ext>
            </a:extLst>
          </p:cNvPr>
          <p:cNvSpPr/>
          <p:nvPr/>
        </p:nvSpPr>
        <p:spPr>
          <a:xfrm>
            <a:off x="2391486" y="5734562"/>
            <a:ext cx="14173200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請先觀看影片，透過空拍視角俯瞰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的風貌，並用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字形容描述自己所看到的內容。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42013C8E-6B19-7288-C333-59FEF3399FFA}"/>
              </a:ext>
            </a:extLst>
          </p:cNvPr>
          <p:cNvCxnSpPr/>
          <p:nvPr/>
        </p:nvCxnSpPr>
        <p:spPr>
          <a:xfrm>
            <a:off x="2581986" y="8206041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6178148F-1702-A9AB-774B-E373C6677BDF}"/>
              </a:ext>
            </a:extLst>
          </p:cNvPr>
          <p:cNvSpPr/>
          <p:nvPr/>
        </p:nvSpPr>
        <p:spPr>
          <a:xfrm>
            <a:off x="2581986" y="7554669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學生自由回答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3" name="圖片 22" descr="https://url-m01d.hle.com.tw/Kd.qr.png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923" y="965825"/>
            <a:ext cx="1577976" cy="13925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4" name="矩形 13"/>
          <p:cNvSpPr/>
          <p:nvPr/>
        </p:nvSpPr>
        <p:spPr>
          <a:xfrm>
            <a:off x="8729681" y="1798246"/>
            <a:ext cx="53192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hlinkClick r:id="rId8"/>
              </a:rPr>
              <a:t>https://youtu.be/0C4wD1uZ2YY?si=KNbYkZC84LozFFE</a:t>
            </a:r>
            <a:r>
              <a:rPr lang="zh-TW" altLang="en-US" dirty="0" smtClean="0">
                <a:hlinkClick r:id="rId8"/>
              </a:rPr>
              <a:t>f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8620326" y="1219835"/>
            <a:ext cx="6784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0F0F0F"/>
                </a:solidFill>
                <a:latin typeface="Roboto"/>
              </a:rPr>
              <a:t>高雄田寮 </a:t>
            </a:r>
            <a:r>
              <a:rPr lang="en-US" altLang="zh-TW" b="1" dirty="0">
                <a:solidFill>
                  <a:srgbClr val="0F0F0F"/>
                </a:solidFill>
                <a:latin typeface="Roboto"/>
              </a:rPr>
              <a:t>2021 </a:t>
            </a:r>
            <a:r>
              <a:rPr lang="zh-TW" altLang="en-US" b="1" dirty="0">
                <a:solidFill>
                  <a:srgbClr val="0F0F0F"/>
                </a:solidFill>
                <a:latin typeface="Roboto"/>
              </a:rPr>
              <a:t>月世界地景公園空拍紀錄拍攝作品</a:t>
            </a:r>
            <a:r>
              <a:rPr lang="en-US" altLang="zh-TW" b="1" dirty="0">
                <a:solidFill>
                  <a:srgbClr val="0F0F0F"/>
                </a:solidFill>
                <a:latin typeface="Roboto"/>
              </a:rPr>
              <a:t>(</a:t>
            </a:r>
            <a:r>
              <a:rPr lang="zh-TW" altLang="en-US" b="1" dirty="0">
                <a:solidFill>
                  <a:srgbClr val="0F0F0F"/>
                </a:solidFill>
                <a:latin typeface="Roboto"/>
              </a:rPr>
              <a:t>高畫質</a:t>
            </a:r>
            <a:r>
              <a:rPr lang="en-US" altLang="zh-TW" b="1" dirty="0">
                <a:solidFill>
                  <a:srgbClr val="0F0F0F"/>
                </a:solidFill>
                <a:latin typeface="Roboto"/>
              </a:rPr>
              <a:t>4K</a:t>
            </a:r>
            <a:r>
              <a:rPr lang="zh-TW" altLang="en-US" b="1" dirty="0">
                <a:solidFill>
                  <a:srgbClr val="0F0F0F"/>
                </a:solidFill>
                <a:latin typeface="Roboto"/>
              </a:rPr>
              <a:t>版本</a:t>
            </a:r>
            <a:r>
              <a:rPr lang="en-US" altLang="zh-TW" b="1" dirty="0">
                <a:solidFill>
                  <a:srgbClr val="0F0F0F"/>
                </a:solidFill>
                <a:latin typeface="Roboto"/>
              </a:rPr>
              <a:t>)</a:t>
            </a:r>
            <a:endParaRPr lang="en-US" altLang="zh-TW" b="1" i="0" dirty="0">
              <a:solidFill>
                <a:srgbClr val="0F0F0F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8603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7699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387348" y="2460590"/>
            <a:ext cx="14071852" cy="231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呼應暖身題，本課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月世界之旅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是一篇介紹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地景風貌的記敘文。依照文本內容可分為四個意義段，請將相應的自然段填入表格中。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34" name="圓角矩形 33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  <a:endParaRPr lang="zh-TW" altLang="en-US" sz="2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CBEC00BE-CBEE-8F4B-8B51-2792A21C2BF7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66BD2213-74BA-E969-9275-CC81944C8C23}"/>
              </a:ext>
            </a:extLst>
          </p:cNvPr>
          <p:cNvSpPr/>
          <p:nvPr/>
        </p:nvSpPr>
        <p:spPr>
          <a:xfrm>
            <a:off x="4609439" y="5656005"/>
            <a:ext cx="2190797" cy="680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C56A3C8D-C5D8-4037-1477-9E890560BB59}"/>
              </a:ext>
            </a:extLst>
          </p:cNvPr>
          <p:cNvSpPr/>
          <p:nvPr/>
        </p:nvSpPr>
        <p:spPr>
          <a:xfrm>
            <a:off x="7927366" y="5656005"/>
            <a:ext cx="1764000" cy="680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8235218D-100F-04FA-14AB-E4A696FA8849}"/>
              </a:ext>
            </a:extLst>
          </p:cNvPr>
          <p:cNvSpPr/>
          <p:nvPr/>
        </p:nvSpPr>
        <p:spPr>
          <a:xfrm>
            <a:off x="10818496" y="5656005"/>
            <a:ext cx="2253300" cy="680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7BB0F325-6986-61F4-FC6F-78F16322E90B}"/>
              </a:ext>
            </a:extLst>
          </p:cNvPr>
          <p:cNvSpPr/>
          <p:nvPr/>
        </p:nvSpPr>
        <p:spPr>
          <a:xfrm>
            <a:off x="14095074" y="5656005"/>
            <a:ext cx="1764000" cy="680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190408"/>
              </p:ext>
            </p:extLst>
          </p:nvPr>
        </p:nvGraphicFramePr>
        <p:xfrm>
          <a:off x="2387348" y="5275722"/>
          <a:ext cx="14071852" cy="2763378"/>
        </p:xfrm>
        <a:graphic>
          <a:graphicData uri="http://schemas.openxmlformats.org/drawingml/2006/table">
            <a:tbl>
              <a:tblPr bandRow="1"/>
              <a:tblGrid>
                <a:gridCol w="18365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588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5883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058830">
                  <a:extLst>
                    <a:ext uri="{9D8B030D-6E8A-4147-A177-3AD203B41FA5}">
                      <a16:colId xmlns:a16="http://schemas.microsoft.com/office/drawing/2014/main" xmlns="" val="1356933395"/>
                    </a:ext>
                  </a:extLst>
                </a:gridCol>
                <a:gridCol w="3058830">
                  <a:extLst>
                    <a:ext uri="{9D8B030D-6E8A-4147-A177-3AD203B41FA5}">
                      <a16:colId xmlns:a16="http://schemas.microsoft.com/office/drawing/2014/main" xmlns="" val="3543937687"/>
                    </a:ext>
                  </a:extLst>
                </a:gridCol>
              </a:tblGrid>
              <a:tr h="13816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意義段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altLang="zh-TW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               </a:t>
                      </a:r>
                      <a:r>
                        <a:rPr lang="en-US" altLang="zh-TW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景象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TW" altLang="en-US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實際參訪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altLang="zh-TW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               </a:t>
                      </a:r>
                      <a:r>
                        <a:rPr lang="en-US" altLang="zh-TW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景觀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TW" altLang="en-US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作者感受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816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自然段</a:t>
                      </a:r>
                      <a:endParaRPr lang="zh-TW" sz="28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4" name="矩形 23"/>
          <p:cNvSpPr/>
          <p:nvPr/>
        </p:nvSpPr>
        <p:spPr>
          <a:xfrm>
            <a:off x="5187860" y="6965518"/>
            <a:ext cx="1222535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3306" y="6965518"/>
            <a:ext cx="1082348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2-3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64205945-6829-32FB-D9F5-50D297F852A2}"/>
              </a:ext>
            </a:extLst>
          </p:cNvPr>
          <p:cNvSpPr/>
          <p:nvPr/>
        </p:nvSpPr>
        <p:spPr>
          <a:xfrm>
            <a:off x="11515503" y="6985145"/>
            <a:ext cx="1082348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A98CB040-E71F-C164-6DCC-EEF93B53F199}"/>
              </a:ext>
            </a:extLst>
          </p:cNvPr>
          <p:cNvSpPr/>
          <p:nvPr/>
        </p:nvSpPr>
        <p:spPr>
          <a:xfrm>
            <a:off x="14797822" y="6968331"/>
            <a:ext cx="511679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E5224ECF-CDAE-11E0-FBEF-F9E31A2FAEA6}"/>
              </a:ext>
            </a:extLst>
          </p:cNvPr>
          <p:cNvSpPr txBox="1"/>
          <p:nvPr/>
        </p:nvSpPr>
        <p:spPr>
          <a:xfrm>
            <a:off x="4927570" y="5718356"/>
            <a:ext cx="1358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標楷體" panose="03000509000000000000" pitchFamily="49" charset="-120"/>
                <a:cs typeface="Times New Roman" panose="02020603050405020304" pitchFamily="18" charset="0"/>
              </a:rPr>
              <a:t>想像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xmlns="" id="{C74816A7-4EFF-5C95-BC95-A74B675942EC}"/>
              </a:ext>
            </a:extLst>
          </p:cNvPr>
          <p:cNvSpPr txBox="1"/>
          <p:nvPr/>
        </p:nvSpPr>
        <p:spPr>
          <a:xfrm>
            <a:off x="11067126" y="5725283"/>
            <a:ext cx="1358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標楷體" panose="03000509000000000000" pitchFamily="49" charset="-120"/>
                <a:cs typeface="Times New Roman" panose="02020603050405020304" pitchFamily="18" charset="0"/>
              </a:rPr>
              <a:t>特殊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0" grpId="0"/>
      <p:bldP spid="13" grpId="0" animBg="1"/>
      <p:bldP spid="4" grpId="0" animBg="1"/>
      <p:bldP spid="14" grpId="0" animBg="1"/>
      <p:bldP spid="17" grpId="0" animBg="1"/>
      <p:bldP spid="24" grpId="0"/>
      <p:bldP spid="25" grpId="0"/>
      <p:bldP spid="12" grpId="0"/>
      <p:bldP spid="18" grpId="0"/>
      <p:bldP spid="1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365159" y="2637628"/>
            <a:ext cx="15460824" cy="2483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根據文本第一段，作者想像中的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是什麼樣子的？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657350" lvl="2" indent="-742950">
              <a:lnSpc>
                <a:spcPct val="150000"/>
              </a:lnSpc>
              <a:buAutoNum type="arabicPeriod"/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又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，像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一樣的地方。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657350" lvl="2" indent="-742950">
              <a:lnSpc>
                <a:spcPct val="150000"/>
              </a:lnSpc>
              <a:buAutoNum type="arabicPeriod"/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湖水映著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，躺在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的懷抱裡。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/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357E7A6E-637B-56E1-629A-0CF8A047396A}"/>
              </a:ext>
            </a:extLst>
          </p:cNvPr>
          <p:cNvSpPr/>
          <p:nvPr/>
        </p:nvSpPr>
        <p:spPr>
          <a:xfrm>
            <a:off x="4356374" y="3515345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安靜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63FD15CE-BBE8-ABFB-28D0-F908D5651012}"/>
              </a:ext>
            </a:extLst>
          </p:cNvPr>
          <p:cNvSpPr/>
          <p:nvPr/>
        </p:nvSpPr>
        <p:spPr>
          <a:xfrm>
            <a:off x="2288959" y="5758871"/>
            <a:ext cx="1326666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作者參加什麼活動進而拜訪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呢？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9C525C33-CE82-A55A-5C3C-0F565DF54FAA}"/>
              </a:ext>
            </a:extLst>
          </p:cNvPr>
          <p:cNvSpPr/>
          <p:nvPr/>
        </p:nvSpPr>
        <p:spPr>
          <a:xfrm>
            <a:off x="3523014" y="6676468"/>
            <a:ext cx="4986646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參加戶外教育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E59F35DB-5555-621F-9127-0026F5CF3372}"/>
              </a:ext>
            </a:extLst>
          </p:cNvPr>
          <p:cNvSpPr/>
          <p:nvPr/>
        </p:nvSpPr>
        <p:spPr>
          <a:xfrm>
            <a:off x="6378440" y="5842658"/>
            <a:ext cx="912816" cy="72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A1FD3E3B-B626-FDE4-49F8-C2F44C7ACA73}"/>
              </a:ext>
            </a:extLst>
          </p:cNvPr>
          <p:cNvSpPr/>
          <p:nvPr/>
        </p:nvSpPr>
        <p:spPr>
          <a:xfrm>
            <a:off x="6838996" y="3503534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神秘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37F74848-CC10-3230-5C83-AA57C44CB41C}"/>
              </a:ext>
            </a:extLst>
          </p:cNvPr>
          <p:cNvSpPr/>
          <p:nvPr/>
        </p:nvSpPr>
        <p:spPr>
          <a:xfrm>
            <a:off x="9789206" y="3515345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仙境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DA999380-58BF-1B8B-86A5-4095DD41C5EB}"/>
              </a:ext>
            </a:extLst>
          </p:cNvPr>
          <p:cNvSpPr/>
          <p:nvPr/>
        </p:nvSpPr>
        <p:spPr>
          <a:xfrm>
            <a:off x="11808007" y="4326008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群山 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AC8B85A3-93ED-C17E-6A4D-BA3DC354FDB7}"/>
              </a:ext>
            </a:extLst>
          </p:cNvPr>
          <p:cNvSpPr/>
          <p:nvPr/>
        </p:nvSpPr>
        <p:spPr>
          <a:xfrm>
            <a:off x="8265444" y="4326008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月亮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F68529A9-D4C6-4750-F9EC-9AC50C43C695}"/>
              </a:ext>
            </a:extLst>
          </p:cNvPr>
          <p:cNvSpPr/>
          <p:nvPr/>
        </p:nvSpPr>
        <p:spPr>
          <a:xfrm>
            <a:off x="4356374" y="4358111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綠色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420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8" grpId="0"/>
      <p:bldP spid="11" grpId="0"/>
      <p:bldP spid="25" grpId="0"/>
      <p:bldP spid="26" grpId="0"/>
      <p:bldP spid="27" grpId="0"/>
      <p:bldP spid="29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BFAED8-C8F3-12B8-9176-C90B6FBA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F4BF1EB8-1D2F-A289-BFB9-18E5B4DD99EA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9A90CCDB-0D4A-0D00-EA20-C8AC98CBB78E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9AD8049E-DE9F-A4EC-08CE-C00206905BDC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6DDC4FE8-5FAC-C3FF-16BA-C8F1A15D5A7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3935E623-EA65-E49B-36A3-6CB0F096E9F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8B945CA0-9471-3885-449E-F40B159AD7EF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xmlns="" id="{7AC52001-A4FB-2322-27DF-E851531DE3D6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xmlns="" id="{438E954F-E322-C91D-19E3-49D141EA4D2C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xmlns="" id="{D261CD14-D332-2D23-F72F-7EAE635CED62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xmlns="" id="{4344439B-1A01-C395-150A-B01840BD9068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xmlns="" id="{BE2A4DB1-E855-5D65-E23B-196324905C7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xmlns="" id="{A3C9CF42-5F7A-0EAE-DC39-59ADA396DA33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BE6AE98F-79B8-7D52-87BB-FAAC698D010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xmlns="" id="{7B8C4079-2F8F-7040-FA79-DEA3D59C3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99C699F8-4054-2ED1-DFFB-45746F6CD7CA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9A80FB86-50D0-8A28-94D0-7B4243B7710F}"/>
              </a:ext>
            </a:extLst>
          </p:cNvPr>
          <p:cNvSpPr/>
          <p:nvPr/>
        </p:nvSpPr>
        <p:spPr>
          <a:xfrm>
            <a:off x="2365159" y="2637628"/>
            <a:ext cx="15460824" cy="4145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作者是如何敘述山丘景色呢？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像一頭頭並排的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(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的表面有很多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)</a:t>
            </a:r>
          </a:p>
          <a:p>
            <a:pPr lvl="2"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像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一樣，沒有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)</a:t>
            </a:r>
          </a:p>
          <a:p>
            <a:pPr marL="1657350" lvl="2" indent="-742950">
              <a:lnSpc>
                <a:spcPct val="150000"/>
              </a:lnSpc>
              <a:buAutoNum type="arabicPeriod"/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657350" lvl="2" indent="-742950">
              <a:lnSpc>
                <a:spcPct val="150000"/>
              </a:lnSpc>
              <a:buAutoNum type="arabicPeriod"/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xmlns="" id="{B02D2B56-891F-F933-B9B2-28C615DCB200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81FE1C77-8893-B9E8-0DA4-C19EAA0021CB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1F2ADA51-C117-E7B5-D9B9-98872C909E8F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F5DC00FE-BA9E-E969-ED0E-B8F7E44212B5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xmlns="" id="{4DC94BDE-2AEE-6B35-5221-34916C63F6A7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>
            <a:extLst>
              <a:ext uri="{FF2B5EF4-FFF2-40B4-BE49-F238E27FC236}">
                <a16:creationId xmlns:a16="http://schemas.microsoft.com/office/drawing/2014/main" xmlns="" id="{B27D6057-0FCC-8786-E373-C0B7E6CDBBE9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xmlns="" id="{8C2F48C0-3774-EF23-4AB5-356D5C0F80C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F8D68911-448C-B599-5645-26C7FC84D37F}"/>
              </a:ext>
            </a:extLst>
          </p:cNvPr>
          <p:cNvSpPr/>
          <p:nvPr/>
        </p:nvSpPr>
        <p:spPr>
          <a:xfrm>
            <a:off x="7716089" y="3486895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大象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8DCB1DD5-E331-26EE-8966-94884184C98A}"/>
              </a:ext>
            </a:extLst>
          </p:cNvPr>
          <p:cNvSpPr/>
          <p:nvPr/>
        </p:nvSpPr>
        <p:spPr>
          <a:xfrm>
            <a:off x="6935784" y="2726477"/>
            <a:ext cx="1751016" cy="72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0846819E-ECC0-8818-D8DB-1364669880B3}"/>
              </a:ext>
            </a:extLst>
          </p:cNvPr>
          <p:cNvSpPr/>
          <p:nvPr/>
        </p:nvSpPr>
        <p:spPr>
          <a:xfrm>
            <a:off x="9883975" y="4305300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濃密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9A9E0A48-7364-9195-8F50-7BF6348169E2}"/>
              </a:ext>
            </a:extLst>
          </p:cNvPr>
          <p:cNvSpPr/>
          <p:nvPr/>
        </p:nvSpPr>
        <p:spPr>
          <a:xfrm>
            <a:off x="12189868" y="4353400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林木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EA781834-F1D2-A619-D137-F2ECCCF9631E}"/>
              </a:ext>
            </a:extLst>
          </p:cNvPr>
          <p:cNvSpPr/>
          <p:nvPr/>
        </p:nvSpPr>
        <p:spPr>
          <a:xfrm>
            <a:off x="14554200" y="3499907"/>
            <a:ext cx="1447798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紋路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522FB8D3-CC7E-21F8-3F71-78CEDBED66EB}"/>
              </a:ext>
            </a:extLst>
          </p:cNvPr>
          <p:cNvSpPr/>
          <p:nvPr/>
        </p:nvSpPr>
        <p:spPr>
          <a:xfrm>
            <a:off x="10070171" y="3486894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灰色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C55AA1A3-72CE-9C81-F8C4-3859525CA727}"/>
              </a:ext>
            </a:extLst>
          </p:cNvPr>
          <p:cNvSpPr/>
          <p:nvPr/>
        </p:nvSpPr>
        <p:spPr>
          <a:xfrm>
            <a:off x="5042175" y="4327516"/>
            <a:ext cx="213938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月球表面 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147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8" grpId="0"/>
      <p:bldP spid="25" grpId="0"/>
      <p:bldP spid="26" grpId="0"/>
      <p:bldP spid="27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082C2D-EB00-6E32-E4EB-4FE3EADD4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2B42D53F-B6D3-BB9D-4FBC-14EB78534656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5B604A3D-70AE-8B33-4546-07DFA61C96B6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C8276247-AC2D-16EF-5E75-74607DE08C92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FCF48AB2-42A2-99D0-7A3B-4BEA697803A8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73B7FB2B-C835-B3A7-2275-4B6635571D89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EFFE73C1-AA6F-0707-055C-9AF2FD235D1D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xmlns="" id="{9ABBAB45-D69F-1201-A98B-29F2885B4C1B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xmlns="" id="{E5B561C6-F85F-EC65-3B91-5F3F77002035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xmlns="" id="{629B1C03-07A7-5816-9B6E-719500FB13B9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xmlns="" id="{07207937-2922-F57E-E94E-A8935CB97E32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xmlns="" id="{833610B1-7F8B-EE96-F0E1-E52A4954706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xmlns="" id="{28890826-19AA-0C2B-C976-67BE9587BBD8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964AEBE8-3D79-AC90-C5F1-1819CD05148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xmlns="" id="{29E8477B-041A-F489-CF1B-C98FCCAAF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BF043720-7628-F36E-121F-5C970DFA31B4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0F4DD75F-955C-EA72-1B67-3F158558F779}"/>
              </a:ext>
            </a:extLst>
          </p:cNvPr>
          <p:cNvSpPr/>
          <p:nvPr/>
        </p:nvSpPr>
        <p:spPr>
          <a:xfrm>
            <a:off x="2592328" y="2670492"/>
            <a:ext cx="13944252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第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段文本中，作者把泥漿冒出來的聲音和噴發樣子，描述得很生動。請藉由下方表格整理作者具體描述的內容。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xmlns="" id="{DE73AD97-E377-3ED7-4460-CBFEDF698360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BBF5F32C-795A-D977-E96A-3807E03452D9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F24E4CA0-183F-40E4-8787-6C88C077A2BA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302BCA02-A084-F7BD-4283-FD601D1946A9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xmlns="" id="{554C4B42-E291-721F-B8BC-9D1008251C82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>
            <a:extLst>
              <a:ext uri="{FF2B5EF4-FFF2-40B4-BE49-F238E27FC236}">
                <a16:creationId xmlns:a16="http://schemas.microsoft.com/office/drawing/2014/main" xmlns="" id="{B87FF4ED-4EFB-174C-C2B4-6186BB48657B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xmlns="" id="{1231AEDE-B19E-93DC-DD38-64D983C4B9A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xmlns="" id="{1B1B5325-B3C1-F7B0-D0D5-346140C9B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867232"/>
              </p:ext>
            </p:extLst>
          </p:nvPr>
        </p:nvGraphicFramePr>
        <p:xfrm>
          <a:off x="2696052" y="4688742"/>
          <a:ext cx="13585454" cy="30817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0000">
                  <a:extLst>
                    <a:ext uri="{9D8B030D-6E8A-4147-A177-3AD203B41FA5}">
                      <a16:colId xmlns:a16="http://schemas.microsoft.com/office/drawing/2014/main" xmlns="" val="3479764401"/>
                    </a:ext>
                  </a:extLst>
                </a:gridCol>
                <a:gridCol w="2263911">
                  <a:extLst>
                    <a:ext uri="{9D8B030D-6E8A-4147-A177-3AD203B41FA5}">
                      <a16:colId xmlns:a16="http://schemas.microsoft.com/office/drawing/2014/main" xmlns="" val="202745901"/>
                    </a:ext>
                  </a:extLst>
                </a:gridCol>
                <a:gridCol w="7381543">
                  <a:extLst>
                    <a:ext uri="{9D8B030D-6E8A-4147-A177-3AD203B41FA5}">
                      <a16:colId xmlns:a16="http://schemas.microsoft.com/office/drawing/2014/main" xmlns="" val="1742249314"/>
                    </a:ext>
                  </a:extLst>
                </a:gridCol>
              </a:tblGrid>
              <a:tr h="1540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泥漿冒出聲音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像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有人在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71425538"/>
                  </a:ext>
                </a:extLst>
              </a:tr>
              <a:tr h="1540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泥漿噴發樣子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活蹦亂跳的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7233583"/>
                  </a:ext>
                </a:extLst>
              </a:tr>
            </a:tbl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60D01B9F-27F8-2B4F-3901-136E008FC08F}"/>
              </a:ext>
            </a:extLst>
          </p:cNvPr>
          <p:cNvSpPr/>
          <p:nvPr/>
        </p:nvSpPr>
        <p:spPr>
          <a:xfrm>
            <a:off x="12496800" y="4991100"/>
            <a:ext cx="1447798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打嗝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55F0D599-346A-C38B-1FB4-E42827E51E13}"/>
              </a:ext>
            </a:extLst>
          </p:cNvPr>
          <p:cNvSpPr/>
          <p:nvPr/>
        </p:nvSpPr>
        <p:spPr>
          <a:xfrm>
            <a:off x="12877800" y="6548827"/>
            <a:ext cx="175260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泥巴魚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483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521919-D640-D828-BB4A-7A3D019D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DE542643-8D0E-3783-52DE-81CB103B995F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B30DB903-2A0A-1E45-99B4-E0F8CDAFBD59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5430CF25-F870-20B5-28A5-67C504D79566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3893C02F-53DA-2FA8-0CA2-475B8911C8DA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CDE88422-B9BA-C9E5-59BB-0F7DD10A033E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C9030660-C768-B6FB-9A56-76952A59E66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xmlns="" id="{51847DE7-FBC3-6D90-B242-15EE481BF8E9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xmlns="" id="{13C3CBDA-4590-03CC-A4FD-4C415857D8A3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xmlns="" id="{EEFCB884-A7BA-63B6-93C6-260F2BA4858A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xmlns="" id="{681515D3-2CB0-CD58-6C85-25B7DBCC3EF6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xmlns="" id="{6A47E878-6136-0C9C-47A3-979AAD58738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xmlns="" id="{5A7F46E5-734F-D671-E754-EB3190E73AE8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7F42C4BA-F17B-F548-779D-27263639FC06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xmlns="" id="{3BB114B5-31D4-C509-A24C-0BD869277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D6C577C-6835-2205-5A33-244269B21C48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C0FD9D01-D7CC-AB63-C051-DCF40817E59C}"/>
              </a:ext>
            </a:extLst>
          </p:cNvPr>
          <p:cNvSpPr/>
          <p:nvPr/>
        </p:nvSpPr>
        <p:spPr>
          <a:xfrm>
            <a:off x="2502174" y="2875771"/>
            <a:ext cx="15460824" cy="231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Q4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作者這趟旅程有什麼感受？</a:t>
            </a:r>
          </a:p>
          <a:p>
            <a:pPr lvl="2"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看見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的景色，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景色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ts val="6000"/>
              </a:lnSpc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xmlns="" id="{E01184A3-CF11-B96E-D0D5-B1B22AE03F6B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4217F13C-1BF3-45A2-4605-C13216934314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7C122B83-997A-27A9-A023-55AD05C53D9B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21416207-0B1E-CBD1-CAA6-F5DD0CC19FBC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xmlns="" id="{CD8C9150-BB39-94C6-AAC7-C05DBC8B3C5D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>
            <a:extLst>
              <a:ext uri="{FF2B5EF4-FFF2-40B4-BE49-F238E27FC236}">
                <a16:creationId xmlns:a16="http://schemas.microsoft.com/office/drawing/2014/main" xmlns="" id="{F3707823-985F-720A-29F2-F55AF6E16922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xmlns="" id="{B78F613E-F872-BECC-845A-65A768BB267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9DB2089B-7F90-8174-429B-89581855CEBD}"/>
              </a:ext>
            </a:extLst>
          </p:cNvPr>
          <p:cNvSpPr/>
          <p:nvPr/>
        </p:nvSpPr>
        <p:spPr>
          <a:xfrm>
            <a:off x="4640416" y="3674385"/>
            <a:ext cx="259858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從來沒看過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23CE8656-10A5-8B8C-110D-CF89AC074B05}"/>
              </a:ext>
            </a:extLst>
          </p:cNvPr>
          <p:cNvSpPr/>
          <p:nvPr/>
        </p:nvSpPr>
        <p:spPr>
          <a:xfrm>
            <a:off x="11658600" y="3674385"/>
            <a:ext cx="259858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讓人難忘 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502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/>
          <p:cNvSpPr/>
          <p:nvPr/>
        </p:nvSpPr>
        <p:spPr>
          <a:xfrm>
            <a:off x="1942314" y="2069089"/>
            <a:ext cx="15135516" cy="76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請閱讀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月世界：台灣的地質奇觀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，並回答問題。</a:t>
            </a:r>
          </a:p>
        </p:txBody>
      </p:sp>
      <p:sp>
        <p:nvSpPr>
          <p:cNvPr id="48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/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xmlns="" id="{E930E082-19B0-F149-4A1E-46ED2EE19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22962"/>
              </p:ext>
            </p:extLst>
          </p:nvPr>
        </p:nvGraphicFramePr>
        <p:xfrm>
          <a:off x="1907490" y="3054948"/>
          <a:ext cx="15205163" cy="64983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05163">
                  <a:extLst>
                    <a:ext uri="{9D8B030D-6E8A-4147-A177-3AD203B41FA5}">
                      <a16:colId xmlns:a16="http://schemas.microsoft.com/office/drawing/2014/main" xmlns="" val="3237014222"/>
                    </a:ext>
                  </a:extLst>
                </a:gridCol>
              </a:tblGrid>
              <a:tr h="5988536">
                <a:tc>
                  <a:txBody>
                    <a:bodyPr/>
                    <a:lstStyle/>
                    <a:p>
                      <a:pPr marL="109855" marR="85090" algn="ctr">
                        <a:lnSpc>
                          <a:spcPct val="130000"/>
                        </a:lnSpc>
                      </a:pPr>
                      <a:r>
                        <a:rPr lang="zh-TW" altLang="en-US" sz="40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月世界：台灣的地質奇觀</a:t>
                      </a:r>
                    </a:p>
                    <a:p>
                      <a:pPr marL="109855" marR="85090" algn="l">
                        <a:lnSpc>
                          <a:spcPct val="13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月世界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，位於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臺灣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高雄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台南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地區，是一片充滿神秘感的特殊地形，因其與月球表面相似的灰色外貌而得名。這片地形屬於惡地地形，是由泥岩構成的地質環境，經過長期風化和雨水侵蝕所形成的結果。由於土壤中的鹽分含量高且結構疏鬆，植物難以扎根，形成寸草不生的荒涼景象，讓人彷彿置身於另一個星球。</a:t>
                      </a:r>
                      <a:endParaRPr lang="en-US" altLang="zh-TW" sz="3200" b="0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marL="109855" marR="85090" algn="l">
                        <a:lnSpc>
                          <a:spcPct val="13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泥岩的特性也讓月世界的景觀變化多端。晴天時，乾燥的地面布滿裂痕，呈現出獨特的紋理；雨天時，泥土迅速吸水並軟化，變成泥漿，宛如一片泥濘的河流。此外，月世界最著名的景點之一是泥火山。泥火山的噴發並非來自熔岩，而是地底的泥漿和氣體壓力釋放後，形成的小型噴泉，噴出的泥漿顏色多變，富含礦物質，為月世界增添更多奇妙色彩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7070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093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2DCE9AF-8B64-C136-DEEF-7DF6E77A2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74CE8B94-A566-027B-3001-E4899034092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346EE051-8129-70F6-57B6-F63C8DA3DC6F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178C6A7C-5801-B424-26AE-FC68645CE9C4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005C358C-7C6F-A105-5712-B7DA2509E3D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7609992C-1D34-540E-3041-60E71A109098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21D7F7B6-3694-8B6D-C5E6-83A78008191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BB4D9A64-BD1E-6B17-4635-692DC84F9BF7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98C05E6D-2BF7-6CF4-2BC7-F753E2E75797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E71FC880-9D88-CCE7-C45B-4F8075CA726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787E40B7-AD6A-0B13-6C23-5897211EE166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A4439CBF-22B7-0C1E-9151-58F840600F4A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267ED5E7-D52D-A4E8-EE45-D438D8F71D7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:a16="http://schemas.microsoft.com/office/drawing/2014/main" xmlns="" id="{1AC81B26-2D53-F771-91F8-0B9B96E66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xmlns="" id="{28DEBD96-5519-6546-2108-A039D16F09FA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xmlns="" id="{D99CDBC1-76D6-A2E3-AF9A-106D8E4BBC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xmlns="" id="{37AAD612-64B0-A8C7-7CFD-F75CC82C8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828276"/>
              </p:ext>
            </p:extLst>
          </p:nvPr>
        </p:nvGraphicFramePr>
        <p:xfrm>
          <a:off x="2237748" y="2675301"/>
          <a:ext cx="14754852" cy="6278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54852">
                  <a:extLst>
                    <a:ext uri="{9D8B030D-6E8A-4147-A177-3AD203B41FA5}">
                      <a16:colId xmlns:a16="http://schemas.microsoft.com/office/drawing/2014/main" xmlns="" val="3237014222"/>
                    </a:ext>
                  </a:extLst>
                </a:gridCol>
              </a:tblGrid>
              <a:tr h="5988536">
                <a:tc>
                  <a:txBody>
                    <a:bodyPr/>
                    <a:lstStyle/>
                    <a:p>
                      <a:pPr marL="109855" marR="85090" algn="l">
                        <a:lnSpc>
                          <a:spcPct val="13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泥岩的特性也讓月世界的景觀變化多端。晴天時，乾燥的地面布滿裂痕，呈現出獨特的紋理；雨天時，泥土迅速吸水並軟化，變成泥漿，宛如一片泥濘的河流。此外，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月世界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最著名的景點之一是泥火山。泥火山的噴發並非來自熔岩，而是地底的泥漿和氣體壓力釋放後，形成的小型噴泉，噴出的泥漿顏色多變，富含礦物質，為月世界增添更多奇妙色彩。</a:t>
                      </a:r>
                    </a:p>
                    <a:p>
                      <a:pPr marL="109855" marR="85090" algn="l">
                        <a:lnSpc>
                          <a:spcPct val="130000"/>
                        </a:lnSpc>
                      </a:pPr>
                      <a:endParaRPr lang="zh-TW" altLang="en-US" sz="3200" b="0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marL="109855" marR="85090" algn="l">
                        <a:lnSpc>
                          <a:spcPct val="13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除了地質意義，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月世界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也是生態保育和旅遊觀光的熱門地點。然而，遊客的活動可能對這片脆弱的地形造成影響，因此在享受美景的同時，我們也應採取保護措施，減少對環境的干擾。月世界既是自然的奇蹟，也是地質科學研究的重要基地，它提醒我們敬畏自然、珍惜資源，為下一代保留這片地質奇觀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7070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157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D7E4A2-7929-E4DF-B146-9F9F5B70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19E5592C-D72F-B8FF-243C-925A74C4A17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xmlns="" id="{E3E17F86-6728-53E0-BF80-085E80AE99BA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03CAF446-D752-2FF0-97AA-C5274ACD4084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xmlns="" id="{C48E443D-4495-6E16-1071-A35F478BE2A1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F55417F3-34D6-8E43-595A-06D417900315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77940561-EA39-9A08-6477-6835D9BEDE9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9AFD5770-A5D6-AB6A-4479-725120D4C66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8D1E9FE1-0092-4743-99B9-9A24217FB4BA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89BEC766-8AD4-6C4E-FCCE-F4CD491F0CF1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CAB66D63-90F0-20D0-03EC-9735B2B3403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262FAC0A-56E0-A73F-D9CA-4B1AE23759D3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xmlns="" id="{349F7657-94D4-0D8A-C943-B3CF9B1F30C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:a16="http://schemas.microsoft.com/office/drawing/2014/main" xmlns="" id="{6D08AB4A-A75A-EB26-3A40-3E95220F4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xmlns="" id="{B334BEBD-11FC-305F-6F54-864D41F5F1F5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xmlns="" id="{711C4887-5F7C-0149-DDE7-92346E2C42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B5D730A4-D85C-6BA4-3CF0-93D796EFC939}"/>
              </a:ext>
            </a:extLst>
          </p:cNvPr>
          <p:cNvSpPr/>
          <p:nvPr/>
        </p:nvSpPr>
        <p:spPr>
          <a:xfrm>
            <a:off x="2358313" y="2739785"/>
            <a:ext cx="14009635" cy="4622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ts val="6000"/>
              </a:lnSpc>
              <a:buAutoNum type="arabicPeriod"/>
            </a:pP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的土壤特性使植物難以生長，但如果你有機會改造這片土地，會採取什麼方法讓它變得更適合植物生長？為什麼？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42950" indent="-742950">
              <a:lnSpc>
                <a:spcPts val="6000"/>
              </a:lnSpc>
              <a:buAutoNum type="arabicPeriod"/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42950" indent="-742950">
              <a:lnSpc>
                <a:spcPts val="6000"/>
              </a:lnSpc>
              <a:buAutoNum type="arabicPeriod"/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42950" indent="-742950">
              <a:lnSpc>
                <a:spcPts val="6000"/>
              </a:lnSpc>
              <a:buAutoNum type="arabicPeriod"/>
            </a:pP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月世界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是台灣獨特的地質景觀，如何在開放觀光的同時，兼顧對這片自然環境的保護？你有哪些建議？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6A62BD74-61BF-A8BD-8167-D03E1EEAABD6}"/>
              </a:ext>
            </a:extLst>
          </p:cNvPr>
          <p:cNvCxnSpPr/>
          <p:nvPr/>
        </p:nvCxnSpPr>
        <p:spPr>
          <a:xfrm>
            <a:off x="3185348" y="5189093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CBBF5D95-8806-C501-7BDA-5E24ACD266C5}"/>
              </a:ext>
            </a:extLst>
          </p:cNvPr>
          <p:cNvSpPr/>
          <p:nvPr/>
        </p:nvSpPr>
        <p:spPr>
          <a:xfrm>
            <a:off x="3185348" y="4402698"/>
            <a:ext cx="1318260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9AA9E5FB-A626-A3E4-C959-DE616207B6EF}"/>
              </a:ext>
            </a:extLst>
          </p:cNvPr>
          <p:cNvCxnSpPr/>
          <p:nvPr/>
        </p:nvCxnSpPr>
        <p:spPr>
          <a:xfrm>
            <a:off x="3185348" y="8309821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916A9906-E583-261A-1B1C-AFD23EE8AE27}"/>
              </a:ext>
            </a:extLst>
          </p:cNvPr>
          <p:cNvSpPr/>
          <p:nvPr/>
        </p:nvSpPr>
        <p:spPr>
          <a:xfrm>
            <a:off x="3185348" y="7523426"/>
            <a:ext cx="1318260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</a:p>
        </p:txBody>
      </p:sp>
    </p:spTree>
    <p:extLst>
      <p:ext uri="{BB962C8B-B14F-4D97-AF65-F5344CB8AC3E}">
        <p14:creationId xmlns:p14="http://schemas.microsoft.com/office/powerpoint/2010/main" val="47548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10" name="圖片 9" descr="一張含有 文字, 螢幕擷取畫面, 軟體, 陳列 的圖片&#10;&#10;自動產生的描述">
            <a:extLst>
              <a:ext uri="{FF2B5EF4-FFF2-40B4-BE49-F238E27FC236}">
                <a16:creationId xmlns:a16="http://schemas.microsoft.com/office/drawing/2014/main" xmlns="" id="{3D195498-35E3-26EF-4C57-FFD76551CB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19" t="32507" r="6510" b="27026"/>
          <a:stretch>
            <a:fillRect/>
          </a:stretch>
        </p:blipFill>
        <p:spPr bwMode="auto">
          <a:xfrm>
            <a:off x="1715157" y="3619500"/>
            <a:ext cx="15386575" cy="4648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3425</TotalTime>
  <Words>1198</Words>
  <Application>Microsoft Office PowerPoint</Application>
  <PresentationFormat>自訂</PresentationFormat>
  <Paragraphs>186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32" baseType="lpstr">
      <vt:lpstr>華康中圓體(P)</vt:lpstr>
      <vt:lpstr>標楷體</vt:lpstr>
      <vt:lpstr>王漢宗特黑體</vt:lpstr>
      <vt:lpstr>Arial</vt:lpstr>
      <vt:lpstr>微軟正黑體</vt:lpstr>
      <vt:lpstr>Times New Roman</vt:lpstr>
      <vt:lpstr>微軟正黑體</vt:lpstr>
      <vt:lpstr>華康新綜藝體</vt:lpstr>
      <vt:lpstr>新細明體</vt:lpstr>
      <vt:lpstr>文鼎注音寬字</vt:lpstr>
      <vt:lpstr>More Sugar</vt:lpstr>
      <vt:lpstr>AR ZhuYinEX Md</vt:lpstr>
      <vt:lpstr>Aptos</vt:lpstr>
      <vt:lpstr>Calibri</vt:lpstr>
      <vt:lpstr>標楷體</vt:lpstr>
      <vt:lpstr>Roboto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趙曼貽</cp:lastModifiedBy>
  <cp:revision>156</cp:revision>
  <dcterms:created xsi:type="dcterms:W3CDTF">2006-08-16T00:00:00Z</dcterms:created>
  <dcterms:modified xsi:type="dcterms:W3CDTF">2025-11-27T06:42:17Z</dcterms:modified>
  <dc:identifier>DAGOioWnJWE</dc:identifier>
</cp:coreProperties>
</file>