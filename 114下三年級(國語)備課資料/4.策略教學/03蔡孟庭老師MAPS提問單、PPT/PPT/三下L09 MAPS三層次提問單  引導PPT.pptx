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85" r:id="rId4"/>
    <p:sldId id="270" r:id="rId5"/>
    <p:sldId id="271" r:id="rId6"/>
    <p:sldId id="272" r:id="rId7"/>
    <p:sldId id="286" r:id="rId8"/>
    <p:sldId id="296" r:id="rId9"/>
    <p:sldId id="297" r:id="rId10"/>
    <p:sldId id="298" r:id="rId11"/>
    <p:sldId id="299" r:id="rId12"/>
    <p:sldId id="300" r:id="rId13"/>
    <p:sldId id="279" r:id="rId14"/>
    <p:sldId id="295" r:id="rId15"/>
  </p:sldIdLst>
  <p:sldSz cx="18288000" cy="10287000"/>
  <p:notesSz cx="6858000" cy="9144000"/>
  <p:embeddedFontLst>
    <p:embeddedFont>
      <p:font typeface="文鼎注音寬字" panose="020B0602010101010101" pitchFamily="49" charset="-120"/>
      <p:regular r:id="rId17"/>
    </p:embeddedFont>
    <p:embeddedFont>
      <p:font typeface="華康新綜藝體" panose="02010609000101010101" pitchFamily="49" charset="0"/>
      <p:regular r:id="rId18"/>
    </p:embeddedFont>
    <p:embeddedFont>
      <p:font typeface="微軟正黑體" panose="020B0604030504040204" pitchFamily="34" charset="-120"/>
      <p:regular r:id="rId19"/>
      <p:bold r:id="rId20"/>
    </p:embeddedFont>
    <p:embeddedFont>
      <p:font typeface="微軟正黑體" panose="020B0604030504040204" pitchFamily="34" charset="-120"/>
      <p:regular r:id="rId19"/>
      <p:bold r:id="rId20"/>
    </p:embeddedFont>
    <p:embeddedFont>
      <p:font typeface="標楷體" panose="03000509000000000000" pitchFamily="49" charset="-120"/>
      <p:regular r:id="rId21"/>
    </p:embeddedFont>
    <p:embeddedFont>
      <p:font typeface="標楷體" panose="03000509000000000000" pitchFamily="49" charset="-120"/>
      <p:regular r:id="rId21"/>
    </p:embeddedFont>
    <p:embeddedFont>
      <p:font typeface="AR ZhuYinEX Md" panose="020B0602010101010101" pitchFamily="49" charset="-12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61" autoAdjust="0"/>
    <p:restoredTop sz="94624" autoAdjust="0"/>
  </p:normalViewPr>
  <p:slideViewPr>
    <p:cSldViewPr>
      <p:cViewPr varScale="1">
        <p:scale>
          <a:sx n="35" d="100"/>
          <a:sy n="35" d="100"/>
        </p:scale>
        <p:origin x="176" y="14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7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737BC-0160-43F0-A57D-211EEFCA83B8}" type="datetimeFigureOut">
              <a:rPr lang="zh-TW" altLang="en-US" smtClean="0"/>
              <a:t>2025/9/21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F15EC-EB07-4462-A15A-319C71CF4B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jp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2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25.svg"/><Relationship Id="rId2" Type="http://schemas.openxmlformats.org/officeDocument/2006/relationships/image" Target="../media/image1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6.jp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30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90404" y="569551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9" name="Freeform 29"/>
          <p:cNvSpPr/>
          <p:nvPr/>
        </p:nvSpPr>
        <p:spPr>
          <a:xfrm>
            <a:off x="5332160" y="1830982"/>
            <a:ext cx="1375279" cy="792661"/>
          </a:xfrm>
          <a:custGeom>
            <a:avLst/>
            <a:gdLst/>
            <a:ahLst/>
            <a:cxnLst/>
            <a:rect l="l" t="t" r="r" b="b"/>
            <a:pathLst>
              <a:path w="1375279" h="792661">
                <a:moveTo>
                  <a:pt x="0" y="0"/>
                </a:moveTo>
                <a:lnTo>
                  <a:pt x="1375278" y="0"/>
                </a:lnTo>
                <a:lnTo>
                  <a:pt x="1375278" y="792660"/>
                </a:lnTo>
                <a:lnTo>
                  <a:pt x="0" y="7926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0" name="TextBox 30"/>
          <p:cNvSpPr txBox="1"/>
          <p:nvPr/>
        </p:nvSpPr>
        <p:spPr>
          <a:xfrm>
            <a:off x="4894777" y="3662162"/>
            <a:ext cx="903295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dist">
              <a:lnSpc>
                <a:spcPts val="8400"/>
              </a:lnSpc>
            </a:pPr>
            <a:r>
              <a:rPr lang="zh-TW" altLang="en-US" sz="115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提問單</a:t>
            </a:r>
            <a:endParaRPr lang="en-US" sz="11500" dirty="0">
              <a:solidFill>
                <a:schemeClr val="accent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More Sugar"/>
              <a:sym typeface="More Suga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550115" y="1559356"/>
            <a:ext cx="13636764" cy="1662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1"/>
              </a:lnSpc>
            </a:pPr>
            <a:r>
              <a:rPr lang="en-US" sz="12521" dirty="0">
                <a:solidFill>
                  <a:srgbClr val="182C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ore Sugar"/>
                <a:sym typeface="More Sugar"/>
              </a:rPr>
              <a:t>MAPS </a:t>
            </a:r>
          </a:p>
        </p:txBody>
      </p:sp>
      <p:sp>
        <p:nvSpPr>
          <p:cNvPr id="34" name="文字方塊 33"/>
          <p:cNvSpPr txBox="1"/>
          <p:nvPr/>
        </p:nvSpPr>
        <p:spPr>
          <a:xfrm>
            <a:off x="7409104" y="5087306"/>
            <a:ext cx="112684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蔡孟庭 老師編寫</a:t>
            </a:r>
          </a:p>
        </p:txBody>
      </p:sp>
      <p:pic>
        <p:nvPicPr>
          <p:cNvPr id="36" name="圖片 35"/>
          <p:cNvPicPr/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5754482" y="6929951"/>
            <a:ext cx="7732918" cy="18848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6176277" y="7509630"/>
            <a:ext cx="7016890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6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九</a:t>
            </a:r>
            <a:r>
              <a:rPr lang="zh-TW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 </a:t>
            </a:r>
            <a:r>
              <a:rPr lang="zh-TW" altLang="en-US" sz="4800" b="1" kern="100" dirty="0">
                <a:solidFill>
                  <a:schemeClr val="tx2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就愛兩兩在一起</a:t>
            </a:r>
            <a:endParaRPr lang="zh-TW" sz="4000" kern="100" dirty="0">
              <a:solidFill>
                <a:schemeClr val="tx2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5" name="Freeform 29"/>
          <p:cNvSpPr/>
          <p:nvPr/>
        </p:nvSpPr>
        <p:spPr>
          <a:xfrm>
            <a:off x="7962900" y="6296571"/>
            <a:ext cx="2362200" cy="945188"/>
          </a:xfrm>
          <a:custGeom>
            <a:avLst/>
            <a:gdLst/>
            <a:ahLst/>
            <a:cxnLst/>
            <a:rect l="l" t="t" r="r" b="b"/>
            <a:pathLst>
              <a:path w="4189793" h="1081728">
                <a:moveTo>
                  <a:pt x="0" y="0"/>
                </a:moveTo>
                <a:lnTo>
                  <a:pt x="4189794" y="0"/>
                </a:lnTo>
                <a:lnTo>
                  <a:pt x="4189794" y="1081729"/>
                </a:lnTo>
                <a:lnTo>
                  <a:pt x="0" y="10817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8" name="文字方塊 2"/>
          <p:cNvSpPr txBox="1">
            <a:spLocks noChangeArrowheads="1"/>
          </p:cNvSpPr>
          <p:nvPr/>
        </p:nvSpPr>
        <p:spPr bwMode="auto">
          <a:xfrm>
            <a:off x="6176277" y="6352529"/>
            <a:ext cx="6148978" cy="1086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endParaRPr lang="zh-TW" sz="1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三下</a:t>
            </a:r>
            <a:endParaRPr lang="zh-TW" sz="32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9" name="Freeform 31"/>
          <p:cNvSpPr/>
          <p:nvPr/>
        </p:nvSpPr>
        <p:spPr>
          <a:xfrm rot="10085071">
            <a:off x="5959511" y="4872591"/>
            <a:ext cx="1185379" cy="1159388"/>
          </a:xfrm>
          <a:custGeom>
            <a:avLst/>
            <a:gdLst/>
            <a:ahLst/>
            <a:cxnLst/>
            <a:rect l="l" t="t" r="r" b="b"/>
            <a:pathLst>
              <a:path w="1317310" h="1317310">
                <a:moveTo>
                  <a:pt x="0" y="0"/>
                </a:moveTo>
                <a:lnTo>
                  <a:pt x="1317310" y="0"/>
                </a:lnTo>
                <a:lnTo>
                  <a:pt x="1317310" y="1317310"/>
                </a:lnTo>
                <a:lnTo>
                  <a:pt x="0" y="131731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201" y="6828992"/>
            <a:ext cx="2003108" cy="3260698"/>
          </a:xfrm>
          <a:prstGeom prst="rect">
            <a:avLst/>
          </a:prstGeom>
        </p:spPr>
      </p:pic>
      <p:grpSp>
        <p:nvGrpSpPr>
          <p:cNvPr id="40" name="Group 19"/>
          <p:cNvGrpSpPr/>
          <p:nvPr/>
        </p:nvGrpSpPr>
        <p:grpSpPr>
          <a:xfrm>
            <a:off x="1840324" y="923747"/>
            <a:ext cx="2761763" cy="708578"/>
            <a:chOff x="0" y="0"/>
            <a:chExt cx="3038818" cy="748565"/>
          </a:xfrm>
        </p:grpSpPr>
        <p:sp>
          <p:nvSpPr>
            <p:cNvPr id="41" name="TextBox 20"/>
            <p:cNvSpPr txBox="1"/>
            <p:nvPr/>
          </p:nvSpPr>
          <p:spPr>
            <a:xfrm>
              <a:off x="1110400" y="6488"/>
              <a:ext cx="1928418" cy="7180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319"/>
                </a:lnSpc>
              </a:pPr>
              <a:r>
                <a:rPr lang="en-US" sz="4800" b="1" spc="334" dirty="0" err="1">
                  <a:solidFill>
                    <a:srgbClr val="0154A6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王漢宗特黑體"/>
                  <a:sym typeface="王漢宗特黑體"/>
                </a:rPr>
                <a:t>國語</a:t>
              </a:r>
              <a:endParaRPr lang="en-US" sz="4800" b="1" spc="334" dirty="0">
                <a:solidFill>
                  <a:srgbClr val="0154A6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王漢宗特黑體"/>
                <a:sym typeface="王漢宗特黑體"/>
              </a:endParaRPr>
            </a:p>
          </p:txBody>
        </p:sp>
        <p:sp>
          <p:nvSpPr>
            <p:cNvPr id="42" name="Freeform 21"/>
            <p:cNvSpPr/>
            <p:nvPr/>
          </p:nvSpPr>
          <p:spPr>
            <a:xfrm>
              <a:off x="0" y="0"/>
              <a:ext cx="1423684" cy="748565"/>
            </a:xfrm>
            <a:custGeom>
              <a:avLst/>
              <a:gdLst/>
              <a:ahLst/>
              <a:cxnLst/>
              <a:rect l="l" t="t" r="r" b="b"/>
              <a:pathLst>
                <a:path w="1423684" h="748565">
                  <a:moveTo>
                    <a:pt x="0" y="0"/>
                  </a:moveTo>
                  <a:lnTo>
                    <a:pt x="1423684" y="0"/>
                  </a:lnTo>
                  <a:lnTo>
                    <a:pt x="1423684" y="748565"/>
                  </a:lnTo>
                  <a:lnTo>
                    <a:pt x="0" y="748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68996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316393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0993" y="2244724"/>
            <a:ext cx="129099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一、形近字知多少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109958"/>
              </p:ext>
            </p:extLst>
          </p:nvPr>
        </p:nvGraphicFramePr>
        <p:xfrm>
          <a:off x="1637166" y="3470831"/>
          <a:ext cx="7891774" cy="1701014"/>
        </p:xfrm>
        <a:graphic>
          <a:graphicData uri="http://schemas.openxmlformats.org/drawingml/2006/table">
            <a:tbl>
              <a:tblPr firstRow="1" firstCol="1" bandRow="1"/>
              <a:tblGrid>
                <a:gridCol w="62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7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  <a:endParaRPr lang="zh-TW" sz="1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1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快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筷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4" name="圖片 4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302916"/>
              </p:ext>
            </p:extLst>
          </p:nvPr>
        </p:nvGraphicFramePr>
        <p:xfrm>
          <a:off x="3928432" y="3711613"/>
          <a:ext cx="5373120" cy="837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794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文鼎注音寬字" panose="03000600000000000000" pitchFamily="65" charset="-120"/>
                          <a:ea typeface="文鼎注音寬字" panose="03000600000000000000" pitchFamily="65" charset="-120"/>
                          <a:cs typeface="Times New Roman" panose="02020603050405020304" pitchFamily="18" charset="0"/>
                        </a:rPr>
                        <a:t>筷</a:t>
                      </a:r>
                      <a:endParaRPr lang="zh-TW" sz="4000" kern="100" dirty="0">
                        <a:solidFill>
                          <a:srgbClr val="FF0000"/>
                        </a:solidFill>
                        <a:effectLst/>
                        <a:latin typeface="文鼎注音寬字" panose="03000600000000000000" pitchFamily="65" charset="-120"/>
                        <a:ea typeface="文鼎注音寬字" panose="03000600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快樂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498701"/>
              </p:ext>
            </p:extLst>
          </p:nvPr>
        </p:nvGraphicFramePr>
        <p:xfrm>
          <a:off x="3928432" y="4433094"/>
          <a:ext cx="5373120" cy="6871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71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文鼎注音寬字" panose="03000600000000000000" pitchFamily="65" charset="-120"/>
                          <a:ea typeface="文鼎注音寬字" panose="03000600000000000000" pitchFamily="65" charset="-120"/>
                          <a:cs typeface="Times New Roman" panose="02020603050405020304" pitchFamily="18" charset="0"/>
                        </a:rPr>
                        <a:t>筷</a:t>
                      </a:r>
                      <a:endParaRPr lang="zh-TW" altLang="zh-TW" sz="4000" kern="100" dirty="0">
                        <a:solidFill>
                          <a:srgbClr val="FF0000"/>
                        </a:solidFill>
                        <a:effectLst/>
                        <a:latin typeface="文鼎注音寬字" panose="03000600000000000000" pitchFamily="65" charset="-120"/>
                        <a:ea typeface="文鼎注音寬字" panose="03000600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400" kern="100" dirty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碗筷</a:t>
                      </a:r>
                      <a:endParaRPr lang="zh-TW" sz="2400" kern="100" dirty="0">
                        <a:solidFill>
                          <a:srgbClr val="FF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表格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7171"/>
              </p:ext>
            </p:extLst>
          </p:nvPr>
        </p:nvGraphicFramePr>
        <p:xfrm>
          <a:off x="9775848" y="3475305"/>
          <a:ext cx="7374458" cy="5818272"/>
        </p:xfrm>
        <a:graphic>
          <a:graphicData uri="http://schemas.openxmlformats.org/drawingml/2006/table">
            <a:tbl>
              <a:tblPr firstRow="1" firstCol="1" bandRow="1"/>
              <a:tblGrid>
                <a:gridCol w="861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kern="100" dirty="0">
                          <a:solidFill>
                            <a:schemeClr val="tx1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614">
                <a:tc rowSpan="8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2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較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咬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7344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交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49309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郊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跤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狡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61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皎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707997"/>
              </p:ext>
            </p:extLst>
          </p:nvPr>
        </p:nvGraphicFramePr>
        <p:xfrm>
          <a:off x="11754428" y="7228811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交</a:t>
                      </a:r>
                      <a:endParaRPr lang="zh-TW" altLang="zh-TW" sz="2000" kern="100" dirty="0">
                        <a:effectLst/>
                        <a:latin typeface="Aptos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摔跤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87599"/>
              </p:ext>
            </p:extLst>
          </p:nvPr>
        </p:nvGraphicFramePr>
        <p:xfrm>
          <a:off x="11779549" y="3799761"/>
          <a:ext cx="5402724" cy="7283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83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Times New Roman" panose="02020603050405020304" pitchFamily="18" charset="0"/>
                        </a:rPr>
                        <a:t>較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計較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676985"/>
              </p:ext>
            </p:extLst>
          </p:nvPr>
        </p:nvGraphicFramePr>
        <p:xfrm>
          <a:off x="11779549" y="4515462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校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校園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32167"/>
              </p:ext>
            </p:extLst>
          </p:nvPr>
        </p:nvGraphicFramePr>
        <p:xfrm>
          <a:off x="11761274" y="5141322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咬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咬字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703861"/>
              </p:ext>
            </p:extLst>
          </p:nvPr>
        </p:nvGraphicFramePr>
        <p:xfrm>
          <a:off x="11754428" y="5808345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交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交通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374069"/>
              </p:ext>
            </p:extLst>
          </p:nvPr>
        </p:nvGraphicFramePr>
        <p:xfrm>
          <a:off x="11747582" y="6548148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交</a:t>
                      </a:r>
                      <a:endParaRPr lang="zh-TW" altLang="zh-TW" sz="2000" kern="100" dirty="0">
                        <a:effectLst/>
                        <a:latin typeface="Aptos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郊外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6E38F3F8-63AE-F5F4-7B0C-B9FCDC7E5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261249"/>
              </p:ext>
            </p:extLst>
          </p:nvPr>
        </p:nvGraphicFramePr>
        <p:xfrm>
          <a:off x="11754428" y="8602349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Times New Roman" panose="02020603050405020304" pitchFamily="18" charset="0"/>
                        </a:rPr>
                        <a:t>繳</a:t>
                      </a:r>
                      <a:endParaRPr lang="zh-TW" altLang="zh-TW" sz="2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皎潔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8A43914C-C5F8-707C-97D6-5E4CFBF30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234531"/>
              </p:ext>
            </p:extLst>
          </p:nvPr>
        </p:nvGraphicFramePr>
        <p:xfrm>
          <a:off x="11743408" y="7899356"/>
          <a:ext cx="5402724" cy="6952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25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R ZhuYinEX Md" panose="020B0602010101010101" pitchFamily="49" charset="-120"/>
                          <a:ea typeface="AR ZhuYinEX Md" panose="020B0602010101010101" pitchFamily="49" charset="-120"/>
                          <a:cs typeface="Times New Roman" panose="02020603050405020304" pitchFamily="18" charset="0"/>
                        </a:rPr>
                        <a:t>繳</a:t>
                      </a:r>
                      <a:endParaRPr lang="zh-TW" sz="2000" kern="100" dirty="0">
                        <a:effectLst/>
                        <a:latin typeface="AR ZhuYinEX Md" panose="020B0602010101010101" pitchFamily="49" charset="-120"/>
                        <a:ea typeface="AR ZhuYinEX Md" panose="020B0602010101010101" pitchFamily="49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狡猾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80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B1CFEC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5400000">
            <a:off x="16362525" y="995060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 rot="-5400000">
            <a:off x="16362525" y="2238313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16362525" y="348236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16362525" y="472642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16362525" y="7211502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16362525" y="889101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Freeform 15"/>
          <p:cNvSpPr/>
          <p:nvPr/>
        </p:nvSpPr>
        <p:spPr>
          <a:xfrm rot="-5400000">
            <a:off x="16362525" y="213694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16362525" y="3381989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7" name="Freeform 17"/>
          <p:cNvSpPr/>
          <p:nvPr/>
        </p:nvSpPr>
        <p:spPr>
          <a:xfrm rot="-5400000">
            <a:off x="16362525" y="4626045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Freeform 18"/>
          <p:cNvSpPr/>
          <p:nvPr/>
        </p:nvSpPr>
        <p:spPr>
          <a:xfrm rot="-5400000">
            <a:off x="16362525" y="7114157"/>
            <a:ext cx="894025" cy="1867414"/>
          </a:xfrm>
          <a:custGeom>
            <a:avLst/>
            <a:gdLst/>
            <a:ahLst/>
            <a:cxnLst/>
            <a:rect l="l" t="t" r="r" b="b"/>
            <a:pathLst>
              <a:path w="894025" h="1867414">
                <a:moveTo>
                  <a:pt x="0" y="0"/>
                </a:moveTo>
                <a:lnTo>
                  <a:pt x="894024" y="0"/>
                </a:lnTo>
                <a:lnTo>
                  <a:pt x="894024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290993" y="562798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b="1"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185772"/>
              </p:ext>
            </p:extLst>
          </p:nvPr>
        </p:nvGraphicFramePr>
        <p:xfrm>
          <a:off x="1916046" y="3453003"/>
          <a:ext cx="7476128" cy="4117872"/>
        </p:xfrm>
        <a:graphic>
          <a:graphicData uri="http://schemas.openxmlformats.org/drawingml/2006/table">
            <a:tbl>
              <a:tblPr firstRow="1" firstCol="1" bandRow="1"/>
              <a:tblGrid>
                <a:gridCol w="7776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8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形近字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讀音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造詞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1989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3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端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19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瑞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19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湍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088"/>
                  </a:ext>
                </a:extLst>
              </a:tr>
              <a:tr h="75198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4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免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84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兔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2" name="圖片 41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267479"/>
              </p:ext>
            </p:extLst>
          </p:nvPr>
        </p:nvGraphicFramePr>
        <p:xfrm>
          <a:off x="4056658" y="3818249"/>
          <a:ext cx="5373120" cy="698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Times New Roman" panose="02020603050405020304" pitchFamily="18" charset="0"/>
                        </a:rPr>
                        <a:t>端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開端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628781"/>
              </p:ext>
            </p:extLst>
          </p:nvPr>
        </p:nvGraphicFramePr>
        <p:xfrm>
          <a:off x="4056658" y="4516390"/>
          <a:ext cx="5373120" cy="698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瑞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祥瑞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4284"/>
              </p:ext>
            </p:extLst>
          </p:nvPr>
        </p:nvGraphicFramePr>
        <p:xfrm>
          <a:off x="4056658" y="5295900"/>
          <a:ext cx="5373120" cy="698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湍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湍急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162361"/>
              </p:ext>
            </p:extLst>
          </p:nvPr>
        </p:nvGraphicFramePr>
        <p:xfrm>
          <a:off x="4056658" y="6045559"/>
          <a:ext cx="5373120" cy="698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免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免費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975004"/>
              </p:ext>
            </p:extLst>
          </p:nvPr>
        </p:nvGraphicFramePr>
        <p:xfrm>
          <a:off x="9618391" y="3436198"/>
          <a:ext cx="7436890" cy="4168132"/>
        </p:xfrm>
        <a:graphic>
          <a:graphicData uri="http://schemas.openxmlformats.org/drawingml/2006/table">
            <a:tbl>
              <a:tblPr firstRow="1" firstCol="1" bandRow="1"/>
              <a:tblGrid>
                <a:gridCol w="80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2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標楷體" panose="03000509000000000000" pitchFamily="65" charset="-120"/>
                        </a:rPr>
                        <a:t> </a:t>
                      </a: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形近字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讀音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sz="1800" b="1" kern="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造詞</a:t>
                      </a: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179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5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舉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17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與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17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譽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3179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>
                          <a:effectLst/>
                          <a:latin typeface="標楷體" panose="03000509000000000000" pitchFamily="49" charset="-120"/>
                          <a:ea typeface="新細明體" panose="02020500000000000000" pitchFamily="18" charset="-120"/>
                          <a:cs typeface="標楷體" panose="03000509000000000000" pitchFamily="49" charset="-120"/>
                        </a:rPr>
                        <a:t>6</a:t>
                      </a:r>
                      <a:endParaRPr lang="zh-TW" sz="28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園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17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2800" kern="100" dirty="0"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圍</a:t>
                      </a:r>
                      <a:endParaRPr lang="zh-TW" sz="28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345" marR="683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50454"/>
              </p:ext>
            </p:extLst>
          </p:nvPr>
        </p:nvGraphicFramePr>
        <p:xfrm>
          <a:off x="11751786" y="6878923"/>
          <a:ext cx="5251266" cy="703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30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維</a:t>
                      </a:r>
                      <a:endParaRPr lang="zh-TW" sz="40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文鼎注音寬字" panose="03000600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包圍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425421"/>
              </p:ext>
            </p:extLst>
          </p:nvPr>
        </p:nvGraphicFramePr>
        <p:xfrm>
          <a:off x="11751786" y="3813245"/>
          <a:ext cx="5251266" cy="711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45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舉</a:t>
                      </a:r>
                      <a:endParaRPr lang="zh-TW" sz="40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文鼎注音寬字" panose="03000600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舉例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40905"/>
              </p:ext>
            </p:extLst>
          </p:nvPr>
        </p:nvGraphicFramePr>
        <p:xfrm>
          <a:off x="11751786" y="4584869"/>
          <a:ext cx="5251266" cy="703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30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與</a:t>
                      </a:r>
                      <a:endParaRPr lang="zh-TW" sz="40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文鼎注音寬字" panose="03000600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與其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306880"/>
              </p:ext>
            </p:extLst>
          </p:nvPr>
        </p:nvGraphicFramePr>
        <p:xfrm>
          <a:off x="11751786" y="5319863"/>
          <a:ext cx="5251266" cy="703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30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愈</a:t>
                      </a:r>
                      <a:endParaRPr lang="zh-TW" sz="40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文鼎注音寬字" panose="03000600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榮譽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005267"/>
              </p:ext>
            </p:extLst>
          </p:nvPr>
        </p:nvGraphicFramePr>
        <p:xfrm>
          <a:off x="11751786" y="6116923"/>
          <a:ext cx="5251266" cy="7030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30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元</a:t>
                      </a:r>
                      <a:endParaRPr lang="zh-TW" sz="40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文鼎注音寬字" panose="03000600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公園</a:t>
                      </a:r>
                      <a:endParaRPr lang="zh-TW" sz="2800" kern="100" dirty="0">
                        <a:solidFill>
                          <a:srgbClr val="FF0000"/>
                        </a:solidFill>
                        <a:effectLst/>
                        <a:latin typeface="Aptos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7F99852-56EB-E94B-AFDA-F0AF782EB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33298"/>
              </p:ext>
            </p:extLst>
          </p:nvPr>
        </p:nvGraphicFramePr>
        <p:xfrm>
          <a:off x="4056658" y="6820011"/>
          <a:ext cx="5373120" cy="6981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1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40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文鼎注音寬字" panose="03000600000000000000" pitchFamily="65" charset="-120"/>
                          <a:cs typeface="標楷體" panose="03000509000000000000" pitchFamily="65" charset="-120"/>
                        </a:rPr>
                        <a:t>吐</a:t>
                      </a:r>
                      <a:endParaRPr lang="zh-TW" sz="20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2800" kern="100" dirty="0">
                          <a:solidFill>
                            <a:srgbClr val="FF0000"/>
                          </a:solidFill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白兔</a:t>
                      </a:r>
                      <a:endParaRPr lang="zh-TW" sz="24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9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9991" y="589170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60514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9" name="圖片 2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預習任務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25999" y="2263087"/>
            <a:ext cx="12909931" cy="821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TW" altLang="en-US" sz="36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二、造句練習</a:t>
            </a:r>
            <a:endParaRPr lang="zh-TW" altLang="zh-TW" sz="36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7690" y="3331393"/>
            <a:ext cx="6184706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 (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目的複句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 ……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為了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……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2552700" y="4997376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552700" y="4346004"/>
            <a:ext cx="129060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感冒的時候容易打噴嚏，為了避免口沫傳染，感冒的人都會戴上口罩。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Freeform 3"/>
          <p:cNvSpPr/>
          <p:nvPr/>
        </p:nvSpPr>
        <p:spPr>
          <a:xfrm>
            <a:off x="5530148" y="1083842"/>
            <a:ext cx="959876" cy="811857"/>
          </a:xfrm>
          <a:custGeom>
            <a:avLst/>
            <a:gdLst/>
            <a:ahLst/>
            <a:cxnLst/>
            <a:rect l="l" t="t" r="r" b="b"/>
            <a:pathLst>
              <a:path w="4521758" h="4114800">
                <a:moveTo>
                  <a:pt x="0" y="0"/>
                </a:moveTo>
                <a:lnTo>
                  <a:pt x="4521758" y="0"/>
                </a:lnTo>
                <a:lnTo>
                  <a:pt x="4521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3" name="圖片 4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7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7" y="537705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 sz="11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暖身題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477721" y="2665235"/>
            <a:ext cx="14019471" cy="1544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小朋友請你想一想，生活中有哪些用品是需要成雙成對使用的？請舉出至少三個例子，並說明為什麼需要成雙成對。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7" name="Freeform 4"/>
          <p:cNvSpPr/>
          <p:nvPr/>
        </p:nvSpPr>
        <p:spPr>
          <a:xfrm>
            <a:off x="5312555" y="1050653"/>
            <a:ext cx="1211543" cy="932259"/>
          </a:xfrm>
          <a:custGeom>
            <a:avLst/>
            <a:gdLst/>
            <a:ahLst/>
            <a:cxnLst/>
            <a:rect l="l" t="t" r="r" b="b"/>
            <a:pathLst>
              <a:path w="3555018" h="3363936">
                <a:moveTo>
                  <a:pt x="0" y="0"/>
                </a:moveTo>
                <a:lnTo>
                  <a:pt x="3555018" y="0"/>
                </a:lnTo>
                <a:lnTo>
                  <a:pt x="3555018" y="3363937"/>
                </a:lnTo>
                <a:lnTo>
                  <a:pt x="0" y="336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51" name="矩形 50"/>
          <p:cNvSpPr/>
          <p:nvPr/>
        </p:nvSpPr>
        <p:spPr>
          <a:xfrm>
            <a:off x="2477721" y="4398193"/>
            <a:ext cx="13717217" cy="8215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__________________   2. __________________   3. ___________________ 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400358" y="4445785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477722" y="5603357"/>
            <a:ext cx="13717216" cy="1652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如果其中一個不見了，會發生什麼問題？這對日常生活會有什麼影響？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D62929-B954-C8D6-9931-6673D3CA20E7}"/>
              </a:ext>
            </a:extLst>
          </p:cNvPr>
          <p:cNvSpPr/>
          <p:nvPr/>
        </p:nvSpPr>
        <p:spPr>
          <a:xfrm>
            <a:off x="7957901" y="4445785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BEAE8A-7A22-8C98-1D4C-EF153A886456}"/>
              </a:ext>
            </a:extLst>
          </p:cNvPr>
          <p:cNvSpPr/>
          <p:nvPr/>
        </p:nvSpPr>
        <p:spPr>
          <a:xfrm>
            <a:off x="12549114" y="4445785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20640FE-EF5A-05D8-2B1F-F277D512D950}"/>
              </a:ext>
            </a:extLst>
          </p:cNvPr>
          <p:cNvCxnSpPr/>
          <p:nvPr/>
        </p:nvCxnSpPr>
        <p:spPr>
          <a:xfrm>
            <a:off x="2604261" y="8192896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3EDE7A0A-48B1-7A88-D3A8-AB8564774811}"/>
              </a:ext>
            </a:extLst>
          </p:cNvPr>
          <p:cNvSpPr/>
          <p:nvPr/>
        </p:nvSpPr>
        <p:spPr>
          <a:xfrm>
            <a:off x="2604261" y="7458703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</a:p>
        </p:txBody>
      </p:sp>
    </p:spTree>
    <p:extLst>
      <p:ext uri="{BB962C8B-B14F-4D97-AF65-F5344CB8AC3E}">
        <p14:creationId xmlns:p14="http://schemas.microsoft.com/office/powerpoint/2010/main" val="148603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9" grpId="0"/>
      <p:bldP spid="10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525999" y="561269"/>
              <a:ext cx="15917348" cy="9164462"/>
              <a:chOff x="0" y="0"/>
              <a:chExt cx="3764577" cy="216746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347374" y="572822"/>
              <a:ext cx="15917348" cy="9164462"/>
              <a:chOff x="0" y="0"/>
              <a:chExt cx="3764577" cy="21674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14" name="矩形 13"/>
          <p:cNvSpPr/>
          <p:nvPr/>
        </p:nvSpPr>
        <p:spPr>
          <a:xfrm>
            <a:off x="10557398" y="6042400"/>
            <a:ext cx="2168002" cy="470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629" y="98995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084086" y="2330346"/>
            <a:ext cx="14266032" cy="2956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Q0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呼應暖身題，本課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就愛兩兩在一起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〉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是一篇介紹各國飲食習慣與筷子差異的說明文。根據意義段可以分為四段，分別是「筷子介紹」、「免洗或環保」、「筷子比一比」、「總結」，請你依照正確順序填入小標，並填入自然段段落。</a:t>
            </a:r>
            <a:endParaRPr lang="zh-TW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67200" y="6038861"/>
            <a:ext cx="1828800" cy="4737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356998" y="6042400"/>
            <a:ext cx="2168002" cy="470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8" name="圖片 3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34" name="圓角矩形 33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41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F2B657-C44F-A8B1-4A5A-82013F2EB5C3}"/>
              </a:ext>
            </a:extLst>
          </p:cNvPr>
          <p:cNvSpPr/>
          <p:nvPr/>
        </p:nvSpPr>
        <p:spPr>
          <a:xfrm>
            <a:off x="14225769" y="6042400"/>
            <a:ext cx="1213171" cy="4701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359647"/>
              </p:ext>
            </p:extLst>
          </p:nvPr>
        </p:nvGraphicFramePr>
        <p:xfrm>
          <a:off x="2176626" y="5575950"/>
          <a:ext cx="14173492" cy="2649758"/>
        </p:xfrm>
        <a:graphic>
          <a:graphicData uri="http://schemas.openxmlformats.org/drawingml/2006/table">
            <a:tbl>
              <a:tblPr bandRow="1"/>
              <a:tblGrid>
                <a:gridCol w="133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2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2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2963">
                  <a:extLst>
                    <a:ext uri="{9D8B030D-6E8A-4147-A177-3AD203B41FA5}">
                      <a16:colId xmlns:a16="http://schemas.microsoft.com/office/drawing/2014/main" val="1221682353"/>
                    </a:ext>
                  </a:extLst>
                </a:gridCol>
              </a:tblGrid>
              <a:tr h="13248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 dirty="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意義段</a:t>
                      </a: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筷子介紹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筷子比一比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免洗或環保</a:t>
                      </a:r>
                      <a:endParaRPr lang="zh-TW" sz="3200" kern="10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zh-TW" sz="32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標楷體" panose="03000509000000000000" pitchFamily="49" charset="-120"/>
                          <a:cs typeface="標楷體" panose="03000509000000000000" pitchFamily="49" charset="-120"/>
                        </a:rPr>
                        <a:t>總結</a:t>
                      </a:r>
                      <a:endParaRPr lang="zh-TW" sz="3200" kern="100" dirty="0">
                        <a:effectLst/>
                        <a:latin typeface="Aptos" panose="020B000402020202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48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800" kern="100">
                          <a:effectLst/>
                          <a:latin typeface="Aptos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自然段</a:t>
                      </a:r>
                      <a:endParaRPr lang="zh-TW" sz="2800" kern="10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zh-TW" sz="2800" kern="100" dirty="0">
                        <a:effectLst/>
                        <a:latin typeface="Aptos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矩形 23"/>
          <p:cNvSpPr/>
          <p:nvPr/>
        </p:nvSpPr>
        <p:spPr>
          <a:xfrm>
            <a:off x="4526885" y="7156876"/>
            <a:ext cx="1023360" cy="805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4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122143" y="7156876"/>
            <a:ext cx="2566202" cy="799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2-5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1081265" y="7156876"/>
            <a:ext cx="1213171" cy="799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6-8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624726-2DAF-F9F1-581D-1BE585E99BF6}"/>
              </a:ext>
            </a:extLst>
          </p:cNvPr>
          <p:cNvSpPr/>
          <p:nvPr/>
        </p:nvSpPr>
        <p:spPr>
          <a:xfrm>
            <a:off x="14225768" y="7156876"/>
            <a:ext cx="1213171" cy="799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TW" sz="4400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</a:t>
            </a:r>
            <a:endParaRPr lang="zh-TW" altLang="zh-TW" sz="4400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791849-D397-98EB-D0F6-78390D68A062}"/>
              </a:ext>
            </a:extLst>
          </p:cNvPr>
          <p:cNvSpPr/>
          <p:nvPr/>
        </p:nvSpPr>
        <p:spPr>
          <a:xfrm>
            <a:off x="4356374" y="9486900"/>
            <a:ext cx="856667" cy="364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568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 animBg="1"/>
      <p:bldP spid="26" grpId="0" animBg="1"/>
      <p:bldP spid="34" grpId="0" animBg="1"/>
      <p:bldP spid="40" grpId="0"/>
      <p:bldP spid="3" grpId="0" animBg="1"/>
      <p:bldP spid="24" grpId="0"/>
      <p:bldP spid="25" grpId="0"/>
      <p:bldP spid="3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5" name="矩形 14"/>
          <p:cNvSpPr/>
          <p:nvPr/>
        </p:nvSpPr>
        <p:spPr>
          <a:xfrm>
            <a:off x="2117510" y="2371942"/>
            <a:ext cx="15460824" cy="1652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根據第一段，作者提到了哪些筷子的特徵？</a:t>
            </a:r>
          </a:p>
          <a:p>
            <a:pPr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身體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         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，只會吃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，不會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              )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/>
          <p:cNvSpPr/>
          <p:nvPr/>
        </p:nvSpPr>
        <p:spPr>
          <a:xfrm>
            <a:off x="4356374" y="9486900"/>
            <a:ext cx="856667" cy="364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reeform 7"/>
          <p:cNvSpPr/>
          <p:nvPr/>
        </p:nvSpPr>
        <p:spPr>
          <a:xfrm>
            <a:off x="5600069" y="1093581"/>
            <a:ext cx="1238927" cy="1176736"/>
          </a:xfrm>
          <a:custGeom>
            <a:avLst/>
            <a:gdLst/>
            <a:ahLst/>
            <a:cxnLst/>
            <a:rect l="l" t="t" r="r" b="b"/>
            <a:pathLst>
              <a:path w="4579129" h="3570013">
                <a:moveTo>
                  <a:pt x="0" y="0"/>
                </a:moveTo>
                <a:lnTo>
                  <a:pt x="4579129" y="0"/>
                </a:lnTo>
                <a:lnTo>
                  <a:pt x="4579129" y="3570014"/>
                </a:lnTo>
                <a:lnTo>
                  <a:pt x="0" y="357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35" name="Freeform 2"/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4402823" y="3368952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細長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7" name="圖片 4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50" name="矩形 49"/>
          <p:cNvSpPr/>
          <p:nvPr/>
        </p:nvSpPr>
        <p:spPr>
          <a:xfrm>
            <a:off x="2117509" y="4055389"/>
            <a:ext cx="1505586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Q2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根據課文的二到五段，將各式筷子的差異整理於表格內。</a:t>
            </a:r>
            <a:endParaRPr lang="zh-TW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415452"/>
              </p:ext>
            </p:extLst>
          </p:nvPr>
        </p:nvGraphicFramePr>
        <p:xfrm>
          <a:off x="2245692" y="5110860"/>
          <a:ext cx="14061109" cy="340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170">
                  <a:extLst>
                    <a:ext uri="{9D8B030D-6E8A-4147-A177-3AD203B41FA5}">
                      <a16:colId xmlns:a16="http://schemas.microsoft.com/office/drawing/2014/main" val="3937244205"/>
                    </a:ext>
                  </a:extLst>
                </a:gridCol>
                <a:gridCol w="9496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7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款式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特色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原因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3185682"/>
                  </a:ext>
                </a:extLst>
              </a:tr>
              <a:tr h="8507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中式筷子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比較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圍著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吃飯，可夾較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的菜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7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日式筷子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zh-TW" sz="3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比較</a:t>
                      </a:r>
                      <a:r>
                        <a:rPr kumimoji="0" lang="en-US" altLang="zh-TW" sz="3200" b="0" i="0" u="none" strike="noStrike" kern="1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)</a:t>
                      </a:r>
                      <a:endParaRPr kumimoji="0" lang="zh-TW" altLang="zh-TW" sz="3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餐點多是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，飯菜在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7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韓式筷子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zh-TW" sz="3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比較</a:t>
                      </a:r>
                      <a:r>
                        <a:rPr kumimoji="0" lang="en-US" altLang="zh-TW" sz="32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)</a:t>
                      </a:r>
                      <a:endParaRPr kumimoji="0" lang="zh-TW" altLang="zh-TW" sz="3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的過程中，避免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                   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" name="矩形 51"/>
          <p:cNvSpPr/>
          <p:nvPr/>
        </p:nvSpPr>
        <p:spPr>
          <a:xfrm>
            <a:off x="5807354" y="6057900"/>
            <a:ext cx="1113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長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492665" y="6061473"/>
            <a:ext cx="1863709" cy="556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2492665" y="6897724"/>
            <a:ext cx="1863709" cy="609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2492664" y="7803176"/>
            <a:ext cx="1863709" cy="5561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4040D7-7849-59CC-FA3B-12E69A9E4E40}"/>
              </a:ext>
            </a:extLst>
          </p:cNvPr>
          <p:cNvSpPr/>
          <p:nvPr/>
        </p:nvSpPr>
        <p:spPr>
          <a:xfrm>
            <a:off x="6921058" y="3355661"/>
            <a:ext cx="21467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成對成雙 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63CC98-C616-B886-24B2-034A4A9D7FF6}"/>
              </a:ext>
            </a:extLst>
          </p:cNvPr>
          <p:cNvSpPr/>
          <p:nvPr/>
        </p:nvSpPr>
        <p:spPr>
          <a:xfrm>
            <a:off x="11641823" y="3368066"/>
            <a:ext cx="1107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菜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FF0FF9-664F-71AC-3550-6BBA16C64D9C}"/>
              </a:ext>
            </a:extLst>
          </p:cNvPr>
          <p:cNvSpPr/>
          <p:nvPr/>
        </p:nvSpPr>
        <p:spPr>
          <a:xfrm>
            <a:off x="14769844" y="3355661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b="1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喝湯</a:t>
            </a:r>
            <a:endParaRPr lang="zh-TW" altLang="en-US" sz="3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2C3501-9585-5E93-992E-809FFD830537}"/>
              </a:ext>
            </a:extLst>
          </p:cNvPr>
          <p:cNvSpPr/>
          <p:nvPr/>
        </p:nvSpPr>
        <p:spPr>
          <a:xfrm>
            <a:off x="5807942" y="6935753"/>
            <a:ext cx="13548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長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BD53BB-6369-1D7D-3C5D-6D883AA98182}"/>
              </a:ext>
            </a:extLst>
          </p:cNvPr>
          <p:cNvSpPr/>
          <p:nvPr/>
        </p:nvSpPr>
        <p:spPr>
          <a:xfrm>
            <a:off x="5807354" y="7809397"/>
            <a:ext cx="13548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長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B009AD-6E56-6F46-6AEB-023B7D1B0BE7}"/>
              </a:ext>
            </a:extLst>
          </p:cNvPr>
          <p:cNvSpPr/>
          <p:nvPr/>
        </p:nvSpPr>
        <p:spPr>
          <a:xfrm>
            <a:off x="9276246" y="6057900"/>
            <a:ext cx="1113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圓桌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7341FE-5905-1A5A-44CE-09C4074B18B0}"/>
              </a:ext>
            </a:extLst>
          </p:cNvPr>
          <p:cNvSpPr/>
          <p:nvPr/>
        </p:nvSpPr>
        <p:spPr>
          <a:xfrm>
            <a:off x="13258800" y="6057900"/>
            <a:ext cx="11137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遠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7A04AD-7F60-C5F5-3ACA-70AC1AEB71AF}"/>
              </a:ext>
            </a:extLst>
          </p:cNvPr>
          <p:cNvSpPr/>
          <p:nvPr/>
        </p:nvSpPr>
        <p:spPr>
          <a:xfrm>
            <a:off x="9906000" y="6930203"/>
            <a:ext cx="20678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單人套餐 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060F0AA-42F9-6157-5C0B-80C53EC6B677}"/>
              </a:ext>
            </a:extLst>
          </p:cNvPr>
          <p:cNvSpPr/>
          <p:nvPr/>
        </p:nvSpPr>
        <p:spPr>
          <a:xfrm>
            <a:off x="13774985" y="6930203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眼前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A9CAF7-F0B9-F779-2B0B-EBAC4551B4AD}"/>
              </a:ext>
            </a:extLst>
          </p:cNvPr>
          <p:cNvSpPr/>
          <p:nvPr/>
        </p:nvSpPr>
        <p:spPr>
          <a:xfrm>
            <a:off x="8575318" y="7786981"/>
            <a:ext cx="20678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端菜 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8316CC-2E4E-91B3-9A86-297C93522282}"/>
              </a:ext>
            </a:extLst>
          </p:cNvPr>
          <p:cNvSpPr/>
          <p:nvPr/>
        </p:nvSpPr>
        <p:spPr>
          <a:xfrm>
            <a:off x="12877800" y="7786981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滾動掉落 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420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8" grpId="0"/>
      <p:bldP spid="52" grpId="0"/>
      <p:bldP spid="11" grpId="0"/>
      <p:bldP spid="14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56839-BCCD-8830-62BB-AC3A6E653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0BB3D8C-0B7C-8901-1B3F-1921763D4F5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C883120-1FAF-44FF-4B73-169D5D363AD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0DFB319-191E-5060-57E2-BDD776707DB3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C1C4882-85E8-4652-47C9-D6D9DC3A70FC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516B9F-5711-04F0-B9A5-4646E09E7AC5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961C4C-7F96-E2D1-2764-EABD7608F6CA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2ECA6BD-69FD-8464-0BF5-2BA4841AEBC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2" name="Freeform 2">
              <a:extLst>
                <a:ext uri="{FF2B5EF4-FFF2-40B4-BE49-F238E27FC236}">
                  <a16:creationId xmlns:a16="http://schemas.microsoft.com/office/drawing/2014/main" id="{77131CB2-CA5E-36B6-F8B1-45F4210972ED}"/>
                </a:ext>
              </a:extLst>
            </p:cNvPr>
            <p:cNvSpPr/>
            <p:nvPr/>
          </p:nvSpPr>
          <p:spPr>
            <a:xfrm>
              <a:off x="0" y="0"/>
              <a:ext cx="18288000" cy="102870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DB57E7B6-0672-8944-A7F0-89A411E215BE}"/>
                </a:ext>
              </a:extLst>
            </p:cNvPr>
            <p:cNvGrpSpPr/>
            <p:nvPr/>
          </p:nvGrpSpPr>
          <p:grpSpPr>
            <a:xfrm>
              <a:off x="1525999" y="454740"/>
              <a:ext cx="15917348" cy="9325556"/>
              <a:chOff x="0" y="-38100"/>
              <a:chExt cx="3764577" cy="22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9E9DD34F-18CE-9CB2-DC0D-1AB83224407F}"/>
                  </a:ext>
                </a:extLst>
              </p:cNvPr>
              <p:cNvSpPr/>
              <p:nvPr/>
            </p:nvSpPr>
            <p:spPr>
              <a:xfrm>
                <a:off x="0" y="0"/>
                <a:ext cx="3764577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764577" h="2167467">
                    <a:moveTo>
                      <a:pt x="24806" y="0"/>
                    </a:moveTo>
                    <a:lnTo>
                      <a:pt x="3739771" y="0"/>
                    </a:lnTo>
                    <a:cubicBezTo>
                      <a:pt x="3753471" y="0"/>
                      <a:pt x="3764577" y="11106"/>
                      <a:pt x="3764577" y="24806"/>
                    </a:cubicBezTo>
                    <a:lnTo>
                      <a:pt x="3764577" y="2142661"/>
                    </a:lnTo>
                    <a:cubicBezTo>
                      <a:pt x="3764577" y="2156361"/>
                      <a:pt x="3753471" y="2167467"/>
                      <a:pt x="3739771" y="2167467"/>
                    </a:cubicBezTo>
                    <a:lnTo>
                      <a:pt x="24806" y="2167467"/>
                    </a:lnTo>
                    <a:cubicBezTo>
                      <a:pt x="18227" y="2167467"/>
                      <a:pt x="11917" y="2164853"/>
                      <a:pt x="7265" y="2160201"/>
                    </a:cubicBezTo>
                    <a:cubicBezTo>
                      <a:pt x="2613" y="2155549"/>
                      <a:pt x="0" y="2149240"/>
                      <a:pt x="0" y="2142661"/>
                    </a:cubicBezTo>
                    <a:lnTo>
                      <a:pt x="0" y="24806"/>
                    </a:lnTo>
                    <a:cubicBezTo>
                      <a:pt x="0" y="18227"/>
                      <a:pt x="2613" y="11917"/>
                      <a:pt x="7265" y="7265"/>
                    </a:cubicBezTo>
                    <a:cubicBezTo>
                      <a:pt x="11917" y="2613"/>
                      <a:pt x="18227" y="0"/>
                      <a:pt x="2480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400526FE-A85E-BE88-8B60-14EB96FADCD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764577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dist">
                  <a:lnSpc>
                    <a:spcPts val="2659"/>
                  </a:lnSpc>
                  <a:spcBef>
                    <a:spcPct val="0"/>
                  </a:spcBef>
                </a:pPr>
                <a:endParaRPr sz="20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62C039F-9778-6AEC-7DA9-2B90F8CF9D67}"/>
                </a:ext>
              </a:extLst>
            </p:cNvPr>
            <p:cNvSpPr/>
            <p:nvPr/>
          </p:nvSpPr>
          <p:spPr>
            <a:xfrm>
              <a:off x="922637" y="1050653"/>
              <a:ext cx="736712" cy="8185694"/>
            </a:xfrm>
            <a:custGeom>
              <a:avLst/>
              <a:gdLst/>
              <a:ahLst/>
              <a:cxnLst/>
              <a:rect l="l" t="t" r="r" b="b"/>
              <a:pathLst>
                <a:path w="736712" h="8185694">
                  <a:moveTo>
                    <a:pt x="0" y="0"/>
                  </a:moveTo>
                  <a:lnTo>
                    <a:pt x="736712" y="0"/>
                  </a:lnTo>
                  <a:lnTo>
                    <a:pt x="736712" y="8185694"/>
                  </a:lnTo>
                  <a:lnTo>
                    <a:pt x="0" y="8185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CF1A8B64-3D3A-71A5-0974-E7877C3D02F7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文字方塊 2">
            <a:extLst>
              <a:ext uri="{FF2B5EF4-FFF2-40B4-BE49-F238E27FC236}">
                <a16:creationId xmlns:a16="http://schemas.microsoft.com/office/drawing/2014/main" id="{7CC33212-3FC1-7AA2-2C85-F87CDE335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基礎題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CE920E-424A-F11D-3F5B-651FA4FA82E8}"/>
              </a:ext>
            </a:extLst>
          </p:cNvPr>
          <p:cNvSpPr/>
          <p:nvPr/>
        </p:nvSpPr>
        <p:spPr>
          <a:xfrm>
            <a:off x="0" y="153057"/>
            <a:ext cx="5548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〈題號編號系統為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高雄市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過埤國小</a:t>
            </a:r>
            <a:r>
              <a:rPr lang="zh-TW" altLang="zh-TW" b="1" kern="100" spc="-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b="1" u="sng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廖雅惠</a:t>
            </a:r>
            <a:r>
              <a:rPr lang="zh-TW" altLang="zh-TW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老師研發〉</a:t>
            </a: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3213A7D9-6A29-E679-6153-C2596449DFCD}"/>
              </a:ext>
            </a:extLst>
          </p:cNvPr>
          <p:cNvSpPr/>
          <p:nvPr/>
        </p:nvSpPr>
        <p:spPr>
          <a:xfrm>
            <a:off x="698774" y="8916775"/>
            <a:ext cx="7315200" cy="1141240"/>
          </a:xfrm>
          <a:prstGeom prst="roundRect">
            <a:avLst/>
          </a:prstGeom>
          <a:solidFill>
            <a:srgbClr val="FCD5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1C737F-81A5-2D01-D9EF-C8D98EF5702D}"/>
              </a:ext>
            </a:extLst>
          </p:cNvPr>
          <p:cNvSpPr/>
          <p:nvPr/>
        </p:nvSpPr>
        <p:spPr>
          <a:xfrm>
            <a:off x="2146574" y="9450761"/>
            <a:ext cx="762000" cy="435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8F76792-AB8A-3AEB-B348-CF59BB8AB06E}"/>
              </a:ext>
            </a:extLst>
          </p:cNvPr>
          <p:cNvSpPr txBox="1"/>
          <p:nvPr/>
        </p:nvSpPr>
        <p:spPr>
          <a:xfrm>
            <a:off x="914400" y="8989993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心智圖架構提示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 灰框、第二層 方框、第三層 </a:t>
            </a:r>
            <a:r>
              <a:rPr lang="zh-TW" altLang="en-US" sz="2840" u="dbl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C962F8-ADB8-A077-37D9-B6DBD3EF5E83}"/>
              </a:ext>
            </a:extLst>
          </p:cNvPr>
          <p:cNvSpPr/>
          <p:nvPr/>
        </p:nvSpPr>
        <p:spPr>
          <a:xfrm>
            <a:off x="4356374" y="9486900"/>
            <a:ext cx="856667" cy="3647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Freeform 2">
            <a:extLst>
              <a:ext uri="{FF2B5EF4-FFF2-40B4-BE49-F238E27FC236}">
                <a16:creationId xmlns:a16="http://schemas.microsoft.com/office/drawing/2014/main" id="{494230FE-62FC-191D-77DF-DE0CACC21C4A}"/>
              </a:ext>
            </a:extLst>
          </p:cNvPr>
          <p:cNvSpPr/>
          <p:nvPr/>
        </p:nvSpPr>
        <p:spPr>
          <a:xfrm>
            <a:off x="32928" y="8112344"/>
            <a:ext cx="1313160" cy="1260562"/>
          </a:xfrm>
          <a:custGeom>
            <a:avLst/>
            <a:gdLst/>
            <a:ahLst/>
            <a:cxnLst/>
            <a:rect l="l" t="t" r="r" b="b"/>
            <a:pathLst>
              <a:path w="3688357" h="4114800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9017ABF7-334D-FFDE-7A1D-ADCA4FD3322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1800" y="132784"/>
            <a:ext cx="2019197" cy="394683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2110564A-949C-9EE1-7704-D8D8571E1976}"/>
              </a:ext>
            </a:extLst>
          </p:cNvPr>
          <p:cNvSpPr/>
          <p:nvPr/>
        </p:nvSpPr>
        <p:spPr>
          <a:xfrm>
            <a:off x="2047769" y="2149699"/>
            <a:ext cx="15055863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Q3 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根據課文的六到八段，將免洗筷和環保筷的優缺點記錄下來。</a:t>
            </a:r>
            <a:endParaRPr lang="zh-TW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4DC0D97-030A-1EF6-5BD3-4D79429EE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17940"/>
              </p:ext>
            </p:extLst>
          </p:nvPr>
        </p:nvGraphicFramePr>
        <p:xfrm>
          <a:off x="2130691" y="3172157"/>
          <a:ext cx="14061109" cy="3402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2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170">
                  <a:extLst>
                    <a:ext uri="{9D8B030D-6E8A-4147-A177-3AD203B41FA5}">
                      <a16:colId xmlns:a16="http://schemas.microsoft.com/office/drawing/2014/main" val="3937244205"/>
                    </a:ext>
                  </a:extLst>
                </a:gridCol>
                <a:gridCol w="9496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071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免洗筷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優點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不須清洗，取得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3185682"/>
                  </a:ext>
                </a:extLst>
              </a:tr>
              <a:tr h="85071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缺點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製造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，有害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71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環保筷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優點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吃得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，保護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71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TW" sz="3200" u="sng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缺點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忘記帶出門，不一定能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altLang="zh-TW" sz="3200" kern="1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3200" kern="1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矩形 53">
            <a:extLst>
              <a:ext uri="{FF2B5EF4-FFF2-40B4-BE49-F238E27FC236}">
                <a16:creationId xmlns:a16="http://schemas.microsoft.com/office/drawing/2014/main" id="{BD826083-5F88-ACED-CE8D-10AD912D4511}"/>
              </a:ext>
            </a:extLst>
          </p:cNvPr>
          <p:cNvSpPr/>
          <p:nvPr/>
        </p:nvSpPr>
        <p:spPr>
          <a:xfrm>
            <a:off x="2381971" y="3683325"/>
            <a:ext cx="1774388" cy="7133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45AFC37-C763-EFE0-FA43-DC12964F5B16}"/>
              </a:ext>
            </a:extLst>
          </p:cNvPr>
          <p:cNvSpPr/>
          <p:nvPr/>
        </p:nvSpPr>
        <p:spPr>
          <a:xfrm>
            <a:off x="2450417" y="5320683"/>
            <a:ext cx="1705941" cy="7133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474515F-E676-C4BC-6348-F066C58E8502}"/>
              </a:ext>
            </a:extLst>
          </p:cNvPr>
          <p:cNvSpPr/>
          <p:nvPr/>
        </p:nvSpPr>
        <p:spPr>
          <a:xfrm>
            <a:off x="9906000" y="3339525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容易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86CB5AE-09DC-2247-A4F9-1D0302E7F55E}"/>
              </a:ext>
            </a:extLst>
          </p:cNvPr>
          <p:cNvSpPr/>
          <p:nvPr/>
        </p:nvSpPr>
        <p:spPr>
          <a:xfrm>
            <a:off x="1990908" y="6838459"/>
            <a:ext cx="15460824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Q4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作者在最後一段請我們仔細觀察手中的筷子，你發現什麼特別的道理呢？</a:t>
            </a:r>
          </a:p>
          <a:p>
            <a:pPr>
              <a:lnSpc>
                <a:spcPct val="150000"/>
              </a:lnSpc>
            </a:pP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看起來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的東西，其實都有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 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786AB9C-B822-9E93-0FA3-6306C4280202}"/>
              </a:ext>
            </a:extLst>
          </p:cNvPr>
          <p:cNvSpPr/>
          <p:nvPr/>
        </p:nvSpPr>
        <p:spPr>
          <a:xfrm>
            <a:off x="7892902" y="4220206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垃圾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2B96D47-0CD8-8B30-8354-26610A3C85AD}"/>
              </a:ext>
            </a:extLst>
          </p:cNvPr>
          <p:cNvSpPr/>
          <p:nvPr/>
        </p:nvSpPr>
        <p:spPr>
          <a:xfrm>
            <a:off x="10683521" y="4220206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健康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6A08BAA-ABBB-4582-3A25-2919B1351A40}"/>
              </a:ext>
            </a:extLst>
          </p:cNvPr>
          <p:cNvSpPr/>
          <p:nvPr/>
        </p:nvSpPr>
        <p:spPr>
          <a:xfrm>
            <a:off x="7924800" y="5083421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安心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E7764A7-671D-D5F9-BB1A-E52F955123CC}"/>
              </a:ext>
            </a:extLst>
          </p:cNvPr>
          <p:cNvSpPr/>
          <p:nvPr/>
        </p:nvSpPr>
        <p:spPr>
          <a:xfrm>
            <a:off x="10662256" y="5062953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環境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E81C2BE-120D-F09F-B0DD-358F308622CE}"/>
              </a:ext>
            </a:extLst>
          </p:cNvPr>
          <p:cNvSpPr/>
          <p:nvPr/>
        </p:nvSpPr>
        <p:spPr>
          <a:xfrm>
            <a:off x="11114407" y="5921700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清洗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3F91926-18A0-CCFF-0456-C85205CC7132}"/>
              </a:ext>
            </a:extLst>
          </p:cNvPr>
          <p:cNvSpPr/>
          <p:nvPr/>
        </p:nvSpPr>
        <p:spPr>
          <a:xfrm>
            <a:off x="4247567" y="7712176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平凡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4B25B02-8135-97AE-6B7D-909D5DB4D857}"/>
              </a:ext>
            </a:extLst>
          </p:cNvPr>
          <p:cNvSpPr/>
          <p:nvPr/>
        </p:nvSpPr>
        <p:spPr>
          <a:xfrm>
            <a:off x="9168333" y="7720015"/>
            <a:ext cx="24168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u="dbl" kern="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大學問</a:t>
            </a:r>
            <a:endParaRPr lang="zh-TW" altLang="en-US" sz="3200" b="1" u="dbl" dirty="0">
              <a:solidFill>
                <a:srgbClr val="FF0000"/>
              </a:solidFill>
              <a:uFill>
                <a:solidFill>
                  <a:srgbClr val="FF0000"/>
                </a:solidFill>
              </a:u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569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30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8EB2-CE5E-97B7-3692-7CF53A1B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4A8764-166D-D253-4E1A-86305BFFDE5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0FF33E2-F7EE-0E1C-6834-C2666B5015AD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CA9AA42-E93C-DC3F-F2EE-6FDF43F1FF1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919C53F-4C02-16C0-CA0B-AF9060BD72FE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C8F52E4-0586-C1F6-21C3-2767C5828602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D1B9A6F-AD11-D9EB-40E7-49464361F57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0FEEE05-6FD6-9712-A78E-6F48E5680A2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4B802F57-EED4-0BCB-E056-B6BFAE7AD1EE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871CA98-68B8-3C25-A060-68B63427606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5BDE6E5-57DE-52BD-9C23-153099547290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F64DED89-DADB-B5B3-3779-80F51FF7C870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>
            <a:extLst>
              <a:ext uri="{FF2B5EF4-FFF2-40B4-BE49-F238E27FC236}">
                <a16:creationId xmlns:a16="http://schemas.microsoft.com/office/drawing/2014/main" id="{9059B901-4CE0-9027-CB1C-179E0EC84D74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00505600-F0B4-5C9B-9B84-D32E553CA72C}"/>
              </a:ext>
            </a:extLst>
          </p:cNvPr>
          <p:cNvSpPr/>
          <p:nvPr/>
        </p:nvSpPr>
        <p:spPr>
          <a:xfrm>
            <a:off x="1990908" y="2403307"/>
            <a:ext cx="15160598" cy="77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Q1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延伸閱讀：請先閱讀完這篇報導，並回答問題。</a:t>
            </a:r>
          </a:p>
        </p:txBody>
      </p:sp>
      <p:sp>
        <p:nvSpPr>
          <p:cNvPr id="48" name="文字方塊 2">
            <a:extLst>
              <a:ext uri="{FF2B5EF4-FFF2-40B4-BE49-F238E27FC236}">
                <a16:creationId xmlns:a16="http://schemas.microsoft.com/office/drawing/2014/main" id="{29960438-657B-278F-6BBC-E3A510468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挑戰題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399ECC95-719D-3607-6018-E4B9825CCCB4}"/>
              </a:ext>
            </a:extLst>
          </p:cNvPr>
          <p:cNvSpPr/>
          <p:nvPr/>
        </p:nvSpPr>
        <p:spPr>
          <a:xfrm>
            <a:off x="5321218" y="953703"/>
            <a:ext cx="1558266" cy="1257300"/>
          </a:xfrm>
          <a:custGeom>
            <a:avLst/>
            <a:gdLst/>
            <a:ahLst/>
            <a:cxnLst/>
            <a:rect l="l" t="t" r="r" b="b"/>
            <a:pathLst>
              <a:path w="4101416" h="3434936">
                <a:moveTo>
                  <a:pt x="0" y="0"/>
                </a:moveTo>
                <a:lnTo>
                  <a:pt x="4101416" y="0"/>
                </a:lnTo>
                <a:lnTo>
                  <a:pt x="4101416" y="3434936"/>
                </a:lnTo>
                <a:lnTo>
                  <a:pt x="0" y="343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76E67D89-33D9-A082-1D35-EDC3292CB2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C5A3A9B-D7F5-CCF6-72C5-FB4D79E1A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004900"/>
              </p:ext>
            </p:extLst>
          </p:nvPr>
        </p:nvGraphicFramePr>
        <p:xfrm>
          <a:off x="2286000" y="3464991"/>
          <a:ext cx="14603782" cy="56400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03782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54507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sz="32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筷子潛藏的健康風險，你知道嗎？</a:t>
                      </a:r>
                      <a:endParaRPr lang="zh-TW" altLang="en-US" sz="3200" b="0" i="0" u="none" kern="1200" dirty="0">
                        <a:solidFill>
                          <a:schemeClr val="tx1"/>
                        </a:solidFill>
                        <a:latin typeface="DFKai-SB" panose="03000509000000000000" pitchFamily="49" charset="-120"/>
                        <a:ea typeface="DFKai-SB" panose="03000509000000000000" pitchFamily="49" charset="-12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每天吃飯都離不開的筷子，洗過後真的乾淨了嗎？其實，筷子上潛藏的細菌數量可能超出你的想像，若不小心吃下肚，可能導致食物中毒或腸胃炎等問題。尤其是一款特定設計的筷子，含菌量甚至比馬桶蓋高出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至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倍，令人震驚。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胸腔暨重症專科醫師</a:t>
                      </a:r>
                      <a:r>
                        <a:rPr lang="zh-TW" altLang="en-US" sz="3200" b="0" i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黃軒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指出，常用的筷子可能滋生包括大腸桿菌、沙門氏菌、金黃色葡萄球菌、李斯特菌及幽門螺旋桿菌等致病菌。如果不慎吞入這些細菌，輕則可能引起腸胃不適，重則可能面臨致命疾病的風險。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54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2000-57A7-704C-0A0F-72809E9C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F6AF60-3D9F-7D14-A2BB-A97070D5B2D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0DA2BCE-0AC1-B2A8-1D30-478CF01363F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1751B40-38A2-5F34-F237-BD52140DCAA6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846AF5-943E-4606-1770-CBFC67FC36B9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6C63206-B039-4696-C37C-92C5A20FEC00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AD9F072-426C-891F-EEB4-2C59B7E8140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D7FEA3E-3FD7-C697-D92D-66BEA8E5A8C3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DE05F96-5E53-6484-D4F9-D7CD5690EB66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A209D1A-43AC-9AA6-18AA-3E7871C0B0B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A5C610C-8E26-BC84-3D9C-D3A483CC28CC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CA6D8DDE-EE37-900D-467A-ED45CB28AA4A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BB7E7276-43BD-34FE-DDF9-C83D898F9C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C73CB35-AC49-B7C9-A3C9-BED098AD7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35316"/>
              </p:ext>
            </p:extLst>
          </p:nvPr>
        </p:nvGraphicFramePr>
        <p:xfrm>
          <a:off x="2286000" y="919374"/>
          <a:ext cx="14603782" cy="85661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03782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818569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台灣的一項研究針對「四種材質的筷子」進行分析，清洗乾淨後的含菌量數據顯示：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•	</a:t>
                      </a:r>
                      <a:r>
                        <a:rPr lang="zh-TW" altLang="en-US" sz="32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不鏽鋼筷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的含菌量最低，是最衛生的選擇。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•	</a:t>
                      </a:r>
                      <a:r>
                        <a:rPr lang="zh-TW" altLang="en-US" sz="32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竹筷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zh-TW" altLang="en-US" sz="32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仿瓷筷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的含菌量相近，但均已超過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200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隻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每支的標準值。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•	</a:t>
                      </a:r>
                      <a:r>
                        <a:rPr lang="zh-TW" altLang="en-US" sz="3200" b="1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木筷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的含菌量最高，達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600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隻，超過標準值的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3.3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倍。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其中，最骯髒的是「有條紋竹筷」，含菌量高達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1.3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萬隻，比一般竹筷多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37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倍，甚至比馬桶蓋骯髒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至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倍。木筷因吸水，潮濕環境中細菌繁殖速度驚人，每</a:t>
                      </a: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分鐘可翻倍。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    有人會問：「那麼免洗筷是否比較乾淨？」黃軒提醒，免洗筷與普通筷子的細菌檢出率沒有顯著差異，但免洗筷中硫化物等化學成分的含量更高，對健康同樣有害。這意味著免洗筷「既不乾淨，也不安全」。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771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F3D6-14DF-E055-0B4B-BAA4C0F3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E1917D-4067-2094-9461-8DE5043409A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9C2F480-B9FB-5C77-FBE2-1AB93852E895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C52DC3C-9BC0-047F-74DA-2212C53CD16C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10E4689-07D5-1432-95DC-C5E02FACCE40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B42180A-1C74-F20D-E822-6055BE42F80C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9350D82-C1F0-CA9C-DE21-8DB2D09D6710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C77D7FB-CF46-3B09-7A40-BC192B3EFF85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ABC1386-E251-E36A-7609-B5E7EC0CE51B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C0635E8-DAFD-69C9-DEE0-F4F246C9912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3098ABA-838E-2DE0-BECC-582B4B6AFCB9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1CEF24B7-D0D9-0490-3DEB-C9A5196F150F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F4A1D8D3-C210-9804-51D3-39DF19B4C6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414B359-FAB1-D941-4ABE-D74A85E9C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669616"/>
              </p:ext>
            </p:extLst>
          </p:nvPr>
        </p:nvGraphicFramePr>
        <p:xfrm>
          <a:off x="2217464" y="2065034"/>
          <a:ext cx="14603782" cy="56400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03782">
                  <a:extLst>
                    <a:ext uri="{9D8B030D-6E8A-4147-A177-3AD203B41FA5}">
                      <a16:colId xmlns:a16="http://schemas.microsoft.com/office/drawing/2014/main" val="4270811568"/>
                    </a:ext>
                  </a:extLst>
                </a:gridCol>
              </a:tblGrid>
              <a:tr h="52147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為了保持筷子的衛生，</a:t>
                      </a:r>
                      <a:r>
                        <a:rPr lang="zh-TW" altLang="en-US" sz="3200" b="0" i="0" u="sng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黃軒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建議：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1.	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筷子使用後應仔細清洗，確保食物殘渣和油汙完全清除。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2.	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清洗後將筷子散開晾乾，避免潮濕環境滋生細菌。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3.	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筷子應頭朝上垂直擺放於筷筒內，防止接觸筷筒底部的細菌。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TW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4.	</a:t>
                      </a: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定期每周消毒筷子，是保持衛生的最佳方式。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zh-TW" altLang="en-US" sz="3200" b="0" i="0" u="none" kern="1200" dirty="0">
                          <a:solidFill>
                            <a:schemeClr val="tx1"/>
                          </a:solidFill>
                          <a:latin typeface="DFKai-SB" panose="03000509000000000000" pitchFamily="49" charset="-120"/>
                          <a:ea typeface="DFKai-SB" panose="03000509000000000000" pitchFamily="49" charset="-120"/>
                          <a:cs typeface="Times New Roman" panose="02020603050405020304" pitchFamily="18" charset="0"/>
                        </a:rPr>
                        <a:t>良好的餐具清潔習慣，能有效避免細菌危害，為健康增添一層保障。記住，簡單的改變能讓你的生活更加安心！</a:t>
                      </a:r>
                    </a:p>
                  </a:txBody>
                  <a:tcPr marL="137160" marR="137160" marT="137160" marB="46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4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56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32F06-88F1-99F9-3768-F8F137F9C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51B927-AC6D-8446-E5D5-C918C66C9D4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B4B82D0-DFC6-4C18-74AD-BFF266D6DE69}"/>
              </a:ext>
            </a:extLst>
          </p:cNvPr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47AAE9F-5A0D-E2A1-9381-2269B9880D0E}"/>
                </a:ext>
              </a:extLst>
            </p:cNvPr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B5ABEFD-2EEC-30DE-54EA-E3C7EEA2CCE0}"/>
                </a:ext>
              </a:extLst>
            </p:cNvPr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D3F1706-74C0-9931-A17D-27F854624EF3}"/>
              </a:ext>
            </a:extLst>
          </p:cNvPr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8498A99-6950-CB19-D4ED-5CFDD5D598D8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C45C733-CC3D-9DE3-5E05-3C57459952D1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6C0226C-5D3A-F60F-C644-97EA6F74E44E}"/>
              </a:ext>
            </a:extLst>
          </p:cNvPr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6F8959F-51B7-8BB2-37BE-5BEDB7D5A32F}"/>
                </a:ext>
              </a:extLst>
            </p:cNvPr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8D66CE7-EAF1-B3A0-5104-3F8A41A27047}"/>
                </a:ext>
              </a:extLst>
            </p:cNvPr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9EA096FB-496C-B3EF-FC6D-E2C86115EA3D}"/>
              </a:ext>
            </a:extLst>
          </p:cNvPr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5D139255-C2F4-D755-A89D-822794597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90A8C05-7A19-5BE9-964D-D2ED021850D3}"/>
              </a:ext>
            </a:extLst>
          </p:cNvPr>
          <p:cNvSpPr/>
          <p:nvPr/>
        </p:nvSpPr>
        <p:spPr>
          <a:xfrm>
            <a:off x="2555405" y="3968152"/>
            <a:ext cx="13717216" cy="4895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你認為使用哪種材質的筷子最適合家庭日常使用？為什麼？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3200" b="1" u="sng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黃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醫師建議將筷子「散開晾乾」並「頭朝上擺放」。這樣的習慣對我們的健康有什麼幫助？如果家中使用的筷筒不能做到這一點，你會設計什麼改良方法？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zh-TW" altLang="en-US" sz="32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8708AA3-8679-EDE8-4A75-CBDE0B351542}"/>
              </a:ext>
            </a:extLst>
          </p:cNvPr>
          <p:cNvCxnSpPr>
            <a:cxnSpLocks/>
          </p:cNvCxnSpPr>
          <p:nvPr/>
        </p:nvCxnSpPr>
        <p:spPr>
          <a:xfrm>
            <a:off x="2573126" y="8851906"/>
            <a:ext cx="135549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6CB9E61-E4CC-DF07-10B5-F05C8ED1C7BC}"/>
              </a:ext>
            </a:extLst>
          </p:cNvPr>
          <p:cNvSpPr/>
          <p:nvPr/>
        </p:nvSpPr>
        <p:spPr>
          <a:xfrm>
            <a:off x="2573126" y="8208250"/>
            <a:ext cx="26468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BF67AEF-AE3F-EF69-20F5-1FB20711F40F}"/>
              </a:ext>
            </a:extLst>
          </p:cNvPr>
          <p:cNvCxnSpPr>
            <a:cxnSpLocks/>
          </p:cNvCxnSpPr>
          <p:nvPr/>
        </p:nvCxnSpPr>
        <p:spPr>
          <a:xfrm>
            <a:off x="2573126" y="5506199"/>
            <a:ext cx="135549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9539267-0436-1F72-82F9-3EEC2A556E72}"/>
              </a:ext>
            </a:extLst>
          </p:cNvPr>
          <p:cNvSpPr/>
          <p:nvPr/>
        </p:nvSpPr>
        <p:spPr>
          <a:xfrm>
            <a:off x="2573126" y="4862543"/>
            <a:ext cx="26468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0F69AF-F859-AA5B-861A-F968A8A3DEC9}"/>
              </a:ext>
            </a:extLst>
          </p:cNvPr>
          <p:cNvSpPr/>
          <p:nvPr/>
        </p:nvSpPr>
        <p:spPr>
          <a:xfrm>
            <a:off x="2587303" y="1389643"/>
            <a:ext cx="13717216" cy="1479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文章提到筷子上的細菌數量可能超過馬桶蓋，尤其是木筷和有條紋竹筷。請思考：為什麼這些材質的筷子比不鏽鋼筷更容易滋生細菌？</a:t>
            </a:r>
          </a:p>
        </p:txBody>
      </p: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04426487-4471-E5A2-4E7F-8C1DFCAE5FB6}"/>
              </a:ext>
            </a:extLst>
          </p:cNvPr>
          <p:cNvCxnSpPr/>
          <p:nvPr/>
        </p:nvCxnSpPr>
        <p:spPr>
          <a:xfrm>
            <a:off x="2587303" y="3673580"/>
            <a:ext cx="13182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1DE744E2-7E38-C7BA-700A-D2106D677CCE}"/>
              </a:ext>
            </a:extLst>
          </p:cNvPr>
          <p:cNvSpPr/>
          <p:nvPr/>
        </p:nvSpPr>
        <p:spPr>
          <a:xfrm>
            <a:off x="2587303" y="3029924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學生自行作答</a:t>
            </a:r>
          </a:p>
        </p:txBody>
      </p:sp>
    </p:spTree>
    <p:extLst>
      <p:ext uri="{BB962C8B-B14F-4D97-AF65-F5344CB8AC3E}">
        <p14:creationId xmlns:p14="http://schemas.microsoft.com/office/powerpoint/2010/main" val="99371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8"/>
            <a:ext cx="15917348" cy="9535231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0993" y="534978"/>
            <a:ext cx="15917348" cy="9535231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36" name="圖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76" b="18890"/>
          <a:stretch/>
        </p:blipFill>
        <p:spPr bwMode="auto">
          <a:xfrm>
            <a:off x="1847267" y="892167"/>
            <a:ext cx="4800600" cy="11791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矩形 14"/>
          <p:cNvSpPr/>
          <p:nvPr/>
        </p:nvSpPr>
        <p:spPr>
          <a:xfrm>
            <a:off x="6908097" y="1257300"/>
            <a:ext cx="104438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TW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※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請根據每一題的題目與答案，</a:t>
            </a:r>
            <a:r>
              <a:rPr lang="zh-TW" altLang="en-US" sz="3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繪製成「課文心智圖」</a:t>
            </a:r>
            <a:r>
              <a:rPr lang="zh-TW" altLang="en-US" sz="3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"/>
          <p:cNvSpPr txBox="1">
            <a:spLocks noChangeArrowheads="1"/>
          </p:cNvSpPr>
          <p:nvPr/>
        </p:nvSpPr>
        <p:spPr bwMode="auto">
          <a:xfrm>
            <a:off x="1990908" y="1371300"/>
            <a:ext cx="4402109" cy="67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127000"/>
          </a:effectLst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</a:pPr>
            <a:r>
              <a:rPr lang="zh-TW" altLang="en-US" sz="4800" b="1" kern="100" dirty="0">
                <a:solidFill>
                  <a:srgbClr val="00B0F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課文心智圖</a:t>
            </a:r>
            <a:endParaRPr lang="zh-TW" sz="4800" b="1" kern="100" dirty="0">
              <a:solidFill>
                <a:srgbClr val="00B0F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pic>
        <p:nvPicPr>
          <p:cNvPr id="10" name="圖片 9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id="{93717E85-9D81-5BB1-1404-0FBB446A03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37" t="36851" r="2269" b="35728"/>
          <a:stretch/>
        </p:blipFill>
        <p:spPr bwMode="auto">
          <a:xfrm>
            <a:off x="1692291" y="4076700"/>
            <a:ext cx="15469935" cy="29581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422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endParaRPr lang="zh-TW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525999" y="693190"/>
            <a:ext cx="15917348" cy="9117517"/>
            <a:chOff x="0" y="0"/>
            <a:chExt cx="3764577" cy="21563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4577" cy="2156364"/>
            </a:xfrm>
            <a:custGeom>
              <a:avLst/>
              <a:gdLst/>
              <a:ahLst/>
              <a:cxnLst/>
              <a:rect l="l" t="t" r="r" b="b"/>
              <a:pathLst>
                <a:path w="3764577" h="2156364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31558"/>
                  </a:lnTo>
                  <a:cubicBezTo>
                    <a:pt x="3764577" y="2145258"/>
                    <a:pt x="3753471" y="2156364"/>
                    <a:pt x="3739771" y="2156364"/>
                  </a:cubicBezTo>
                  <a:lnTo>
                    <a:pt x="24806" y="2156364"/>
                  </a:lnTo>
                  <a:cubicBezTo>
                    <a:pt x="18227" y="2156364"/>
                    <a:pt x="11917" y="2153751"/>
                    <a:pt x="7265" y="2149098"/>
                  </a:cubicBezTo>
                  <a:cubicBezTo>
                    <a:pt x="2613" y="2144447"/>
                    <a:pt x="0" y="2138137"/>
                    <a:pt x="0" y="2131558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182C45">
                <a:alpha val="25882"/>
              </a:srgb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764577" cy="21944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5999" y="561269"/>
            <a:ext cx="15917348" cy="9164462"/>
            <a:chOff x="0" y="0"/>
            <a:chExt cx="3764577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98218" y="561269"/>
            <a:ext cx="15917348" cy="9164462"/>
            <a:chOff x="0" y="0"/>
            <a:chExt cx="3764577" cy="216746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4577" cy="2167467"/>
            </a:xfrm>
            <a:custGeom>
              <a:avLst/>
              <a:gdLst/>
              <a:ahLst/>
              <a:cxnLst/>
              <a:rect l="l" t="t" r="r" b="b"/>
              <a:pathLst>
                <a:path w="3764577" h="2167467">
                  <a:moveTo>
                    <a:pt x="24806" y="0"/>
                  </a:moveTo>
                  <a:lnTo>
                    <a:pt x="3739771" y="0"/>
                  </a:lnTo>
                  <a:cubicBezTo>
                    <a:pt x="3753471" y="0"/>
                    <a:pt x="3764577" y="11106"/>
                    <a:pt x="3764577" y="24806"/>
                  </a:cubicBezTo>
                  <a:lnTo>
                    <a:pt x="3764577" y="2142661"/>
                  </a:lnTo>
                  <a:cubicBezTo>
                    <a:pt x="3764577" y="2156361"/>
                    <a:pt x="3753471" y="2167467"/>
                    <a:pt x="3739771" y="2167467"/>
                  </a:cubicBezTo>
                  <a:lnTo>
                    <a:pt x="24806" y="2167467"/>
                  </a:lnTo>
                  <a:cubicBezTo>
                    <a:pt x="18227" y="2167467"/>
                    <a:pt x="11917" y="2164853"/>
                    <a:pt x="7265" y="2160201"/>
                  </a:cubicBezTo>
                  <a:cubicBezTo>
                    <a:pt x="2613" y="2155549"/>
                    <a:pt x="0" y="2149240"/>
                    <a:pt x="0" y="2142661"/>
                  </a:cubicBezTo>
                  <a:lnTo>
                    <a:pt x="0" y="24806"/>
                  </a:lnTo>
                  <a:cubicBezTo>
                    <a:pt x="0" y="18227"/>
                    <a:pt x="2613" y="11917"/>
                    <a:pt x="7265" y="7265"/>
                  </a:cubicBezTo>
                  <a:cubicBezTo>
                    <a:pt x="11917" y="2613"/>
                    <a:pt x="18227" y="0"/>
                    <a:pt x="248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764577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dist">
                <a:lnSpc>
                  <a:spcPts val="2659"/>
                </a:lnSpc>
                <a:spcBef>
                  <a:spcPct val="0"/>
                </a:spcBef>
              </a:pPr>
              <a:endParaRPr>
                <a:ea typeface="華康新綜藝體" panose="02010609000101010101" pitchFamily="49" charset="-120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922637" y="1050653"/>
            <a:ext cx="736712" cy="8185694"/>
          </a:xfrm>
          <a:custGeom>
            <a:avLst/>
            <a:gdLst/>
            <a:ahLst/>
            <a:cxnLst/>
            <a:rect l="l" t="t" r="r" b="b"/>
            <a:pathLst>
              <a:path w="736712" h="8185694">
                <a:moveTo>
                  <a:pt x="0" y="0"/>
                </a:moveTo>
                <a:lnTo>
                  <a:pt x="736712" y="0"/>
                </a:lnTo>
                <a:lnTo>
                  <a:pt x="736712" y="8185694"/>
                </a:lnTo>
                <a:lnTo>
                  <a:pt x="0" y="81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00" y="88586"/>
            <a:ext cx="2019197" cy="394683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5029200" y="4223193"/>
            <a:ext cx="933606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本課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MAPS</a:t>
            </a: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提問單學習完畢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077200" y="5372197"/>
            <a:ext cx="56867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6000"/>
              </a:lnSpc>
            </a:pPr>
            <a:r>
              <a:rPr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下課啦</a:t>
            </a:r>
            <a:r>
              <a:rPr lang="en-US" altLang="zh-TW" sz="6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!</a:t>
            </a:r>
            <a:endParaRPr lang="zh-TW" altLang="en-US" sz="6000" b="1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334" y="6745624"/>
            <a:ext cx="2530339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1300</Words>
  <Application>Microsoft Macintosh PowerPoint</Application>
  <PresentationFormat>自訂</PresentationFormat>
  <Paragraphs>206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Aptos</vt:lpstr>
      <vt:lpstr>標楷體</vt:lpstr>
      <vt:lpstr>Arial</vt:lpstr>
      <vt:lpstr>標楷體</vt:lpstr>
      <vt:lpstr>微軟正黑體</vt:lpstr>
      <vt:lpstr>微軟正黑體</vt:lpstr>
      <vt:lpstr>AR ZhuYinEX Md</vt:lpstr>
      <vt:lpstr>華康新綜藝體</vt:lpstr>
      <vt:lpstr>文鼎注音寬字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Playful Illustration Memory Game Presentation</dc:title>
  <dc:creator>趙曼貽</dc:creator>
  <cp:lastModifiedBy>綺雯 林</cp:lastModifiedBy>
  <cp:revision>78</cp:revision>
  <dcterms:created xsi:type="dcterms:W3CDTF">2006-08-16T00:00:00Z</dcterms:created>
  <dcterms:modified xsi:type="dcterms:W3CDTF">2025-09-21T14:43:15Z</dcterms:modified>
  <dc:identifier>DAGOioWnJWE</dc:identifier>
</cp:coreProperties>
</file>