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96" r:id="rId4"/>
    <p:sldId id="270" r:id="rId5"/>
    <p:sldId id="316" r:id="rId6"/>
    <p:sldId id="272" r:id="rId7"/>
    <p:sldId id="326" r:id="rId8"/>
    <p:sldId id="330" r:id="rId9"/>
    <p:sldId id="331" r:id="rId10"/>
    <p:sldId id="325" r:id="rId11"/>
    <p:sldId id="335" r:id="rId12"/>
    <p:sldId id="336" r:id="rId13"/>
    <p:sldId id="328" r:id="rId14"/>
    <p:sldId id="337" r:id="rId15"/>
    <p:sldId id="338" r:id="rId16"/>
    <p:sldId id="279" r:id="rId17"/>
    <p:sldId id="295" r:id="rId18"/>
  </p:sldIdLst>
  <p:sldSz cx="18288000" cy="10287000"/>
  <p:notesSz cx="6858000" cy="9144000"/>
  <p:embeddedFontLst>
    <p:embeddedFont>
      <p:font typeface="文鼎注音寬字" panose="03000600000000000000" pitchFamily="65" charset="-120"/>
      <p:regular r:id="rId20"/>
    </p:embeddedFont>
    <p:embeddedFont>
      <p:font typeface="書法居中（注音一）" panose="02010609010101010101" pitchFamily="49" charset="-120"/>
      <p:regular r:id="rId21"/>
    </p:embeddedFont>
    <p:embeddedFont>
      <p:font typeface="標楷體" panose="03000509000000000000" pitchFamily="65" charset="-120"/>
      <p:regular r:id="rId22"/>
    </p:embeddedFont>
    <p:embeddedFont>
      <p:font typeface="微軟正黑體" panose="020B0604030504040204" pitchFamily="34" charset="-120"/>
      <p:regular r:id="rId23"/>
      <p:bold r:id="rId24"/>
    </p:embeddedFont>
    <p:embeddedFont>
      <p:font typeface="標楷體" panose="03000509000000000000" pitchFamily="65" charset="-120"/>
      <p:regular r:id="rId22"/>
    </p:embeddedFont>
    <p:embeddedFont>
      <p:font typeface="微軟正黑體" panose="020B0604030504040204" pitchFamily="34" charset="-120"/>
      <p:regular r:id="rId23"/>
      <p:bold r:id="rId24"/>
    </p:embeddedFont>
    <p:embeddedFont>
      <p:font typeface="華康新綜藝體" panose="02010609000101010101" pitchFamily="49" charset="-12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EED"/>
    <a:srgbClr val="C5F87F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6" autoAdjust="0"/>
    <p:restoredTop sz="94624" autoAdjust="0"/>
  </p:normalViewPr>
  <p:slideViewPr>
    <p:cSldViewPr>
      <p:cViewPr varScale="1">
        <p:scale>
          <a:sx n="72" d="100"/>
          <a:sy n="72" d="100"/>
        </p:scale>
        <p:origin x="115" y="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593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F15EC-EB07-4462-A15A-319C71CF4B0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465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9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4.png"/><Relationship Id="rId5" Type="http://schemas.openxmlformats.org/officeDocument/2006/relationships/image" Target="../media/image4.svg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5585642" y="6896100"/>
            <a:ext cx="7565710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5749783" y="7553348"/>
            <a:ext cx="7428150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en-US" altLang="zh-TW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</a:t>
            </a:r>
            <a:r>
              <a:rPr lang="zh-TW" altLang="en-US" sz="1600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十二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掉</a:t>
            </a:r>
            <a:r>
              <a:rPr lang="zh-TW" altLang="en-US" sz="4800" b="1" kern="100" dirty="0" smtClean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進一個兔子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洞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069511" y="6370481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7185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287277"/>
              </p:ext>
            </p:extLst>
          </p:nvPr>
        </p:nvGraphicFramePr>
        <p:xfrm>
          <a:off x="1854873" y="3470831"/>
          <a:ext cx="7593927" cy="449989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聊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柳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幻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幼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54864338"/>
                  </a:ext>
                </a:extLst>
              </a:tr>
              <a:tr h="705816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跌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秩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33776075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484933"/>
              </p:ext>
            </p:extLst>
          </p:nvPr>
        </p:nvGraphicFramePr>
        <p:xfrm>
          <a:off x="3962400" y="3711613"/>
          <a:ext cx="5486400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療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聊天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459176"/>
              </p:ext>
            </p:extLst>
          </p:nvPr>
        </p:nvGraphicFramePr>
        <p:xfrm>
          <a:off x="3962400" y="4551969"/>
          <a:ext cx="5486400" cy="659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5933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柳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柳橙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653706"/>
              </p:ext>
            </p:extLst>
          </p:nvPr>
        </p:nvGraphicFramePr>
        <p:xfrm>
          <a:off x="3962400" y="5213717"/>
          <a:ext cx="548640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換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幻影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457283"/>
              </p:ext>
            </p:extLst>
          </p:nvPr>
        </p:nvGraphicFramePr>
        <p:xfrm>
          <a:off x="3962400" y="5903243"/>
          <a:ext cx="548640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又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幼小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793348"/>
              </p:ext>
            </p:extLst>
          </p:nvPr>
        </p:nvGraphicFramePr>
        <p:xfrm>
          <a:off x="3962400" y="6592770"/>
          <a:ext cx="548640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跌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跌倒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213030"/>
              </p:ext>
            </p:extLst>
          </p:nvPr>
        </p:nvGraphicFramePr>
        <p:xfrm>
          <a:off x="9677400" y="3475305"/>
          <a:ext cx="7221158" cy="4443045"/>
        </p:xfrm>
        <a:graphic>
          <a:graphicData uri="http://schemas.openxmlformats.org/drawingml/2006/table">
            <a:tbl>
              <a:tblPr firstRow="1" firstCol="1" bandRow="1"/>
              <a:tblGrid>
                <a:gridCol w="8438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476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627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9627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央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876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英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87614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令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鈴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600"/>
                        </a:lnSpc>
                      </a:pP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84036061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449443"/>
              </p:ext>
            </p:extLst>
          </p:nvPr>
        </p:nvGraphicFramePr>
        <p:xfrm>
          <a:off x="11682140" y="7232879"/>
          <a:ext cx="528920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4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44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玲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年齡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77949"/>
              </p:ext>
            </p:extLst>
          </p:nvPr>
        </p:nvGraphicFramePr>
        <p:xfrm>
          <a:off x="11682141" y="3800274"/>
          <a:ext cx="5216418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央求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930817"/>
              </p:ext>
            </p:extLst>
          </p:nvPr>
        </p:nvGraphicFramePr>
        <p:xfrm>
          <a:off x="11682141" y="4513271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硬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映照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40395"/>
              </p:ext>
            </p:extLst>
          </p:nvPr>
        </p:nvGraphicFramePr>
        <p:xfrm>
          <a:off x="11682141" y="5193173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英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英文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539175"/>
              </p:ext>
            </p:extLst>
          </p:nvPr>
        </p:nvGraphicFramePr>
        <p:xfrm>
          <a:off x="11682141" y="5873075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另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命令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228129"/>
              </p:ext>
            </p:extLst>
          </p:nvPr>
        </p:nvGraphicFramePr>
        <p:xfrm>
          <a:off x="11700279" y="6552977"/>
          <a:ext cx="5216418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82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082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玲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門鈴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="" xmlns:a16="http://schemas.microsoft.com/office/drawing/2014/main" id="{F0881485-084C-406F-17E5-A8D1064E5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01381"/>
              </p:ext>
            </p:extLst>
          </p:nvPr>
        </p:nvGraphicFramePr>
        <p:xfrm>
          <a:off x="3953999" y="7248230"/>
          <a:ext cx="548640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  <a:ea typeface="文鼎注音寬字" panose="020B0602010101010101" pitchFamily="49" charset="-120"/>
                          <a:cs typeface="標楷體" panose="03000509000000000000" pitchFamily="49" charset="-120"/>
                        </a:rPr>
                        <a:t>至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文鼎注音寬字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秩序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05A7306-129C-DC4B-38E0-CCCB4FD0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913BA1CD-11C9-A921-ABA9-4F8BC4EBA0C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CD4108B6-D59E-B75D-1893-631202E4BE6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FE633385-65D3-E608-FBEA-9988B2A2259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B660B2D0-5DA5-3233-160A-3F37C1DEDD1A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1559D6AA-13E1-89FC-DAA9-41526B85B1EE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AE9A0B12-C7ED-8690-A62E-EDA12C10F2A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BFF07D46-9426-355B-3BD6-70D7A03B225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="" xmlns:a16="http://schemas.microsoft.com/office/drawing/2014/main" id="{EED26856-C4CA-DFC8-0D3A-D551C5EFEA34}"/>
              </a:ext>
            </a:extLst>
          </p:cNvPr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>
            <a:extLst>
              <a:ext uri="{FF2B5EF4-FFF2-40B4-BE49-F238E27FC236}">
                <a16:creationId xmlns="" xmlns:a16="http://schemas.microsoft.com/office/drawing/2014/main" id="{233AE8B8-A5DF-36DD-FE52-00F77171C396}"/>
              </a:ext>
            </a:extLst>
          </p:cNvPr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1" name="Freeform 11">
            <a:extLst>
              <a:ext uri="{FF2B5EF4-FFF2-40B4-BE49-F238E27FC236}">
                <a16:creationId xmlns="" xmlns:a16="http://schemas.microsoft.com/office/drawing/2014/main" id="{47604417-7846-0005-47B8-E0736E56BA54}"/>
              </a:ext>
            </a:extLst>
          </p:cNvPr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2" name="Freeform 12">
            <a:extLst>
              <a:ext uri="{FF2B5EF4-FFF2-40B4-BE49-F238E27FC236}">
                <a16:creationId xmlns="" xmlns:a16="http://schemas.microsoft.com/office/drawing/2014/main" id="{AFC439D7-6DBE-DCE1-3D34-2AD98AE3F802}"/>
              </a:ext>
            </a:extLst>
          </p:cNvPr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3" name="Freeform 13">
            <a:extLst>
              <a:ext uri="{FF2B5EF4-FFF2-40B4-BE49-F238E27FC236}">
                <a16:creationId xmlns="" xmlns:a16="http://schemas.microsoft.com/office/drawing/2014/main" id="{40A61603-2F9C-5282-99B8-36E553D7E804}"/>
              </a:ext>
            </a:extLst>
          </p:cNvPr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4" name="Freeform 14">
            <a:extLst>
              <a:ext uri="{FF2B5EF4-FFF2-40B4-BE49-F238E27FC236}">
                <a16:creationId xmlns="" xmlns:a16="http://schemas.microsoft.com/office/drawing/2014/main" id="{C88D424A-A157-8FC3-A01A-4AA69FDC74CF}"/>
              </a:ext>
            </a:extLst>
          </p:cNvPr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>
            <a:extLst>
              <a:ext uri="{FF2B5EF4-FFF2-40B4-BE49-F238E27FC236}">
                <a16:creationId xmlns="" xmlns:a16="http://schemas.microsoft.com/office/drawing/2014/main" id="{3B6873E4-FEF3-1986-70B1-B5F252F4E844}"/>
              </a:ext>
            </a:extLst>
          </p:cNvPr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6" name="Freeform 16">
            <a:extLst>
              <a:ext uri="{FF2B5EF4-FFF2-40B4-BE49-F238E27FC236}">
                <a16:creationId xmlns="" xmlns:a16="http://schemas.microsoft.com/office/drawing/2014/main" id="{A390EC28-723D-617D-03CA-B0AF2EFFAD88}"/>
              </a:ext>
            </a:extLst>
          </p:cNvPr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7" name="Freeform 17">
            <a:extLst>
              <a:ext uri="{FF2B5EF4-FFF2-40B4-BE49-F238E27FC236}">
                <a16:creationId xmlns="" xmlns:a16="http://schemas.microsoft.com/office/drawing/2014/main" id="{CBAA27A1-4B4B-2DCC-C087-47251508A4EE}"/>
              </a:ext>
            </a:extLst>
          </p:cNvPr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sp>
        <p:nvSpPr>
          <p:cNvPr id="18" name="Freeform 18">
            <a:extLst>
              <a:ext uri="{FF2B5EF4-FFF2-40B4-BE49-F238E27FC236}">
                <a16:creationId xmlns="" xmlns:a16="http://schemas.microsoft.com/office/drawing/2014/main" id="{5235512A-8E78-3917-FA65-D556950650A1}"/>
              </a:ext>
            </a:extLst>
          </p:cNvPr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 sz="3200"/>
          </a:p>
        </p:txBody>
      </p: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8A5B9A8D-216A-8B80-753B-EEEA70965BB9}"/>
              </a:ext>
            </a:extLst>
          </p:cNvPr>
          <p:cNvGrpSpPr/>
          <p:nvPr/>
        </p:nvGrpSpPr>
        <p:grpSpPr>
          <a:xfrm>
            <a:off x="1345962" y="57729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F27940C3-817A-9A8B-A38B-4EDAB6F43A2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EB4A5824-0AE4-7A8A-37BA-6827C14EF182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8E378782-13E7-D339-A06B-F15A92A987E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AB6138E6-3A7D-AF12-F815-AAD506E0A3CF}"/>
              </a:ext>
            </a:extLst>
          </p:cNvPr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="" xmlns:a16="http://schemas.microsoft.com/office/drawing/2014/main" id="{2317C13A-18AD-8C7C-E286-5F14E4B2D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3" name="Freeform 3">
            <a:extLst>
              <a:ext uri="{FF2B5EF4-FFF2-40B4-BE49-F238E27FC236}">
                <a16:creationId xmlns="" xmlns:a16="http://schemas.microsoft.com/office/drawing/2014/main" id="{2B216F95-A6DB-1DF6-0849-6DF6D21DACAA}"/>
              </a:ext>
            </a:extLst>
          </p:cNvPr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="" xmlns:a16="http://schemas.microsoft.com/office/drawing/2014/main" id="{912FCACC-7B0A-60C5-AA7A-ECE5AA293AD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3" name="表格 22">
            <a:extLst>
              <a:ext uri="{FF2B5EF4-FFF2-40B4-BE49-F238E27FC236}">
                <a16:creationId xmlns="" xmlns:a16="http://schemas.microsoft.com/office/drawing/2014/main" id="{B4558FFF-4899-4CDF-16AE-5F2FF0073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54014"/>
              </p:ext>
            </p:extLst>
          </p:nvPr>
        </p:nvGraphicFramePr>
        <p:xfrm>
          <a:off x="1752600" y="2959954"/>
          <a:ext cx="7593927" cy="310045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9362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鼠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獵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蠟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="" xmlns:a16="http://schemas.microsoft.com/office/drawing/2014/main" id="{3DE5ED1F-9A02-9AA5-4BAE-515E694F7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857986"/>
              </p:ext>
            </p:extLst>
          </p:nvPr>
        </p:nvGraphicFramePr>
        <p:xfrm>
          <a:off x="3984548" y="3200736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鼠</a:t>
                      </a:r>
                      <a:endParaRPr lang="zh-TW" sz="4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滑鼠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="" xmlns:a16="http://schemas.microsoft.com/office/drawing/2014/main" id="{5DC61D4B-0C4F-BDD3-9E05-956BB7206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118637"/>
              </p:ext>
            </p:extLst>
          </p:nvPr>
        </p:nvGraphicFramePr>
        <p:xfrm>
          <a:off x="3984548" y="468498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蠟筆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="" xmlns:a16="http://schemas.microsoft.com/office/drawing/2014/main" id="{3AB54FA7-0322-E7B3-6566-F5DD3C6E1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754311"/>
              </p:ext>
            </p:extLst>
          </p:nvPr>
        </p:nvGraphicFramePr>
        <p:xfrm>
          <a:off x="3984548" y="537078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辣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臘肉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="" xmlns:a16="http://schemas.microsoft.com/office/drawing/2014/main" id="{04DC19ED-82AC-5633-D080-4782D250B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235964"/>
              </p:ext>
            </p:extLst>
          </p:nvPr>
        </p:nvGraphicFramePr>
        <p:xfrm>
          <a:off x="9526753" y="2952426"/>
          <a:ext cx="7593927" cy="5899334"/>
        </p:xfrm>
        <a:graphic>
          <a:graphicData uri="http://schemas.openxmlformats.org/drawingml/2006/table">
            <a:tbl>
              <a:tblPr firstRow="1" firstCol="1" bandRow="1"/>
              <a:tblGrid>
                <a:gridCol w="59819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3513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303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303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93624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7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牌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脾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碑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19386636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卑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6774776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啤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05816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8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丘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兵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133776075"/>
                  </a:ext>
                </a:extLst>
              </a:tr>
              <a:tr h="70581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乒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053724132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="" xmlns:a16="http://schemas.microsoft.com/office/drawing/2014/main" id="{FC546DBF-0058-B558-028F-704FD6E2C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262915"/>
              </p:ext>
            </p:extLst>
          </p:nvPr>
        </p:nvGraphicFramePr>
        <p:xfrm>
          <a:off x="11758701" y="3193208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排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車牌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="" xmlns:a16="http://schemas.microsoft.com/office/drawing/2014/main" id="{63BF1EFD-A4C7-9298-07FB-C0EDD4AFE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887044"/>
              </p:ext>
            </p:extLst>
          </p:nvPr>
        </p:nvGraphicFramePr>
        <p:xfrm>
          <a:off x="11782091" y="4622751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杯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口碑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="" xmlns:a16="http://schemas.microsoft.com/office/drawing/2014/main" id="{30314700-4241-C4DF-0C4B-39A65466F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05905"/>
              </p:ext>
            </p:extLst>
          </p:nvPr>
        </p:nvGraphicFramePr>
        <p:xfrm>
          <a:off x="11758701" y="537078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杯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自卑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="" xmlns:a16="http://schemas.microsoft.com/office/drawing/2014/main" id="{0F09C51B-3B36-AF22-3DCE-0C8FB2543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89385"/>
              </p:ext>
            </p:extLst>
          </p:nvPr>
        </p:nvGraphicFramePr>
        <p:xfrm>
          <a:off x="11758701" y="6077994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啤酒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="" xmlns:a16="http://schemas.microsoft.com/office/drawing/2014/main" id="{A9C194A5-E298-DD37-B4D1-73A770C06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872831"/>
              </p:ext>
            </p:extLst>
          </p:nvPr>
        </p:nvGraphicFramePr>
        <p:xfrm>
          <a:off x="11758701" y="6761482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邱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山丘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="" xmlns:a16="http://schemas.microsoft.com/office/drawing/2014/main" id="{DC607B1C-E51F-A002-39AD-A3402523C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179968"/>
              </p:ext>
            </p:extLst>
          </p:nvPr>
        </p:nvGraphicFramePr>
        <p:xfrm>
          <a:off x="11727618" y="7490985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冰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士兵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>
            <a:extLst>
              <a:ext uri="{FF2B5EF4-FFF2-40B4-BE49-F238E27FC236}">
                <a16:creationId xmlns="" xmlns:a16="http://schemas.microsoft.com/office/drawing/2014/main" id="{356F5515-C637-1CBC-8B88-008A84260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44385"/>
              </p:ext>
            </p:extLst>
          </p:nvPr>
        </p:nvGraphicFramePr>
        <p:xfrm>
          <a:off x="11727618" y="8174473"/>
          <a:ext cx="5361978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娉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乒乓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>
            <a:extLst>
              <a:ext uri="{FF2B5EF4-FFF2-40B4-BE49-F238E27FC236}">
                <a16:creationId xmlns="" xmlns:a16="http://schemas.microsoft.com/office/drawing/2014/main" id="{73E0F3A8-DEA8-3990-1318-7BE0D09AF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01371"/>
              </p:ext>
            </p:extLst>
          </p:nvPr>
        </p:nvGraphicFramePr>
        <p:xfrm>
          <a:off x="3996280" y="3875758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列</a:t>
                      </a:r>
                      <a:endParaRPr lang="zh-TW" sz="4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獵人</a:t>
                      </a:r>
                      <a:endParaRPr lang="zh-TW" sz="2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>
            <a:extLst>
              <a:ext uri="{FF2B5EF4-FFF2-40B4-BE49-F238E27FC236}">
                <a16:creationId xmlns="" xmlns:a16="http://schemas.microsoft.com/office/drawing/2014/main" id="{09BD1FC9-F5EE-5787-15AA-05097581B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911184"/>
              </p:ext>
            </p:extLst>
          </p:nvPr>
        </p:nvGraphicFramePr>
        <p:xfrm>
          <a:off x="11758700" y="3865203"/>
          <a:ext cx="5361978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098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809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zh-TW" altLang="en-US" sz="40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書法居中（注音一）" panose="02010609010101010101" pitchFamily="49" charset="-120"/>
                          <a:cs typeface="標楷體" panose="03000509000000000000" pitchFamily="49" charset="-120"/>
                        </a:rPr>
                        <a:t>皮</a:t>
                      </a:r>
                      <a:endParaRPr lang="zh-TW" altLang="en-US" sz="40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書法居中（注音一）" panose="02010609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28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脾氣</a:t>
                      </a:r>
                      <a:endParaRPr lang="zh-TW" altLang="en-US" sz="28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08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20352" y="2238970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二、短語練習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221115"/>
            <a:ext cx="1113591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喝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身體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就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變小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E9A1A05-A313-504B-79CF-1454333A3EFB}"/>
              </a:ext>
            </a:extLst>
          </p:cNvPr>
          <p:cNvSpPr/>
          <p:nvPr/>
        </p:nvSpPr>
        <p:spPr>
          <a:xfrm>
            <a:off x="2919863" y="4158007"/>
            <a:ext cx="9994960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一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)(        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就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35674" y="4216724"/>
            <a:ext cx="1279199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吃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09190A8C-CCCA-EB77-49F6-4C62B456BCBD}"/>
              </a:ext>
            </a:extLst>
          </p:cNvPr>
          <p:cNvSpPr/>
          <p:nvPr/>
        </p:nvSpPr>
        <p:spPr>
          <a:xfrm>
            <a:off x="5073091" y="4222307"/>
            <a:ext cx="1279199" cy="821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肚子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FF1E57DD-82EE-2039-9EE0-3570F2E52143}"/>
              </a:ext>
            </a:extLst>
          </p:cNvPr>
          <p:cNvSpPr/>
          <p:nvPr/>
        </p:nvSpPr>
        <p:spPr>
          <a:xfrm>
            <a:off x="7391400" y="4158007"/>
            <a:ext cx="1323208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變大 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94A3C9-8F89-8386-71FA-81E3D9DD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226CE89A-72F3-95A4-56E2-EA8282CD9B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C4405C6E-E157-EBBF-B868-AABA2068074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1CF7C02D-E87A-ACC5-A12B-720B29EA946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BF064B56-B3BE-3256-CCBA-8D9F68FF5004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113ACC72-7952-8168-BF8F-E562CB27B7C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52A8C4A7-BE27-4476-F9BF-E6D66F73F943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4575ACB7-D50C-B435-5D90-D14BB6301E68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05FC4872-98EE-B055-AC7B-D079BE2F80A6}"/>
              </a:ext>
            </a:extLst>
          </p:cNvPr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B8C1C258-7386-8B97-462D-CA6D22B0D99D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FCC52BD6-9344-E0A3-0F4E-9A0048A42B2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39CDB322-2A96-5964-3745-259CDA96ABFB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7DBE1789-177D-A11F-FC1A-CA9076B8743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="" xmlns:a16="http://schemas.microsoft.com/office/drawing/2014/main" id="{BCF81B2B-4B79-7D92-1877-C8BC25A4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EEDC7BC6-EBCD-228A-3B5E-548BFE8AF93A}"/>
              </a:ext>
            </a:extLst>
          </p:cNvPr>
          <p:cNvSpPr/>
          <p:nvPr/>
        </p:nvSpPr>
        <p:spPr>
          <a:xfrm>
            <a:off x="2134357" y="2477223"/>
            <a:ext cx="14020043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如果今天是你掉進兔子洞，來到了一個從來沒想像過的奇幻世界，那個世界會是什麼樣子的呢？有哪些奇怪的人事物？請描述你走出兔子洞之後第一眼看見的東西或是景色。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>
            <a:extLst>
              <a:ext uri="{FF2B5EF4-FFF2-40B4-BE49-F238E27FC236}">
                <a16:creationId xmlns="" xmlns:a16="http://schemas.microsoft.com/office/drawing/2014/main" id="{C0FC8543-3436-A01E-748F-68B1C9C12DE6}"/>
              </a:ext>
            </a:extLst>
          </p:cNvPr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>
            <a:extLst>
              <a:ext uri="{FF2B5EF4-FFF2-40B4-BE49-F238E27FC236}">
                <a16:creationId xmlns="" xmlns:a16="http://schemas.microsoft.com/office/drawing/2014/main" id="{8D50564C-1284-8A6F-6976-5F819DBF9C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="" xmlns:a16="http://schemas.microsoft.com/office/drawing/2014/main" id="{BDE17367-C852-8FE4-AEEF-2FCEB8301951}"/>
              </a:ext>
            </a:extLst>
          </p:cNvPr>
          <p:cNvCxnSpPr>
            <a:cxnSpLocks/>
          </p:cNvCxnSpPr>
          <p:nvPr/>
        </p:nvCxnSpPr>
        <p:spPr>
          <a:xfrm>
            <a:off x="2267533" y="5803389"/>
            <a:ext cx="138868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3DD25BA-609D-F8AE-C914-184274FD7051}"/>
              </a:ext>
            </a:extLst>
          </p:cNvPr>
          <p:cNvSpPr/>
          <p:nvPr/>
        </p:nvSpPr>
        <p:spPr>
          <a:xfrm>
            <a:off x="2267533" y="5171521"/>
            <a:ext cx="34676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47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7699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84086" y="2330346"/>
            <a:ext cx="14266032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呼應暖身題，本課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掉進兔子洞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是一篇改寫經典愛麗絲夢遊仙境，依照意義段可分為三段，分別是「兔子洞」、「奇幻的世界」、「夢醒」，請你填入相應的自然段。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80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  <a:endParaRPr lang="zh-TW" altLang="en-US" sz="284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CBEC00BE-CBEE-8F4B-8B51-2792A21C2BF7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A4891FD8-2AC8-4720-5FD1-FF34E147C95B}"/>
              </a:ext>
            </a:extLst>
          </p:cNvPr>
          <p:cNvSpPr/>
          <p:nvPr/>
        </p:nvSpPr>
        <p:spPr>
          <a:xfrm>
            <a:off x="6096000" y="5632858"/>
            <a:ext cx="1295402" cy="6299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4871716-7F38-FBC8-6528-59D618B02E80}"/>
              </a:ext>
            </a:extLst>
          </p:cNvPr>
          <p:cNvSpPr/>
          <p:nvPr/>
        </p:nvSpPr>
        <p:spPr>
          <a:xfrm>
            <a:off x="9067800" y="5632858"/>
            <a:ext cx="2286000" cy="593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B81D997C-3E63-E059-6FC9-A6F79EDEDB4C}"/>
              </a:ext>
            </a:extLst>
          </p:cNvPr>
          <p:cNvSpPr/>
          <p:nvPr/>
        </p:nvSpPr>
        <p:spPr>
          <a:xfrm>
            <a:off x="13030199" y="5632858"/>
            <a:ext cx="1066801" cy="6299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="" xmlns:a16="http://schemas.microsoft.com/office/drawing/2014/main" id="{ADE8FB10-C963-C3AE-E449-6CC2F2282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962230"/>
              </p:ext>
            </p:extLst>
          </p:nvPr>
        </p:nvGraphicFramePr>
        <p:xfrm>
          <a:off x="3547310" y="5219700"/>
          <a:ext cx="11692690" cy="2813154"/>
        </p:xfrm>
        <a:graphic>
          <a:graphicData uri="http://schemas.openxmlformats.org/drawingml/2006/table">
            <a:tbl>
              <a:tblPr bandRow="1"/>
              <a:tblGrid>
                <a:gridCol w="142138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5345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3589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358925">
                  <a:extLst>
                    <a:ext uri="{9D8B030D-6E8A-4147-A177-3AD203B41FA5}">
                      <a16:colId xmlns="" xmlns:a16="http://schemas.microsoft.com/office/drawing/2014/main" val="1356933395"/>
                    </a:ext>
                  </a:extLst>
                </a:gridCol>
              </a:tblGrid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兔子洞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奇幻的世界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28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夢醒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065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44FC9C00-23C2-B4BC-1228-60469BEE0C11}"/>
              </a:ext>
            </a:extLst>
          </p:cNvPr>
          <p:cNvSpPr/>
          <p:nvPr/>
        </p:nvSpPr>
        <p:spPr>
          <a:xfrm>
            <a:off x="6519329" y="6928502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F8BB0971-17F0-C3E9-B3E4-AEC53E15184C}"/>
              </a:ext>
            </a:extLst>
          </p:cNvPr>
          <p:cNvSpPr/>
          <p:nvPr/>
        </p:nvSpPr>
        <p:spPr>
          <a:xfrm>
            <a:off x="9751536" y="6928502"/>
            <a:ext cx="1082348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2-6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C545FEE0-FD17-6367-B7A3-9712F8D3D495}"/>
              </a:ext>
            </a:extLst>
          </p:cNvPr>
          <p:cNvSpPr/>
          <p:nvPr/>
        </p:nvSpPr>
        <p:spPr>
          <a:xfrm>
            <a:off x="13307761" y="6923716"/>
            <a:ext cx="511679" cy="805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/>
      <p:bldP spid="5" grpId="0" animBg="1"/>
      <p:bldP spid="4" grpId="0" animBg="1"/>
      <p:bldP spid="10" grpId="0" animBg="1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7381113-0D60-85FE-DFA4-DE111E90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7ADCF27D-07DB-07D8-58E5-9F6012B38126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025743A3-CEA9-F468-F9DF-E667A4223801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8EAC0FF9-0611-BEAC-C6E3-2C0EC1A740D8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63FDC8D1-FFBA-98D7-639B-A37720ADECE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886686B2-361A-FA31-3B2B-BE903E32760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EF89F1A6-93FC-61A1-0CDD-AFAFBD5A6B0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3A67C2EB-CF76-AEC6-B5C1-2F51898ABBBB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="" xmlns:a16="http://schemas.microsoft.com/office/drawing/2014/main" id="{407826BB-E9B4-4EC4-72C5-3733FFE660F7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="" xmlns:a16="http://schemas.microsoft.com/office/drawing/2014/main" id="{ED0B86B1-52E1-FCC3-5B44-A9E2837C7E1B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="" xmlns:a16="http://schemas.microsoft.com/office/drawing/2014/main" id="{2F813DEB-900E-A696-64E4-4B5B6365764B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="" xmlns:a16="http://schemas.microsoft.com/office/drawing/2014/main" id="{4394916D-7D02-5ED1-14A9-1B6F0A891C8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="" xmlns:a16="http://schemas.microsoft.com/office/drawing/2014/main" id="{2E794DCF-5274-6442-F71C-F70E6ED5E5DC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D3315813-B328-45E3-8EDA-160BC779BFCC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="" xmlns:a16="http://schemas.microsoft.com/office/drawing/2014/main" id="{A85EA4A9-AE3C-7D01-BE13-E643CADD9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FCF09F2-C0C9-3ACD-AEEC-41414968DC52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B8315B5B-9CCC-BA82-C629-55982FD1554D}"/>
              </a:ext>
            </a:extLst>
          </p:cNvPr>
          <p:cNvSpPr/>
          <p:nvPr/>
        </p:nvSpPr>
        <p:spPr>
          <a:xfrm>
            <a:off x="2223962" y="2360126"/>
            <a:ext cx="15460824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根據文本第一段，完成下方表格。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="" xmlns:a16="http://schemas.microsoft.com/office/drawing/2014/main" id="{FD036261-C45F-052E-F953-89D29D51AEF2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A998D416-60B8-7B64-F259-CDBB34260FD7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="" xmlns:a16="http://schemas.microsoft.com/office/drawing/2014/main" id="{66273726-6189-91D9-B15D-29902DC48929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27B6A7A9-1544-B372-2B30-90A615567214}"/>
              </a:ext>
            </a:extLst>
          </p:cNvPr>
          <p:cNvSpPr/>
          <p:nvPr/>
        </p:nvSpPr>
        <p:spPr>
          <a:xfrm>
            <a:off x="4356375" y="9498507"/>
            <a:ext cx="762000" cy="353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="" xmlns:a16="http://schemas.microsoft.com/office/drawing/2014/main" id="{081ED8A8-142B-35FB-914F-149D68E025F7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>
            <a:extLst>
              <a:ext uri="{FF2B5EF4-FFF2-40B4-BE49-F238E27FC236}">
                <a16:creationId xmlns="" xmlns:a16="http://schemas.microsoft.com/office/drawing/2014/main" id="{6E053A47-1B60-784B-5F5E-E782449B924A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="" xmlns:a16="http://schemas.microsoft.com/office/drawing/2014/main" id="{45199AB6-2DD7-C73E-DC91-411643D8671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="" xmlns:a16="http://schemas.microsoft.com/office/drawing/2014/main" id="{9A1E32AB-A123-BA0F-E983-AD72152234B7}"/>
              </a:ext>
            </a:extLst>
          </p:cNvPr>
          <p:cNvSpPr/>
          <p:nvPr/>
        </p:nvSpPr>
        <p:spPr>
          <a:xfrm>
            <a:off x="3301501" y="3951696"/>
            <a:ext cx="1270500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="" xmlns:a16="http://schemas.microsoft.com/office/drawing/2014/main" id="{869531CE-91B4-F2D5-5290-7EBA6563A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392930"/>
              </p:ext>
            </p:extLst>
          </p:nvPr>
        </p:nvGraphicFramePr>
        <p:xfrm>
          <a:off x="2705803" y="3676383"/>
          <a:ext cx="11804204" cy="4453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95234">
                  <a:extLst>
                    <a:ext uri="{9D8B030D-6E8A-4147-A177-3AD203B41FA5}">
                      <a16:colId xmlns="" xmlns:a16="http://schemas.microsoft.com/office/drawing/2014/main" val="3932601956"/>
                    </a:ext>
                  </a:extLst>
                </a:gridCol>
                <a:gridCol w="9308970">
                  <a:extLst>
                    <a:ext uri="{9D8B030D-6E8A-4147-A177-3AD203B41FA5}">
                      <a16:colId xmlns="" xmlns:a16="http://schemas.microsoft.com/office/drawing/2014/main" val="3799820939"/>
                    </a:ext>
                  </a:extLst>
                </a:gridCol>
              </a:tblGrid>
              <a:tr h="1113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時間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11030650"/>
                  </a:ext>
                </a:extLst>
              </a:tr>
              <a:tr h="1113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主角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      )</a:t>
                      </a:r>
                      <a:endParaRPr lang="zh-TW" alt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2625889"/>
                  </a:ext>
                </a:extLst>
              </a:tr>
              <a:tr h="1113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配角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邊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邊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的兔子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05147353"/>
                  </a:ext>
                </a:extLst>
              </a:tr>
              <a:tr h="11132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事件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愛麗絲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追著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往洞裡跳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48557147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7F44BC69-B72C-6E02-2181-F4DBCAE9E41B}"/>
              </a:ext>
            </a:extLst>
          </p:cNvPr>
          <p:cNvSpPr/>
          <p:nvPr/>
        </p:nvSpPr>
        <p:spPr>
          <a:xfrm>
            <a:off x="3301501" y="5044522"/>
            <a:ext cx="1270500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621A61B7-4CCD-39BE-705F-ECF0BEDEFC96}"/>
              </a:ext>
            </a:extLst>
          </p:cNvPr>
          <p:cNvSpPr/>
          <p:nvPr/>
        </p:nvSpPr>
        <p:spPr>
          <a:xfrm>
            <a:off x="3301501" y="6189007"/>
            <a:ext cx="1270500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4BC38FD2-9527-32B1-233B-829ABAE6F3DB}"/>
              </a:ext>
            </a:extLst>
          </p:cNvPr>
          <p:cNvSpPr/>
          <p:nvPr/>
        </p:nvSpPr>
        <p:spPr>
          <a:xfrm>
            <a:off x="3301501" y="7281833"/>
            <a:ext cx="1270500" cy="69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9EA9C884-14CD-666F-A346-149DA8548A27}"/>
              </a:ext>
            </a:extLst>
          </p:cNvPr>
          <p:cNvSpPr/>
          <p:nvPr/>
        </p:nvSpPr>
        <p:spPr>
          <a:xfrm>
            <a:off x="5315510" y="3917158"/>
            <a:ext cx="253309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dbl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夏日午後 </a:t>
            </a:r>
            <a:endParaRPr lang="zh-TW" altLang="zh-TW" sz="3600" b="1" u="dbl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F0960830-CBD1-0F12-1314-6BF0ADF17718}"/>
              </a:ext>
            </a:extLst>
          </p:cNvPr>
          <p:cNvSpPr/>
          <p:nvPr/>
        </p:nvSpPr>
        <p:spPr>
          <a:xfrm>
            <a:off x="7601510" y="6110611"/>
            <a:ext cx="253309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dbl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看錶</a:t>
            </a:r>
            <a:endParaRPr lang="zh-TW" altLang="zh-TW" sz="3600" b="1" u="dbl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B4719C36-B874-E2CE-1090-53564776DA5A}"/>
              </a:ext>
            </a:extLst>
          </p:cNvPr>
          <p:cNvSpPr/>
          <p:nvPr/>
        </p:nvSpPr>
        <p:spPr>
          <a:xfrm>
            <a:off x="5311391" y="5005704"/>
            <a:ext cx="253309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愛麗絲</a:t>
            </a:r>
            <a:endParaRPr lang="zh-TW" altLang="zh-TW" sz="3600" b="1" u="sng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="" xmlns:a16="http://schemas.microsoft.com/office/drawing/2014/main" id="{EA6756F8-2CDE-DF28-105E-9CCAA8DC0060}"/>
              </a:ext>
            </a:extLst>
          </p:cNvPr>
          <p:cNvSpPr/>
          <p:nvPr/>
        </p:nvSpPr>
        <p:spPr>
          <a:xfrm>
            <a:off x="5311391" y="6141762"/>
            <a:ext cx="253309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dbl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說話</a:t>
            </a:r>
            <a:endParaRPr lang="zh-TW" altLang="zh-TW" sz="3600" b="1" u="dbl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A74F71BE-BFBE-D0F4-BAC1-0D980D05EB2A}"/>
              </a:ext>
            </a:extLst>
          </p:cNvPr>
          <p:cNvSpPr/>
          <p:nvPr/>
        </p:nvSpPr>
        <p:spPr>
          <a:xfrm>
            <a:off x="7220510" y="7234588"/>
            <a:ext cx="253309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u="dbl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兔子</a:t>
            </a:r>
            <a:endParaRPr lang="zh-TW" altLang="zh-TW" sz="3600" b="1" u="dbl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815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30" grpId="0"/>
      <p:bldP spid="31" grpId="0"/>
      <p:bldP spid="33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C50C565-EF70-0A6B-810C-840931E2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2C0C5D27-C9CB-CBDF-B81C-8CCA7D5DD28F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B86F77EE-FEC1-B2C4-DA10-69A76F97F06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1D04C450-F631-3D04-1A2E-51D551C7A931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FBFD34DA-AEFE-9D4F-D8A2-58C94278109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40916D61-D2A7-7D2E-FEF3-8BE0A44CE73E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318CEE89-01C4-4671-B77F-5EB35775D98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1A0F61E4-11A1-75E0-9893-E77FBCFFDBAC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="" xmlns:a16="http://schemas.microsoft.com/office/drawing/2014/main" id="{EE5B05BE-DBE8-97D4-25E5-495A611AEE89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="" xmlns:a16="http://schemas.microsoft.com/office/drawing/2014/main" id="{0CED8B3C-9D79-B266-E28C-619D5B4569FC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="" xmlns:a16="http://schemas.microsoft.com/office/drawing/2014/main" id="{6D84C739-B1DC-46E5-3541-B5C243BC908B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="" xmlns:a16="http://schemas.microsoft.com/office/drawing/2014/main" id="{7E4CF46B-E389-B9C4-2579-C156032C2F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="" xmlns:a16="http://schemas.microsoft.com/office/drawing/2014/main" id="{EB25289E-0EF9-88FA-647F-5C55F2A6FD4A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55E8B943-1DF5-588C-B5B0-114EAAD34E1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="" xmlns:a16="http://schemas.microsoft.com/office/drawing/2014/main" id="{B4993045-8764-196A-5CFB-DE7CCD76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2F78FEC6-E9D0-DF69-1295-56F91310DE9A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6C460EFF-7919-DD35-935B-0CCCB0A224B9}"/>
              </a:ext>
            </a:extLst>
          </p:cNvPr>
          <p:cNvSpPr/>
          <p:nvPr/>
        </p:nvSpPr>
        <p:spPr>
          <a:xfrm>
            <a:off x="2280498" y="2334771"/>
            <a:ext cx="145616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根據文本二到六段，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走出兔子洞後，來到一個奇幻的世界，請根據故事內容完成下列的問題。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="" xmlns:a16="http://schemas.microsoft.com/office/drawing/2014/main" id="{8A017920-330B-AC5A-4A73-CB596C2F99B8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="" xmlns:a16="http://schemas.microsoft.com/office/drawing/2014/main" id="{0033D9DA-A811-38ED-955F-680B4D9354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="" xmlns:a16="http://schemas.microsoft.com/office/drawing/2014/main" id="{A55FB603-7C2B-7B96-8182-405A51775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474758"/>
              </p:ext>
            </p:extLst>
          </p:nvPr>
        </p:nvGraphicFramePr>
        <p:xfrm>
          <a:off x="2280498" y="3740806"/>
          <a:ext cx="14561626" cy="5788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7838">
                  <a:extLst>
                    <a:ext uri="{9D8B030D-6E8A-4147-A177-3AD203B41FA5}">
                      <a16:colId xmlns="" xmlns:a16="http://schemas.microsoft.com/office/drawing/2014/main" val="3330369394"/>
                    </a:ext>
                  </a:extLst>
                </a:gridCol>
                <a:gridCol w="6324600">
                  <a:extLst>
                    <a:ext uri="{9D8B030D-6E8A-4147-A177-3AD203B41FA5}">
                      <a16:colId xmlns="" xmlns:a16="http://schemas.microsoft.com/office/drawing/2014/main" val="1606388048"/>
                    </a:ext>
                  </a:extLst>
                </a:gridCol>
                <a:gridCol w="7489188">
                  <a:extLst>
                    <a:ext uri="{9D8B030D-6E8A-4147-A177-3AD203B41FA5}">
                      <a16:colId xmlns="" xmlns:a16="http://schemas.microsoft.com/office/drawing/2014/main" val="918852071"/>
                    </a:ext>
                  </a:extLst>
                </a:gridCol>
              </a:tblGrid>
              <a:tr h="964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神奇的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就變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，一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就變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01564714"/>
                  </a:ext>
                </a:extLst>
              </a:tr>
              <a:tr h="964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眼淚變成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和動物都跌進池中央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39072850"/>
                  </a:ext>
                </a:extLst>
              </a:tr>
              <a:tr h="964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的貓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不見，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還在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97515223"/>
                  </a:ext>
                </a:extLst>
              </a:tr>
              <a:tr h="964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的下午茶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時間永遠停在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啦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27792518"/>
                  </a:ext>
                </a:extLst>
              </a:tr>
              <a:tr h="964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奇怪的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球槌是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，球是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63584777"/>
                  </a:ext>
                </a:extLst>
              </a:tr>
              <a:tr h="964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6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紅心皇后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 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敢不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就</a:t>
                      </a: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              ) 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65939519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5745FAF8-9787-619C-2144-53756D27F4D0}"/>
              </a:ext>
            </a:extLst>
          </p:cNvPr>
          <p:cNvSpPr/>
          <p:nvPr/>
        </p:nvSpPr>
        <p:spPr>
          <a:xfrm>
            <a:off x="4124834" y="3879522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瓶子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6051785F-0E46-6449-FE74-D7125827EAA9}"/>
              </a:ext>
            </a:extLst>
          </p:cNvPr>
          <p:cNvSpPr/>
          <p:nvPr/>
        </p:nvSpPr>
        <p:spPr>
          <a:xfrm>
            <a:off x="4581072" y="4835239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池塘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64DD4B86-58B3-C2A5-BB44-770C35AAE6C0}"/>
              </a:ext>
            </a:extLst>
          </p:cNvPr>
          <p:cNvSpPr/>
          <p:nvPr/>
        </p:nvSpPr>
        <p:spPr>
          <a:xfrm>
            <a:off x="6488284" y="3871948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蛋糕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B6FF8F4E-C461-480D-5730-9E33FD4BF5E7}"/>
              </a:ext>
            </a:extLst>
          </p:cNvPr>
          <p:cNvSpPr/>
          <p:nvPr/>
        </p:nvSpPr>
        <p:spPr>
          <a:xfrm>
            <a:off x="4581072" y="8694400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壞脾氣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562851C3-A6F0-3EF7-C20C-C534E86AAE01}"/>
              </a:ext>
            </a:extLst>
          </p:cNvPr>
          <p:cNvSpPr/>
          <p:nvPr/>
        </p:nvSpPr>
        <p:spPr>
          <a:xfrm>
            <a:off x="3370225" y="5814251"/>
            <a:ext cx="150921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愛笑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0D0346B7-7B3F-EBA5-C817-FFB9686E5363}"/>
              </a:ext>
            </a:extLst>
          </p:cNvPr>
          <p:cNvSpPr/>
          <p:nvPr/>
        </p:nvSpPr>
        <p:spPr>
          <a:xfrm>
            <a:off x="2752788" y="6764399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喝不完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0160BF39-0EA7-762D-A2BD-D61DCD93A6FF}"/>
              </a:ext>
            </a:extLst>
          </p:cNvPr>
          <p:cNvSpPr/>
          <p:nvPr/>
        </p:nvSpPr>
        <p:spPr>
          <a:xfrm>
            <a:off x="4127810" y="7730026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槌球賽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D3B32B3-7165-B1E6-67D1-F50CB5155574}"/>
              </a:ext>
            </a:extLst>
          </p:cNvPr>
          <p:cNvSpPr/>
          <p:nvPr/>
        </p:nvSpPr>
        <p:spPr>
          <a:xfrm>
            <a:off x="9064005" y="4835239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多多鳥 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1BC9EAB1-901D-B88A-7EB2-0FF423426E30}"/>
              </a:ext>
            </a:extLst>
          </p:cNvPr>
          <p:cNvSpPr/>
          <p:nvPr/>
        </p:nvSpPr>
        <p:spPr>
          <a:xfrm>
            <a:off x="9089660" y="3854252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喝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="" xmlns:a16="http://schemas.microsoft.com/office/drawing/2014/main" id="{1E080642-67E0-FAC6-14D4-AE623E9E4F56}"/>
              </a:ext>
            </a:extLst>
          </p:cNvPr>
          <p:cNvSpPr/>
          <p:nvPr/>
        </p:nvSpPr>
        <p:spPr>
          <a:xfrm>
            <a:off x="11646337" y="3863549"/>
            <a:ext cx="121910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="" xmlns:a16="http://schemas.microsoft.com/office/drawing/2014/main" id="{302CFA52-C56E-7BDA-46E7-804C35A0302B}"/>
              </a:ext>
            </a:extLst>
          </p:cNvPr>
          <p:cNvSpPr/>
          <p:nvPr/>
        </p:nvSpPr>
        <p:spPr>
          <a:xfrm>
            <a:off x="12889024" y="3887809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吃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="" xmlns:a16="http://schemas.microsoft.com/office/drawing/2014/main" id="{8C0DB331-FD36-48B5-6C8E-58BBB082E880}"/>
              </a:ext>
            </a:extLst>
          </p:cNvPr>
          <p:cNvSpPr/>
          <p:nvPr/>
        </p:nvSpPr>
        <p:spPr>
          <a:xfrm>
            <a:off x="14777075" y="3854251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="" xmlns:a16="http://schemas.microsoft.com/office/drawing/2014/main" id="{88EAC792-F596-7031-B79F-274757D334FD}"/>
              </a:ext>
            </a:extLst>
          </p:cNvPr>
          <p:cNvSpPr/>
          <p:nvPr/>
        </p:nvSpPr>
        <p:spPr>
          <a:xfrm>
            <a:off x="9064005" y="5807736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身體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13C9ED85-0215-830F-063D-C5931C8ECC9F}"/>
              </a:ext>
            </a:extLst>
          </p:cNvPr>
          <p:cNvSpPr/>
          <p:nvPr/>
        </p:nvSpPr>
        <p:spPr>
          <a:xfrm>
            <a:off x="12382995" y="5788980"/>
            <a:ext cx="2533090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笑聲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="" xmlns:a16="http://schemas.microsoft.com/office/drawing/2014/main" id="{4CBA0A7F-5427-10DA-F9E0-B27607B0F98D}"/>
              </a:ext>
            </a:extLst>
          </p:cNvPr>
          <p:cNvSpPr/>
          <p:nvPr/>
        </p:nvSpPr>
        <p:spPr>
          <a:xfrm>
            <a:off x="12058294" y="6764666"/>
            <a:ext cx="20972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六點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6A1279B1-AB68-3D76-DE3C-CF5BA68DD00D}"/>
              </a:ext>
            </a:extLst>
          </p:cNvPr>
          <p:cNvSpPr/>
          <p:nvPr/>
        </p:nvSpPr>
        <p:spPr>
          <a:xfrm>
            <a:off x="14034638" y="7709989"/>
            <a:ext cx="20972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刺蝟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8422E1CB-3FD1-46B0-7171-15EB42AAD2E4}"/>
              </a:ext>
            </a:extLst>
          </p:cNvPr>
          <p:cNvSpPr/>
          <p:nvPr/>
        </p:nvSpPr>
        <p:spPr>
          <a:xfrm>
            <a:off x="10702874" y="7740352"/>
            <a:ext cx="20972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紅鶴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2557B298-7819-A488-E077-63521962EA37}"/>
              </a:ext>
            </a:extLst>
          </p:cNvPr>
          <p:cNvSpPr/>
          <p:nvPr/>
        </p:nvSpPr>
        <p:spPr>
          <a:xfrm>
            <a:off x="12689998" y="8685675"/>
            <a:ext cx="20972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砍頭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4E8ABA76-0250-0626-DC37-B1F621CB4D0D}"/>
              </a:ext>
            </a:extLst>
          </p:cNvPr>
          <p:cNvSpPr/>
          <p:nvPr/>
        </p:nvSpPr>
        <p:spPr>
          <a:xfrm>
            <a:off x="10276692" y="8679998"/>
            <a:ext cx="2097275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聽話</a:t>
            </a:r>
            <a:endParaRPr lang="zh-TW" altLang="zh-TW" sz="3600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664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CBA85A3-9FF1-C557-C71B-ED4159D4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959E5CF3-C158-220C-83FB-26A27F3D094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D1C0035C-6E89-6432-820B-73D849721DE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1FDE7CE6-8673-A3DA-FCBA-928CD89A664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460B745B-9C2D-1BC6-4DC1-7741DD55CC2D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1EE0BDFC-1995-A0B3-369C-169E2C5D1DE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EA299582-47F6-EF60-2D0C-4E407F4C6FC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8E4065F0-0F67-68F5-DA64-EE23A2EB180A}"/>
              </a:ext>
            </a:extLst>
          </p:cNvPr>
          <p:cNvGrpSpPr/>
          <p:nvPr/>
        </p:nvGrpSpPr>
        <p:grpSpPr>
          <a:xfrm>
            <a:off x="-25734" y="0"/>
            <a:ext cx="18313734" cy="1031102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="" xmlns:a16="http://schemas.microsoft.com/office/drawing/2014/main" id="{ECC4970D-24E5-8129-78B5-D0D16C45B59E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="" xmlns:a16="http://schemas.microsoft.com/office/drawing/2014/main" id="{E285ABD6-E55B-145A-5C48-315A3313665D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="" xmlns:a16="http://schemas.microsoft.com/office/drawing/2014/main" id="{37A093C7-5999-8868-0093-4020CD22B4E2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 dirty="0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="" xmlns:a16="http://schemas.microsoft.com/office/drawing/2014/main" id="{CFC2C9E9-D2E8-E74E-3390-D44473E0793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="" xmlns:a16="http://schemas.microsoft.com/office/drawing/2014/main" id="{029DB922-DF56-D562-F5F0-8C6B12EFD71A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64DAF941-0559-F236-B0B0-C3AFE693BD82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="" xmlns:a16="http://schemas.microsoft.com/office/drawing/2014/main" id="{255F550F-E9EB-D3B9-CD55-98C7245E8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1ECFE715-35B8-5370-1CED-62291EDC6170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62AA2DF-4D2B-B13C-C7BE-716923C7797B}"/>
              </a:ext>
            </a:extLst>
          </p:cNvPr>
          <p:cNvSpPr/>
          <p:nvPr/>
        </p:nvSpPr>
        <p:spPr>
          <a:xfrm>
            <a:off x="2559885" y="2604191"/>
            <a:ext cx="13944251" cy="2483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最後看到追逐她的紙牌士兵變成了什麼？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醒來後發現發生了什麼事？</a:t>
            </a:r>
          </a:p>
          <a:p>
            <a:pPr>
              <a:lnSpc>
                <a:spcPct val="150000"/>
              </a:lnSpc>
            </a:pP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紙牌士兵變成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，才發現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="" xmlns:a16="http://schemas.microsoft.com/office/drawing/2014/main" id="{3F3A08A2-DC4A-648C-563B-43C325B9F535}"/>
              </a:ext>
            </a:extLst>
          </p:cNvPr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="" xmlns:a16="http://schemas.microsoft.com/office/drawing/2014/main" id="{DF5F4BEB-FA2D-F1E6-943A-B1E416220D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25AE5C8B-E300-AC6A-B017-4ED466420AB9}"/>
              </a:ext>
            </a:extLst>
          </p:cNvPr>
          <p:cNvSpPr/>
          <p:nvPr/>
        </p:nvSpPr>
        <p:spPr>
          <a:xfrm>
            <a:off x="5624231" y="4322684"/>
            <a:ext cx="1219200" cy="787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落葉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F6E3ACAF-4839-D8A0-2412-C14451FE0F5D}"/>
              </a:ext>
            </a:extLst>
          </p:cNvPr>
          <p:cNvSpPr/>
          <p:nvPr/>
        </p:nvSpPr>
        <p:spPr>
          <a:xfrm>
            <a:off x="9187408" y="4329661"/>
            <a:ext cx="3088327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原來是一場夢 </a:t>
            </a:r>
            <a:endParaRPr lang="zh-TW" altLang="zh-TW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559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8301964-516C-7189-49E5-B815EB1D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26A0F681-D461-AA8F-2DB7-AFAD9B0ABC3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3C5307CE-2A54-E5CD-788B-6470867D338B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D275EAFF-3049-14B3-D0FA-1E65DBDE151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51E811E3-0B50-FC1C-277C-EFC600E050D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EE864899-4DE0-8F3B-0BFD-E2123AAE4A3F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6361F05B-7447-FA49-EFE6-F36FB087D4F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55D8691D-5E6B-DAA1-7E4B-18C77E8D883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074BC103-A0F6-C093-7193-BBD21CD6C47F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059877E-832F-80AE-1698-085C57A3F016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0F27880B-D0DF-EB41-0210-5D08ADDC9B9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5976A40D-17CC-F5F4-CF54-CBE8F757997E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E17C197E-4E32-4FF1-BA5D-48A39EE0874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="" xmlns:a16="http://schemas.microsoft.com/office/drawing/2014/main" id="{1BC995B6-8694-0A75-9A41-2A6EEE7B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="" xmlns:a16="http://schemas.microsoft.com/office/drawing/2014/main" id="{7CEC0ED0-64E1-74DC-5BD4-148841BEF5F7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="" xmlns:a16="http://schemas.microsoft.com/office/drawing/2014/main" id="{DE54F3E8-63BF-CF5B-ECC3-ECA1EF2099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="" xmlns:a16="http://schemas.microsoft.com/office/drawing/2014/main" id="{9C0B5643-056A-2971-1EE4-F728B786BD31}"/>
              </a:ext>
            </a:extLst>
          </p:cNvPr>
          <p:cNvSpPr/>
          <p:nvPr/>
        </p:nvSpPr>
        <p:spPr>
          <a:xfrm>
            <a:off x="2179784" y="2391721"/>
            <a:ext cx="14627071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在兔子洞的世界裡有一燙奇幻之旅，沿途她遇見了許多稀奇的人和生物，請先閱讀她與柴郡貓的對話，並回答相關問題。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="" xmlns:a16="http://schemas.microsoft.com/office/drawing/2014/main" id="{5FADD4E5-034F-7672-331F-859AF4346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043606"/>
              </p:ext>
            </p:extLst>
          </p:nvPr>
        </p:nvGraphicFramePr>
        <p:xfrm>
          <a:off x="2278100" y="4317113"/>
          <a:ext cx="14413146" cy="4798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13146">
                  <a:extLst>
                    <a:ext uri="{9D8B030D-6E8A-4147-A177-3AD203B41FA5}">
                      <a16:colId xmlns="" xmlns:a16="http://schemas.microsoft.com/office/drawing/2014/main" val="4270811568"/>
                    </a:ext>
                  </a:extLst>
                </a:gridCol>
              </a:tblGrid>
              <a:tr h="47984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愛麗絲與柴郡貓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在森林裡迷了路。四周是高大的樹木和茂密的草叢，她不知道應該往哪個方向走。正在這時，她注意到樹上有一隻奇怪的貓。這隻貓全身毛茸茸，身體懶洋洋地掛在樹枝上，眼睛閃爍著奇異的光芒，嘴角始終掛著一抹神秘的微笑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「你好！」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禮貌地問候，「請問你是誰？」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「你好，我是柴郡貓，」牠回答，「看起來你似乎有點迷路？」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7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8F256B3-F3CB-D569-E5FA-8416682D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9E02046D-2871-290B-D771-20928A45DB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C6A1710C-6B12-B1A9-F72C-D5B0F8D93882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7B2711F0-A687-C0A7-039F-BA1736D5715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D8DE7BD0-4A23-4176-C22C-9911C01EF5E7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FEA3FA10-2871-1F0B-D388-58D44D310AF7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67A3E4D5-84B2-2119-D90D-CE9849BA1A0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02BD062B-05BD-0841-C3EE-F8694B7F9E2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009BF3CB-D1D9-2459-FCB8-FC5798AD4B19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67B20C5C-F716-6D2E-CDFD-5A8B9B857162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5ED67FBF-741A-A260-F4C1-1B27E32AC49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C73022F5-7E24-4A7F-87B9-28252B8E3A02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="" xmlns:a16="http://schemas.microsoft.com/office/drawing/2014/main" id="{F380A89F-A39C-747E-9430-CAFDFA40D8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="" xmlns:a16="http://schemas.microsoft.com/office/drawing/2014/main" id="{31E7091A-7674-C260-10E8-7E4EC5D29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134311"/>
              </p:ext>
            </p:extLst>
          </p:nvPr>
        </p:nvGraphicFramePr>
        <p:xfrm>
          <a:off x="2402486" y="1072606"/>
          <a:ext cx="14359515" cy="8185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59515">
                  <a:extLst>
                    <a:ext uri="{9D8B030D-6E8A-4147-A177-3AD203B41FA5}">
                      <a16:colId xmlns="" xmlns:a16="http://schemas.microsoft.com/office/drawing/2014/main" val="4270811568"/>
                    </a:ext>
                  </a:extLst>
                </a:gridCol>
              </a:tblGrid>
              <a:tr h="81856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點點頭：「是的，我不知道該往哪裡走。你能告訴我哪條路能帶我離開這裡嗎？」柴郡貓抬起一隻毛茸茸的爪子指向四周，微笑著說：「那要看你想去哪裡。」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皺起眉頭：「我還不確定自己要去哪裡，只是不想一直留在這裡。」柴郡貓眯起眼睛，嘴角的微笑更加深了：「那麼，如果你不知道要去哪裡，走哪條路都可以。」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愣住了。她第一次意識到，自己並沒有一個明確的方向和目標，只是跟著情緒和好奇心在行動。柴郡貓似乎看穿了她的想法，接著說：「每一條路都有它的故事，只要你開始走，總會找到一些答案。」</a:t>
                      </a:r>
                      <a:endParaRPr lang="en-US" altLang="zh-TW" sz="3200" b="0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「可是，萬一選錯了怎麼辦呢？」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不安地問。柴郡貓大笑起來：「錯過了這條路，你就會找到另一條路。人生不就是這樣嗎？錯誤和正確並不是永遠的，有時候走錯的路也會帶來意外的風景。」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03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C0A1AC7-9F31-F029-A09C-FF113520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807067B2-E512-A2F1-DD54-BA9A95A6FC9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874E993D-18FB-71AC-E38D-32CE0C34EA47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EE1CFC24-9C87-B272-117A-A34769FF3FC5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B3BDE0A0-9A61-524B-8A03-03BAEC96D51B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1AA8C8E7-FF4B-56A5-E579-A688092BA987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CD837A21-AD75-E1A1-2345-9B39FC070F0B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706E58D1-8F2D-95D6-D32E-336A4ECFCBAE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D7D62E58-495E-5D8B-07E2-D11BF1679A21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714819CE-4DE4-0B26-7EE7-603A42089377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4F1A77CC-19D2-BDD0-4167-AA4542B1F78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E1CEC8D3-614B-DFDF-4E73-44AF50F20CA7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="" xmlns:a16="http://schemas.microsoft.com/office/drawing/2014/main" id="{5B437E0F-1B02-1748-7CEA-22819D094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="" xmlns:a16="http://schemas.microsoft.com/office/drawing/2014/main" id="{7803B96A-9962-D193-0EF2-062EAA4FE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298947"/>
              </p:ext>
            </p:extLst>
          </p:nvPr>
        </p:nvGraphicFramePr>
        <p:xfrm>
          <a:off x="2581986" y="1790700"/>
          <a:ext cx="13912346" cy="31740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12346">
                  <a:extLst>
                    <a:ext uri="{9D8B030D-6E8A-4147-A177-3AD203B41FA5}">
                      <a16:colId xmlns="" xmlns:a16="http://schemas.microsoft.com/office/drawing/2014/main" val="4270811568"/>
                    </a:ext>
                  </a:extLst>
                </a:gridCol>
              </a:tblGrid>
              <a:tr h="317406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說完，柴郡貓的身體慢慢消失，只剩下牠的微笑懸在空中。</a:t>
                      </a:r>
                      <a:r>
                        <a:rPr lang="zh-TW" altLang="en-US" sz="3200" b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愛麗絲</a:t>
                      </a:r>
                      <a:r>
                        <a:rPr lang="zh-TW" altLang="en-US" sz="3200" b="0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看著那漸漸消失的微笑，感到內心多了一絲勇氣。她決定選擇一條看似通往陽光的路走下去，無論那會帶來什麼，至少她開始了自己的旅程。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3534070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="" xmlns:a16="http://schemas.microsoft.com/office/drawing/2014/main" id="{06D3E179-3E77-1835-A813-8F0BC55519DD}"/>
              </a:ext>
            </a:extLst>
          </p:cNvPr>
          <p:cNvSpPr/>
          <p:nvPr/>
        </p:nvSpPr>
        <p:spPr>
          <a:xfrm>
            <a:off x="2581986" y="5704270"/>
            <a:ext cx="13939119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柴郡貓說：「如果你不知道要去哪裡，走哪條路都可以。」你如何理解這句話的意思？在你的生活中，有沒有類似的經驗可以分享？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="" xmlns:a16="http://schemas.microsoft.com/office/drawing/2014/main" id="{E0C86F2C-EE9D-D9BC-0D45-B41E2C7BFC69}"/>
              </a:ext>
            </a:extLst>
          </p:cNvPr>
          <p:cNvCxnSpPr>
            <a:cxnSpLocks/>
          </p:cNvCxnSpPr>
          <p:nvPr/>
        </p:nvCxnSpPr>
        <p:spPr>
          <a:xfrm>
            <a:off x="2789606" y="8191500"/>
            <a:ext cx="136430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B78F6946-17C0-7073-A742-900F994597EC}"/>
              </a:ext>
            </a:extLst>
          </p:cNvPr>
          <p:cNvSpPr/>
          <p:nvPr/>
        </p:nvSpPr>
        <p:spPr>
          <a:xfrm>
            <a:off x="2872342" y="7368761"/>
            <a:ext cx="13560332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591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679DE6-0995-84BA-F990-66B56BDA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B3889AE4-6565-8FD3-DD9D-4373F00223E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7C28C81A-CE00-4E24-95BE-DEF6532DDD28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EF0A7BB2-BDF9-3440-8971-F275D094FDFB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23E25D57-7B0B-7891-4D9A-C52B74D37F1C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D6D1F394-5404-9D30-13D6-EFBAC84CD715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13F61F26-83B3-2C8A-3A0D-A1A2971B1CBE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935B3C70-9B96-2DBD-DB1C-8C43CC18E0E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67F0F83B-5F6E-CB0F-8673-FF2ABDF9570A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7161026-4C66-12B6-12A5-8F60F14412B9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811AA806-F27A-BAB1-D448-D818B6D9BBAF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B41C85E1-452A-B23A-97A1-9B12E9BAFC3C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A077CC1C-DCAC-A50F-7F76-5AEF7E1CC60A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="" xmlns:a16="http://schemas.microsoft.com/office/drawing/2014/main" id="{BD1EA5C3-2BED-1893-3053-7DD8EC5EC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="" xmlns:a16="http://schemas.microsoft.com/office/drawing/2014/main" id="{AC235B64-8AB9-DB72-56CF-2A11CEC641B5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="" xmlns:a16="http://schemas.microsoft.com/office/drawing/2014/main" id="{F6831077-6AF4-F3D8-8459-5A45135A43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="" xmlns:a16="http://schemas.microsoft.com/office/drawing/2014/main" id="{47960842-949D-864F-294E-A0B3D5F7A870}"/>
              </a:ext>
            </a:extLst>
          </p:cNvPr>
          <p:cNvSpPr/>
          <p:nvPr/>
        </p:nvSpPr>
        <p:spPr>
          <a:xfrm>
            <a:off x="2362201" y="2535292"/>
            <a:ext cx="14173200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文章中，柴郡貓提到「錯過了一條路，你就會找到另一條路。」你是否同意這種看法？為什麼？請舉例說明你的想法。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="" xmlns:a16="http://schemas.microsoft.com/office/drawing/2014/main" id="{F43A4493-F46C-D7AB-6B8E-6AEDA36981E4}"/>
              </a:ext>
            </a:extLst>
          </p:cNvPr>
          <p:cNvCxnSpPr>
            <a:cxnSpLocks/>
          </p:cNvCxnSpPr>
          <p:nvPr/>
        </p:nvCxnSpPr>
        <p:spPr>
          <a:xfrm>
            <a:off x="2622696" y="5064596"/>
            <a:ext cx="136430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1966B6D1-2587-EAB6-664F-C02A1FCCA61F}"/>
              </a:ext>
            </a:extLst>
          </p:cNvPr>
          <p:cNvSpPr/>
          <p:nvPr/>
        </p:nvSpPr>
        <p:spPr>
          <a:xfrm>
            <a:off x="2705432" y="4241857"/>
            <a:ext cx="13560332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6B646C7-ED30-43A8-7704-F1D60E29BD8C}"/>
              </a:ext>
            </a:extLst>
          </p:cNvPr>
          <p:cNvSpPr/>
          <p:nvPr/>
        </p:nvSpPr>
        <p:spPr>
          <a:xfrm>
            <a:off x="2362201" y="5490914"/>
            <a:ext cx="13903564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 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最後選擇了一條通往陽光的路開始旅程，這說明她做出了自己的選擇。請描述一次你自己做出重要選擇的經歷，那次選擇對你有什麼影響？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="" xmlns:a16="http://schemas.microsoft.com/office/drawing/2014/main" id="{5C6FF20E-E03A-035E-33EA-DD072F5CFFFE}"/>
              </a:ext>
            </a:extLst>
          </p:cNvPr>
          <p:cNvCxnSpPr>
            <a:cxnSpLocks/>
          </p:cNvCxnSpPr>
          <p:nvPr/>
        </p:nvCxnSpPr>
        <p:spPr>
          <a:xfrm>
            <a:off x="2536320" y="8788970"/>
            <a:ext cx="136430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408E367-A43C-3BDE-54A2-291D20B3860E}"/>
              </a:ext>
            </a:extLst>
          </p:cNvPr>
          <p:cNvSpPr/>
          <p:nvPr/>
        </p:nvSpPr>
        <p:spPr>
          <a:xfrm>
            <a:off x="2619056" y="7966231"/>
            <a:ext cx="13560332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同學自行作答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73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AE003DC-C095-7363-4AEB-7F2EEB6F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530AA3CE-9FB9-04D7-D553-3D993BC2A64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76507288-8E9B-A577-B424-FA48230F8057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35A631E3-ED57-231D-F823-1336C57F8927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C10A6B08-5658-ADE0-4C97-B39532241CF3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081C0436-803E-1595-FE72-C55D5FEE7ED6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DA5B4EB4-2A71-1ABD-FD3B-4BA601494C1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163D32FC-5E54-B214-5768-BA44EDE0247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A80CD91C-FA6F-EE64-066A-1828AEF19647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72AC22CD-F80E-B640-4245-BE7211E397E1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CD7D2C03-2BDC-124F-2D3F-B43ECFE95BE4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4DB2B45C-0F66-2E03-8F05-629A7321A9FF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C13015C9-CA6D-6073-95D4-58135A5CF7F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="" xmlns:a16="http://schemas.microsoft.com/office/drawing/2014/main" id="{5DB608D4-2C90-FC76-1BD8-02BA7C7C2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="" xmlns:a16="http://schemas.microsoft.com/office/drawing/2014/main" id="{B02F4EEE-BDF9-0F4A-2F8A-0AA3E635CCC6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="" xmlns:a16="http://schemas.microsoft.com/office/drawing/2014/main" id="{E978E7BA-1A6E-382B-3430-63F6C85429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C1F6D5E-077C-DEA0-EDCC-2A602F51DF71}"/>
              </a:ext>
            </a:extLst>
          </p:cNvPr>
          <p:cNvSpPr/>
          <p:nvPr/>
        </p:nvSpPr>
        <p:spPr>
          <a:xfrm>
            <a:off x="2362201" y="2535292"/>
            <a:ext cx="14173200" cy="2314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課文中的詩句描述了</a:t>
            </a:r>
            <a:r>
              <a:rPr lang="zh-TW" altLang="en-US" sz="36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愛麗絲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的奇幻經歷，現在請你試著將這些詩句改寫成一篇記敘文。此篇記敘文需要包含以下內容，請你用完整的句子寫下故事情節，並寫在作文簿中。</a:t>
            </a:r>
          </a:p>
        </p:txBody>
      </p:sp>
    </p:spTree>
    <p:extLst>
      <p:ext uri="{BB962C8B-B14F-4D97-AF65-F5344CB8AC3E}">
        <p14:creationId xmlns:p14="http://schemas.microsoft.com/office/powerpoint/2010/main" val="558647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DBC3A83-DDE2-C43A-2995-7E48A40B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="" xmlns:a16="http://schemas.microsoft.com/office/drawing/2014/main" id="{8A303EB8-788D-56AB-65EF-F2E3673A2D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="" xmlns:a16="http://schemas.microsoft.com/office/drawing/2014/main" id="{FBFA3335-131D-91D2-1918-2F9AAC234B0E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="" xmlns:a16="http://schemas.microsoft.com/office/drawing/2014/main" id="{CD6AE892-F60E-63F6-8716-1EFDC5E5A1F4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="" xmlns:a16="http://schemas.microsoft.com/office/drawing/2014/main" id="{696C74BC-4FCD-4C61-6413-D10B1DDC62A3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="" xmlns:a16="http://schemas.microsoft.com/office/drawing/2014/main" id="{01A23A25-6D52-6766-86CD-9AB1394AF6D1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="" xmlns:a16="http://schemas.microsoft.com/office/drawing/2014/main" id="{4609C0AE-A453-14B8-A950-C575CEB9AF5E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="" xmlns:a16="http://schemas.microsoft.com/office/drawing/2014/main" id="{EE3D2D3F-3BAE-1AF2-D3DD-B30D245628D6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70762435-C909-394C-9476-BD818D12F17C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7C35A5E4-3621-AA20-FFB7-8B82F8017D2C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ACCF496A-3C4F-BA86-1D7F-80E138F7679D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="" xmlns:a16="http://schemas.microsoft.com/office/drawing/2014/main" id="{102FE1B7-2753-01F6-147C-7B853EFEDCE8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="" xmlns:a16="http://schemas.microsoft.com/office/drawing/2014/main" id="{32D0662A-B2AA-CF2E-9578-8CBD8BDFF5B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文字方塊 2">
            <a:extLst>
              <a:ext uri="{FF2B5EF4-FFF2-40B4-BE49-F238E27FC236}">
                <a16:creationId xmlns="" xmlns:a16="http://schemas.microsoft.com/office/drawing/2014/main" id="{D3EA613D-644C-6BC8-090E-DC77CB632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="" xmlns:a16="http://schemas.microsoft.com/office/drawing/2014/main" id="{94862083-CF67-2424-4872-FF0688FA1911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="" xmlns:a16="http://schemas.microsoft.com/office/drawing/2014/main" id="{871BC0F6-01EF-F19F-5B00-0A59791EE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="" xmlns:a16="http://schemas.microsoft.com/office/drawing/2014/main" id="{70AA7A88-30AB-0A49-78AB-5D942424C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354662"/>
              </p:ext>
            </p:extLst>
          </p:nvPr>
        </p:nvGraphicFramePr>
        <p:xfrm>
          <a:off x="2245566" y="2595732"/>
          <a:ext cx="14483783" cy="65204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583">
                  <a:extLst>
                    <a:ext uri="{9D8B030D-6E8A-4147-A177-3AD203B41FA5}">
                      <a16:colId xmlns="" xmlns:a16="http://schemas.microsoft.com/office/drawing/2014/main" val="3102252059"/>
                    </a:ext>
                  </a:extLst>
                </a:gridCol>
                <a:gridCol w="1981200">
                  <a:extLst>
                    <a:ext uri="{9D8B030D-6E8A-4147-A177-3AD203B41FA5}">
                      <a16:colId xmlns="" xmlns:a16="http://schemas.microsoft.com/office/drawing/2014/main" val="2602924449"/>
                    </a:ext>
                  </a:extLst>
                </a:gridCol>
                <a:gridCol w="10666000">
                  <a:extLst>
                    <a:ext uri="{9D8B030D-6E8A-4147-A177-3AD203B41FA5}">
                      <a16:colId xmlns="" xmlns:a16="http://schemas.microsoft.com/office/drawing/2014/main" val="3505499101"/>
                    </a:ext>
                  </a:extLst>
                </a:gridCol>
              </a:tblGrid>
              <a:tr h="9997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角色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愛麗絲</a:t>
                      </a:r>
                      <a:endParaRPr lang="zh-TW" sz="3600" u="sng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3033664"/>
                  </a:ext>
                </a:extLst>
              </a:tr>
              <a:tr h="9997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時間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事情發生在什麼時候？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42064217"/>
                  </a:ext>
                </a:extLst>
              </a:tr>
              <a:tr h="9997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地點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事情發生在哪些地方？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44800536"/>
                  </a:ext>
                </a:extLst>
              </a:tr>
              <a:tr h="9997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情節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zh-TW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愛麗絲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遇見了那些人物或動物？發生了什麼有趣的事？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56078891"/>
                  </a:ext>
                </a:extLst>
              </a:tr>
              <a:tr h="999788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舉例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詩句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夏天的午後，真無聊，連風兒都想睡午覺。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1473128"/>
                  </a:ext>
                </a:extLst>
              </a:tr>
              <a:tr h="15215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改寫</a:t>
                      </a:r>
                      <a:endParaRPr lang="zh-TW" sz="3600" kern="1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夏天的午後，陽光懶洋洋地灑在草地上，連微風也停下來，彷彿進入了午睡的時光。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57501" marR="5750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6125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191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文字, 螢幕擷取畫面, 軟體, 電腦圖示 的圖片&#10;&#10;自動產生的描述">
            <a:extLst>
              <a:ext uri="{FF2B5EF4-FFF2-40B4-BE49-F238E27FC236}">
                <a16:creationId xmlns="" xmlns:a16="http://schemas.microsoft.com/office/drawing/2014/main" id="{653B92CE-DC00-87D6-428E-8AA54A5F4C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85" t="20022" r="3746" b="28197"/>
          <a:stretch>
            <a:fillRect/>
          </a:stretch>
        </p:blipFill>
        <p:spPr bwMode="auto">
          <a:xfrm>
            <a:off x="1909803" y="2849875"/>
            <a:ext cx="15149740" cy="5798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1319</TotalTime>
  <Words>1374</Words>
  <Application>Microsoft Office PowerPoint</Application>
  <PresentationFormat>自訂</PresentationFormat>
  <Paragraphs>232</Paragraphs>
  <Slides>17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32" baseType="lpstr">
      <vt:lpstr>Aptos</vt:lpstr>
      <vt:lpstr>文鼎注音寬字</vt:lpstr>
      <vt:lpstr>書法居中（注音一）</vt:lpstr>
      <vt:lpstr>More Sugar</vt:lpstr>
      <vt:lpstr>標楷體</vt:lpstr>
      <vt:lpstr>微軟正黑體</vt:lpstr>
      <vt:lpstr>標楷體</vt:lpstr>
      <vt:lpstr>微軟正黑體</vt:lpstr>
      <vt:lpstr>華康新綜藝體</vt:lpstr>
      <vt:lpstr>王漢宗特黑體</vt:lpstr>
      <vt:lpstr>Calibri</vt:lpstr>
      <vt:lpstr>Times New Roman</vt:lpstr>
      <vt:lpstr>Arial</vt:lpstr>
      <vt:lpstr>新細明體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趙曼貽</cp:lastModifiedBy>
  <cp:revision>201</cp:revision>
  <dcterms:created xsi:type="dcterms:W3CDTF">2006-08-16T00:00:00Z</dcterms:created>
  <dcterms:modified xsi:type="dcterms:W3CDTF">2025-11-27T07:52:00Z</dcterms:modified>
  <dc:identifier>DAGOioWnJWE</dc:identifier>
</cp:coreProperties>
</file>