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69" r:id="rId3"/>
    <p:sldId id="305" r:id="rId4"/>
    <p:sldId id="291" r:id="rId5"/>
    <p:sldId id="270" r:id="rId6"/>
    <p:sldId id="271" r:id="rId7"/>
    <p:sldId id="272" r:id="rId8"/>
    <p:sldId id="286" r:id="rId9"/>
    <p:sldId id="303" r:id="rId10"/>
    <p:sldId id="306" r:id="rId11"/>
    <p:sldId id="288" r:id="rId12"/>
    <p:sldId id="299" r:id="rId13"/>
    <p:sldId id="307" r:id="rId14"/>
    <p:sldId id="308" r:id="rId15"/>
    <p:sldId id="279" r:id="rId16"/>
    <p:sldId id="295" r:id="rId17"/>
  </p:sldIdLst>
  <p:sldSz cx="18288000" cy="10287000"/>
  <p:notesSz cx="6858000" cy="9144000"/>
  <p:embeddedFontLst>
    <p:embeddedFont>
      <p:font typeface="華康中圓體(P)" panose="020F0502020204030204" pitchFamily="34" charset="0"/>
      <p:regular r:id="rId19"/>
      <p:bold r:id="rId20"/>
      <p:italic r:id="rId21"/>
      <p:boldItalic r:id="rId22"/>
    </p:embeddedFont>
    <p:embeddedFont>
      <p:font typeface="華康新綜藝體" panose="02010609000101010101" pitchFamily="49" charset="0"/>
      <p:regular r:id="rId23"/>
    </p:embeddedFont>
    <p:embeddedFont>
      <p:font typeface="微軟正黑體" panose="020B0604030504040204" pitchFamily="34" charset="-120"/>
      <p:regular r:id="rId24"/>
      <p:bold r:id="rId25"/>
    </p:embeddedFont>
    <p:embeddedFont>
      <p:font typeface="微軟正黑體" panose="020B0604030504040204" pitchFamily="34" charset="-120"/>
      <p:regular r:id="rId24"/>
      <p:bold r:id="rId25"/>
    </p:embeddedFont>
    <p:embeddedFont>
      <p:font typeface="標楷體" panose="03000509000000000000" pitchFamily="49" charset="-120"/>
      <p:regular r:id="rId26"/>
    </p:embeddedFont>
    <p:embeddedFont>
      <p:font typeface="AR ZhuYinEX1 Md" panose="020B0602010101010101" pitchFamily="49" charset="-12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F87F"/>
    <a:srgbClr val="FCD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58" autoAdjust="0"/>
    <p:restoredTop sz="94035" autoAdjust="0"/>
  </p:normalViewPr>
  <p:slideViewPr>
    <p:cSldViewPr>
      <p:cViewPr varScale="1">
        <p:scale>
          <a:sx n="67" d="100"/>
          <a:sy n="67" d="100"/>
        </p:scale>
        <p:origin x="200" y="3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9" d="100"/>
          <a:sy n="89" d="100"/>
        </p:scale>
        <p:origin x="378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737BC-0160-43F0-A57D-211EEFCA83B8}" type="datetimeFigureOut">
              <a:rPr lang="zh-TW" altLang="en-US" smtClean="0"/>
              <a:t>2025/9/21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F15EC-EB07-4462-A15A-319C71CF4B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3499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F15EC-EB07-4462-A15A-319C71CF4B01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0349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jp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5.svg"/><Relationship Id="rId2" Type="http://schemas.openxmlformats.org/officeDocument/2006/relationships/image" Target="../media/image1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6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5.svg"/><Relationship Id="rId2" Type="http://schemas.openxmlformats.org/officeDocument/2006/relationships/image" Target="../media/image1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6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30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1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hyperlink" Target="https://youtu.be/S3GHLINfnRc?si=QJ_cNwpgaeVfZRhH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21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21.png"/><Relationship Id="rId4" Type="http://schemas.openxmlformats.org/officeDocument/2006/relationships/image" Target="../media/image16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Freeform 12"/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Freeform 13"/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Freeform 14"/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390404" y="569551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9" name="Freeform 29"/>
          <p:cNvSpPr/>
          <p:nvPr/>
        </p:nvSpPr>
        <p:spPr>
          <a:xfrm>
            <a:off x="5332160" y="1830982"/>
            <a:ext cx="1375279" cy="792661"/>
          </a:xfrm>
          <a:custGeom>
            <a:avLst/>
            <a:gdLst/>
            <a:ahLst/>
            <a:cxnLst/>
            <a:rect l="l" t="t" r="r" b="b"/>
            <a:pathLst>
              <a:path w="1375279" h="792661">
                <a:moveTo>
                  <a:pt x="0" y="0"/>
                </a:moveTo>
                <a:lnTo>
                  <a:pt x="1375278" y="0"/>
                </a:lnTo>
                <a:lnTo>
                  <a:pt x="1375278" y="792660"/>
                </a:lnTo>
                <a:lnTo>
                  <a:pt x="0" y="79266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4894777" y="3662162"/>
            <a:ext cx="9032950" cy="1119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dist">
              <a:lnSpc>
                <a:spcPts val="8400"/>
              </a:lnSpc>
            </a:pPr>
            <a:r>
              <a:rPr lang="zh-TW" altLang="en-US" sz="115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ore Sugar"/>
                <a:sym typeface="More Sugar"/>
              </a:rPr>
              <a:t>提問單</a:t>
            </a:r>
            <a:endParaRPr lang="en-US" sz="11500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ore Sugar"/>
              <a:sym typeface="More Sugar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550115" y="1559356"/>
            <a:ext cx="13636764" cy="166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21"/>
              </a:lnSpc>
            </a:pPr>
            <a:r>
              <a:rPr lang="en-US" sz="12521" dirty="0">
                <a:solidFill>
                  <a:srgbClr val="182C4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ore Sugar"/>
                <a:sym typeface="More Sugar"/>
              </a:rPr>
              <a:t>MAPS </a:t>
            </a:r>
          </a:p>
        </p:txBody>
      </p:sp>
      <p:sp>
        <p:nvSpPr>
          <p:cNvPr id="34" name="文字方塊 33"/>
          <p:cNvSpPr txBox="1"/>
          <p:nvPr/>
        </p:nvSpPr>
        <p:spPr>
          <a:xfrm>
            <a:off x="7409104" y="5087306"/>
            <a:ext cx="112684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蔡孟庭 老師編寫</a:t>
            </a:r>
          </a:p>
        </p:txBody>
      </p:sp>
      <p:pic>
        <p:nvPicPr>
          <p:cNvPr id="36" name="圖片 35"/>
          <p:cNvPicPr/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5257800" y="6929951"/>
            <a:ext cx="8079040" cy="18848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5414984" y="7602192"/>
            <a:ext cx="7868188" cy="1086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1600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endParaRPr lang="zh-TW" sz="1600" kern="100" dirty="0">
              <a:solidFill>
                <a:schemeClr val="tx2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第</a:t>
            </a:r>
            <a:r>
              <a:rPr lang="zh-TW" altLang="en-US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三</a:t>
            </a:r>
            <a:r>
              <a:rPr lang="zh-TW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zh-TW" altLang="en-US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用膝蓋跳舞的女孩</a:t>
            </a:r>
            <a:endParaRPr lang="zh-TW" sz="4000" kern="100" dirty="0">
              <a:solidFill>
                <a:schemeClr val="tx2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5" name="Freeform 29"/>
          <p:cNvSpPr/>
          <p:nvPr/>
        </p:nvSpPr>
        <p:spPr>
          <a:xfrm>
            <a:off x="7962900" y="6296571"/>
            <a:ext cx="2362200" cy="945188"/>
          </a:xfrm>
          <a:custGeom>
            <a:avLst/>
            <a:gdLst/>
            <a:ahLst/>
            <a:cxnLst/>
            <a:rect l="l" t="t" r="r" b="b"/>
            <a:pathLst>
              <a:path w="4189793" h="1081728">
                <a:moveTo>
                  <a:pt x="0" y="0"/>
                </a:moveTo>
                <a:lnTo>
                  <a:pt x="4189794" y="0"/>
                </a:lnTo>
                <a:lnTo>
                  <a:pt x="4189794" y="1081729"/>
                </a:lnTo>
                <a:lnTo>
                  <a:pt x="0" y="108172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8" name="文字方塊 2"/>
          <p:cNvSpPr txBox="1">
            <a:spLocks noChangeArrowheads="1"/>
          </p:cNvSpPr>
          <p:nvPr/>
        </p:nvSpPr>
        <p:spPr bwMode="auto">
          <a:xfrm>
            <a:off x="6176277" y="6352529"/>
            <a:ext cx="6148978" cy="1086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endParaRPr lang="zh-TW" sz="12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0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三下</a:t>
            </a:r>
            <a:endParaRPr lang="zh-TW" sz="32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9" name="Freeform 31"/>
          <p:cNvSpPr/>
          <p:nvPr/>
        </p:nvSpPr>
        <p:spPr>
          <a:xfrm rot="10085071">
            <a:off x="5959511" y="4872591"/>
            <a:ext cx="1185379" cy="1159388"/>
          </a:xfrm>
          <a:custGeom>
            <a:avLst/>
            <a:gdLst/>
            <a:ahLst/>
            <a:cxnLst/>
            <a:rect l="l" t="t" r="r" b="b"/>
            <a:pathLst>
              <a:path w="1317310" h="1317310">
                <a:moveTo>
                  <a:pt x="0" y="0"/>
                </a:moveTo>
                <a:lnTo>
                  <a:pt x="1317310" y="0"/>
                </a:lnTo>
                <a:lnTo>
                  <a:pt x="1317310" y="1317310"/>
                </a:lnTo>
                <a:lnTo>
                  <a:pt x="0" y="131731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pic>
        <p:nvPicPr>
          <p:cNvPr id="24" name="圖片 23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5201" y="6828992"/>
            <a:ext cx="2003108" cy="3260698"/>
          </a:xfrm>
          <a:prstGeom prst="rect">
            <a:avLst/>
          </a:prstGeom>
        </p:spPr>
      </p:pic>
      <p:grpSp>
        <p:nvGrpSpPr>
          <p:cNvPr id="40" name="Group 19"/>
          <p:cNvGrpSpPr/>
          <p:nvPr/>
        </p:nvGrpSpPr>
        <p:grpSpPr>
          <a:xfrm>
            <a:off x="1840324" y="923747"/>
            <a:ext cx="2761763" cy="708578"/>
            <a:chOff x="0" y="0"/>
            <a:chExt cx="3038818" cy="748565"/>
          </a:xfrm>
        </p:grpSpPr>
        <p:sp>
          <p:nvSpPr>
            <p:cNvPr id="41" name="TextBox 20"/>
            <p:cNvSpPr txBox="1"/>
            <p:nvPr/>
          </p:nvSpPr>
          <p:spPr>
            <a:xfrm>
              <a:off x="1110400" y="6488"/>
              <a:ext cx="1928418" cy="7180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4800" b="1" spc="334" dirty="0" err="1">
                  <a:solidFill>
                    <a:srgbClr val="0154A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王漢宗特黑體"/>
                  <a:sym typeface="王漢宗特黑體"/>
                </a:rPr>
                <a:t>國語</a:t>
              </a:r>
              <a:endParaRPr lang="en-US" sz="4800" b="1" spc="334" dirty="0">
                <a:solidFill>
                  <a:srgbClr val="0154A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王漢宗特黑體"/>
                <a:sym typeface="王漢宗特黑體"/>
              </a:endParaRPr>
            </a:p>
          </p:txBody>
        </p:sp>
        <p:sp>
          <p:nvSpPr>
            <p:cNvPr id="42" name="Freeform 21"/>
            <p:cNvSpPr/>
            <p:nvPr/>
          </p:nvSpPr>
          <p:spPr>
            <a:xfrm>
              <a:off x="0" y="0"/>
              <a:ext cx="1423684" cy="748565"/>
            </a:xfrm>
            <a:custGeom>
              <a:avLst/>
              <a:gdLst/>
              <a:ahLst/>
              <a:cxnLst/>
              <a:rect l="l" t="t" r="r" b="b"/>
              <a:pathLst>
                <a:path w="1423684" h="748565">
                  <a:moveTo>
                    <a:pt x="0" y="0"/>
                  </a:moveTo>
                  <a:lnTo>
                    <a:pt x="1423684" y="0"/>
                  </a:lnTo>
                  <a:lnTo>
                    <a:pt x="1423684" y="748565"/>
                  </a:lnTo>
                  <a:lnTo>
                    <a:pt x="0" y="748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r="-168996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1" name="Freeform 11"/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2" name="Freeform 12"/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3" name="Freeform 13"/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4" name="Freeform 14"/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6" name="Freeform 16"/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7" name="Freeform 17"/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8" name="Freeform 18"/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grpSp>
        <p:nvGrpSpPr>
          <p:cNvPr id="19" name="Group 19"/>
          <p:cNvGrpSpPr/>
          <p:nvPr/>
        </p:nvGrpSpPr>
        <p:grpSpPr>
          <a:xfrm>
            <a:off x="1290993" y="571855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290993" y="2244724"/>
            <a:ext cx="129099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一、形近字知多少</a:t>
            </a:r>
            <a:endParaRPr lang="zh-TW" altLang="zh-TW" sz="36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225061"/>
              </p:ext>
            </p:extLst>
          </p:nvPr>
        </p:nvGraphicFramePr>
        <p:xfrm>
          <a:off x="1931073" y="3470831"/>
          <a:ext cx="7593927" cy="5887142"/>
        </p:xfrm>
        <a:graphic>
          <a:graphicData uri="http://schemas.openxmlformats.org/drawingml/2006/table">
            <a:tbl>
              <a:tblPr firstRow="1" firstCol="1" bandRow="1"/>
              <a:tblGrid>
                <a:gridCol w="59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7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624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1</a:t>
                      </a: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姿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婆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624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肢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枝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支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776075"/>
                  </a:ext>
                </a:extLst>
              </a:tr>
              <a:tr h="693624">
                <a:tc rowSpan="3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TW" sz="2800" kern="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+mn-ea"/>
                        </a:rPr>
                        <a:t>3</a:t>
                      </a:r>
                      <a:endParaRPr lang="zh-TW" altLang="en-US" sz="2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+mn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壁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臂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kern="100" dirty="0">
                        <a:effectLst/>
                        <a:latin typeface="標楷體" panose="03000509000000000000" pitchFamily="65" charset="-120"/>
                        <a:ea typeface="新細明體" panose="02020500000000000000" pitchFamily="18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璧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6193367"/>
                  </a:ext>
                </a:extLst>
              </a:tr>
            </a:tbl>
          </a:graphicData>
        </a:graphic>
      </p:graphicFrame>
      <p:sp>
        <p:nvSpPr>
          <p:cNvPr id="43" name="Freeform 3"/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4" name="圖片 43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568344"/>
              </p:ext>
            </p:extLst>
          </p:nvPr>
        </p:nvGraphicFramePr>
        <p:xfrm>
          <a:off x="4163021" y="3711613"/>
          <a:ext cx="5361978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資</a:t>
                      </a:r>
                      <a:endParaRPr lang="zh-TW" sz="40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姿態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030936"/>
              </p:ext>
            </p:extLst>
          </p:nvPr>
        </p:nvGraphicFramePr>
        <p:xfrm>
          <a:off x="4163021" y="4546199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婆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外婆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194021"/>
              </p:ext>
            </p:extLst>
          </p:nvPr>
        </p:nvGraphicFramePr>
        <p:xfrm>
          <a:off x="4163021" y="5229955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之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肢體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817448"/>
              </p:ext>
            </p:extLst>
          </p:nvPr>
        </p:nvGraphicFramePr>
        <p:xfrm>
          <a:off x="4163021" y="5913711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之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樹枝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083148"/>
              </p:ext>
            </p:extLst>
          </p:nvPr>
        </p:nvGraphicFramePr>
        <p:xfrm>
          <a:off x="4163021" y="6597467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之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支付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696263"/>
              </p:ext>
            </p:extLst>
          </p:nvPr>
        </p:nvGraphicFramePr>
        <p:xfrm>
          <a:off x="4163021" y="7281223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臂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牆壁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950118"/>
              </p:ext>
            </p:extLst>
          </p:nvPr>
        </p:nvGraphicFramePr>
        <p:xfrm>
          <a:off x="9775847" y="3475305"/>
          <a:ext cx="7221158" cy="3755430"/>
        </p:xfrm>
        <a:graphic>
          <a:graphicData uri="http://schemas.openxmlformats.org/drawingml/2006/table">
            <a:tbl>
              <a:tblPr firstRow="1" firstCol="1" bandRow="1"/>
              <a:tblGrid>
                <a:gridCol w="843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4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6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62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3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61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kern="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+mn-ea"/>
                        </a:rPr>
                        <a:t>4</a:t>
                      </a:r>
                      <a:endParaRPr lang="zh-TW" altLang="en-US" sz="2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+mn-ea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夾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來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614">
                <a:tc rowSpan="3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TW" sz="2800" kern="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5</a:t>
                      </a:r>
                      <a:endParaRPr lang="zh-TW" sz="2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新細明體" panose="02020500000000000000" pitchFamily="18" charset="-120"/>
                        <a:cs typeface="標楷體" panose="03000509000000000000" pitchFamily="65" charset="-12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跪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endParaRPr lang="zh-TW" sz="20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新細明體" panose="02020500000000000000" pitchFamily="18" charset="-120"/>
                        <a:cs typeface="標楷體" panose="03000509000000000000" pitchFamily="65" charset="-120"/>
                      </a:endParaRPr>
                    </a:p>
                  </a:txBody>
                  <a:tcPr marL="68345" marR="68345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脆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endParaRPr lang="zh-TW" sz="20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新細明體" panose="02020500000000000000" pitchFamily="18" charset="-120"/>
                        <a:cs typeface="標楷體" panose="03000509000000000000" pitchFamily="65" charset="-12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危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364859"/>
              </p:ext>
            </p:extLst>
          </p:nvPr>
        </p:nvGraphicFramePr>
        <p:xfrm>
          <a:off x="11780588" y="3800274"/>
          <a:ext cx="5216418" cy="7283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834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夾</a:t>
                      </a:r>
                      <a:endParaRPr lang="zh-TW" sz="40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夾子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091501"/>
              </p:ext>
            </p:extLst>
          </p:nvPr>
        </p:nvGraphicFramePr>
        <p:xfrm>
          <a:off x="11780588" y="4514634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來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來往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992439"/>
              </p:ext>
            </p:extLst>
          </p:nvPr>
        </p:nvGraphicFramePr>
        <p:xfrm>
          <a:off x="11780588" y="5195899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貴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跪下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864178"/>
              </p:ext>
            </p:extLst>
          </p:nvPr>
        </p:nvGraphicFramePr>
        <p:xfrm>
          <a:off x="11780588" y="5877164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翠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乾脆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827663"/>
              </p:ext>
            </p:extLst>
          </p:nvPr>
        </p:nvGraphicFramePr>
        <p:xfrm>
          <a:off x="11798726" y="6558429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維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危險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1F57AEF7-1ED3-4F01-1FB4-9AABDA105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640624"/>
              </p:ext>
            </p:extLst>
          </p:nvPr>
        </p:nvGraphicFramePr>
        <p:xfrm>
          <a:off x="4163021" y="7964979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臂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臂彎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" name="表格 44">
            <a:extLst>
              <a:ext uri="{FF2B5EF4-FFF2-40B4-BE49-F238E27FC236}">
                <a16:creationId xmlns:a16="http://schemas.microsoft.com/office/drawing/2014/main" id="{7F4A75AC-4E15-DC1B-8091-96F0CF2E5D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293487"/>
              </p:ext>
            </p:extLst>
          </p:nvPr>
        </p:nvGraphicFramePr>
        <p:xfrm>
          <a:off x="4163021" y="8648736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臂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璧人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80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B659A-1095-7FD3-C549-DAD8C6C4A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CB15154-051F-2E78-0C3E-D2FDEEBB66A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074B9F7-6FBA-47ED-6775-4D3CAB3F7F63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5F11C99-1354-518D-D4A1-5E82F7E84AC1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9AA23E8-2561-27A4-A791-BA1C562E1C2D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56B3C440-8BD6-6D21-43AF-68C4E5C6DAA8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73541E5-AE07-976B-3DB3-01D1E40DA038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1EEBC8C-CFA8-4349-C8B2-5E7A36FC83DD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1674BFB8-FA09-2161-19E4-771C1256F360}"/>
              </a:ext>
            </a:extLst>
          </p:cNvPr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C25AF40D-DEE6-9CCE-D0DA-4F64EE183434}"/>
              </a:ext>
            </a:extLst>
          </p:cNvPr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C50397AC-3258-6656-72A0-6BB003D850E7}"/>
              </a:ext>
            </a:extLst>
          </p:cNvPr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DFF1EC5-F1C4-2D1E-F23E-7ABA319E0520}"/>
              </a:ext>
            </a:extLst>
          </p:cNvPr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4678166A-CE65-C9F7-21D7-C30D147FAE1B}"/>
              </a:ext>
            </a:extLst>
          </p:cNvPr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AD6A03C4-E117-1458-764B-12706814CF6F}"/>
              </a:ext>
            </a:extLst>
          </p:cNvPr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D53160C5-DCD0-1116-521A-06DDC262D220}"/>
              </a:ext>
            </a:extLst>
          </p:cNvPr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1F2FDC4F-4E5B-6816-C481-D68BB1F77854}"/>
              </a:ext>
            </a:extLst>
          </p:cNvPr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20C67308-90CC-D18D-C56F-0BC7209D2EBD}"/>
              </a:ext>
            </a:extLst>
          </p:cNvPr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4372D5B2-AE99-B603-1176-17C2639DF87A}"/>
              </a:ext>
            </a:extLst>
          </p:cNvPr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633FA58D-D719-8D3A-2A1B-2AAC159A2EF7}"/>
              </a:ext>
            </a:extLst>
          </p:cNvPr>
          <p:cNvGrpSpPr/>
          <p:nvPr/>
        </p:nvGrpSpPr>
        <p:grpSpPr>
          <a:xfrm>
            <a:off x="1290993" y="571855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1DC3DF5-9031-504C-D1FF-8C9C33A892C5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C9D5FEDB-EC93-01D6-BDAC-CF55C6D41922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623B3E1B-3567-3177-CD54-8710209D48D7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18EC214A-D44B-9FB7-7D30-0B5BB4F2D1F3}"/>
              </a:ext>
            </a:extLst>
          </p:cNvPr>
          <p:cNvPicPr/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id="{ECF03355-888E-C795-884C-C0915C74D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92EBBC41-DD5E-BE85-F0CB-21197F058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931585"/>
              </p:ext>
            </p:extLst>
          </p:nvPr>
        </p:nvGraphicFramePr>
        <p:xfrm>
          <a:off x="1931073" y="3470831"/>
          <a:ext cx="7593927" cy="4499894"/>
        </p:xfrm>
        <a:graphic>
          <a:graphicData uri="http://schemas.openxmlformats.org/drawingml/2006/table">
            <a:tbl>
              <a:tblPr firstRow="1" firstCol="1" bandRow="1"/>
              <a:tblGrid>
                <a:gridCol w="59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03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7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62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6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琴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瑟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624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7 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腕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惋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碗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776075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婉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3" name="Freeform 3">
            <a:extLst>
              <a:ext uri="{FF2B5EF4-FFF2-40B4-BE49-F238E27FC236}">
                <a16:creationId xmlns:a16="http://schemas.microsoft.com/office/drawing/2014/main" id="{F2EAD07D-1071-0C50-5AC4-E9764A7FF9AF}"/>
              </a:ext>
            </a:extLst>
          </p:cNvPr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71974C65-26DF-89E8-0B87-FE3497EAA624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264E59E5-22F7-8AB2-33EA-183A54ABB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46828"/>
              </p:ext>
            </p:extLst>
          </p:nvPr>
        </p:nvGraphicFramePr>
        <p:xfrm>
          <a:off x="4163021" y="3711613"/>
          <a:ext cx="5361978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勤</a:t>
                      </a:r>
                      <a:endParaRPr lang="zh-TW" sz="40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鋼琴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BEB11A5E-C64F-030E-CDCA-4F5672D477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172035"/>
              </p:ext>
            </p:extLst>
          </p:nvPr>
        </p:nvGraphicFramePr>
        <p:xfrm>
          <a:off x="4163021" y="4546199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色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瑟瑟發抖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2E556639-DDCD-535F-428B-024BCB0984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632411"/>
              </p:ext>
            </p:extLst>
          </p:nvPr>
        </p:nvGraphicFramePr>
        <p:xfrm>
          <a:off x="4163021" y="5229955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萬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手腕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B99939EA-7D29-6B9C-6662-8BCBDB4E5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233640"/>
              </p:ext>
            </p:extLst>
          </p:nvPr>
        </p:nvGraphicFramePr>
        <p:xfrm>
          <a:off x="4163021" y="5913711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萬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惋惜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16556340-DBA6-8E3C-8D73-92AA8B9809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741604"/>
              </p:ext>
            </p:extLst>
          </p:nvPr>
        </p:nvGraphicFramePr>
        <p:xfrm>
          <a:off x="4163021" y="6597467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晚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碗盤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9E2E4770-7A23-DC61-CF3E-B28E5B3A8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191844"/>
              </p:ext>
            </p:extLst>
          </p:nvPr>
        </p:nvGraphicFramePr>
        <p:xfrm>
          <a:off x="4163021" y="7281223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晚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婉轉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表格 47">
            <a:extLst>
              <a:ext uri="{FF2B5EF4-FFF2-40B4-BE49-F238E27FC236}">
                <a16:creationId xmlns:a16="http://schemas.microsoft.com/office/drawing/2014/main" id="{BCDBF023-E5D5-E3C6-4BA7-DC3E58EE0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028352"/>
              </p:ext>
            </p:extLst>
          </p:nvPr>
        </p:nvGraphicFramePr>
        <p:xfrm>
          <a:off x="9775847" y="3475305"/>
          <a:ext cx="7221158" cy="5130658"/>
        </p:xfrm>
        <a:graphic>
          <a:graphicData uri="http://schemas.openxmlformats.org/drawingml/2006/table">
            <a:tbl>
              <a:tblPr firstRow="1" firstCol="1" bandRow="1"/>
              <a:tblGrid>
                <a:gridCol w="843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4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6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62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3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614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8 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痛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桶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通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2984383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勇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4203749"/>
                  </a:ext>
                </a:extLst>
              </a:tr>
              <a:tr h="687614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9 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還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環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AB00947C-3AF2-351A-363C-7EC099831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614498"/>
              </p:ext>
            </p:extLst>
          </p:nvPr>
        </p:nvGraphicFramePr>
        <p:xfrm>
          <a:off x="11780588" y="7239694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還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還是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表格 37">
            <a:extLst>
              <a:ext uri="{FF2B5EF4-FFF2-40B4-BE49-F238E27FC236}">
                <a16:creationId xmlns:a16="http://schemas.microsoft.com/office/drawing/2014/main" id="{D168FA21-B637-F07F-0130-83C7DB83D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699685"/>
              </p:ext>
            </p:extLst>
          </p:nvPr>
        </p:nvGraphicFramePr>
        <p:xfrm>
          <a:off x="11780588" y="3800274"/>
          <a:ext cx="5216418" cy="7283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834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痛</a:t>
                      </a:r>
                      <a:endParaRPr lang="zh-TW" sz="40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痛苦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AA5651BB-167F-5563-D24C-B561D2F799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585450"/>
              </p:ext>
            </p:extLst>
          </p:nvPr>
        </p:nvGraphicFramePr>
        <p:xfrm>
          <a:off x="11780588" y="4514634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統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木桶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表格 39">
            <a:extLst>
              <a:ext uri="{FF2B5EF4-FFF2-40B4-BE49-F238E27FC236}">
                <a16:creationId xmlns:a16="http://schemas.microsoft.com/office/drawing/2014/main" id="{102BBAE1-5795-8A2D-1185-61EFFC311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763610"/>
              </p:ext>
            </p:extLst>
          </p:nvPr>
        </p:nvGraphicFramePr>
        <p:xfrm>
          <a:off x="11780588" y="5195899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通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交通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表格 40">
            <a:extLst>
              <a:ext uri="{FF2B5EF4-FFF2-40B4-BE49-F238E27FC236}">
                <a16:creationId xmlns:a16="http://schemas.microsoft.com/office/drawing/2014/main" id="{F355F847-D934-47BC-4609-BA90F146E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177137"/>
              </p:ext>
            </p:extLst>
          </p:nvPr>
        </p:nvGraphicFramePr>
        <p:xfrm>
          <a:off x="11780588" y="5877164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永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勇敢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表格 41">
            <a:extLst>
              <a:ext uri="{FF2B5EF4-FFF2-40B4-BE49-F238E27FC236}">
                <a16:creationId xmlns:a16="http://schemas.microsoft.com/office/drawing/2014/main" id="{14807DF9-2B6E-50E7-2648-A47A97321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480456"/>
              </p:ext>
            </p:extLst>
          </p:nvPr>
        </p:nvGraphicFramePr>
        <p:xfrm>
          <a:off x="11798726" y="6558429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R ZhuYinEX1 Md" panose="020B0602010101010101" pitchFamily="49" charset="-120"/>
                          <a:ea typeface="AR ZhuYinEX1 Md" panose="020B0602010101010101" pitchFamily="49" charset="-120"/>
                          <a:cs typeface="標楷體" panose="03000509000000000000" pitchFamily="49" charset="-120"/>
                        </a:rPr>
                        <a:t>還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R ZhuYinEX1 Md" panose="020B0602010101010101" pitchFamily="49" charset="-120"/>
                        <a:ea typeface="AR ZhuYinEX1 Md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Times New Roman" panose="02020603050405020304" pitchFamily="18" charset="0"/>
                        </a:rPr>
                        <a:t>歸還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" name="表格 45">
            <a:extLst>
              <a:ext uri="{FF2B5EF4-FFF2-40B4-BE49-F238E27FC236}">
                <a16:creationId xmlns:a16="http://schemas.microsoft.com/office/drawing/2014/main" id="{FF1BF377-E432-12F2-FEE1-6443BE5F30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939332"/>
              </p:ext>
            </p:extLst>
          </p:nvPr>
        </p:nvGraphicFramePr>
        <p:xfrm>
          <a:off x="11798726" y="7920959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環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環境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4776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89991" y="589170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65593" y="559155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ea typeface="華康新綜藝體" panose="02010609000101010101" pitchFamily="49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2302823" y="3516326"/>
            <a:ext cx="14363700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1.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(  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感動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得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(   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說不出話來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 </a:t>
            </a:r>
            <a:endParaRPr lang="zh-TW" altLang="en-US" sz="3600" dirty="0"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389991" y="2283156"/>
            <a:ext cx="129099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二、短語練習</a:t>
            </a:r>
            <a:endParaRPr lang="zh-TW" altLang="zh-TW" sz="3600" b="1" kern="100" dirty="0">
              <a:latin typeface="華康中圓體(P)" panose="020F0500000000000000" pitchFamily="34" charset="-120"/>
              <a:ea typeface="華康中圓體(P)" panose="020F0500000000000000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29" name="圖片 28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0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2" name="Freeform 3"/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8" name="矩形 27"/>
          <p:cNvSpPr/>
          <p:nvPr/>
        </p:nvSpPr>
        <p:spPr>
          <a:xfrm>
            <a:off x="2470126" y="4479454"/>
            <a:ext cx="14363700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     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得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(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       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          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</a:t>
            </a:r>
            <a:endParaRPr lang="zh-TW" altLang="en-US" sz="3600" dirty="0"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pic>
        <p:nvPicPr>
          <p:cNvPr id="43" name="圖片 4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551168" y="4673670"/>
            <a:ext cx="1107996" cy="64633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激動</a:t>
            </a:r>
            <a:endParaRPr lang="zh-TW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6490024" y="4502885"/>
            <a:ext cx="2116111" cy="787908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喜極而泣</a:t>
            </a:r>
            <a:endParaRPr lang="zh-TW" altLang="en-US" sz="3600" dirty="0">
              <a:solidFill>
                <a:srgbClr val="FF0000"/>
              </a:solidFill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F29F860-0678-AD0F-2AEA-1B3AE872E29D}"/>
              </a:ext>
            </a:extLst>
          </p:cNvPr>
          <p:cNvSpPr/>
          <p:nvPr/>
        </p:nvSpPr>
        <p:spPr>
          <a:xfrm>
            <a:off x="2291937" y="5770288"/>
            <a:ext cx="14363700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2.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(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跳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出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美妙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的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b="1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舞姿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。</a:t>
            </a:r>
            <a:endParaRPr lang="zh-TW" altLang="en-US" sz="3600" dirty="0"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73060F0-307F-608B-50CD-C79399586626}"/>
              </a:ext>
            </a:extLst>
          </p:cNvPr>
          <p:cNvSpPr/>
          <p:nvPr/>
        </p:nvSpPr>
        <p:spPr>
          <a:xfrm>
            <a:off x="2924942" y="6733416"/>
            <a:ext cx="13897998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       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出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           ) 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的 </a:t>
            </a:r>
            <a:r>
              <a:rPr lang="en-US" altLang="zh-TW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(             )</a:t>
            </a:r>
            <a:r>
              <a:rPr lang="zh-TW" altLang="en-US" sz="3600" dirty="0"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。</a:t>
            </a:r>
            <a:endParaRPr lang="zh-TW" altLang="en-US" sz="3600" dirty="0"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DA7BF0C-2497-B683-3D69-43A87D594919}"/>
              </a:ext>
            </a:extLst>
          </p:cNvPr>
          <p:cNvSpPr/>
          <p:nvPr/>
        </p:nvSpPr>
        <p:spPr>
          <a:xfrm>
            <a:off x="3002738" y="6930449"/>
            <a:ext cx="12448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彈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E61DD81-263B-8FEE-AC73-3D3E35DA68F8}"/>
              </a:ext>
            </a:extLst>
          </p:cNvPr>
          <p:cNvSpPr/>
          <p:nvPr/>
        </p:nvSpPr>
        <p:spPr>
          <a:xfrm>
            <a:off x="7355081" y="6788871"/>
            <a:ext cx="2116111" cy="787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旋律</a:t>
            </a:r>
            <a:endParaRPr lang="zh-TW" altLang="en-US" sz="3600" dirty="0">
              <a:solidFill>
                <a:srgbClr val="FF0000"/>
              </a:solidFill>
              <a:latin typeface="華康中圓體(P)" panose="020F0500000000000000" pitchFamily="34" charset="-120"/>
              <a:ea typeface="華康中圓體(P)" panose="020F0500000000000000" pitchFamily="34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D2938E8-A7DF-39EE-AC0E-BB469F1A6F82}"/>
              </a:ext>
            </a:extLst>
          </p:cNvPr>
          <p:cNvSpPr/>
          <p:nvPr/>
        </p:nvSpPr>
        <p:spPr>
          <a:xfrm>
            <a:off x="5046625" y="6930448"/>
            <a:ext cx="12448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600" b="1" dirty="0">
                <a:solidFill>
                  <a:srgbClr val="FF0000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rPr>
              <a:t>動人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138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5" grpId="0"/>
      <p:bldP spid="13" grpId="0"/>
      <p:bldP spid="15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89991" y="589170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60514" y="561269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9" name="圖片 28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0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420352" y="2238970"/>
            <a:ext cx="129099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三、造句練習</a:t>
            </a:r>
            <a:endParaRPr lang="zh-TW" altLang="zh-TW" sz="36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427690" y="3221115"/>
            <a:ext cx="8480207" cy="821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 (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轉折複句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……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沒有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，卻能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3" name="直線接點 12"/>
          <p:cNvCxnSpPr/>
          <p:nvPr/>
        </p:nvCxnSpPr>
        <p:spPr>
          <a:xfrm>
            <a:off x="2552700" y="5067300"/>
            <a:ext cx="13182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Freeform 3"/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AC3BB5F-8EE0-6DD0-A419-BAB71AB70AF2}"/>
              </a:ext>
            </a:extLst>
          </p:cNvPr>
          <p:cNvSpPr/>
          <p:nvPr/>
        </p:nvSpPr>
        <p:spPr>
          <a:xfrm>
            <a:off x="2405919" y="5710890"/>
            <a:ext cx="7454285" cy="821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 (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目的複句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為了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，只好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43" name="圖片 4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E1E5924C-9EBC-0BF4-1F58-3A6E22BB2D1B}"/>
              </a:ext>
            </a:extLst>
          </p:cNvPr>
          <p:cNvCxnSpPr/>
          <p:nvPr/>
        </p:nvCxnSpPr>
        <p:spPr>
          <a:xfrm>
            <a:off x="2530929" y="7557075"/>
            <a:ext cx="13182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1B9318FA-080C-8F07-22FE-30AA7E303366}"/>
              </a:ext>
            </a:extLst>
          </p:cNvPr>
          <p:cNvSpPr/>
          <p:nvPr/>
        </p:nvSpPr>
        <p:spPr>
          <a:xfrm>
            <a:off x="2530929" y="4457700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學生自行回答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365BFE6-48B3-0410-739F-4E113C10CD8F}"/>
              </a:ext>
            </a:extLst>
          </p:cNvPr>
          <p:cNvSpPr/>
          <p:nvPr/>
        </p:nvSpPr>
        <p:spPr>
          <a:xfrm>
            <a:off x="2581986" y="6947474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學生自行回答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92575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98217" y="537705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sz="11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暖身題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058157" y="2324100"/>
            <a:ext cx="14705843" cy="1544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本課的課名是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用膝蓋跳舞的女孩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〉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，你覺得這是一個怎樣的故事？為什麼這個女孩要用膝蓋跳舞？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7" name="Freeform 4"/>
          <p:cNvSpPr/>
          <p:nvPr/>
        </p:nvSpPr>
        <p:spPr>
          <a:xfrm>
            <a:off x="5312555" y="1050653"/>
            <a:ext cx="1211543" cy="932259"/>
          </a:xfrm>
          <a:custGeom>
            <a:avLst/>
            <a:gdLst/>
            <a:ahLst/>
            <a:cxnLst/>
            <a:rect l="l" t="t" r="r" b="b"/>
            <a:pathLst>
              <a:path w="3555018" h="3363936">
                <a:moveTo>
                  <a:pt x="0" y="0"/>
                </a:moveTo>
                <a:lnTo>
                  <a:pt x="3555018" y="0"/>
                </a:lnTo>
                <a:lnTo>
                  <a:pt x="3555018" y="3363937"/>
                </a:lnTo>
                <a:lnTo>
                  <a:pt x="0" y="3363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8" name="圖片 4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994B29E0-BD88-A0C3-9F35-68AFE8F5C647}"/>
              </a:ext>
            </a:extLst>
          </p:cNvPr>
          <p:cNvCxnSpPr>
            <a:cxnSpLocks/>
          </p:cNvCxnSpPr>
          <p:nvPr/>
        </p:nvCxnSpPr>
        <p:spPr>
          <a:xfrm>
            <a:off x="2260251" y="4768534"/>
            <a:ext cx="14097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67F875C1-56C7-5920-1E89-4A4A453A701E}"/>
              </a:ext>
            </a:extLst>
          </p:cNvPr>
          <p:cNvSpPr/>
          <p:nvPr/>
        </p:nvSpPr>
        <p:spPr>
          <a:xfrm>
            <a:off x="2260251" y="4117162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學生自行回答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5E46ED-25AF-6B0B-A13E-9F3CBBD15F41}"/>
              </a:ext>
            </a:extLst>
          </p:cNvPr>
          <p:cNvSpPr/>
          <p:nvPr/>
        </p:nvSpPr>
        <p:spPr>
          <a:xfrm>
            <a:off x="2058157" y="5711328"/>
            <a:ext cx="14705843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如果今天你因為意外失去雙腳，你可能會面臨哪些困難和挑戰？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AFA564D0-14C0-163E-F3EE-71E20BFCCA61}"/>
              </a:ext>
            </a:extLst>
          </p:cNvPr>
          <p:cNvCxnSpPr>
            <a:cxnSpLocks/>
          </p:cNvCxnSpPr>
          <p:nvPr/>
        </p:nvCxnSpPr>
        <p:spPr>
          <a:xfrm>
            <a:off x="2260251" y="7423525"/>
            <a:ext cx="14097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61D4B691-8212-A9D5-51D4-264682C91326}"/>
              </a:ext>
            </a:extLst>
          </p:cNvPr>
          <p:cNvSpPr/>
          <p:nvPr/>
        </p:nvSpPr>
        <p:spPr>
          <a:xfrm>
            <a:off x="2260251" y="6772153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學生自行回答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8603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2" name="Freeform 2"/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525999" y="561269"/>
              <a:ext cx="15917348" cy="9164462"/>
              <a:chOff x="0" y="0"/>
              <a:chExt cx="3764577" cy="216746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347374" y="572822"/>
              <a:ext cx="15917348" cy="9164462"/>
              <a:chOff x="0" y="0"/>
              <a:chExt cx="3764577" cy="216746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629" y="98995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/>
          <p:cNvSpPr/>
          <p:nvPr/>
        </p:nvSpPr>
        <p:spPr>
          <a:xfrm>
            <a:off x="2084086" y="2636061"/>
            <a:ext cx="14266032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Q0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呼應暖身題，本課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用膝蓋跳舞的女孩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〉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是一篇記敘文。</a:t>
            </a:r>
            <a:endParaRPr lang="zh-TW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040855" y="4733999"/>
            <a:ext cx="912752" cy="4916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9165055" y="4751962"/>
            <a:ext cx="1600200" cy="4557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Freeform 7"/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8" name="圖片 3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FD4724A-9BBE-2072-85C8-FD51CB868525}"/>
              </a:ext>
            </a:extLst>
          </p:cNvPr>
          <p:cNvSpPr/>
          <p:nvPr/>
        </p:nvSpPr>
        <p:spPr>
          <a:xfrm>
            <a:off x="12517855" y="4751962"/>
            <a:ext cx="1600200" cy="4557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圓角矩形 33"/>
          <p:cNvSpPr/>
          <p:nvPr/>
        </p:nvSpPr>
        <p:spPr>
          <a:xfrm>
            <a:off x="698774" y="8916775"/>
            <a:ext cx="7315200" cy="1141240"/>
          </a:xfrm>
          <a:prstGeom prst="roundRect">
            <a:avLst/>
          </a:prstGeom>
          <a:solidFill>
            <a:srgbClr val="FCD5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146574" y="9450761"/>
            <a:ext cx="762000" cy="4351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914400" y="8989993"/>
            <a:ext cx="701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心智圖架構提示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第一層 灰框、第二層 方框、第三層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800" u="db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底線</a:t>
            </a:r>
            <a:endParaRPr lang="zh-TW" altLang="en-US" sz="284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Freeform 2"/>
          <p:cNvSpPr/>
          <p:nvPr/>
        </p:nvSpPr>
        <p:spPr>
          <a:xfrm>
            <a:off x="32928" y="8112344"/>
            <a:ext cx="1313160" cy="1260562"/>
          </a:xfrm>
          <a:custGeom>
            <a:avLst/>
            <a:gdLst/>
            <a:ahLst/>
            <a:cxnLst/>
            <a:rect l="l" t="t" r="r" b="b"/>
            <a:pathLst>
              <a:path w="3688357" h="4114800">
                <a:moveTo>
                  <a:pt x="0" y="0"/>
                </a:moveTo>
                <a:lnTo>
                  <a:pt x="3688357" y="0"/>
                </a:lnTo>
                <a:lnTo>
                  <a:pt x="3688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EC00BE-CBEE-8F4B-8B51-2792A21C2BF7}"/>
              </a:ext>
            </a:extLst>
          </p:cNvPr>
          <p:cNvSpPr/>
          <p:nvPr/>
        </p:nvSpPr>
        <p:spPr>
          <a:xfrm>
            <a:off x="4356375" y="9498507"/>
            <a:ext cx="762000" cy="353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009191"/>
              </p:ext>
            </p:extLst>
          </p:nvPr>
        </p:nvGraphicFramePr>
        <p:xfrm>
          <a:off x="3297655" y="4219066"/>
          <a:ext cx="11692690" cy="2813154"/>
        </p:xfrm>
        <a:graphic>
          <a:graphicData uri="http://schemas.openxmlformats.org/drawingml/2006/table">
            <a:tbl>
              <a:tblPr bandRow="1"/>
              <a:tblGrid>
                <a:gridCol w="1421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3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8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8925">
                  <a:extLst>
                    <a:ext uri="{9D8B030D-6E8A-4147-A177-3AD203B41FA5}">
                      <a16:colId xmlns:a16="http://schemas.microsoft.com/office/drawing/2014/main" val="1356933395"/>
                    </a:ext>
                  </a:extLst>
                </a:gridCol>
              </a:tblGrid>
              <a:tr h="14065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sz="2800" kern="10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意義段</a:t>
                      </a: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2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背景</a:t>
                      </a: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2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人物經歷</a:t>
                      </a: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2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心得感受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65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sz="2800" kern="10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自然段</a:t>
                      </a:r>
                      <a:endParaRPr lang="zh-TW" sz="28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矩形 23"/>
          <p:cNvSpPr/>
          <p:nvPr/>
        </p:nvSpPr>
        <p:spPr>
          <a:xfrm>
            <a:off x="6311784" y="5927868"/>
            <a:ext cx="511679" cy="805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zh-TW" sz="44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9537942" y="5927868"/>
            <a:ext cx="1082348" cy="805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2-4</a:t>
            </a:r>
            <a:endParaRPr lang="zh-TW" altLang="zh-TW" sz="4400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4205945-6829-32FB-D9F5-50D297F852A2}"/>
              </a:ext>
            </a:extLst>
          </p:cNvPr>
          <p:cNvSpPr/>
          <p:nvPr/>
        </p:nvSpPr>
        <p:spPr>
          <a:xfrm>
            <a:off x="13106129" y="5927868"/>
            <a:ext cx="511679" cy="805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endParaRPr lang="zh-TW" altLang="zh-TW" sz="44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68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6" grpId="0" animBg="1"/>
      <p:bldP spid="4" grpId="0" animBg="1"/>
      <p:bldP spid="34" grpId="0" animBg="1"/>
      <p:bldP spid="40" grpId="0"/>
      <p:bldP spid="24" grpId="0"/>
      <p:bldP spid="25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-25734" y="0"/>
            <a:ext cx="18313734" cy="10311020"/>
            <a:chOff x="0" y="0"/>
            <a:chExt cx="18288000" cy="10287000"/>
          </a:xfrm>
        </p:grpSpPr>
        <p:sp>
          <p:nvSpPr>
            <p:cNvPr id="2" name="Freeform 2"/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525999" y="454740"/>
              <a:ext cx="15917348" cy="9325556"/>
              <a:chOff x="0" y="-38100"/>
              <a:chExt cx="3764577" cy="220556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 sz="20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922637" y="1050653"/>
              <a:ext cx="736712" cy="8185694"/>
            </a:xfrm>
            <a:custGeom>
              <a:avLst/>
              <a:gdLst/>
              <a:ahLst/>
              <a:cxnLst/>
              <a:rect l="l" t="t" r="r" b="b"/>
              <a:pathLst>
                <a:path w="736712" h="8185694">
                  <a:moveTo>
                    <a:pt x="0" y="0"/>
                  </a:moveTo>
                  <a:lnTo>
                    <a:pt x="736712" y="0"/>
                  </a:lnTo>
                  <a:lnTo>
                    <a:pt x="736712" y="8185694"/>
                  </a:lnTo>
                  <a:lnTo>
                    <a:pt x="0" y="818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153057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/>
          <p:cNvSpPr/>
          <p:nvPr/>
        </p:nvSpPr>
        <p:spPr>
          <a:xfrm>
            <a:off x="2214761" y="2854899"/>
            <a:ext cx="15460824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Q1-1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本課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用膝蓋跳舞的女孩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〉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是在說誰的故事？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______________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2" name="Freeform 7"/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7" name="圖片 4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800" y="132784"/>
            <a:ext cx="2019197" cy="394683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4AB6BDA4-A99C-9B9B-1A3C-1EFC9408F27A}"/>
              </a:ext>
            </a:extLst>
          </p:cNvPr>
          <p:cNvSpPr/>
          <p:nvPr/>
        </p:nvSpPr>
        <p:spPr>
          <a:xfrm>
            <a:off x="13469005" y="2723607"/>
            <a:ext cx="6203115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u="sng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郭韋齊</a:t>
            </a:r>
            <a:endParaRPr lang="zh-TW" altLang="zh-TW" sz="3600" b="1" u="sng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3FD15CE-BBE8-ABFB-28D0-F908D5651012}"/>
              </a:ext>
            </a:extLst>
          </p:cNvPr>
          <p:cNvSpPr/>
          <p:nvPr/>
        </p:nvSpPr>
        <p:spPr>
          <a:xfrm>
            <a:off x="2214761" y="4255909"/>
            <a:ext cx="14733853" cy="3314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Q1-2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作者全家人一起欣賞了一場特別的表演，舞台上的表演者有何特別之處？</a:t>
            </a:r>
          </a:p>
          <a:p>
            <a:pPr lvl="2">
              <a:lnSpc>
                <a:spcPct val="150000"/>
              </a:lnSpc>
            </a:pP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沒有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，卻能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出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            )</a:t>
            </a:r>
          </a:p>
          <a:p>
            <a:pPr lvl="2">
              <a:lnSpc>
                <a:spcPct val="150000"/>
              </a:lnSpc>
            </a:pP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沒有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，卻能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</a:t>
            </a:r>
            <a:r>
              <a:rPr lang="en-US" altLang="zh-TW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出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            )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8F27445-F8AF-FA5E-A8B0-97E29FED3FBC}"/>
              </a:ext>
            </a:extLst>
          </p:cNvPr>
          <p:cNvSpPr/>
          <p:nvPr/>
        </p:nvSpPr>
        <p:spPr>
          <a:xfrm>
            <a:off x="4104671" y="5940986"/>
            <a:ext cx="1780943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腳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501381-DAE0-962A-D1FC-F10C82F74E8E}"/>
              </a:ext>
            </a:extLst>
          </p:cNvPr>
          <p:cNvSpPr/>
          <p:nvPr/>
        </p:nvSpPr>
        <p:spPr>
          <a:xfrm>
            <a:off x="6925246" y="5940986"/>
            <a:ext cx="1780943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跳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821A42E-202A-7D3C-8919-BC51ED8107FE}"/>
              </a:ext>
            </a:extLst>
          </p:cNvPr>
          <p:cNvSpPr/>
          <p:nvPr/>
        </p:nvSpPr>
        <p:spPr>
          <a:xfrm>
            <a:off x="9229120" y="5940986"/>
            <a:ext cx="2668175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美妙的舞姿 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10EF1E7-D133-8EE5-161F-CD887D8A43DA}"/>
              </a:ext>
            </a:extLst>
          </p:cNvPr>
          <p:cNvSpPr/>
          <p:nvPr/>
        </p:nvSpPr>
        <p:spPr>
          <a:xfrm>
            <a:off x="4104671" y="6792244"/>
            <a:ext cx="1780943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手掌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8526B99-8DF9-F1B3-BCF4-453C1C96F94B}"/>
              </a:ext>
            </a:extLst>
          </p:cNvPr>
          <p:cNvSpPr/>
          <p:nvPr/>
        </p:nvSpPr>
        <p:spPr>
          <a:xfrm>
            <a:off x="6925246" y="6792244"/>
            <a:ext cx="1780943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彈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1B0EB17-F158-4542-995C-C1D35E214238}"/>
              </a:ext>
            </a:extLst>
          </p:cNvPr>
          <p:cNvSpPr/>
          <p:nvPr/>
        </p:nvSpPr>
        <p:spPr>
          <a:xfrm>
            <a:off x="9229120" y="6792244"/>
            <a:ext cx="2668175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動人的樂曲 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64204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4" grpId="0"/>
      <p:bldP spid="11" grpId="0"/>
      <p:bldP spid="25" grpId="0"/>
      <p:bldP spid="27" grpId="0"/>
      <p:bldP spid="29" grpId="0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FA866-B903-4C99-FD10-5174D381F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BBEE1B95-4250-4C17-650E-431E40817DB8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25DE36B-F15D-63EC-694A-1A7B1BBA75FA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2A7C693-7A36-D562-EF23-07A06A8165D2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05AA699-F6DE-B535-3149-A9376E9EED47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C5DDF21-EAC8-7003-8552-7E0057AB8C5D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0C9B3FE-9A8E-6BCF-47D6-82990B428DF7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2E69C417-9961-5A00-EB6B-E13707F9C156}"/>
              </a:ext>
            </a:extLst>
          </p:cNvPr>
          <p:cNvGrpSpPr/>
          <p:nvPr/>
        </p:nvGrpSpPr>
        <p:grpSpPr>
          <a:xfrm>
            <a:off x="-25734" y="0"/>
            <a:ext cx="18313734" cy="10311020"/>
            <a:chOff x="0" y="0"/>
            <a:chExt cx="18288000" cy="10287000"/>
          </a:xfrm>
        </p:grpSpPr>
        <p:sp>
          <p:nvSpPr>
            <p:cNvPr id="2" name="Freeform 2">
              <a:extLst>
                <a:ext uri="{FF2B5EF4-FFF2-40B4-BE49-F238E27FC236}">
                  <a16:creationId xmlns:a16="http://schemas.microsoft.com/office/drawing/2014/main" id="{7D799F8F-113D-EA86-BB73-AA1D15321614}"/>
                </a:ext>
              </a:extLst>
            </p:cNvPr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7208ED7C-76FB-9608-08BE-6B6A1DBBFAFD}"/>
                </a:ext>
              </a:extLst>
            </p:cNvPr>
            <p:cNvGrpSpPr/>
            <p:nvPr/>
          </p:nvGrpSpPr>
          <p:grpSpPr>
            <a:xfrm>
              <a:off x="1525999" y="454740"/>
              <a:ext cx="15917348" cy="9325556"/>
              <a:chOff x="0" y="-38100"/>
              <a:chExt cx="3764577" cy="2205567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0297A078-C32C-11CC-C901-CD9D09C1208F}"/>
                  </a:ext>
                </a:extLst>
              </p:cNvPr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401F8AC7-EA02-5E84-999C-00C238A31C9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 sz="20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FB519967-04BE-849A-BB75-1529C482BFE2}"/>
                </a:ext>
              </a:extLst>
            </p:cNvPr>
            <p:cNvSpPr/>
            <p:nvPr/>
          </p:nvSpPr>
          <p:spPr>
            <a:xfrm>
              <a:off x="922637" y="1050653"/>
              <a:ext cx="736712" cy="8185694"/>
            </a:xfrm>
            <a:custGeom>
              <a:avLst/>
              <a:gdLst/>
              <a:ahLst/>
              <a:cxnLst/>
              <a:rect l="l" t="t" r="r" b="b"/>
              <a:pathLst>
                <a:path w="736712" h="8185694">
                  <a:moveTo>
                    <a:pt x="0" y="0"/>
                  </a:moveTo>
                  <a:lnTo>
                    <a:pt x="736712" y="0"/>
                  </a:lnTo>
                  <a:lnTo>
                    <a:pt x="736712" y="8185694"/>
                  </a:lnTo>
                  <a:lnTo>
                    <a:pt x="0" y="818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36" name="圖片 35">
            <a:extLst>
              <a:ext uri="{FF2B5EF4-FFF2-40B4-BE49-F238E27FC236}">
                <a16:creationId xmlns:a16="http://schemas.microsoft.com/office/drawing/2014/main" id="{2A5C21A0-4935-67B7-AF71-20E5B5876FC4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id="{9F7D4907-FF3A-D527-F3EF-D4996054D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97EC540-D55F-6622-4344-6C9EC5721EB6}"/>
              </a:ext>
            </a:extLst>
          </p:cNvPr>
          <p:cNvSpPr/>
          <p:nvPr/>
        </p:nvSpPr>
        <p:spPr>
          <a:xfrm>
            <a:off x="0" y="153057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DA15A228-1249-0204-6DFC-07DA04CDA6A6}"/>
              </a:ext>
            </a:extLst>
          </p:cNvPr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id="{DD6D3969-1840-6BB0-7A3C-10AD0F0BA0E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800" y="132784"/>
            <a:ext cx="2019197" cy="39468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B3F04259-87F4-66B0-BE3F-139C8A654BBB}"/>
              </a:ext>
            </a:extLst>
          </p:cNvPr>
          <p:cNvSpPr/>
          <p:nvPr/>
        </p:nvSpPr>
        <p:spPr>
          <a:xfrm>
            <a:off x="2004921" y="2548036"/>
            <a:ext cx="15460824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根據第二到第四段的內容，完成下方表格。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E2A68228-CA3B-0D22-5B68-2F4094A0B5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414036"/>
              </p:ext>
            </p:extLst>
          </p:nvPr>
        </p:nvGraphicFramePr>
        <p:xfrm>
          <a:off x="2559885" y="3800072"/>
          <a:ext cx="13523937" cy="47355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61337">
                  <a:extLst>
                    <a:ext uri="{9D8B030D-6E8A-4147-A177-3AD203B41FA5}">
                      <a16:colId xmlns:a16="http://schemas.microsoft.com/office/drawing/2014/main" val="1677410475"/>
                    </a:ext>
                  </a:extLst>
                </a:gridCol>
                <a:gridCol w="11162600">
                  <a:extLst>
                    <a:ext uri="{9D8B030D-6E8A-4147-A177-3AD203B41FA5}">
                      <a16:colId xmlns:a16="http://schemas.microsoft.com/office/drawing/2014/main" val="341800411"/>
                    </a:ext>
                  </a:extLst>
                </a:gridCol>
              </a:tblGrid>
              <a:tr h="11838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事件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)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歲時因病</a:t>
                      </a:r>
                      <a:r>
                        <a:rPr lang="en-US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)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，導致</a:t>
                      </a:r>
                      <a:r>
                        <a:rPr lang="en-US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    )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8590892"/>
                  </a:ext>
                </a:extLst>
              </a:tr>
              <a:tr h="355163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挑戰</a:t>
                      </a:r>
                      <a:endParaRPr lang="zh-TW" sz="36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225" algn="just">
                        <a:lnSpc>
                          <a:spcPct val="150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重新學習</a:t>
                      </a:r>
                      <a:r>
                        <a:rPr lang="en-US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            )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marL="22225" algn="just">
                        <a:lnSpc>
                          <a:spcPct val="150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用</a:t>
                      </a:r>
                      <a:r>
                        <a:rPr lang="en-US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)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跳舞、用</a:t>
                      </a:r>
                      <a:r>
                        <a:rPr lang="en-US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)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彈琴</a:t>
                      </a:r>
                    </a:p>
                    <a:p>
                      <a:pPr marL="22225" algn="just">
                        <a:lnSpc>
                          <a:spcPct val="150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爬</a:t>
                      </a:r>
                      <a:r>
                        <a:rPr lang="en-US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)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、</a:t>
                      </a:r>
                      <a:r>
                        <a:rPr lang="en-US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  )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、泳渡</a:t>
                      </a:r>
                      <a:r>
                        <a:rPr lang="en-US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 )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50052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0D96E1B8-8A55-6DA3-7FDF-C11D60EC88F6}"/>
              </a:ext>
            </a:extLst>
          </p:cNvPr>
          <p:cNvSpPr/>
          <p:nvPr/>
        </p:nvSpPr>
        <p:spPr>
          <a:xfrm>
            <a:off x="4247567" y="4058107"/>
            <a:ext cx="2668175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七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D95CF1-0998-34C1-CAC3-C250E2D9B08B}"/>
              </a:ext>
            </a:extLst>
          </p:cNvPr>
          <p:cNvSpPr/>
          <p:nvPr/>
        </p:nvSpPr>
        <p:spPr>
          <a:xfrm>
            <a:off x="7620000" y="4058107"/>
            <a:ext cx="2668175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休克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E19C8ED-745B-D72A-CD64-150A7016ECBE}"/>
              </a:ext>
            </a:extLst>
          </p:cNvPr>
          <p:cNvSpPr/>
          <p:nvPr/>
        </p:nvSpPr>
        <p:spPr>
          <a:xfrm>
            <a:off x="11277600" y="4058107"/>
            <a:ext cx="2668175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四肢截肢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07136AD-5436-AD40-380E-0529281DBFA1}"/>
              </a:ext>
            </a:extLst>
          </p:cNvPr>
          <p:cNvSpPr/>
          <p:nvPr/>
        </p:nvSpPr>
        <p:spPr>
          <a:xfrm>
            <a:off x="7067158" y="5539287"/>
            <a:ext cx="3221017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生活上的細節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67E60DA-20FA-B4BB-E5C8-0F0053E09673}"/>
              </a:ext>
            </a:extLst>
          </p:cNvPr>
          <p:cNvSpPr/>
          <p:nvPr/>
        </p:nvSpPr>
        <p:spPr>
          <a:xfrm>
            <a:off x="4779983" y="6429528"/>
            <a:ext cx="3221017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膝蓋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15343F4-0FF0-ED61-7F17-4529BD654F40}"/>
              </a:ext>
            </a:extLst>
          </p:cNvPr>
          <p:cNvSpPr/>
          <p:nvPr/>
        </p:nvSpPr>
        <p:spPr>
          <a:xfrm>
            <a:off x="8458200" y="6417918"/>
            <a:ext cx="3221017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腕骨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AF5EB67-48C3-C535-15FA-03859907CE39}"/>
              </a:ext>
            </a:extLst>
          </p:cNvPr>
          <p:cNvSpPr/>
          <p:nvPr/>
        </p:nvSpPr>
        <p:spPr>
          <a:xfrm>
            <a:off x="7343578" y="7248885"/>
            <a:ext cx="3221017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單車環</a:t>
            </a:r>
            <a:r>
              <a:rPr lang="zh-TW" altLang="en-US" sz="3600" b="1" u="sng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臺</a:t>
            </a:r>
            <a:endParaRPr lang="zh-TW" altLang="zh-TW" sz="3600" b="1" u="sng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B5024C1-A973-39DB-07C5-637DCABBF1C0}"/>
              </a:ext>
            </a:extLst>
          </p:cNvPr>
          <p:cNvSpPr/>
          <p:nvPr/>
        </p:nvSpPr>
        <p:spPr>
          <a:xfrm>
            <a:off x="4779982" y="7260495"/>
            <a:ext cx="3221017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u="sng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玉山</a:t>
            </a:r>
            <a:endParaRPr lang="zh-TW" altLang="zh-TW" sz="3600" b="1" u="sng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3425E97-4D5B-09B5-A77D-D8D8D4329DBD}"/>
              </a:ext>
            </a:extLst>
          </p:cNvPr>
          <p:cNvSpPr/>
          <p:nvPr/>
        </p:nvSpPr>
        <p:spPr>
          <a:xfrm>
            <a:off x="11104583" y="7222431"/>
            <a:ext cx="3221017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u="sng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日月潭</a:t>
            </a:r>
            <a:endParaRPr lang="zh-TW" altLang="zh-TW" sz="3600" b="1" u="sng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0800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5" grpId="0"/>
      <p:bldP spid="26" grpId="0"/>
      <p:bldP spid="27" grpId="0"/>
      <p:bldP spid="29" grpId="0"/>
      <p:bldP spid="30" grpId="0"/>
      <p:bldP spid="31" grpId="0"/>
      <p:bldP spid="33" grpId="0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A180D-97E5-B005-D46A-29CC37F7C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A43E1315-2078-9E83-1802-6AFC891EBE53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71E01B0-36FA-9BF3-5E13-B159F67E16D3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5609EB2-2E6A-D9AE-1A0D-A8B0F7B03396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3A63074-E968-2F41-4331-F0175F72F17A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0047067-E89F-00C8-5C50-AB0D9F0F27C0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FE1A9F7-9F90-B2C5-BD80-7A04249C819E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6D4F3321-DB67-9C07-365B-A99A1155FAE8}"/>
              </a:ext>
            </a:extLst>
          </p:cNvPr>
          <p:cNvGrpSpPr/>
          <p:nvPr/>
        </p:nvGrpSpPr>
        <p:grpSpPr>
          <a:xfrm>
            <a:off x="-25734" y="0"/>
            <a:ext cx="18313734" cy="10311020"/>
            <a:chOff x="0" y="0"/>
            <a:chExt cx="18288000" cy="10287000"/>
          </a:xfrm>
        </p:grpSpPr>
        <p:sp>
          <p:nvSpPr>
            <p:cNvPr id="2" name="Freeform 2">
              <a:extLst>
                <a:ext uri="{FF2B5EF4-FFF2-40B4-BE49-F238E27FC236}">
                  <a16:creationId xmlns:a16="http://schemas.microsoft.com/office/drawing/2014/main" id="{406BFBA9-50D2-BA4B-3FF9-1B0E58817678}"/>
                </a:ext>
              </a:extLst>
            </p:cNvPr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744C7191-7186-7F91-B133-0416976E26F5}"/>
                </a:ext>
              </a:extLst>
            </p:cNvPr>
            <p:cNvGrpSpPr/>
            <p:nvPr/>
          </p:nvGrpSpPr>
          <p:grpSpPr>
            <a:xfrm>
              <a:off x="1525999" y="454740"/>
              <a:ext cx="15917348" cy="9325556"/>
              <a:chOff x="0" y="-38100"/>
              <a:chExt cx="3764577" cy="2205567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BACBCEE0-CC89-A53C-C665-CC3C5129686E}"/>
                  </a:ext>
                </a:extLst>
              </p:cNvPr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79215149-BFB3-9E96-5D9A-85EC03C9283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 sz="20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EF30E934-5AA5-EBE5-3D6E-B3DD174F9EA8}"/>
                </a:ext>
              </a:extLst>
            </p:cNvPr>
            <p:cNvSpPr/>
            <p:nvPr/>
          </p:nvSpPr>
          <p:spPr>
            <a:xfrm>
              <a:off x="922637" y="1050653"/>
              <a:ext cx="736712" cy="8185694"/>
            </a:xfrm>
            <a:custGeom>
              <a:avLst/>
              <a:gdLst/>
              <a:ahLst/>
              <a:cxnLst/>
              <a:rect l="l" t="t" r="r" b="b"/>
              <a:pathLst>
                <a:path w="736712" h="8185694">
                  <a:moveTo>
                    <a:pt x="0" y="0"/>
                  </a:moveTo>
                  <a:lnTo>
                    <a:pt x="736712" y="0"/>
                  </a:lnTo>
                  <a:lnTo>
                    <a:pt x="736712" y="8185694"/>
                  </a:lnTo>
                  <a:lnTo>
                    <a:pt x="0" y="818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36" name="圖片 35">
            <a:extLst>
              <a:ext uri="{FF2B5EF4-FFF2-40B4-BE49-F238E27FC236}">
                <a16:creationId xmlns:a16="http://schemas.microsoft.com/office/drawing/2014/main" id="{BDB8437F-ECF1-531C-4A1A-DE305020FC46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id="{2E9F0FDF-A2D7-4424-666F-CA835E235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F85C1A-C3EE-3A0F-50B7-C87C3D5C64E8}"/>
              </a:ext>
            </a:extLst>
          </p:cNvPr>
          <p:cNvSpPr/>
          <p:nvPr/>
        </p:nvSpPr>
        <p:spPr>
          <a:xfrm>
            <a:off x="0" y="153057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412D91A-1AB5-A7FE-FE87-98CC35A0B410}"/>
              </a:ext>
            </a:extLst>
          </p:cNvPr>
          <p:cNvSpPr/>
          <p:nvPr/>
        </p:nvSpPr>
        <p:spPr>
          <a:xfrm>
            <a:off x="2403661" y="2886331"/>
            <a:ext cx="15460824" cy="43532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Q3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作者覺得自己要向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郭韋齊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學習什麼？</a:t>
            </a:r>
          </a:p>
          <a:p>
            <a:pPr>
              <a:lnSpc>
                <a:spcPct val="200000"/>
              </a:lnSpc>
            </a:pP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郭韋齊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雖然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     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，還是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     )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，做自己喜歡做的事情。</a:t>
            </a:r>
          </a:p>
          <a:p>
            <a:pPr>
              <a:lnSpc>
                <a:spcPct val="200000"/>
              </a:lnSpc>
            </a:pP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2787808E-27BF-8E35-4501-0C0040C15271}"/>
              </a:ext>
            </a:extLst>
          </p:cNvPr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id="{7971EC6F-63A0-E0A2-2465-2FA3E7691E1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800" y="132784"/>
            <a:ext cx="2019197" cy="394683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CB932070-A8A9-BB7E-07E8-36FDBE3C665C}"/>
              </a:ext>
            </a:extLst>
          </p:cNvPr>
          <p:cNvSpPr/>
          <p:nvPr/>
        </p:nvSpPr>
        <p:spPr>
          <a:xfrm>
            <a:off x="4773431" y="4285126"/>
            <a:ext cx="2668175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失去手腳 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04EFB3C-9551-F030-0FAD-13C85C253A52}"/>
              </a:ext>
            </a:extLst>
          </p:cNvPr>
          <p:cNvSpPr/>
          <p:nvPr/>
        </p:nvSpPr>
        <p:spPr>
          <a:xfrm>
            <a:off x="8723300" y="4247192"/>
            <a:ext cx="2668175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克服困難 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5688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5" name="矩形 44"/>
          <p:cNvSpPr/>
          <p:nvPr/>
        </p:nvSpPr>
        <p:spPr>
          <a:xfrm>
            <a:off x="2385425" y="3098654"/>
            <a:ext cx="13942934" cy="4145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 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力克</a:t>
            </a:r>
            <a:r>
              <a:rPr lang="en-US" altLang="zh-TW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·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胡哲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是一位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澳洲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著作家、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基督教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佈道家和男演員，出生時患有「先天性四肢切斷症」就是俗稱的「海豹肢症」，從出生就沒有完整的四肢。請先觀看影片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曾被嘲笑，也想過輕生─五體不足演說家新人生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】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，並回答問題。</a:t>
            </a:r>
          </a:p>
          <a:p>
            <a:pPr>
              <a:lnSpc>
                <a:spcPct val="150000"/>
              </a:lnSpc>
            </a:pP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8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挑戰題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6"/>
          <p:cNvSpPr/>
          <p:nvPr/>
        </p:nvSpPr>
        <p:spPr>
          <a:xfrm>
            <a:off x="5321218" y="953703"/>
            <a:ext cx="1558266" cy="1257300"/>
          </a:xfrm>
          <a:custGeom>
            <a:avLst/>
            <a:gdLst/>
            <a:ahLst/>
            <a:cxnLst/>
            <a:rect l="l" t="t" r="r" b="b"/>
            <a:pathLst>
              <a:path w="4101416" h="3434936">
                <a:moveTo>
                  <a:pt x="0" y="0"/>
                </a:moveTo>
                <a:lnTo>
                  <a:pt x="4101416" y="0"/>
                </a:lnTo>
                <a:lnTo>
                  <a:pt x="4101416" y="3434936"/>
                </a:lnTo>
                <a:lnTo>
                  <a:pt x="0" y="343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pic>
        <p:nvPicPr>
          <p:cNvPr id="9" name="圖片 8" descr="一張含有 樣式, 像素, 針線 的圖片&#10;&#10;自動產生的描述">
            <a:extLst>
              <a:ext uri="{FF2B5EF4-FFF2-40B4-BE49-F238E27FC236}">
                <a16:creationId xmlns:a16="http://schemas.microsoft.com/office/drawing/2014/main" id="{FD444646-1036-A1D4-E5A3-8B21B9657F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8872" y="846808"/>
            <a:ext cx="1558266" cy="155826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文字方塊 3">
            <a:extLst>
              <a:ext uri="{FF2B5EF4-FFF2-40B4-BE49-F238E27FC236}">
                <a16:creationId xmlns:a16="http://schemas.microsoft.com/office/drawing/2014/main" id="{308A6820-DDE1-106C-3801-E52135BA4195}"/>
              </a:ext>
            </a:extLst>
          </p:cNvPr>
          <p:cNvSpPr txBox="1"/>
          <p:nvPr/>
        </p:nvSpPr>
        <p:spPr>
          <a:xfrm>
            <a:off x="8557138" y="986184"/>
            <a:ext cx="9580767" cy="12997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6000"/>
              </a:lnSpc>
              <a:defRPr sz="3600" b="1">
                <a:solidFill>
                  <a:schemeClr val="tx1"/>
                </a:solidFill>
                <a:latin typeface="華康中圓體(P)" panose="020F0500000000000000" pitchFamily="34" charset="-120"/>
                <a:ea typeface="華康中圓體(P)" panose="020F0500000000000000" pitchFamily="34" charset="-12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《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曾被嘲笑 也想過輕生 五體不足演說家 新人生 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 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李四端的雲端世界</a:t>
            </a:r>
            <a:r>
              <a:rPr lang="en-US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》</a:t>
            </a:r>
          </a:p>
          <a:p>
            <a:pPr>
              <a:lnSpc>
                <a:spcPct val="150000"/>
              </a:lnSpc>
            </a:pPr>
            <a:endParaRPr lang="en" altLang="zh-TW" sz="1100" dirty="0">
              <a:latin typeface="微軟正黑體" panose="020B0604030504040204" pitchFamily="34" charset="-120"/>
              <a:ea typeface="微軟正黑體" panose="020B0604030504040204" pitchFamily="34" charset="-120"/>
              <a:hlinkClick r:id="rId7"/>
            </a:endParaRPr>
          </a:p>
          <a:p>
            <a:pPr>
              <a:lnSpc>
                <a:spcPct val="150000"/>
              </a:lnSpc>
            </a:pPr>
            <a:r>
              <a:rPr lang="en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7"/>
              </a:rPr>
              <a:t>https://youtu.be/S3GHLINfnRc?si=QJ_cNwpgaeVfZRhH</a:t>
            </a:r>
            <a:r>
              <a:rPr lang="en" altLang="zh-TW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04093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1BE6A-8D6D-CA5A-AE2E-298AFBC54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9B84013-58F3-6CEC-AF0E-CE40EDEC811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1FAE90F-205B-3854-B0A5-85F0AA42E5E3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CC77D22-7CE8-CE33-E13F-AFB5BF135EF5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F2AF316-076A-F896-8594-948724DE9ADA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A8CA91E7-E976-9E65-E4FD-D3D101F2FA8B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63F60C9-411B-C3B3-91C9-C1D414248010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F0806A0-08E8-78B1-0327-1313F9C5F106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76B414C-CCC0-3395-B1D3-8CCE05A550DF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6017766C-D879-62DB-1DF8-2C1662F47F9B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61E321DE-4E8A-48CF-04C5-85B494D4EC3E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C2AC7DFC-4A8B-FAD8-6C9B-90497BDB6B83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77810265-694A-32FE-1DD8-AB6676B6829B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8" name="文字方塊 2">
            <a:extLst>
              <a:ext uri="{FF2B5EF4-FFF2-40B4-BE49-F238E27FC236}">
                <a16:creationId xmlns:a16="http://schemas.microsoft.com/office/drawing/2014/main" id="{40D3A192-D54C-BE11-E4D1-2FBCD8EA9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挑戰題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84468B79-B4D5-8135-E189-3A1381F84E61}"/>
              </a:ext>
            </a:extLst>
          </p:cNvPr>
          <p:cNvSpPr/>
          <p:nvPr/>
        </p:nvSpPr>
        <p:spPr>
          <a:xfrm>
            <a:off x="5321218" y="953703"/>
            <a:ext cx="1558266" cy="1257300"/>
          </a:xfrm>
          <a:custGeom>
            <a:avLst/>
            <a:gdLst/>
            <a:ahLst/>
            <a:cxnLst/>
            <a:rect l="l" t="t" r="r" b="b"/>
            <a:pathLst>
              <a:path w="4101416" h="3434936">
                <a:moveTo>
                  <a:pt x="0" y="0"/>
                </a:moveTo>
                <a:lnTo>
                  <a:pt x="4101416" y="0"/>
                </a:lnTo>
                <a:lnTo>
                  <a:pt x="4101416" y="3434936"/>
                </a:lnTo>
                <a:lnTo>
                  <a:pt x="0" y="343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55D8EE5F-7254-7BD3-7E06-515472461C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65F6E4B-E59C-5F25-F926-52CD720FBD09}"/>
              </a:ext>
            </a:extLst>
          </p:cNvPr>
          <p:cNvSpPr/>
          <p:nvPr/>
        </p:nvSpPr>
        <p:spPr>
          <a:xfrm>
            <a:off x="2199179" y="2696017"/>
            <a:ext cx="14705843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 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力克</a:t>
            </a:r>
            <a:r>
              <a:rPr lang="en-US" altLang="zh-TW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·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胡哲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面臨了那些挑戰？他是如何克服的？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13F6D80F-394B-583F-9D85-12FEAF7C1319}"/>
              </a:ext>
            </a:extLst>
          </p:cNvPr>
          <p:cNvCxnSpPr>
            <a:cxnSpLocks/>
          </p:cNvCxnSpPr>
          <p:nvPr/>
        </p:nvCxnSpPr>
        <p:spPr>
          <a:xfrm>
            <a:off x="2380779" y="4440032"/>
            <a:ext cx="14097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CB1753F7-3D67-259E-4F79-768CA3D163C8}"/>
              </a:ext>
            </a:extLst>
          </p:cNvPr>
          <p:cNvSpPr/>
          <p:nvPr/>
        </p:nvSpPr>
        <p:spPr>
          <a:xfrm>
            <a:off x="2380779" y="3788660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學生自行回答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339E74D-4934-5B67-6417-74EA07BF27D3}"/>
              </a:ext>
            </a:extLst>
          </p:cNvPr>
          <p:cNvSpPr/>
          <p:nvPr/>
        </p:nvSpPr>
        <p:spPr>
          <a:xfrm>
            <a:off x="2199179" y="4755830"/>
            <a:ext cx="14705843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如果你是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力克</a:t>
            </a:r>
            <a:r>
              <a:rPr lang="en-US" altLang="zh-TW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·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胡哲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，你覺得最困難的是什麼？為什麼？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5B5E01A0-A09B-0570-C98A-7E99C432361E}"/>
              </a:ext>
            </a:extLst>
          </p:cNvPr>
          <p:cNvCxnSpPr>
            <a:cxnSpLocks/>
          </p:cNvCxnSpPr>
          <p:nvPr/>
        </p:nvCxnSpPr>
        <p:spPr>
          <a:xfrm>
            <a:off x="2380779" y="6499845"/>
            <a:ext cx="14097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2FBF17FA-8643-C873-BCB9-B2A1947BC37F}"/>
              </a:ext>
            </a:extLst>
          </p:cNvPr>
          <p:cNvSpPr/>
          <p:nvPr/>
        </p:nvSpPr>
        <p:spPr>
          <a:xfrm>
            <a:off x="2380779" y="5848473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學生自行回答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C898136-F16F-17E8-7F71-AA69A9382C6D}"/>
              </a:ext>
            </a:extLst>
          </p:cNvPr>
          <p:cNvSpPr/>
          <p:nvPr/>
        </p:nvSpPr>
        <p:spPr>
          <a:xfrm>
            <a:off x="2199179" y="6983320"/>
            <a:ext cx="14705843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3. 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力克</a:t>
            </a:r>
            <a:r>
              <a:rPr lang="en-US" altLang="zh-TW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·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胡哲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提到要相信「人生沒有極限」，你怎麼理解這句話？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8C247980-2CB5-8DD4-BA77-3B05BC204097}"/>
              </a:ext>
            </a:extLst>
          </p:cNvPr>
          <p:cNvCxnSpPr>
            <a:cxnSpLocks/>
          </p:cNvCxnSpPr>
          <p:nvPr/>
        </p:nvCxnSpPr>
        <p:spPr>
          <a:xfrm>
            <a:off x="2380779" y="8727335"/>
            <a:ext cx="14097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F4EECE21-5D5D-9217-1F85-A0C4422154FD}"/>
              </a:ext>
            </a:extLst>
          </p:cNvPr>
          <p:cNvSpPr/>
          <p:nvPr/>
        </p:nvSpPr>
        <p:spPr>
          <a:xfrm>
            <a:off x="2380779" y="8075963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學生自行回答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30973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7" grpId="0"/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C8776-5C44-8321-97C5-4CDE36894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514B1FF-D4AB-CF28-B945-0E5F54C4230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D9A76EC-EC43-5AE3-054C-F9428B1FADF9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C969716-CBC8-B739-86CB-FF647DB5F661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B7637E4-65E7-8F24-D346-DA984D71A2D7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AA91DF96-C2AC-E373-4967-13C4FE8F53A3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6C79BD8-B35F-3E58-4689-7C2EA8BC5C91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6263E63-FE75-3ABE-F43E-9B24E3284F0A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1DAE672-2536-5EB9-AA94-B411FF267C86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0882FF75-BC37-D3DC-6D49-F0B2A6F7EFCD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4400C8B-080E-3056-1D0D-B6EB94DF8022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577C7A8A-4553-4D4D-6848-659F72D50B29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547ED9BB-81EE-9926-71E2-C20C476F7FE2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8" name="文字方塊 2">
            <a:extLst>
              <a:ext uri="{FF2B5EF4-FFF2-40B4-BE49-F238E27FC236}">
                <a16:creationId xmlns:a16="http://schemas.microsoft.com/office/drawing/2014/main" id="{BBBF8DB6-E1A7-B0AC-615A-F89CA0112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挑戰題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E4561EDD-640E-91E4-7198-D5D27A327C1A}"/>
              </a:ext>
            </a:extLst>
          </p:cNvPr>
          <p:cNvSpPr/>
          <p:nvPr/>
        </p:nvSpPr>
        <p:spPr>
          <a:xfrm>
            <a:off x="5321218" y="953703"/>
            <a:ext cx="1558266" cy="1257300"/>
          </a:xfrm>
          <a:custGeom>
            <a:avLst/>
            <a:gdLst/>
            <a:ahLst/>
            <a:cxnLst/>
            <a:rect l="l" t="t" r="r" b="b"/>
            <a:pathLst>
              <a:path w="4101416" h="3434936">
                <a:moveTo>
                  <a:pt x="0" y="0"/>
                </a:moveTo>
                <a:lnTo>
                  <a:pt x="4101416" y="0"/>
                </a:lnTo>
                <a:lnTo>
                  <a:pt x="4101416" y="3434936"/>
                </a:lnTo>
                <a:lnTo>
                  <a:pt x="0" y="343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B2238317-C2C1-240B-D13D-F5C8AA1A0A7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97312938-6F4E-44A0-8326-9E1CB52570CB}"/>
              </a:ext>
            </a:extLst>
          </p:cNvPr>
          <p:cNvSpPr/>
          <p:nvPr/>
        </p:nvSpPr>
        <p:spPr>
          <a:xfrm>
            <a:off x="2183939" y="2242716"/>
            <a:ext cx="14705843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4. 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郭韋齊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與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力克</a:t>
            </a:r>
            <a:r>
              <a:rPr lang="en-US" altLang="zh-TW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·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胡哲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的故事有什麼相似之處？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22B745E7-A990-C955-3401-C167B1AF83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474686"/>
              </p:ext>
            </p:extLst>
          </p:nvPr>
        </p:nvGraphicFramePr>
        <p:xfrm>
          <a:off x="2423725" y="3282003"/>
          <a:ext cx="14307796" cy="59766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1248">
                  <a:extLst>
                    <a:ext uri="{9D8B030D-6E8A-4147-A177-3AD203B41FA5}">
                      <a16:colId xmlns:a16="http://schemas.microsoft.com/office/drawing/2014/main" val="419169226"/>
                    </a:ext>
                  </a:extLst>
                </a:gridCol>
                <a:gridCol w="6473274">
                  <a:extLst>
                    <a:ext uri="{9D8B030D-6E8A-4147-A177-3AD203B41FA5}">
                      <a16:colId xmlns:a16="http://schemas.microsoft.com/office/drawing/2014/main" val="3842795586"/>
                    </a:ext>
                  </a:extLst>
                </a:gridCol>
                <a:gridCol w="6473274">
                  <a:extLst>
                    <a:ext uri="{9D8B030D-6E8A-4147-A177-3AD203B41FA5}">
                      <a16:colId xmlns:a16="http://schemas.microsoft.com/office/drawing/2014/main" val="373760548"/>
                    </a:ext>
                  </a:extLst>
                </a:gridCol>
              </a:tblGrid>
              <a:tr h="62527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8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2800" u="sng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郭韋齊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2800" u="sng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力克·胡哲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535813"/>
                  </a:ext>
                </a:extLst>
              </a:tr>
              <a:tr h="13378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28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挑戰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因</a:t>
                      </a:r>
                      <a:r>
                        <a:rPr 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)</a:t>
                      </a:r>
                      <a:r>
                        <a:rPr 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失去</a:t>
                      </a:r>
                      <a:r>
                        <a:rPr lang="en-US" alt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)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重新學習生活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天生</a:t>
                      </a:r>
                      <a:r>
                        <a:rPr lang="en-US" alt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)</a:t>
                      </a: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面對</a:t>
                      </a:r>
                      <a:r>
                        <a:rPr lang="en-US" alt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)</a:t>
                      </a:r>
                      <a:r>
                        <a:rPr 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與</a:t>
                      </a:r>
                      <a:r>
                        <a:rPr lang="en-US" alt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)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7030858"/>
                  </a:ext>
                </a:extLst>
              </a:tr>
              <a:tr h="13378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28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應對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28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用膝蓋跳舞，用腕骨彈琴</a:t>
                      </a: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28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堅持不懈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28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透過演講和書寫激勵他人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507156"/>
                  </a:ext>
                </a:extLst>
              </a:tr>
              <a:tr h="13378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28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成就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28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成為舞者、鋼琴家，完成環台挑戰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成為</a:t>
                      </a:r>
                      <a:r>
                        <a:rPr 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               )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出版影響廣泛的書籍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097579"/>
                  </a:ext>
                </a:extLst>
              </a:tr>
              <a:tr h="13378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28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影響</a:t>
                      </a:r>
                      <a:endParaRPr lang="zh-TW" sz="28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950712"/>
                  </a:ext>
                </a:extLst>
              </a:tr>
            </a:tbl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D0615512-2294-51B9-517E-FC2809775F06}"/>
              </a:ext>
            </a:extLst>
          </p:cNvPr>
          <p:cNvSpPr/>
          <p:nvPr/>
        </p:nvSpPr>
        <p:spPr>
          <a:xfrm>
            <a:off x="5715000" y="4086880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截肢</a:t>
            </a:r>
            <a:endParaRPr lang="zh-TW" alt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0428478-E7A8-803A-733E-444AE8A9B1C0}"/>
              </a:ext>
            </a:extLst>
          </p:cNvPr>
          <p:cNvSpPr/>
          <p:nvPr/>
        </p:nvSpPr>
        <p:spPr>
          <a:xfrm>
            <a:off x="7783989" y="4086880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四肢</a:t>
            </a:r>
            <a:endParaRPr lang="zh-TW" alt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17A1467-4F49-387A-3F11-BE145C4FC73D}"/>
              </a:ext>
            </a:extLst>
          </p:cNvPr>
          <p:cNvSpPr/>
          <p:nvPr/>
        </p:nvSpPr>
        <p:spPr>
          <a:xfrm>
            <a:off x="13182600" y="4086880"/>
            <a:ext cx="12618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無四肢</a:t>
            </a:r>
            <a:endParaRPr lang="zh-TW" alt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D8DEDF9-E483-C882-A278-8501B8E694BB}"/>
              </a:ext>
            </a:extLst>
          </p:cNvPr>
          <p:cNvSpPr/>
          <p:nvPr/>
        </p:nvSpPr>
        <p:spPr>
          <a:xfrm>
            <a:off x="12570624" y="4693823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自卑</a:t>
            </a:r>
            <a:endParaRPr lang="zh-TW" alt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16D11CC-3AEF-4A06-0D6C-5F931F5FAB87}"/>
              </a:ext>
            </a:extLst>
          </p:cNvPr>
          <p:cNvSpPr/>
          <p:nvPr/>
        </p:nvSpPr>
        <p:spPr>
          <a:xfrm>
            <a:off x="14173200" y="4691390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偏見</a:t>
            </a:r>
            <a:endParaRPr lang="zh-TW" alt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A823DF7-C580-99B7-BFEF-528C2EE30FD7}"/>
              </a:ext>
            </a:extLst>
          </p:cNvPr>
          <p:cNvSpPr/>
          <p:nvPr/>
        </p:nvSpPr>
        <p:spPr>
          <a:xfrm>
            <a:off x="12778643" y="6789582"/>
            <a:ext cx="20697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國際演說家 </a:t>
            </a:r>
            <a:endParaRPr lang="zh-TW" alt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3C3D030-B318-880C-F985-AD47A3C0C3AF}"/>
              </a:ext>
            </a:extLst>
          </p:cNvPr>
          <p:cNvSpPr/>
          <p:nvPr/>
        </p:nvSpPr>
        <p:spPr>
          <a:xfrm>
            <a:off x="4979245" y="8108079"/>
            <a:ext cx="380047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即使缺乏四肢</a:t>
            </a:r>
          </a:p>
          <a:p>
            <a:pPr algn="ctr"/>
            <a:r>
              <a:rPr lang="zh-TW" altLang="en-US" sz="2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人生也能精彩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D3670F5-0D97-1443-7291-7FD8F3C08794}"/>
              </a:ext>
            </a:extLst>
          </p:cNvPr>
          <p:cNvSpPr/>
          <p:nvPr/>
        </p:nvSpPr>
        <p:spPr>
          <a:xfrm>
            <a:off x="11573196" y="8108079"/>
            <a:ext cx="380047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人生無極限</a:t>
            </a:r>
          </a:p>
          <a:p>
            <a:pPr algn="ctr"/>
            <a:r>
              <a:rPr lang="zh-TW" altLang="en-US" sz="2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困境中找到價值</a:t>
            </a:r>
          </a:p>
          <a:p>
            <a:pPr algn="ctr"/>
            <a:endParaRPr lang="zh-TW" altLang="en-US" sz="28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257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5" grpId="0"/>
      <p:bldP spid="16" grpId="0"/>
      <p:bldP spid="17" grpId="0"/>
      <p:bldP spid="18" grpId="0"/>
      <p:bldP spid="31" grpId="0"/>
      <p:bldP spid="3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3A062-88A9-037C-E2F9-15E0956FE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3693986-E09A-01FE-D986-09436913D75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A3ABE56-19E7-551B-05A1-F8755131F168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B4C3857-7468-48E4-3A6F-09297131E01D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264CA8A-725C-6CB0-BD1F-08F93F9FB975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1F5CE0A-F1DC-E85F-DAB9-8696533D7AB9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B78635E-7EBF-A142-03E4-8CA0DA6A006D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242EC06-52FD-C993-568F-7D89D2CD4BA3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0A6940FA-5DE6-EDCA-4C60-471D796A791B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F9223016-A01C-A2A6-9688-45EE8E2013AD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36DC306D-2CD6-4FFE-E85C-27336EE4CA69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67D6C46F-AA26-693A-C8E1-EC2D391ECBE4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02A762E0-D7E4-0F4E-9F83-E7A1053AE2D3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8" name="文字方塊 2">
            <a:extLst>
              <a:ext uri="{FF2B5EF4-FFF2-40B4-BE49-F238E27FC236}">
                <a16:creationId xmlns:a16="http://schemas.microsoft.com/office/drawing/2014/main" id="{280F4BF0-E0D0-CED1-73BF-B95A23DF8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挑戰題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B91D4CE6-CD15-5BFD-E073-FE69EFF05F16}"/>
              </a:ext>
            </a:extLst>
          </p:cNvPr>
          <p:cNvSpPr/>
          <p:nvPr/>
        </p:nvSpPr>
        <p:spPr>
          <a:xfrm>
            <a:off x="5321218" y="953703"/>
            <a:ext cx="1558266" cy="1257300"/>
          </a:xfrm>
          <a:custGeom>
            <a:avLst/>
            <a:gdLst/>
            <a:ahLst/>
            <a:cxnLst/>
            <a:rect l="l" t="t" r="r" b="b"/>
            <a:pathLst>
              <a:path w="4101416" h="3434936">
                <a:moveTo>
                  <a:pt x="0" y="0"/>
                </a:moveTo>
                <a:lnTo>
                  <a:pt x="4101416" y="0"/>
                </a:lnTo>
                <a:lnTo>
                  <a:pt x="4101416" y="3434936"/>
                </a:lnTo>
                <a:lnTo>
                  <a:pt x="0" y="343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52BB69F4-BDF8-5AA3-07ED-9A70AB8C0B3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D3E21D8D-CA34-8F34-15E4-A0A8679A4A03}"/>
              </a:ext>
            </a:extLst>
          </p:cNvPr>
          <p:cNvSpPr/>
          <p:nvPr/>
        </p:nvSpPr>
        <p:spPr>
          <a:xfrm>
            <a:off x="2199179" y="2696017"/>
            <a:ext cx="14705843" cy="1544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5.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如果你只能選擇一個詞來形容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力克</a:t>
            </a:r>
            <a:r>
              <a:rPr lang="en-US" altLang="zh-TW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·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胡哲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或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郭韋齊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，你會選什麼？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ts val="6000"/>
              </a:lnSpc>
            </a:pP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為什麼？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2B35FE18-2D7E-605A-7186-D8354611667F}"/>
              </a:ext>
            </a:extLst>
          </p:cNvPr>
          <p:cNvCxnSpPr>
            <a:cxnSpLocks/>
          </p:cNvCxnSpPr>
          <p:nvPr/>
        </p:nvCxnSpPr>
        <p:spPr>
          <a:xfrm>
            <a:off x="2317454" y="5264406"/>
            <a:ext cx="14097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924BF368-653C-EEE7-A167-0EF9F9C2E740}"/>
              </a:ext>
            </a:extLst>
          </p:cNvPr>
          <p:cNvSpPr/>
          <p:nvPr/>
        </p:nvSpPr>
        <p:spPr>
          <a:xfrm>
            <a:off x="2317454" y="4613034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學生自行回答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08219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8"/>
            <a:ext cx="15917348" cy="9535231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90993" y="534978"/>
            <a:ext cx="15917348" cy="9535231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ea typeface="華康新綜藝體" panose="02010609000101010101" pitchFamily="49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矩形 14"/>
          <p:cNvSpPr/>
          <p:nvPr/>
        </p:nvSpPr>
        <p:spPr>
          <a:xfrm>
            <a:off x="6908097" y="1257300"/>
            <a:ext cx="104438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※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請根據每一題的題目與答案，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繪製成「課文心智圖」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課文心智圖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pic>
        <p:nvPicPr>
          <p:cNvPr id="9" name="圖片 8" descr="一張含有 文字, 螢幕擷取畫面, 軟體, 陳列 的圖片&#10;&#10;自動產生的描述">
            <a:extLst>
              <a:ext uri="{FF2B5EF4-FFF2-40B4-BE49-F238E27FC236}">
                <a16:creationId xmlns:a16="http://schemas.microsoft.com/office/drawing/2014/main" id="{1AD2062C-4332-DFB9-3EBA-B671C1B1A6E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712" t="25610" r="2843" b="29406"/>
          <a:stretch/>
        </p:blipFill>
        <p:spPr bwMode="auto">
          <a:xfrm>
            <a:off x="1661266" y="3311791"/>
            <a:ext cx="15335741" cy="5029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54229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ea typeface="華康新綜藝體" panose="02010609000101010101" pitchFamily="49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5029200" y="4223193"/>
            <a:ext cx="933606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本課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MAPS</a:t>
            </a: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提問單學習完畢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!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077200" y="5372197"/>
            <a:ext cx="568671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下課啦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!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334" y="6745624"/>
            <a:ext cx="2530339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9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4400</TotalTime>
  <Words>956</Words>
  <Application>Microsoft Macintosh PowerPoint</Application>
  <PresentationFormat>自訂</PresentationFormat>
  <Paragraphs>235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6" baseType="lpstr">
      <vt:lpstr>Aptos</vt:lpstr>
      <vt:lpstr>華康新綜藝體</vt:lpstr>
      <vt:lpstr>微軟正黑體</vt:lpstr>
      <vt:lpstr>Arial</vt:lpstr>
      <vt:lpstr>微軟正黑體</vt:lpstr>
      <vt:lpstr>標楷體</vt:lpstr>
      <vt:lpstr>Calibri</vt:lpstr>
      <vt:lpstr>華康中圓體(P)</vt:lpstr>
      <vt:lpstr>AR ZhuYinEX1 Md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Orange Playful Illustration Memory Game Presentation</dc:title>
  <dc:creator>趙曼貽</dc:creator>
  <cp:lastModifiedBy>綺雯 林</cp:lastModifiedBy>
  <cp:revision>127</cp:revision>
  <dcterms:created xsi:type="dcterms:W3CDTF">2006-08-16T00:00:00Z</dcterms:created>
  <dcterms:modified xsi:type="dcterms:W3CDTF">2025-09-21T14:18:57Z</dcterms:modified>
  <dc:identifier>DAGOioWnJWE</dc:identifier>
</cp:coreProperties>
</file>