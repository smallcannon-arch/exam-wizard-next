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91" r:id="rId6"/>
    <p:sldId id="294" r:id="rId7"/>
    <p:sldId id="292" r:id="rId8"/>
    <p:sldId id="299" r:id="rId9"/>
    <p:sldId id="293" r:id="rId10"/>
    <p:sldId id="300" r:id="rId11"/>
    <p:sldId id="259" r:id="rId12"/>
    <p:sldId id="266" r:id="rId13"/>
  </p:sldIdLst>
  <p:sldSz cx="18288000" cy="10287000"/>
  <p:notesSz cx="6858000" cy="9144000"/>
  <p:embeddedFontLst>
    <p:embeddedFont>
      <p:font typeface="王漢宗特黑體" panose="02000500000000000000" pitchFamily="2" charset="-120"/>
      <p:regular r:id="rId15"/>
    </p:embeddedFont>
    <p:embeddedFont>
      <p:font typeface="微軟正黑體" panose="020B0604030504040204" pitchFamily="34" charset="-120"/>
      <p:regular r:id="rId16"/>
      <p:bold r:id="rId17"/>
    </p:embeddedFont>
    <p:embeddedFont>
      <p:font typeface="微軟正黑體" panose="020B0604030504040204" pitchFamily="34" charset="-120"/>
      <p:regular r:id="rId16"/>
      <p:bold r:id="rId17"/>
    </p:embeddedFont>
    <p:embeddedFont>
      <p:font typeface="標楷體" panose="03000509000000000000" pitchFamily="49" charset="-12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9D9"/>
    <a:srgbClr val="CBC1DA"/>
    <a:srgbClr val="FFE2C7"/>
    <a:srgbClr val="EBD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8" autoAdjust="0"/>
    <p:restoredTop sz="94624" autoAdjust="0"/>
  </p:normalViewPr>
  <p:slideViewPr>
    <p:cSldViewPr>
      <p:cViewPr varScale="1">
        <p:scale>
          <a:sx n="56" d="100"/>
          <a:sy n="56" d="100"/>
        </p:scale>
        <p:origin x="192" y="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5.svg"/><Relationship Id="rId5" Type="http://schemas.openxmlformats.org/officeDocument/2006/relationships/image" Target="../media/image2.svg"/><Relationship Id="rId10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5.sv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5.sv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5.sv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5.sv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5.sv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4770582" y="5483431"/>
            <a:ext cx="94686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L08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行人的守護者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1066800" y="2114172"/>
            <a:ext cx="14668501" cy="3448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Tx/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課名「行人的守護者」，你會想到誰呢？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Tx/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小組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承接上題，小組挑選一個「行人的守護者」進行討論。這個「行人的守護者」有什麼特色和動作？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1226008-E42B-5BE0-4013-6298197F4D0F}"/>
              </a:ext>
            </a:extLst>
          </p:cNvPr>
          <p:cNvSpPr/>
          <p:nvPr/>
        </p:nvSpPr>
        <p:spPr>
          <a:xfrm>
            <a:off x="1578992" y="3291133"/>
            <a:ext cx="124907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導護媽媽爸爸、警察、斑馬線、紅綠燈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學生回答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6051289-5404-CC83-785C-D7CE84B6B9CB}"/>
              </a:ext>
            </a:extLst>
          </p:cNvPr>
          <p:cNvCxnSpPr>
            <a:cxnSpLocks/>
          </p:cNvCxnSpPr>
          <p:nvPr/>
        </p:nvCxnSpPr>
        <p:spPr>
          <a:xfrm>
            <a:off x="1649187" y="3852637"/>
            <a:ext cx="118914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: 圓角 3">
            <a:extLst>
              <a:ext uri="{FF2B5EF4-FFF2-40B4-BE49-F238E27FC236}">
                <a16:creationId xmlns:a16="http://schemas.microsoft.com/office/drawing/2014/main" id="{57C6881F-1A95-A290-2F4E-E1E6B8413AC0}"/>
              </a:ext>
            </a:extLst>
          </p:cNvPr>
          <p:cNvSpPr/>
          <p:nvPr/>
        </p:nvSpPr>
        <p:spPr>
          <a:xfrm>
            <a:off x="1371601" y="6201501"/>
            <a:ext cx="14020800" cy="303755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altLang="zh-TW" sz="4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我是</a:t>
            </a:r>
            <a:r>
              <a:rPr lang="en-US" altLang="zh-TW" sz="4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                                   )</a:t>
            </a:r>
            <a:endParaRPr lang="zh-TW" altLang="zh-TW" sz="40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zh-TW" sz="4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天天</a:t>
            </a:r>
            <a:r>
              <a:rPr lang="en-US" altLang="zh-TW" sz="4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                                   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8556A1-8F61-B4BC-26C4-15382093FCF0}"/>
              </a:ext>
            </a:extLst>
          </p:cNvPr>
          <p:cNvSpPr/>
          <p:nvPr/>
        </p:nvSpPr>
        <p:spPr>
          <a:xfrm>
            <a:off x="6298407" y="5794874"/>
            <a:ext cx="4167188" cy="9176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行人守護者</a:t>
            </a:r>
            <a:r>
              <a:rPr lang="en-US" altLang="zh-TW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            )</a:t>
            </a:r>
            <a:endParaRPr lang="zh-TW" altLang="en-US" sz="32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0396D91-5545-F592-5CFA-E4BBA041E976}"/>
              </a:ext>
            </a:extLst>
          </p:cNvPr>
          <p:cNvSpPr txBox="1"/>
          <p:nvPr/>
        </p:nvSpPr>
        <p:spPr>
          <a:xfrm>
            <a:off x="7239000" y="9520443"/>
            <a:ext cx="2486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kern="100" dirty="0">
                <a:effectLst/>
                <a:latin typeface="微軟正黑體" panose="020B0604030504040204" pitchFamily="34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2400" b="1" kern="1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可以畫小插圖</a:t>
            </a:r>
            <a:r>
              <a:rPr lang="zh-TW" altLang="en-US" sz="2400" b="1" kern="1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呵</a:t>
            </a:r>
            <a:r>
              <a:rPr lang="zh-TW" altLang="en-US" sz="2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！</a:t>
            </a:r>
            <a:endParaRPr lang="zh-TW" altLang="en-US" sz="2400" b="1" dirty="0"/>
          </a:p>
        </p:txBody>
      </p:sp>
      <p:sp>
        <p:nvSpPr>
          <p:cNvPr id="19" name="箭號: 向上 9">
            <a:extLst>
              <a:ext uri="{FF2B5EF4-FFF2-40B4-BE49-F238E27FC236}">
                <a16:creationId xmlns:a16="http://schemas.microsoft.com/office/drawing/2014/main" id="{32EECB08-5734-27F1-C3EC-6234351E71CB}"/>
              </a:ext>
            </a:extLst>
          </p:cNvPr>
          <p:cNvSpPr/>
          <p:nvPr/>
        </p:nvSpPr>
        <p:spPr>
          <a:xfrm>
            <a:off x="6889976" y="9349705"/>
            <a:ext cx="471488" cy="584775"/>
          </a:xfrm>
          <a:prstGeom prst="up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343663"/>
            <a:ext cx="5542194" cy="1275837"/>
            <a:chOff x="0" y="0"/>
            <a:chExt cx="2188840" cy="1097141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28729" y="2704007"/>
            <a:ext cx="205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識字策略</a:t>
            </a:r>
            <a:endParaRPr lang="zh-TW" altLang="en-US" sz="2800" dirty="0">
              <a:solidFill>
                <a:schemeClr val="accent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3460" y="3823039"/>
            <a:ext cx="15315294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請以「    」為部件，加上偏旁形成另一個新字後，再造一個詞。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請小心造詞，因為最後是使用你造的詞來造長句喔！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159B49-469A-62DF-479F-6C2FBEABB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595015"/>
              </p:ext>
            </p:extLst>
          </p:nvPr>
        </p:nvGraphicFramePr>
        <p:xfrm>
          <a:off x="2183754" y="5629576"/>
          <a:ext cx="15315293" cy="39180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1403">
                  <a:extLst>
                    <a:ext uri="{9D8B030D-6E8A-4147-A177-3AD203B41FA5}">
                      <a16:colId xmlns:a16="http://schemas.microsoft.com/office/drawing/2014/main" val="4227290386"/>
                    </a:ext>
                  </a:extLst>
                </a:gridCol>
                <a:gridCol w="2646363">
                  <a:extLst>
                    <a:ext uri="{9D8B030D-6E8A-4147-A177-3AD203B41FA5}">
                      <a16:colId xmlns:a16="http://schemas.microsoft.com/office/drawing/2014/main" val="1199907279"/>
                    </a:ext>
                  </a:extLst>
                </a:gridCol>
                <a:gridCol w="2646363">
                  <a:extLst>
                    <a:ext uri="{9D8B030D-6E8A-4147-A177-3AD203B41FA5}">
                      <a16:colId xmlns:a16="http://schemas.microsoft.com/office/drawing/2014/main" val="2526551720"/>
                    </a:ext>
                  </a:extLst>
                </a:gridCol>
                <a:gridCol w="8131164">
                  <a:extLst>
                    <a:ext uri="{9D8B030D-6E8A-4147-A177-3AD203B41FA5}">
                      <a16:colId xmlns:a16="http://schemas.microsoft.com/office/drawing/2014/main" val="1713945109"/>
                    </a:ext>
                  </a:extLst>
                </a:gridCol>
              </a:tblGrid>
              <a:tr h="133251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部件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加偏旁成新字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注音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造詞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完整一小段 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句中放入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並加入想像 </a:t>
                      </a:r>
                      <a:r>
                        <a:rPr lang="zh-TW" altLang="en-US" sz="30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情境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，最後也要加入自己的 </a:t>
                      </a:r>
                      <a:r>
                        <a:rPr lang="zh-TW" altLang="en-US" sz="30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感受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，成為完整一小段 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128580"/>
                  </a:ext>
                </a:extLst>
              </a:tr>
              <a:tr h="1292777">
                <a:tc rowSpan="2"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68531"/>
                  </a:ext>
                </a:extLst>
              </a:tr>
              <a:tr h="12927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920869"/>
                  </a:ext>
                </a:extLst>
              </a:tr>
            </a:tbl>
          </a:graphicData>
        </a:graphic>
      </p:graphicFrame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C946FF2-70E8-EB66-089A-C7F21CA6E501}"/>
              </a:ext>
            </a:extLst>
          </p:cNvPr>
          <p:cNvCxnSpPr>
            <a:cxnSpLocks/>
          </p:cNvCxnSpPr>
          <p:nvPr/>
        </p:nvCxnSpPr>
        <p:spPr>
          <a:xfrm>
            <a:off x="9677400" y="75819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9E78C2AF-B619-7EBA-47F5-0D9A9D7BFAF8}"/>
              </a:ext>
            </a:extLst>
          </p:cNvPr>
          <p:cNvCxnSpPr>
            <a:cxnSpLocks/>
          </p:cNvCxnSpPr>
          <p:nvPr/>
        </p:nvCxnSpPr>
        <p:spPr>
          <a:xfrm>
            <a:off x="9677400" y="83439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3DC4F53-A7E5-1AC7-989F-10CF60CBF444}"/>
              </a:ext>
            </a:extLst>
          </p:cNvPr>
          <p:cNvCxnSpPr>
            <a:cxnSpLocks/>
          </p:cNvCxnSpPr>
          <p:nvPr/>
        </p:nvCxnSpPr>
        <p:spPr>
          <a:xfrm>
            <a:off x="9677400" y="90297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984C81EA-CC12-FBAD-B2FC-2D1C4690FAD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27" b="11686"/>
          <a:stretch/>
        </p:blipFill>
        <p:spPr bwMode="auto">
          <a:xfrm>
            <a:off x="2183754" y="3674882"/>
            <a:ext cx="630873" cy="10295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BB3EEA6-7855-DEBE-51C3-282534454180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27" b="11686"/>
          <a:stretch/>
        </p:blipFill>
        <p:spPr bwMode="auto">
          <a:xfrm>
            <a:off x="2677249" y="7356345"/>
            <a:ext cx="859473" cy="14025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74898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1963" y="2643809"/>
            <a:ext cx="1599966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這一課總共分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段「自然段」，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把自然段中在說相同事情的段落歸類成一大段，成為「意義段」。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17223" y="2719839"/>
            <a:ext cx="106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31865" y="4725770"/>
            <a:ext cx="7374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7040751" y="4664214"/>
            <a:ext cx="274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記敘文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A7FBB223-29C5-A110-9736-920F3F883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378170"/>
              </p:ext>
            </p:extLst>
          </p:nvPr>
        </p:nvGraphicFramePr>
        <p:xfrm>
          <a:off x="2569097" y="5875218"/>
          <a:ext cx="15218866" cy="2459166"/>
        </p:xfrm>
        <a:graphic>
          <a:graphicData uri="http://schemas.openxmlformats.org/drawingml/2006/table">
            <a:tbl>
              <a:tblPr firstRow="1" firstCol="1" bandRow="1"/>
              <a:tblGrid>
                <a:gridCol w="222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2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2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04800"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一、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的</a:t>
                      </a:r>
                      <a:endParaRPr lang="en-US" altLang="zh-TW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304800"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自我介紹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二、路口的日常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三、小綠人的心願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自然段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TW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7653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E2DE042C-A762-6C7B-3439-8F081C654486}"/>
              </a:ext>
            </a:extLst>
          </p:cNvPr>
          <p:cNvSpPr/>
          <p:nvPr/>
        </p:nvSpPr>
        <p:spPr>
          <a:xfrm>
            <a:off x="6771073" y="7426971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C7BD861-2321-8DF8-86CA-976E20CD6CD2}"/>
              </a:ext>
            </a:extLst>
          </p:cNvPr>
          <p:cNvSpPr/>
          <p:nvPr/>
        </p:nvSpPr>
        <p:spPr>
          <a:xfrm>
            <a:off x="15504294" y="7426972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4-5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D16FA18-7BD6-C1B2-2E71-BCC5D52DADFA}"/>
              </a:ext>
            </a:extLst>
          </p:cNvPr>
          <p:cNvSpPr/>
          <p:nvPr/>
        </p:nvSpPr>
        <p:spPr>
          <a:xfrm>
            <a:off x="6563505" y="5983881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小綠人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FB4984-E959-92F4-F579-B6A9707D5144}"/>
              </a:ext>
            </a:extLst>
          </p:cNvPr>
          <p:cNvSpPr/>
          <p:nvPr/>
        </p:nvSpPr>
        <p:spPr>
          <a:xfrm>
            <a:off x="10913361" y="7426971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5" grpId="0"/>
      <p:bldP spid="28" grpId="0"/>
      <p:bldP spid="29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04998" y="300057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905000" y="3683050"/>
            <a:ext cx="15632130" cy="5911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從第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段文本的敘述中，你可以推測出「我」是誰嗎？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文本中的「我」是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承接上題，請問是哪個句子讓你知道的？你的理由或想法為何？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段的</a:t>
            </a:r>
            <a:r>
              <a:rPr lang="en-US" altLang="zh-TW" sz="32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填寫課文中的句子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讓我推測出「我」是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因為</a:t>
            </a:r>
          </a:p>
          <a:p>
            <a:pPr>
              <a:lnSpc>
                <a:spcPct val="150000"/>
              </a:lnSpc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11936" y="4521079"/>
            <a:ext cx="36456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小綠人 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綠燈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39DCBD-7560-FCB8-58D4-CA9AC68C3ECF}"/>
              </a:ext>
            </a:extLst>
          </p:cNvPr>
          <p:cNvSpPr/>
          <p:nvPr/>
        </p:nvSpPr>
        <p:spPr>
          <a:xfrm>
            <a:off x="12214332" y="3942692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 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613E03-47A5-A1A5-74FD-B6F19D8D35D9}"/>
              </a:ext>
            </a:extLst>
          </p:cNvPr>
          <p:cNvSpPr/>
          <p:nvPr/>
        </p:nvSpPr>
        <p:spPr>
          <a:xfrm>
            <a:off x="3047998" y="5883520"/>
            <a:ext cx="13064477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                      天天站在馬路口，引導人們走過行人穿越道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我會倒數計時，身體發出閃亮的綠色光芒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學生回答 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4B86C06-7A19-7E85-48D4-168654679635}"/>
              </a:ext>
            </a:extLst>
          </p:cNvPr>
          <p:cNvSpPr/>
          <p:nvPr/>
        </p:nvSpPr>
        <p:spPr>
          <a:xfrm>
            <a:off x="3047998" y="8127475"/>
            <a:ext cx="36456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學生回答 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75F6A1-4F7C-9943-40A7-69AA8D9B66FA}"/>
              </a:ext>
            </a:extLst>
          </p:cNvPr>
          <p:cNvSpPr/>
          <p:nvPr/>
        </p:nvSpPr>
        <p:spPr>
          <a:xfrm>
            <a:off x="14080988" y="5401230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 </a:t>
            </a:r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E0652DE-4D0E-E22E-6F30-84906FDB4CA6}"/>
              </a:ext>
            </a:extLst>
          </p:cNvPr>
          <p:cNvCxnSpPr>
            <a:cxnSpLocks/>
          </p:cNvCxnSpPr>
          <p:nvPr/>
        </p:nvCxnSpPr>
        <p:spPr>
          <a:xfrm>
            <a:off x="8030490" y="6654850"/>
            <a:ext cx="80819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18A82A11-B18F-E2D3-CD15-CE57032DAFF4}"/>
              </a:ext>
            </a:extLst>
          </p:cNvPr>
          <p:cNvCxnSpPr>
            <a:cxnSpLocks/>
          </p:cNvCxnSpPr>
          <p:nvPr/>
        </p:nvCxnSpPr>
        <p:spPr>
          <a:xfrm>
            <a:off x="3047998" y="7340650"/>
            <a:ext cx="130644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99BF4BAB-7148-E882-110B-4A75E03D538C}"/>
              </a:ext>
            </a:extLst>
          </p:cNvPr>
          <p:cNvSpPr/>
          <p:nvPr/>
        </p:nvSpPr>
        <p:spPr>
          <a:xfrm>
            <a:off x="5898757" y="7446446"/>
            <a:ext cx="36456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小綠人 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綠燈 </a:t>
            </a: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8A1C7716-91D0-EAB7-EEB3-E3B21FB89839}"/>
              </a:ext>
            </a:extLst>
          </p:cNvPr>
          <p:cNvCxnSpPr>
            <a:cxnSpLocks/>
          </p:cNvCxnSpPr>
          <p:nvPr/>
        </p:nvCxnSpPr>
        <p:spPr>
          <a:xfrm>
            <a:off x="3886198" y="8712250"/>
            <a:ext cx="80819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4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7" grpId="0"/>
      <p:bldP spid="18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A20FA-DB78-ECE3-6104-E6024514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1B4852-AEC7-DFC6-2A5F-AF5CDBB5E7C8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DE4FD0-FD9B-1824-B848-D74524A20D1F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23087A0-8E63-CA13-6480-3176684CCD75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82971F7-2D4A-2F0B-D12D-D910400C6C44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228C68F-9F3B-3845-70CA-7F9E13B19F46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4DB7014-F482-C695-0DEA-229E690A6ED2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51D312F-3B6B-EDE7-D02B-23311CD034F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6CBA315C-D3CC-9118-A037-A56C6F83FB9E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8DE10331-F06F-2526-556C-CC3A095B6492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3E3B27D9-B1BA-2E6A-00A5-CAE6A7CD9DC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157979C-636D-E066-1456-00A9B0A83BDE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21030B-6B6E-336C-48BF-B3326E4D22BB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21BB41-738E-4D92-3781-3B1462A8E456}"/>
              </a:ext>
            </a:extLst>
          </p:cNvPr>
          <p:cNvSpPr/>
          <p:nvPr/>
        </p:nvSpPr>
        <p:spPr>
          <a:xfrm>
            <a:off x="1904998" y="300057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04B37F9B-A51D-5901-752F-2B1B4F8047C6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4AC4074-085E-942A-511D-B797ADF99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023243"/>
              </p:ext>
            </p:extLst>
          </p:nvPr>
        </p:nvGraphicFramePr>
        <p:xfrm>
          <a:off x="1904999" y="4005302"/>
          <a:ext cx="15392402" cy="1827467"/>
        </p:xfrm>
        <a:graphic>
          <a:graphicData uri="http://schemas.openxmlformats.org/drawingml/2006/table">
            <a:tbl>
              <a:tblPr firstRow="1" firstCol="1" bandRow="1"/>
              <a:tblGrid>
                <a:gridCol w="1539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</a:t>
                      </a:r>
                      <a:r>
                        <a:rPr lang="en-US" altLang="zh-TW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的自我介紹。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70AA25D4-A242-5594-6A3F-5E87C03AA609}"/>
              </a:ext>
            </a:extLst>
          </p:cNvPr>
          <p:cNvSpPr/>
          <p:nvPr/>
        </p:nvSpPr>
        <p:spPr>
          <a:xfrm>
            <a:off x="1426737" y="4983659"/>
            <a:ext cx="364565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小綠人</a:t>
            </a:r>
          </a:p>
        </p:txBody>
      </p:sp>
    </p:spTree>
    <p:extLst>
      <p:ext uri="{BB962C8B-B14F-4D97-AF65-F5344CB8AC3E}">
        <p14:creationId xmlns:p14="http://schemas.microsoft.com/office/powerpoint/2010/main" val="188227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1DA08-ED59-5909-F207-189B0BC8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3C5099-3A39-06AC-B004-9C6E60AC7686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516720-4C03-4FF2-BF2D-DB490F3E224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2A7B776-55DA-161A-FE4E-D883BFFDF323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36B7FA98-F1CD-7B7B-15B1-AA2E7E54528D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163C4CE-454C-872A-A3D7-4712976DE631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01DB097-A10D-ADC4-F586-3BC93239C17A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463BE92A-DDC0-0CFF-94B6-59B728ABC3F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793BD630-CFAF-9EC4-70B0-072B37D8A5A0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CBBEFF8-5577-B86E-0122-8906781CCED2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69435FC-B535-983D-FE0D-B03D55EC778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280BA8A-CC1B-8094-896B-2A5A35BA2948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23F5C3-BC8C-6895-BD8C-16019ADAFB27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34E074-5860-EE98-6620-D702418FE715}"/>
              </a:ext>
            </a:extLst>
          </p:cNvPr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2-3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92695F00-DE84-B69F-9488-9E3EBC6B3F86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BE2DF0-04A9-ACB8-0719-EA81F9C7980D}"/>
              </a:ext>
            </a:extLst>
          </p:cNvPr>
          <p:cNvSpPr/>
          <p:nvPr/>
        </p:nvSpPr>
        <p:spPr>
          <a:xfrm>
            <a:off x="1447802" y="3390900"/>
            <a:ext cx="15632130" cy="443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「我喜歡欣賞路口風光」、「對呀！要等小綠人出現，小綠人是給行人看的綠燈。」請結合自己的生活經驗與第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段文本，請問你知道了哪些訊息？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□ 現在是綠燈，行人通行                           □ 現在是紅燈，行人不能走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□  我是指小綠人                                           □ 我是指小紅人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□ 現在是下午，應該是放學時間               □ 現在是早上，應該是上學時間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□ 現在的風景優美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DB0AEB-0502-E1BF-9C09-B6A877D5608F}"/>
              </a:ext>
            </a:extLst>
          </p:cNvPr>
          <p:cNvSpPr/>
          <p:nvPr/>
        </p:nvSpPr>
        <p:spPr>
          <a:xfrm>
            <a:off x="13361635" y="4365310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42A6F4F-7A28-9E61-7629-86F3F7CA6067}"/>
              </a:ext>
            </a:extLst>
          </p:cNvPr>
          <p:cNvSpPr txBox="1"/>
          <p:nvPr/>
        </p:nvSpPr>
        <p:spPr>
          <a:xfrm>
            <a:off x="1964949" y="5716369"/>
            <a:ext cx="625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■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EDA5B36-2559-8C1C-6ECD-FE42C76A9D35}"/>
              </a:ext>
            </a:extLst>
          </p:cNvPr>
          <p:cNvSpPr txBox="1"/>
          <p:nvPr/>
        </p:nvSpPr>
        <p:spPr>
          <a:xfrm>
            <a:off x="9121984" y="4999281"/>
            <a:ext cx="625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■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17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5406E-A0DE-C52D-9EC8-20A8893F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E13B04-330B-43AA-42D5-47ADCED4E162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38B2651-EC2F-1E95-EDCD-08857C49A138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2B10682-E31D-842E-F979-71DA1EEF549B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651F38B-8477-288C-B5D0-0CB74A0E1BBF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BB0314BD-12A1-A256-39E5-53C81D5C6329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6E3E5BC-7C8E-0489-97A2-FD5D32BA46DF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D6B03149-71E2-C77C-484E-58EC80230BB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61FF1555-D0E4-7A63-7167-307B2E1E6D3F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168339F-E7B1-9D89-0E50-0A0AD234321B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313A0989-AC7B-A23E-A8D5-7DB008F32FE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A91414A7-3998-5799-8E48-55E63B95024B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38BD96-803A-AB00-AE0E-9E5FEEB7F30C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144666-094E-C46F-0901-74C3F5139730}"/>
              </a:ext>
            </a:extLst>
          </p:cNvPr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2-3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1DAB6ED0-C7C3-741E-9B8A-D865278E26C4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0D756D-EBC7-7875-139E-34C920BE3C82}"/>
              </a:ext>
            </a:extLst>
          </p:cNvPr>
          <p:cNvSpPr/>
          <p:nvPr/>
        </p:nvSpPr>
        <p:spPr>
          <a:xfrm>
            <a:off x="1447802" y="3390900"/>
            <a:ext cx="15632130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請結合自己的生活經驗與第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段文本，你知道了哪些訊息？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□ 現在是綠燈，行人通行                            □ 現在是紅燈，行人不能走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□ 我是指小綠人                                            □ 我是指小紅人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1BBB55-1EF6-3E83-F00B-8C34A6EAB2A7}"/>
              </a:ext>
            </a:extLst>
          </p:cNvPr>
          <p:cNvSpPr/>
          <p:nvPr/>
        </p:nvSpPr>
        <p:spPr>
          <a:xfrm>
            <a:off x="12496800" y="3647604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DCBFA998-9682-2A79-6AE2-DC1C9B80E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760408"/>
              </p:ext>
            </p:extLst>
          </p:nvPr>
        </p:nvGraphicFramePr>
        <p:xfrm>
          <a:off x="1221435" y="6113132"/>
          <a:ext cx="16060271" cy="3168587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意義段二：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</a:t>
                      </a:r>
                      <a:r>
                        <a:rPr lang="en-US" altLang="zh-TW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知道小朋友守秩序，精神百倍；工作時引導行人安全穿越馬路，開心歡呼。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0BF66226-9DE8-407A-E2FF-500803671B2E}"/>
              </a:ext>
            </a:extLst>
          </p:cNvPr>
          <p:cNvSpPr txBox="1"/>
          <p:nvPr/>
        </p:nvSpPr>
        <p:spPr>
          <a:xfrm>
            <a:off x="1964949" y="5011184"/>
            <a:ext cx="625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■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A448E67-36FB-C326-1EEE-CF64E2A0FB62}"/>
              </a:ext>
            </a:extLst>
          </p:cNvPr>
          <p:cNvSpPr txBox="1"/>
          <p:nvPr/>
        </p:nvSpPr>
        <p:spPr>
          <a:xfrm>
            <a:off x="1964949" y="4222303"/>
            <a:ext cx="625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■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48E61B-B6A7-FC1A-0BA6-BE6D738F730A}"/>
              </a:ext>
            </a:extLst>
          </p:cNvPr>
          <p:cNvSpPr/>
          <p:nvPr/>
        </p:nvSpPr>
        <p:spPr>
          <a:xfrm>
            <a:off x="914400" y="7422059"/>
            <a:ext cx="364565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小綠人</a:t>
            </a:r>
          </a:p>
        </p:txBody>
      </p:sp>
    </p:spTree>
    <p:extLst>
      <p:ext uri="{BB962C8B-B14F-4D97-AF65-F5344CB8AC3E}">
        <p14:creationId xmlns:p14="http://schemas.microsoft.com/office/powerpoint/2010/main" val="206061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58ED0-4823-4217-2366-A462D43D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1D6005-AC97-2384-209E-64F234C6F8D7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34D9715-0784-793C-10EF-D953B376BDF4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CB895A8-046B-92DF-AFD8-76CF43A3ED59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39B2D989-852E-4C57-672C-5A695A752B78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4ECB9B6-D72F-BB0D-F5FF-19EED39F58D3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57783A95-D9B2-A0EA-42DB-1873D403F575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86778933-4A04-901A-A998-5EC3F40D65D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931DFD61-16A5-61C4-8130-C3117C7AE592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EC41564-3300-F57B-ECF7-9E5E73B488EA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446803D6-FD06-03B9-5024-4EDBC3481F1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AA3E0A0-9027-D3B5-4AC0-F50811DEB9C8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9513F6-A168-BD2E-DEAA-C61BBA4CEFC8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264A06-F03D-0703-A2FE-02050F9A21AB}"/>
              </a:ext>
            </a:extLst>
          </p:cNvPr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意義段三：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4-5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42084CA5-530A-54B4-8A43-0EB41995722D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EC6D7E-B6B3-62C8-F0DB-63512E717961}"/>
              </a:ext>
            </a:extLst>
          </p:cNvPr>
          <p:cNvSpPr/>
          <p:nvPr/>
        </p:nvSpPr>
        <p:spPr>
          <a:xfrm>
            <a:off x="1447802" y="3390900"/>
            <a:ext cx="15632130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「我」最大的心願是什麼？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希望每個人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589720-262B-0721-CAF4-BDDB5C7AC883}"/>
              </a:ext>
            </a:extLst>
          </p:cNvPr>
          <p:cNvSpPr/>
          <p:nvPr/>
        </p:nvSpPr>
        <p:spPr>
          <a:xfrm>
            <a:off x="7074657" y="3619500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4841A314-D274-1F14-7E7F-D35A37F20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932865"/>
              </p:ext>
            </p:extLst>
          </p:nvPr>
        </p:nvGraphicFramePr>
        <p:xfrm>
          <a:off x="2037474" y="5416914"/>
          <a:ext cx="15042458" cy="3168587"/>
        </p:xfrm>
        <a:graphic>
          <a:graphicData uri="http://schemas.openxmlformats.org/drawingml/2006/table">
            <a:tbl>
              <a:tblPr firstRow="1" firstCol="1" bandRow="1"/>
              <a:tblGrid>
                <a:gridCol w="15042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  <a:r>
                        <a:rPr lang="zh-TW" altLang="en-US" sz="4400" b="1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：</a:t>
                      </a:r>
                      <a:endParaRPr lang="zh-TW" altLang="en-US" sz="4400" b="0" u="none" kern="100" dirty="0">
                        <a:solidFill>
                          <a:schemeClr val="tx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小綠人認真守護行人，希望每個人都可以 </a:t>
                      </a:r>
                      <a:r>
                        <a:rPr lang="en-US" altLang="zh-TW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</a:t>
                      </a:r>
                      <a:r>
                        <a:rPr lang="en-US" altLang="zh-TW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、 </a:t>
                      </a:r>
                      <a:r>
                        <a:rPr lang="en-US" altLang="zh-TW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</a:t>
                      </a:r>
                      <a:r>
                        <a:rPr lang="en-US" altLang="zh-TW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E3A7851A-4778-93D8-A27C-1F59824B5402}"/>
              </a:ext>
            </a:extLst>
          </p:cNvPr>
          <p:cNvSpPr/>
          <p:nvPr/>
        </p:nvSpPr>
        <p:spPr>
          <a:xfrm>
            <a:off x="3946677" y="4228484"/>
            <a:ext cx="220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快樂出門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171B20-0E1E-C110-3E98-EA61E9571919}"/>
              </a:ext>
            </a:extLst>
          </p:cNvPr>
          <p:cNvSpPr/>
          <p:nvPr/>
        </p:nvSpPr>
        <p:spPr>
          <a:xfrm>
            <a:off x="4876800" y="4210806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平安回家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F985FC-7029-052F-BC65-460E6A595405}"/>
              </a:ext>
            </a:extLst>
          </p:cNvPr>
          <p:cNvSpPr/>
          <p:nvPr/>
        </p:nvSpPr>
        <p:spPr>
          <a:xfrm>
            <a:off x="12759103" y="6730020"/>
            <a:ext cx="30055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快樂出門 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B84B06-362B-CAA8-9A3E-5CF3600C185E}"/>
              </a:ext>
            </a:extLst>
          </p:cNvPr>
          <p:cNvSpPr/>
          <p:nvPr/>
        </p:nvSpPr>
        <p:spPr>
          <a:xfrm>
            <a:off x="1428890" y="7752566"/>
            <a:ext cx="514229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平安回家 </a:t>
            </a:r>
          </a:p>
        </p:txBody>
      </p:sp>
    </p:spTree>
    <p:extLst>
      <p:ext uri="{BB962C8B-B14F-4D97-AF65-F5344CB8AC3E}">
        <p14:creationId xmlns:p14="http://schemas.microsoft.com/office/powerpoint/2010/main" val="13385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4" grpId="0"/>
      <p:bldP spid="15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2758E-F4A6-BD9D-A214-F816486E4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547C91-E4E5-1133-91AB-0176D3C81892}"/>
              </a:ext>
            </a:extLst>
          </p:cNvPr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7D1EA700-77BD-3EC8-1481-6D64B3AA7735}"/>
              </a:ext>
            </a:extLst>
          </p:cNvPr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5E9CEAB7-4BC5-A37B-4475-D7E8146CC258}"/>
                </a:ext>
              </a:extLst>
            </p:cNvPr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8DCA0DAC-09C3-D69D-0B94-5B3656C43156}"/>
                  </a:ext>
                </a:extLst>
              </p:cNvPr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D9BEA27-FD94-7AA5-D050-D32F65800B0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51D68112-9444-4E65-91AC-3DA19B99C50C}"/>
                </a:ext>
              </a:extLst>
            </p:cNvPr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F7C91DB-2B77-E324-5105-C8EABF51CC5F}"/>
                  </a:ext>
                </a:extLst>
              </p:cNvPr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A652DFD8-6929-B1A5-FC3D-C5466EA6043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C8928048-012C-9FCD-0389-C01A53D0C2B3}"/>
              </a:ext>
            </a:extLst>
          </p:cNvPr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FF57270D-F762-2A97-F4A2-937B9B51D897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A287F0D-AB37-CF59-0B25-16F9ACE27667}"/>
              </a:ext>
            </a:extLst>
          </p:cNvPr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9E6350-367E-774D-E822-569D1DAF3741}"/>
              </a:ext>
            </a:extLst>
          </p:cNvPr>
          <p:cNvSpPr/>
          <p:nvPr/>
        </p:nvSpPr>
        <p:spPr>
          <a:xfrm>
            <a:off x="1656096" y="3274047"/>
            <a:ext cx="14975807" cy="2956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文本中通篇出現「我」，以自述的口吻傳達小綠人的介紹、工作與願望。請問這樣的方式，讓你讀起來有什麼感覺？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altLang="zh-TW" sz="3200" b="1" kern="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E8D850E0-CE50-F454-6C12-B5A82309BC2F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8C387F4D-8927-5A25-5602-6357B93BAB5C}"/>
              </a:ext>
            </a:extLst>
          </p:cNvPr>
          <p:cNvCxnSpPr>
            <a:cxnSpLocks/>
          </p:cNvCxnSpPr>
          <p:nvPr/>
        </p:nvCxnSpPr>
        <p:spPr>
          <a:xfrm>
            <a:off x="2280973" y="5331447"/>
            <a:ext cx="143509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43152F5-82AF-4B6A-7099-3BEEF6FAC507}"/>
              </a:ext>
            </a:extLst>
          </p:cNvPr>
          <p:cNvCxnSpPr>
            <a:cxnSpLocks/>
          </p:cNvCxnSpPr>
          <p:nvPr/>
        </p:nvCxnSpPr>
        <p:spPr>
          <a:xfrm>
            <a:off x="2280973" y="6017247"/>
            <a:ext cx="143509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10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1656096" y="950263"/>
            <a:ext cx="14975807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生活中，紅綠燈有什麼不一樣的造型</a:t>
            </a: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請畫出兩種不同的造型。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8AC2F197-BCF0-39EF-B8E6-699A30CAA6D8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864EAE59-E0D8-14EF-AA58-FD297D42447C}"/>
              </a:ext>
            </a:extLst>
          </p:cNvPr>
          <p:cNvGrpSpPr/>
          <p:nvPr/>
        </p:nvGrpSpPr>
        <p:grpSpPr>
          <a:xfrm>
            <a:off x="1656096" y="2095500"/>
            <a:ext cx="14215275" cy="7416518"/>
            <a:chOff x="0" y="0"/>
            <a:chExt cx="6429375" cy="5200650"/>
          </a:xfrm>
        </p:grpSpPr>
        <p:sp>
          <p:nvSpPr>
            <p:cNvPr id="8" name="矩形: 圓角 10">
              <a:extLst>
                <a:ext uri="{FF2B5EF4-FFF2-40B4-BE49-F238E27FC236}">
                  <a16:creationId xmlns:a16="http://schemas.microsoft.com/office/drawing/2014/main" id="{F6AD995C-E9F7-DC92-8141-34C497D8FA7F}"/>
                </a:ext>
              </a:extLst>
            </p:cNvPr>
            <p:cNvSpPr/>
            <p:nvPr/>
          </p:nvSpPr>
          <p:spPr>
            <a:xfrm>
              <a:off x="0" y="0"/>
              <a:ext cx="6429375" cy="5200650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39725608-90F8-3A74-E576-2C7396CB0CA1}"/>
                </a:ext>
              </a:extLst>
            </p:cNvPr>
            <p:cNvCxnSpPr/>
            <p:nvPr/>
          </p:nvCxnSpPr>
          <p:spPr>
            <a:xfrm flipH="1">
              <a:off x="314325" y="114300"/>
              <a:ext cx="5667375" cy="490537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817</Words>
  <Application>Microsoft Macintosh PowerPoint</Application>
  <PresentationFormat>自訂</PresentationFormat>
  <Paragraphs>95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微軟正黑體</vt:lpstr>
      <vt:lpstr>Arial</vt:lpstr>
      <vt:lpstr>王漢宗特黑體</vt:lpstr>
      <vt:lpstr>微軟正黑體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109</cp:revision>
  <dcterms:created xsi:type="dcterms:W3CDTF">2006-08-16T00:00:00Z</dcterms:created>
  <dcterms:modified xsi:type="dcterms:W3CDTF">2025-10-05T14:52:17Z</dcterms:modified>
  <dc:identifier>DAGWD1Ntyd0</dc:identifier>
</cp:coreProperties>
</file>