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9" r:id="rId6"/>
    <p:sldId id="272" r:id="rId7"/>
    <p:sldId id="282" r:id="rId8"/>
    <p:sldId id="279" r:id="rId9"/>
    <p:sldId id="281" r:id="rId10"/>
    <p:sldId id="259" r:id="rId11"/>
    <p:sldId id="266" r:id="rId12"/>
  </p:sldIdLst>
  <p:sldSz cx="18288000" cy="10287000"/>
  <p:notesSz cx="6858000" cy="9144000"/>
  <p:embeddedFontLst>
    <p:embeddedFont>
      <p:font typeface="王漢宗特黑體" panose="02000500000000000000" pitchFamily="2" charset="-120"/>
      <p:regular r:id="rId14"/>
    </p:embeddedFont>
    <p:embeddedFont>
      <p:font typeface="微軟正黑體" panose="020B0604030504040204" pitchFamily="34" charset="-120"/>
      <p:regular r:id="rId15"/>
      <p:bold r:id="rId16"/>
    </p:embeddedFont>
    <p:embeddedFont>
      <p:font typeface="微軟正黑體" panose="020B0604030504040204" pitchFamily="34" charset="-120"/>
      <p:regular r:id="rId15"/>
      <p:bold r:id="rId16"/>
    </p:embeddedFont>
    <p:embeddedFont>
      <p:font typeface="標楷體" panose="03000509000000000000" pitchFamily="49" charset="-12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1DA"/>
    <a:srgbClr val="F7D9D9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8" autoAdjust="0"/>
    <p:restoredTop sz="94404" autoAdjust="0"/>
  </p:normalViewPr>
  <p:slideViewPr>
    <p:cSldViewPr>
      <p:cViewPr varScale="1">
        <p:scale>
          <a:sx n="62" d="100"/>
          <a:sy n="62" d="100"/>
        </p:scale>
        <p:origin x="216" y="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4770582" y="5483431"/>
            <a:ext cx="94686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L05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茶鄉鹿谷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914399" y="2628900"/>
            <a:ext cx="14820901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spcAft>
                <a:spcPts val="0"/>
              </a:spcAft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請從影片內容想一想以下的問題：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茶的製作有哪些過程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50000"/>
              </a:lnSpc>
            </a:pP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除此之外，從影片中你還看到什麼值得記下來的重點。可以用圖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+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文的方式快速記錄。</a:t>
            </a:r>
          </a:p>
          <a:p>
            <a:pPr marL="514350" indent="-514350">
              <a:lnSpc>
                <a:spcPct val="150000"/>
              </a:lnSpc>
              <a:spcAft>
                <a:spcPts val="0"/>
              </a:spcAft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1226008-E42B-5BE0-4013-6298197F4D0F}"/>
              </a:ext>
            </a:extLst>
          </p:cNvPr>
          <p:cNvSpPr/>
          <p:nvPr/>
        </p:nvSpPr>
        <p:spPr>
          <a:xfrm>
            <a:off x="2057400" y="4202615"/>
            <a:ext cx="124907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6051289-5404-CC83-785C-D7CE84B6B9CB}"/>
              </a:ext>
            </a:extLst>
          </p:cNvPr>
          <p:cNvCxnSpPr>
            <a:cxnSpLocks/>
          </p:cNvCxnSpPr>
          <p:nvPr/>
        </p:nvCxnSpPr>
        <p:spPr>
          <a:xfrm>
            <a:off x="2045956" y="4787390"/>
            <a:ext cx="118914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0C282DF5-455C-C9AB-1C02-B225E5CDC4BA}"/>
              </a:ext>
            </a:extLst>
          </p:cNvPr>
          <p:cNvSpPr/>
          <p:nvPr/>
        </p:nvSpPr>
        <p:spPr>
          <a:xfrm>
            <a:off x="7697496" y="2912653"/>
            <a:ext cx="2438400" cy="400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數位閱讀</a:t>
            </a:r>
          </a:p>
        </p:txBody>
      </p:sp>
      <p:sp>
        <p:nvSpPr>
          <p:cNvPr id="12" name="向下箭號 11">
            <a:extLst>
              <a:ext uri="{FF2B5EF4-FFF2-40B4-BE49-F238E27FC236}">
                <a16:creationId xmlns:a16="http://schemas.microsoft.com/office/drawing/2014/main" id="{6F42834B-E545-2967-10C3-E82C39481114}"/>
              </a:ext>
            </a:extLst>
          </p:cNvPr>
          <p:cNvSpPr/>
          <p:nvPr/>
        </p:nvSpPr>
        <p:spPr>
          <a:xfrm>
            <a:off x="7712246" y="5658303"/>
            <a:ext cx="571500" cy="730249"/>
          </a:xfrm>
          <a:prstGeom prst="down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04DFEAE7-A35E-043B-EA5E-20C603C6CB5C}"/>
              </a:ext>
            </a:extLst>
          </p:cNvPr>
          <p:cNvSpPr/>
          <p:nvPr/>
        </p:nvSpPr>
        <p:spPr>
          <a:xfrm>
            <a:off x="1507632" y="6536674"/>
            <a:ext cx="14227668" cy="332748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9A8F08D-EBE4-9CB4-6A79-389B5862C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662" y="604230"/>
            <a:ext cx="1345473" cy="131020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9570D3D-58D6-4B32-36CD-B233049A2887}"/>
              </a:ext>
            </a:extLst>
          </p:cNvPr>
          <p:cNvSpPr/>
          <p:nvPr/>
        </p:nvSpPr>
        <p:spPr>
          <a:xfrm>
            <a:off x="2260322" y="1412542"/>
            <a:ext cx="6571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參考影片：                                                               </a:t>
            </a:r>
            <a:endParaRPr lang="zh-TW" altLang="zh-TW" sz="24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EC862F-49BD-4FB3-5B8E-A316D0DF670F}"/>
              </a:ext>
            </a:extLst>
          </p:cNvPr>
          <p:cNvSpPr/>
          <p:nvPr/>
        </p:nvSpPr>
        <p:spPr>
          <a:xfrm>
            <a:off x="1632966" y="1951096"/>
            <a:ext cx="49841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https://</a:t>
            </a:r>
            <a:r>
              <a:rPr lang="en-US" altLang="zh-TW" sz="1400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youtu.be</a:t>
            </a:r>
            <a:r>
              <a:rPr lang="en-US" altLang="zh-TW" sz="1400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/MXVV0K2ODxA?si=TXmy43isvzWK8_ey</a:t>
            </a:r>
            <a:endParaRPr lang="zh-TW" altLang="en-US" sz="14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4BA7568-DA95-DA31-44FE-E1715A9CC6F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683936" y="1355566"/>
            <a:ext cx="557336" cy="557336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FB08CC4E-9CC5-5EB8-8048-D2F8AA99CD96}"/>
              </a:ext>
            </a:extLst>
          </p:cNvPr>
          <p:cNvSpPr txBox="1"/>
          <p:nvPr/>
        </p:nvSpPr>
        <p:spPr>
          <a:xfrm>
            <a:off x="228600" y="1954768"/>
            <a:ext cx="1358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kern="100" dirty="0"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下課花路米</a:t>
            </a:r>
            <a:r>
              <a:rPr lang="zh-TW" altLang="zh-TW" dirty="0">
                <a:effectLst/>
              </a:rPr>
              <a:t>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5542194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28729" y="2704007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3823039"/>
            <a:ext cx="15315294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請以「火」為部件，加上偏旁形成另一個新字後，再造一個詞。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請小心造詞，因為最後是使用你造的詞來造長句喔！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159B49-469A-62DF-479F-6C2FBEABB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119535"/>
              </p:ext>
            </p:extLst>
          </p:nvPr>
        </p:nvGraphicFramePr>
        <p:xfrm>
          <a:off x="2183754" y="5629576"/>
          <a:ext cx="15315293" cy="3918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1403">
                  <a:extLst>
                    <a:ext uri="{9D8B030D-6E8A-4147-A177-3AD203B41FA5}">
                      <a16:colId xmlns:a16="http://schemas.microsoft.com/office/drawing/2014/main" val="4227290386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1199907279"/>
                    </a:ext>
                  </a:extLst>
                </a:gridCol>
                <a:gridCol w="2646363">
                  <a:extLst>
                    <a:ext uri="{9D8B030D-6E8A-4147-A177-3AD203B41FA5}">
                      <a16:colId xmlns:a16="http://schemas.microsoft.com/office/drawing/2014/main" val="2526551720"/>
                    </a:ext>
                  </a:extLst>
                </a:gridCol>
                <a:gridCol w="8131164">
                  <a:extLst>
                    <a:ext uri="{9D8B030D-6E8A-4147-A177-3AD203B41FA5}">
                      <a16:colId xmlns:a16="http://schemas.microsoft.com/office/drawing/2014/main" val="1713945109"/>
                    </a:ext>
                  </a:extLst>
                </a:gridCol>
              </a:tblGrid>
              <a:tr h="133251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部件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加偏旁成新字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注音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造詞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句中放入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並加入想像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情境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，最後也要加入自己的 </a:t>
                      </a:r>
                      <a:r>
                        <a:rPr lang="zh-TW" altLang="en-US" sz="30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感受</a:t>
                      </a: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，成為完整一小段 </a:t>
                      </a: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128580"/>
                  </a:ext>
                </a:extLst>
              </a:tr>
              <a:tr h="1292777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zh-TW" alt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火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                     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068531"/>
                  </a:ext>
                </a:extLst>
              </a:tr>
              <a:tr h="12927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000" b="0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</a:t>
                      </a:r>
                      <a:endParaRPr lang="zh-TW" altLang="en-US" sz="3000" b="0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920869"/>
                  </a:ext>
                </a:extLst>
              </a:tr>
            </a:tbl>
          </a:graphicData>
        </a:graphic>
      </p:graphicFrame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C946FF2-70E8-EB66-089A-C7F21CA6E501}"/>
              </a:ext>
            </a:extLst>
          </p:cNvPr>
          <p:cNvCxnSpPr>
            <a:cxnSpLocks/>
          </p:cNvCxnSpPr>
          <p:nvPr/>
        </p:nvCxnSpPr>
        <p:spPr>
          <a:xfrm>
            <a:off x="9677400" y="7581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9E78C2AF-B619-7EBA-47F5-0D9A9D7BFAF8}"/>
              </a:ext>
            </a:extLst>
          </p:cNvPr>
          <p:cNvCxnSpPr>
            <a:cxnSpLocks/>
          </p:cNvCxnSpPr>
          <p:nvPr/>
        </p:nvCxnSpPr>
        <p:spPr>
          <a:xfrm>
            <a:off x="9677400" y="83439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3DC4F53-A7E5-1AC7-989F-10CF60CBF444}"/>
              </a:ext>
            </a:extLst>
          </p:cNvPr>
          <p:cNvCxnSpPr>
            <a:cxnSpLocks/>
          </p:cNvCxnSpPr>
          <p:nvPr/>
        </p:nvCxnSpPr>
        <p:spPr>
          <a:xfrm>
            <a:off x="9677400" y="9029700"/>
            <a:ext cx="76242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89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17223" y="2675516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37474"/>
              </p:ext>
            </p:extLst>
          </p:nvPr>
        </p:nvGraphicFramePr>
        <p:xfrm>
          <a:off x="2535734" y="5656134"/>
          <a:ext cx="15218866" cy="3688749"/>
        </p:xfrm>
        <a:graphic>
          <a:graphicData uri="http://schemas.openxmlformats.org/drawingml/2006/table">
            <a:tbl>
              <a:tblPr firstRow="1" firstCol="1" bandRow="1"/>
              <a:tblGrid>
                <a:gridCol w="222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架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緣起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經過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zh-TW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總結 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一、到嬸嬸家鄉玩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二、了解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              )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條件</a:t>
                      </a: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             )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過程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三、難得體驗，</a:t>
                      </a:r>
                      <a:endParaRPr lang="en-US" altLang="zh-TW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愛上</a:t>
                      </a:r>
                      <a:r>
                        <a:rPr lang="zh-TW" altLang="en-US" sz="3200" b="1" u="sng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鹿谷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7653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040751" y="4664214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EB2358-9278-0ABE-D1D6-1FC9062BD504}"/>
              </a:ext>
            </a:extLst>
          </p:cNvPr>
          <p:cNvSpPr/>
          <p:nvPr/>
        </p:nvSpPr>
        <p:spPr>
          <a:xfrm>
            <a:off x="6748597" y="8456993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FD0EE55-FF55-1FF1-3489-CB93579DF570}"/>
              </a:ext>
            </a:extLst>
          </p:cNvPr>
          <p:cNvSpPr/>
          <p:nvPr/>
        </p:nvSpPr>
        <p:spPr>
          <a:xfrm>
            <a:off x="10783545" y="8456992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131946-BCB1-3D5F-B207-8FC0B6DCC9ED}"/>
              </a:ext>
            </a:extLst>
          </p:cNvPr>
          <p:cNvSpPr/>
          <p:nvPr/>
        </p:nvSpPr>
        <p:spPr>
          <a:xfrm>
            <a:off x="15316200" y="8456992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505777-89CF-FE0A-E819-21BBC82F53EA}"/>
              </a:ext>
            </a:extLst>
          </p:cNvPr>
          <p:cNvSpPr/>
          <p:nvPr/>
        </p:nvSpPr>
        <p:spPr>
          <a:xfrm>
            <a:off x="10963006" y="6969418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種茶樹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365625-966D-3AAC-F4AF-A2B0D2EE058A}"/>
              </a:ext>
            </a:extLst>
          </p:cNvPr>
          <p:cNvSpPr/>
          <p:nvPr/>
        </p:nvSpPr>
        <p:spPr>
          <a:xfrm>
            <a:off x="10515600" y="7458556"/>
            <a:ext cx="274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製茶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4" grpId="0"/>
      <p:bldP spid="25" grpId="0"/>
      <p:bldP spid="26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2" y="3548615"/>
            <a:ext cx="15632130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嬸嬸帶作者一家人到哪裡？做什麼事？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嬸嬸帶作者一家人到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9105900" y="3801906"/>
            <a:ext cx="2438400" cy="400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刪除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歸納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主題句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5B1E21-DE17-BE1F-57A1-2BEB9D285243}"/>
              </a:ext>
            </a:extLst>
          </p:cNvPr>
          <p:cNvSpPr/>
          <p:nvPr/>
        </p:nvSpPr>
        <p:spPr>
          <a:xfrm>
            <a:off x="5867400" y="4402658"/>
            <a:ext cx="39590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自己的家鄉</a:t>
            </a:r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鹿谷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遊玩 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22A9A81C-4838-1C93-DAD1-F0BC85526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788826"/>
              </p:ext>
            </p:extLst>
          </p:nvPr>
        </p:nvGraphicFramePr>
        <p:xfrm>
          <a:off x="1447800" y="5766466"/>
          <a:ext cx="16060271" cy="1615440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到嬸嬸的家鄉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鹿谷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遊玩。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9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508254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353321"/>
            <a:ext cx="15163800" cy="5911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段意義段文本中找到冒號「：」。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當「：」和上下引號一起出現時，就是有話想說。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爸爸說：「這茶真是值得細細品味呀！」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當「：」單獨出現時，就是連接前後句子，準備要說明。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我喜歡吃水果：芭樂、柳丁、葡萄、香蕉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▲ 請問文本中「種茶樹需要很多條件：氣候溫和、雨量足夠、早晚溫差大、經常有雲霧等。」使用的冒號「：」是屬於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還是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188888-9661-7BA3-545A-C3DED6DABF93}"/>
              </a:ext>
            </a:extLst>
          </p:cNvPr>
          <p:cNvSpPr/>
          <p:nvPr/>
        </p:nvSpPr>
        <p:spPr>
          <a:xfrm>
            <a:off x="9235492" y="3615505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理解監控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0F86EF0-4178-7FCB-2563-268B89D1E3DF}"/>
              </a:ext>
            </a:extLst>
          </p:cNvPr>
          <p:cNvSpPr txBox="1"/>
          <p:nvPr/>
        </p:nvSpPr>
        <p:spPr>
          <a:xfrm>
            <a:off x="10887345" y="8633616"/>
            <a:ext cx="1928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❷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07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34212-00C9-989E-8267-E5E02ED2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DF8163-EA30-0762-1983-495B78B21C33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220A678-C2E4-A55F-2FF3-303612B3C47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3C15CF9-62D5-37AD-8C60-C5F3B1BB88BA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1C798ACA-43E6-0111-F7FF-7B966928BA6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72CE680-751F-BBC7-AE6D-64594D217F34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22A89A0-406D-89E1-E698-3848DE70F9AD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41F555B-8B2D-84E0-6D3F-C629C9C3E51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E6226D8F-D92F-EA46-BA58-E859532838B1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A16B498-2541-3398-B280-3A809A35AFFA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C421CA80-30CF-A7F9-ADA1-E1D5EFCF8C2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086DF7E-52C1-F263-B10E-073F5EF30AE2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2DAE77-08B4-7AE9-207F-D52DF2A5B7F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D5F124-C7B3-FD19-F76D-85EFDE3A48D5}"/>
              </a:ext>
            </a:extLst>
          </p:cNvPr>
          <p:cNvSpPr/>
          <p:nvPr/>
        </p:nvSpPr>
        <p:spPr>
          <a:xfrm>
            <a:off x="1447800" y="2508254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36B8395-8AE5-F7DA-41F4-CB679732A937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8DF5AC-28D2-B368-8EE5-DF942B55D0C1}"/>
              </a:ext>
            </a:extLst>
          </p:cNvPr>
          <p:cNvSpPr/>
          <p:nvPr/>
        </p:nvSpPr>
        <p:spPr>
          <a:xfrm>
            <a:off x="1447800" y="3294366"/>
            <a:ext cx="15163800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承接上題，請從第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段意義段文本中找出種茶樹所需要的條件？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❷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❸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、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❹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請在第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段文本中，圈出「先」、「接著」、「最後」，再讀一讀，你發現了什麼？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我發現使用「先」、「接著」、「最後」讓我很清楚知道製茶的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承接上題，請用將製茶過程記錄下來。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1EBABD-BFEB-BF0C-FFC1-9998A33C9CC3}"/>
              </a:ext>
            </a:extLst>
          </p:cNvPr>
          <p:cNvSpPr/>
          <p:nvPr/>
        </p:nvSpPr>
        <p:spPr>
          <a:xfrm>
            <a:off x="13258800" y="3628214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理解監控  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提取訊息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2000" kern="1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490D176-2DAB-AA71-4AE1-FBDF458110AE}"/>
              </a:ext>
            </a:extLst>
          </p:cNvPr>
          <p:cNvSpPr txBox="1"/>
          <p:nvPr/>
        </p:nvSpPr>
        <p:spPr>
          <a:xfrm>
            <a:off x="2590800" y="4118770"/>
            <a:ext cx="1928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氣候溫和 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0D5A87-E8C5-15EF-06CB-5D22D8F64A77}"/>
              </a:ext>
            </a:extLst>
          </p:cNvPr>
          <p:cNvSpPr txBox="1"/>
          <p:nvPr/>
        </p:nvSpPr>
        <p:spPr>
          <a:xfrm>
            <a:off x="5791200" y="4118770"/>
            <a:ext cx="1928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雨量足夠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EA36D05-BC11-38E8-5A49-A5C86ED8DDA3}"/>
              </a:ext>
            </a:extLst>
          </p:cNvPr>
          <p:cNvSpPr txBox="1"/>
          <p:nvPr/>
        </p:nvSpPr>
        <p:spPr>
          <a:xfrm>
            <a:off x="8686800" y="411877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早晚溫差大 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B169392-83AC-C119-89EE-731E3F50A109}"/>
              </a:ext>
            </a:extLst>
          </p:cNvPr>
          <p:cNvSpPr txBox="1"/>
          <p:nvPr/>
        </p:nvSpPr>
        <p:spPr>
          <a:xfrm>
            <a:off x="12268200" y="411877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經常有雲霧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E0825F-DEE1-100E-F2EE-07786D421FB6}"/>
              </a:ext>
            </a:extLst>
          </p:cNvPr>
          <p:cNvSpPr/>
          <p:nvPr/>
        </p:nvSpPr>
        <p:spPr>
          <a:xfrm>
            <a:off x="16840200" y="4993819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理解監控  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916AFE5-1D06-48A5-6CE0-C5264FB8D73B}"/>
              </a:ext>
            </a:extLst>
          </p:cNvPr>
          <p:cNvSpPr txBox="1"/>
          <p:nvPr/>
        </p:nvSpPr>
        <p:spPr>
          <a:xfrm>
            <a:off x="13639800" y="5572754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過程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38D7F4-5A5D-C414-39D9-F8C05BA24A5F}"/>
              </a:ext>
            </a:extLst>
          </p:cNvPr>
          <p:cNvSpPr/>
          <p:nvPr/>
        </p:nvSpPr>
        <p:spPr>
          <a:xfrm>
            <a:off x="8934450" y="6480544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6DB58AF-D101-80A5-93A4-B9AB2AC0F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770149"/>
              </p:ext>
            </p:extLst>
          </p:nvPr>
        </p:nvGraphicFramePr>
        <p:xfrm>
          <a:off x="1631890" y="7159644"/>
          <a:ext cx="15220706" cy="2627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2403">
                  <a:extLst>
                    <a:ext uri="{9D8B030D-6E8A-4147-A177-3AD203B41FA5}">
                      <a16:colId xmlns:a16="http://schemas.microsoft.com/office/drawing/2014/main" val="3065132038"/>
                    </a:ext>
                  </a:extLst>
                </a:gridCol>
                <a:gridCol w="2958366">
                  <a:extLst>
                    <a:ext uri="{9D8B030D-6E8A-4147-A177-3AD203B41FA5}">
                      <a16:colId xmlns:a16="http://schemas.microsoft.com/office/drawing/2014/main" val="4077128895"/>
                    </a:ext>
                  </a:extLst>
                </a:gridCol>
                <a:gridCol w="2781678">
                  <a:extLst>
                    <a:ext uri="{9D8B030D-6E8A-4147-A177-3AD203B41FA5}">
                      <a16:colId xmlns:a16="http://schemas.microsoft.com/office/drawing/2014/main" val="3049746056"/>
                    </a:ext>
                  </a:extLst>
                </a:gridCol>
                <a:gridCol w="3420468">
                  <a:extLst>
                    <a:ext uri="{9D8B030D-6E8A-4147-A177-3AD203B41FA5}">
                      <a16:colId xmlns:a16="http://schemas.microsoft.com/office/drawing/2014/main" val="3862470751"/>
                    </a:ext>
                  </a:extLst>
                </a:gridCol>
                <a:gridCol w="4957791">
                  <a:extLst>
                    <a:ext uri="{9D8B030D-6E8A-4147-A177-3AD203B41FA5}">
                      <a16:colId xmlns:a16="http://schemas.microsoft.com/office/drawing/2014/main" val="1371213419"/>
                    </a:ext>
                  </a:extLst>
                </a:gridCol>
              </a:tblGrid>
              <a:tr h="656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將茶葉做什麼動作</a:t>
                      </a:r>
                      <a:r>
                        <a:rPr lang="en-US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?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目的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096216"/>
                  </a:ext>
                </a:extLst>
              </a:tr>
              <a:tr h="6568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先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摘下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減少</a:t>
                      </a: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549968"/>
                  </a:ext>
                </a:extLst>
              </a:tr>
              <a:tr h="6568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接著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高溫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81575"/>
                  </a:ext>
                </a:extLst>
              </a:tr>
              <a:tr h="6568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最後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乾燥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風味美好的烏龍茶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8085"/>
                  </a:ext>
                </a:extLst>
              </a:tr>
            </a:tbl>
          </a:graphicData>
        </a:graphic>
      </p:graphicFrame>
      <p:sp>
        <p:nvSpPr>
          <p:cNvPr id="25" name="向右箭號 24">
            <a:extLst>
              <a:ext uri="{FF2B5EF4-FFF2-40B4-BE49-F238E27FC236}">
                <a16:creationId xmlns:a16="http://schemas.microsoft.com/office/drawing/2014/main" id="{CF5DD342-F296-AC05-4428-537124169AC8}"/>
              </a:ext>
            </a:extLst>
          </p:cNvPr>
          <p:cNvSpPr/>
          <p:nvPr/>
        </p:nvSpPr>
        <p:spPr>
          <a:xfrm>
            <a:off x="8108318" y="7964901"/>
            <a:ext cx="894559" cy="4417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6" name="向右箭號 25">
            <a:extLst>
              <a:ext uri="{FF2B5EF4-FFF2-40B4-BE49-F238E27FC236}">
                <a16:creationId xmlns:a16="http://schemas.microsoft.com/office/drawing/2014/main" id="{B2A12933-9107-487A-BF03-5DC3B453D00C}"/>
              </a:ext>
            </a:extLst>
          </p:cNvPr>
          <p:cNvSpPr/>
          <p:nvPr/>
        </p:nvSpPr>
        <p:spPr>
          <a:xfrm>
            <a:off x="8108318" y="8558424"/>
            <a:ext cx="894559" cy="4417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7" name="向右箭號 26">
            <a:extLst>
              <a:ext uri="{FF2B5EF4-FFF2-40B4-BE49-F238E27FC236}">
                <a16:creationId xmlns:a16="http://schemas.microsoft.com/office/drawing/2014/main" id="{75B2EF50-5510-6F4C-6663-7C03EF41455A}"/>
              </a:ext>
            </a:extLst>
          </p:cNvPr>
          <p:cNvSpPr/>
          <p:nvPr/>
        </p:nvSpPr>
        <p:spPr>
          <a:xfrm>
            <a:off x="8117294" y="9229284"/>
            <a:ext cx="894559" cy="4417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7E6A3C0B-AC15-052A-EFC7-D0EC65DEE093}"/>
              </a:ext>
            </a:extLst>
          </p:cNvPr>
          <p:cNvSpPr/>
          <p:nvPr/>
        </p:nvSpPr>
        <p:spPr>
          <a:xfrm>
            <a:off x="5357374" y="9235697"/>
            <a:ext cx="894559" cy="4417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54E8107-416A-AC04-F80D-2D7AA1B420D3}"/>
              </a:ext>
            </a:extLst>
          </p:cNvPr>
          <p:cNvSpPr txBox="1"/>
          <p:nvPr/>
        </p:nvSpPr>
        <p:spPr>
          <a:xfrm>
            <a:off x="9829800" y="7888601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晒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046072A-54C6-4E47-CAFA-7A1182DC2D64}"/>
              </a:ext>
            </a:extLst>
          </p:cNvPr>
          <p:cNvSpPr txBox="1"/>
          <p:nvPr/>
        </p:nvSpPr>
        <p:spPr>
          <a:xfrm>
            <a:off x="5050623" y="8521126"/>
            <a:ext cx="1078716" cy="58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發酵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F3BA1F1-BDE6-B911-AD23-4B5D5B26D2DF}"/>
              </a:ext>
            </a:extLst>
          </p:cNvPr>
          <p:cNvSpPr txBox="1"/>
          <p:nvPr/>
        </p:nvSpPr>
        <p:spPr>
          <a:xfrm>
            <a:off x="3290938" y="9158369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揉成球形 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A5B86F2-E71D-C979-EA35-9B8CB404CE51}"/>
              </a:ext>
            </a:extLst>
          </p:cNvPr>
          <p:cNvSpPr txBox="1"/>
          <p:nvPr/>
        </p:nvSpPr>
        <p:spPr>
          <a:xfrm>
            <a:off x="9677400" y="9157785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烘焙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360FD5A-F5B7-CFDF-6E4E-3DDC5E3AD87A}"/>
              </a:ext>
            </a:extLst>
          </p:cNvPr>
          <p:cNvSpPr txBox="1"/>
          <p:nvPr/>
        </p:nvSpPr>
        <p:spPr>
          <a:xfrm>
            <a:off x="13487400" y="8521125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保留香氣 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095A902-98D6-4AC8-5DAA-DC875330B15E}"/>
              </a:ext>
            </a:extLst>
          </p:cNvPr>
          <p:cNvSpPr txBox="1"/>
          <p:nvPr/>
        </p:nvSpPr>
        <p:spPr>
          <a:xfrm>
            <a:off x="14325600" y="7858754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水分</a:t>
            </a:r>
          </a:p>
        </p:txBody>
      </p:sp>
    </p:spTree>
    <p:extLst>
      <p:ext uri="{BB962C8B-B14F-4D97-AF65-F5344CB8AC3E}">
        <p14:creationId xmlns:p14="http://schemas.microsoft.com/office/powerpoint/2010/main" val="81795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14" grpId="0"/>
      <p:bldP spid="15" grpId="0"/>
      <p:bldP spid="17" grpId="0"/>
      <p:bldP spid="20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7BBBD-BBA8-F235-074E-2D39B5B3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1FA453-6494-4D96-C68C-16AE782A4F6B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39E77E-3D5A-897A-E0A4-8AA11A7DDC6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7A6BC2-9623-A997-BB1F-D302E172847A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070E957-B7EB-3683-7EC6-F6D26AB5756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005EFC5-8526-FD62-2EFA-CED069DDDAAD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F9D8F74-188F-D209-E92F-A6284722F14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14EB7A2-D64B-04CC-5342-4041F7E4843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9AC820F-C8EF-6A7A-EB5B-8E6FCA188715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47BE8DF-3AEA-EDBD-0E4B-2A588B22BB90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9EF36525-004C-FBDA-7357-730BF3BBEAE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5FDAE92-E35F-B79E-3D0B-54D232EA27C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BE031B-9F1F-1723-795E-84FE51D85975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C26C39B5-AB93-9A20-BFAA-572A741168E1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E29B896-5FB8-3AD7-71C7-DC44E7105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80234"/>
              </p:ext>
            </p:extLst>
          </p:nvPr>
        </p:nvGraphicFramePr>
        <p:xfrm>
          <a:off x="1447800" y="6083577"/>
          <a:ext cx="16060271" cy="2082546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知道茶樹種植</a:t>
                      </a:r>
                      <a:r>
                        <a:rPr lang="en-US" altLang="zh-TW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altLang="zh-TW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，參觀製茶</a:t>
                      </a:r>
                      <a:r>
                        <a:rPr lang="en-US" altLang="zh-TW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US" altLang="zh-TW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D5AB9A83-13F3-DCA8-3FE4-B1517B88B173}"/>
              </a:ext>
            </a:extLst>
          </p:cNvPr>
          <p:cNvSpPr txBox="1"/>
          <p:nvPr/>
        </p:nvSpPr>
        <p:spPr>
          <a:xfrm>
            <a:off x="5219800" y="7362620"/>
            <a:ext cx="1333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96B3B3-91D5-2449-D99D-1DD5FFEFD40F}"/>
              </a:ext>
            </a:extLst>
          </p:cNvPr>
          <p:cNvSpPr/>
          <p:nvPr/>
        </p:nvSpPr>
        <p:spPr>
          <a:xfrm>
            <a:off x="1447800" y="2508254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62376F-39D9-2401-3A79-5B908C9CEB2E}"/>
              </a:ext>
            </a:extLst>
          </p:cNvPr>
          <p:cNvSpPr/>
          <p:nvPr/>
        </p:nvSpPr>
        <p:spPr>
          <a:xfrm>
            <a:off x="1447800" y="3294366"/>
            <a:ext cx="15163800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5.【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小組合作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請在第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段文本找到分號「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;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」，這是上學期學過的，你還記得嗎？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說說看這個標點符號在這一課文本中的用法？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分號「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;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                    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148C4D-165C-4832-4F6D-4DFE20CB6EF4}"/>
              </a:ext>
            </a:extLst>
          </p:cNvPr>
          <p:cNvSpPr/>
          <p:nvPr/>
        </p:nvSpPr>
        <p:spPr>
          <a:xfrm>
            <a:off x="9676048" y="4286664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理解監控  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32EF70E-6032-7B3B-2675-D12A846F14FB}"/>
              </a:ext>
            </a:extLst>
          </p:cNvPr>
          <p:cNvSpPr txBox="1"/>
          <p:nvPr/>
        </p:nvSpPr>
        <p:spPr>
          <a:xfrm>
            <a:off x="3411580" y="4907896"/>
            <a:ext cx="4263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上下句子是有關連的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0E4D8B5-A55B-10CB-D876-6568C90BB859}"/>
              </a:ext>
            </a:extLst>
          </p:cNvPr>
          <p:cNvSpPr txBox="1"/>
          <p:nvPr/>
        </p:nvSpPr>
        <p:spPr>
          <a:xfrm>
            <a:off x="10096602" y="7362620"/>
            <a:ext cx="1638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過程</a:t>
            </a:r>
          </a:p>
        </p:txBody>
      </p:sp>
    </p:spTree>
    <p:extLst>
      <p:ext uri="{BB962C8B-B14F-4D97-AF65-F5344CB8AC3E}">
        <p14:creationId xmlns:p14="http://schemas.microsoft.com/office/powerpoint/2010/main" val="378553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7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1BC47-264D-231D-C4E6-B6A55D8C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35E670-BACB-0C65-4DEB-E3F1CB8906EC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0C828A-9588-08DA-75F2-62084852FD6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F654C3-9113-A9D5-DAC7-B453ECA98D87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5FF305B-A399-5A15-A6CC-173C2527743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18C3968-1529-09D5-4F11-4A91DB1D15BA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DD2775D-25FC-F8C5-6DAB-448ADDF5058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960063D-8F0F-A06E-8E7C-6B553D9CF4F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FDBF287-168B-E7AA-7EBE-41535B5E04DB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6388714-C790-CE17-551D-375ACD1363B4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D9572BA-BF08-45A6-8BA5-177AE86EEF0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FE8FB98-BA22-EE14-2170-D4B6BF96D85C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D80834-70AE-B588-ABAB-3F7C39F45DBA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8C494F-029A-3CD9-8FA7-CD27553EE1EC}"/>
              </a:ext>
            </a:extLst>
          </p:cNvPr>
          <p:cNvSpPr/>
          <p:nvPr/>
        </p:nvSpPr>
        <p:spPr>
          <a:xfrm>
            <a:off x="1447800" y="256259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E7EF3C4-02FE-8BA1-CA00-56196B9CCD2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F1CFB2-EF05-C320-7F87-B6655D92E985}"/>
              </a:ext>
            </a:extLst>
          </p:cNvPr>
          <p:cNvSpPr/>
          <p:nvPr/>
        </p:nvSpPr>
        <p:spPr>
          <a:xfrm>
            <a:off x="1447802" y="3402785"/>
            <a:ext cx="15632130" cy="3695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作者這趟旅程有什麼收穫？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除了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欣賞            、了解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，還感受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經過這次體驗，除了喜歡上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鹿谷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，還希望什麼？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希望有更多人和自己一樣，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7CAFE0-1AAF-658B-D780-D27C069DE47F}"/>
              </a:ext>
            </a:extLst>
          </p:cNvPr>
          <p:cNvSpPr/>
          <p:nvPr/>
        </p:nvSpPr>
        <p:spPr>
          <a:xfrm>
            <a:off x="2743200" y="4254346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B19ED4-6ACF-D6DB-E6A2-49560BF85BAF}"/>
              </a:ext>
            </a:extLst>
          </p:cNvPr>
          <p:cNvSpPr/>
          <p:nvPr/>
        </p:nvSpPr>
        <p:spPr>
          <a:xfrm>
            <a:off x="6934200" y="3667944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275E350-7AE9-47A4-96ED-05C365678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052925"/>
              </p:ext>
            </p:extLst>
          </p:nvPr>
        </p:nvGraphicFramePr>
        <p:xfrm>
          <a:off x="1907216" y="6623113"/>
          <a:ext cx="14932982" cy="3168587"/>
        </p:xfrm>
        <a:graphic>
          <a:graphicData uri="http://schemas.openxmlformats.org/drawingml/2006/table">
            <a:tbl>
              <a:tblPr firstRow="1" firstCol="1" bandRow="1"/>
              <a:tblGrid>
                <a:gridCol w="14932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意義段三：</a:t>
                      </a:r>
                      <a:endParaRPr lang="zh-TW" altLang="en-US" sz="4400" b="0" u="none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這趟旅程讓自己愛上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鹿谷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，希望更多人能像自己一樣在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鹿谷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遇見茶「香」。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A658A9C4-A2C8-6F95-4881-A9BF47782218}"/>
              </a:ext>
            </a:extLst>
          </p:cNvPr>
          <p:cNvSpPr/>
          <p:nvPr/>
        </p:nvSpPr>
        <p:spPr>
          <a:xfrm>
            <a:off x="9515059" y="4254346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處處是茶香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A2EFE8-3343-66F3-18D8-4FDF07F2D408}"/>
              </a:ext>
            </a:extLst>
          </p:cNvPr>
          <p:cNvSpPr/>
          <p:nvPr/>
        </p:nvSpPr>
        <p:spPr>
          <a:xfrm>
            <a:off x="5552659" y="4254346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製茶過程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E84011-6BB6-5687-6474-14CA8C693069}"/>
              </a:ext>
            </a:extLst>
          </p:cNvPr>
          <p:cNvSpPr/>
          <p:nvPr/>
        </p:nvSpPr>
        <p:spPr>
          <a:xfrm>
            <a:off x="10754901" y="5096975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6A9A53-C0BB-4A01-F9B1-E401C16B618D}"/>
              </a:ext>
            </a:extLst>
          </p:cNvPr>
          <p:cNvSpPr/>
          <p:nvPr/>
        </p:nvSpPr>
        <p:spPr>
          <a:xfrm>
            <a:off x="7163560" y="5690682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在鹿谷遇見茶「香」 </a:t>
            </a:r>
          </a:p>
        </p:txBody>
      </p:sp>
    </p:spTree>
    <p:extLst>
      <p:ext uri="{BB962C8B-B14F-4D97-AF65-F5344CB8AC3E}">
        <p14:creationId xmlns:p14="http://schemas.microsoft.com/office/powerpoint/2010/main" val="1867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8" grpId="0"/>
      <p:bldP spid="17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07965" y="2360176"/>
            <a:ext cx="16037035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鹿谷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參觀了製茶的過程，對茶鄉留下深刻印象。我們的家鄉是否也有比較特別的名產呢？我們一起來寫一寫它的製作過程。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配合習作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我家鄉名產是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的製作過程如下：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請使用「先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接著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最後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」完成家鄉名產介紹。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8AC2F197-BCF0-39EF-B8E6-699A30CAA6D8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523C5A-13EC-DDEF-D572-3A744B6516E2}"/>
              </a:ext>
            </a:extLst>
          </p:cNvPr>
          <p:cNvSpPr/>
          <p:nvPr/>
        </p:nvSpPr>
        <p:spPr>
          <a:xfrm>
            <a:off x="11934829" y="3314700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讀寫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611F79-ECE0-742D-7F62-C99C67310EA1}"/>
              </a:ext>
            </a:extLst>
          </p:cNvPr>
          <p:cNvSpPr/>
          <p:nvPr/>
        </p:nvSpPr>
        <p:spPr>
          <a:xfrm>
            <a:off x="3755034" y="3949125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蛋捲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2F0CF5-117C-D346-84E0-6AB887FC6A29}"/>
              </a:ext>
            </a:extLst>
          </p:cNvPr>
          <p:cNvSpPr/>
          <p:nvPr/>
        </p:nvSpPr>
        <p:spPr>
          <a:xfrm>
            <a:off x="1133059" y="4682317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蛋捲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519077D-7C35-5DA0-35C8-F053F7CEFC21}"/>
              </a:ext>
            </a:extLst>
          </p:cNvPr>
          <p:cNvCxnSpPr>
            <a:cxnSpLocks/>
          </p:cNvCxnSpPr>
          <p:nvPr/>
        </p:nvCxnSpPr>
        <p:spPr>
          <a:xfrm>
            <a:off x="1662633" y="6765063"/>
            <a:ext cx="151013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832BB61-777A-C2A9-2615-0971D4A000E9}"/>
              </a:ext>
            </a:extLst>
          </p:cNvPr>
          <p:cNvCxnSpPr>
            <a:cxnSpLocks/>
          </p:cNvCxnSpPr>
          <p:nvPr/>
        </p:nvCxnSpPr>
        <p:spPr>
          <a:xfrm>
            <a:off x="1662633" y="7679463"/>
            <a:ext cx="151013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F17B14F-E6D8-3B8F-A058-F0A7C3C73E4C}"/>
              </a:ext>
            </a:extLst>
          </p:cNvPr>
          <p:cNvCxnSpPr>
            <a:cxnSpLocks/>
          </p:cNvCxnSpPr>
          <p:nvPr/>
        </p:nvCxnSpPr>
        <p:spPr>
          <a:xfrm>
            <a:off x="1662633" y="8517663"/>
            <a:ext cx="151013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B3A1DFC-DC21-CB0B-FEFF-2CFA951A473D}"/>
              </a:ext>
            </a:extLst>
          </p:cNvPr>
          <p:cNvCxnSpPr>
            <a:cxnSpLocks/>
          </p:cNvCxnSpPr>
          <p:nvPr/>
        </p:nvCxnSpPr>
        <p:spPr>
          <a:xfrm>
            <a:off x="1676400" y="9410700"/>
            <a:ext cx="15087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965</Words>
  <Application>Microsoft Macintosh PowerPoint</Application>
  <PresentationFormat>自訂</PresentationFormat>
  <Paragraphs>133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90</cp:revision>
  <dcterms:created xsi:type="dcterms:W3CDTF">2006-08-16T00:00:00Z</dcterms:created>
  <dcterms:modified xsi:type="dcterms:W3CDTF">2025-10-05T14:53:36Z</dcterms:modified>
  <dc:identifier>DAGWD1Ntyd0</dc:identifier>
</cp:coreProperties>
</file>