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sldIdLst>
    <p:sldId id="256" r:id="rId2"/>
    <p:sldId id="300" r:id="rId3"/>
    <p:sldId id="301" r:id="rId4"/>
    <p:sldId id="295" r:id="rId5"/>
    <p:sldId id="302" r:id="rId6"/>
    <p:sldId id="291" r:id="rId7"/>
    <p:sldId id="296" r:id="rId8"/>
    <p:sldId id="292" r:id="rId9"/>
    <p:sldId id="303" r:id="rId10"/>
    <p:sldId id="304" r:id="rId11"/>
    <p:sldId id="272" r:id="rId12"/>
    <p:sldId id="259" r:id="rId13"/>
    <p:sldId id="266" r:id="rId14"/>
  </p:sldIdLst>
  <p:sldSz cx="18288000" cy="10287000"/>
  <p:notesSz cx="6858000" cy="9144000"/>
  <p:embeddedFontLst>
    <p:embeddedFont>
      <p:font typeface="王漢宗特黑體" panose="02000500000000000000" pitchFamily="2" charset="-120"/>
      <p:regular r:id="rId16"/>
    </p:embeddedFont>
    <p:embeddedFont>
      <p:font typeface="微軟正黑體" panose="020B0604030504040204" pitchFamily="34" charset="-120"/>
      <p:regular r:id="rId17"/>
      <p:bold r:id="rId18"/>
    </p:embeddedFont>
    <p:embeddedFont>
      <p:font typeface="微軟正黑體" panose="020B0604030504040204" pitchFamily="34" charset="-120"/>
      <p:regular r:id="rId17"/>
      <p:bold r:id="rId18"/>
    </p:embeddedFont>
    <p:embeddedFont>
      <p:font typeface="標楷體" panose="03000509000000000000" pitchFamily="49" charset="-12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2C7"/>
    <a:srgbClr val="EBD0B7"/>
    <a:srgbClr val="CBC1DA"/>
    <a:srgbClr val="F7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18" autoAdjust="0"/>
    <p:restoredTop sz="94624" autoAdjust="0"/>
  </p:normalViewPr>
  <p:slideViewPr>
    <p:cSldViewPr>
      <p:cViewPr varScale="1">
        <p:scale>
          <a:sx n="56" d="100"/>
          <a:sy n="56" d="100"/>
        </p:scale>
        <p:origin x="200" y="7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76E865-201C-435A-BDC9-6D06C10AE8AC}" type="datetimeFigureOut">
              <a:rPr lang="zh-TW" altLang="en-US" smtClean="0"/>
              <a:t>2025/10/5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D71DF-5DF0-41FF-846D-B40FD35A509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09821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ED71DF-5DF0-41FF-846D-B40FD35A5095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256440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ED71DF-5DF0-41FF-846D-B40FD35A5095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46516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sv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9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4.svg"/><Relationship Id="rId7" Type="http://schemas.openxmlformats.org/officeDocument/2006/relationships/image" Target="../media/image1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9.svg"/><Relationship Id="rId5" Type="http://schemas.openxmlformats.org/officeDocument/2006/relationships/image" Target="../media/image15.svg"/><Relationship Id="rId10" Type="http://schemas.openxmlformats.org/officeDocument/2006/relationships/image" Target="../media/image18.png"/><Relationship Id="rId4" Type="http://schemas.openxmlformats.org/officeDocument/2006/relationships/image" Target="../media/image1.png"/><Relationship Id="rId9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4.svg"/><Relationship Id="rId7" Type="http://schemas.openxmlformats.org/officeDocument/2006/relationships/image" Target="../media/image1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9.svg"/><Relationship Id="rId5" Type="http://schemas.openxmlformats.org/officeDocument/2006/relationships/image" Target="../media/image15.svg"/><Relationship Id="rId10" Type="http://schemas.openxmlformats.org/officeDocument/2006/relationships/image" Target="../media/image18.png"/><Relationship Id="rId4" Type="http://schemas.openxmlformats.org/officeDocument/2006/relationships/image" Target="../media/image1.png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svg"/><Relationship Id="rId7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.svg"/><Relationship Id="rId10" Type="http://schemas.openxmlformats.org/officeDocument/2006/relationships/image" Target="../media/image20.svg"/><Relationship Id="rId4" Type="http://schemas.openxmlformats.org/officeDocument/2006/relationships/image" Target="../media/image1.png"/><Relationship Id="rId9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svg"/><Relationship Id="rId7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.svg"/><Relationship Id="rId10" Type="http://schemas.openxmlformats.org/officeDocument/2006/relationships/image" Target="../media/image20.svg"/><Relationship Id="rId4" Type="http://schemas.openxmlformats.org/officeDocument/2006/relationships/image" Target="../media/image1.png"/><Relationship Id="rId9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svg"/><Relationship Id="rId7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.svg"/><Relationship Id="rId10" Type="http://schemas.openxmlformats.org/officeDocument/2006/relationships/image" Target="../media/image20.svg"/><Relationship Id="rId4" Type="http://schemas.openxmlformats.org/officeDocument/2006/relationships/image" Target="../media/image1.png"/><Relationship Id="rId9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svg"/><Relationship Id="rId7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.svg"/><Relationship Id="rId10" Type="http://schemas.openxmlformats.org/officeDocument/2006/relationships/image" Target="../media/image20.svg"/><Relationship Id="rId4" Type="http://schemas.openxmlformats.org/officeDocument/2006/relationships/image" Target="../media/image1.png"/><Relationship Id="rId9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svg"/><Relationship Id="rId7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.svg"/><Relationship Id="rId10" Type="http://schemas.openxmlformats.org/officeDocument/2006/relationships/image" Target="../media/image20.svg"/><Relationship Id="rId4" Type="http://schemas.openxmlformats.org/officeDocument/2006/relationships/image" Target="../media/image1.png"/><Relationship Id="rId9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svg"/><Relationship Id="rId7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.svg"/><Relationship Id="rId10" Type="http://schemas.openxmlformats.org/officeDocument/2006/relationships/image" Target="../media/image20.svg"/><Relationship Id="rId4" Type="http://schemas.openxmlformats.org/officeDocument/2006/relationships/image" Target="../media/image1.png"/><Relationship Id="rId9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CE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283887">
            <a:off x="-2062779" y="4323198"/>
            <a:ext cx="5345015" cy="5747328"/>
          </a:xfrm>
          <a:custGeom>
            <a:avLst/>
            <a:gdLst/>
            <a:ahLst/>
            <a:cxnLst/>
            <a:rect l="l" t="t" r="r" b="b"/>
            <a:pathLst>
              <a:path w="5345015" h="5747328">
                <a:moveTo>
                  <a:pt x="0" y="0"/>
                </a:moveTo>
                <a:lnTo>
                  <a:pt x="5345015" y="0"/>
                </a:lnTo>
                <a:lnTo>
                  <a:pt x="5345015" y="5747327"/>
                </a:lnTo>
                <a:lnTo>
                  <a:pt x="0" y="57473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23" name="群組 22"/>
          <p:cNvGrpSpPr/>
          <p:nvPr/>
        </p:nvGrpSpPr>
        <p:grpSpPr>
          <a:xfrm>
            <a:off x="2656566" y="1881864"/>
            <a:ext cx="13632158" cy="2749755"/>
            <a:chOff x="1605289" y="3003345"/>
            <a:chExt cx="13632158" cy="2749755"/>
          </a:xfrm>
        </p:grpSpPr>
        <p:grpSp>
          <p:nvGrpSpPr>
            <p:cNvPr id="3" name="Group 3"/>
            <p:cNvGrpSpPr/>
            <p:nvPr/>
          </p:nvGrpSpPr>
          <p:grpSpPr>
            <a:xfrm>
              <a:off x="1605289" y="3042897"/>
              <a:ext cx="13478483" cy="2710203"/>
              <a:chOff x="0" y="0"/>
              <a:chExt cx="1689033" cy="142025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1689033" cy="1420250"/>
              </a:xfrm>
              <a:custGeom>
                <a:avLst/>
                <a:gdLst/>
                <a:ahLst/>
                <a:cxnLst/>
                <a:rect l="l" t="t" r="r" b="b"/>
                <a:pathLst>
                  <a:path w="1689033" h="1420250">
                    <a:moveTo>
                      <a:pt x="61568" y="0"/>
                    </a:moveTo>
                    <a:lnTo>
                      <a:pt x="1627465" y="0"/>
                    </a:lnTo>
                    <a:cubicBezTo>
                      <a:pt x="1643794" y="0"/>
                      <a:pt x="1659454" y="6487"/>
                      <a:pt x="1671000" y="18033"/>
                    </a:cubicBezTo>
                    <a:cubicBezTo>
                      <a:pt x="1682546" y="29579"/>
                      <a:pt x="1689033" y="45239"/>
                      <a:pt x="1689033" y="61568"/>
                    </a:cubicBezTo>
                    <a:lnTo>
                      <a:pt x="1689033" y="1358682"/>
                    </a:lnTo>
                    <a:cubicBezTo>
                      <a:pt x="1689033" y="1375011"/>
                      <a:pt x="1682546" y="1390671"/>
                      <a:pt x="1671000" y="1402217"/>
                    </a:cubicBezTo>
                    <a:cubicBezTo>
                      <a:pt x="1659454" y="1413763"/>
                      <a:pt x="1643794" y="1420250"/>
                      <a:pt x="1627465" y="1420250"/>
                    </a:cubicBezTo>
                    <a:lnTo>
                      <a:pt x="61568" y="1420250"/>
                    </a:lnTo>
                    <a:cubicBezTo>
                      <a:pt x="27565" y="1420250"/>
                      <a:pt x="0" y="1392685"/>
                      <a:pt x="0" y="1358682"/>
                    </a:cubicBezTo>
                    <a:lnTo>
                      <a:pt x="0" y="61568"/>
                    </a:lnTo>
                    <a:cubicBezTo>
                      <a:pt x="0" y="45239"/>
                      <a:pt x="6487" y="29579"/>
                      <a:pt x="18033" y="18033"/>
                    </a:cubicBezTo>
                    <a:cubicBezTo>
                      <a:pt x="29579" y="6487"/>
                      <a:pt x="45239" y="0"/>
                      <a:pt x="61568" y="0"/>
                    </a:cubicBezTo>
                    <a:close/>
                  </a:path>
                </a:pathLst>
              </a:custGeom>
              <a:solidFill>
                <a:srgbClr val="8D7BB2">
                  <a:alpha val="49804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47625"/>
                <a:ext cx="1689033" cy="14678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792123" y="3003345"/>
              <a:ext cx="13445324" cy="2676299"/>
              <a:chOff x="0" y="0"/>
              <a:chExt cx="1689033" cy="142025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1689033" cy="1420250"/>
              </a:xfrm>
              <a:custGeom>
                <a:avLst/>
                <a:gdLst/>
                <a:ahLst/>
                <a:cxnLst/>
                <a:rect l="l" t="t" r="r" b="b"/>
                <a:pathLst>
                  <a:path w="1689033" h="1420250">
                    <a:moveTo>
                      <a:pt x="61568" y="0"/>
                    </a:moveTo>
                    <a:lnTo>
                      <a:pt x="1627465" y="0"/>
                    </a:lnTo>
                    <a:cubicBezTo>
                      <a:pt x="1643794" y="0"/>
                      <a:pt x="1659454" y="6487"/>
                      <a:pt x="1671000" y="18033"/>
                    </a:cubicBezTo>
                    <a:cubicBezTo>
                      <a:pt x="1682546" y="29579"/>
                      <a:pt x="1689033" y="45239"/>
                      <a:pt x="1689033" y="61568"/>
                    </a:cubicBezTo>
                    <a:lnTo>
                      <a:pt x="1689033" y="1358682"/>
                    </a:lnTo>
                    <a:cubicBezTo>
                      <a:pt x="1689033" y="1375011"/>
                      <a:pt x="1682546" y="1390671"/>
                      <a:pt x="1671000" y="1402217"/>
                    </a:cubicBezTo>
                    <a:cubicBezTo>
                      <a:pt x="1659454" y="1413763"/>
                      <a:pt x="1643794" y="1420250"/>
                      <a:pt x="1627465" y="1420250"/>
                    </a:cubicBezTo>
                    <a:lnTo>
                      <a:pt x="61568" y="1420250"/>
                    </a:lnTo>
                    <a:cubicBezTo>
                      <a:pt x="27565" y="1420250"/>
                      <a:pt x="0" y="1392685"/>
                      <a:pt x="0" y="1358682"/>
                    </a:cubicBezTo>
                    <a:lnTo>
                      <a:pt x="0" y="61568"/>
                    </a:lnTo>
                    <a:cubicBezTo>
                      <a:pt x="0" y="45239"/>
                      <a:pt x="6487" y="29579"/>
                      <a:pt x="18033" y="18033"/>
                    </a:cubicBezTo>
                    <a:cubicBezTo>
                      <a:pt x="29579" y="6487"/>
                      <a:pt x="45239" y="0"/>
                      <a:pt x="61568" y="0"/>
                    </a:cubicBezTo>
                    <a:close/>
                  </a:path>
                </a:pathLst>
              </a:custGeom>
              <a:solidFill>
                <a:srgbClr val="8D7BB2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1689033" cy="14678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</p:grpSp>
      <p:grpSp>
        <p:nvGrpSpPr>
          <p:cNvPr id="24" name="群組 23"/>
          <p:cNvGrpSpPr/>
          <p:nvPr/>
        </p:nvGrpSpPr>
        <p:grpSpPr>
          <a:xfrm>
            <a:off x="5728078" y="7300674"/>
            <a:ext cx="6964467" cy="1105273"/>
            <a:chOff x="5712022" y="5364232"/>
            <a:chExt cx="6964467" cy="1105273"/>
          </a:xfrm>
        </p:grpSpPr>
        <p:sp>
          <p:nvSpPr>
            <p:cNvPr id="10" name="Freeform 10"/>
            <p:cNvSpPr/>
            <p:nvPr/>
          </p:nvSpPr>
          <p:spPr>
            <a:xfrm>
              <a:off x="5867996" y="5415687"/>
              <a:ext cx="6808493" cy="1002363"/>
            </a:xfrm>
            <a:custGeom>
              <a:avLst/>
              <a:gdLst/>
              <a:ahLst/>
              <a:cxnLst/>
              <a:rect l="l" t="t" r="r" b="b"/>
              <a:pathLst>
                <a:path w="6301692" h="927751">
                  <a:moveTo>
                    <a:pt x="57992" y="0"/>
                  </a:moveTo>
                  <a:lnTo>
                    <a:pt x="6243700" y="0"/>
                  </a:lnTo>
                  <a:cubicBezTo>
                    <a:pt x="6275728" y="0"/>
                    <a:pt x="6301692" y="25964"/>
                    <a:pt x="6301692" y="57992"/>
                  </a:cubicBezTo>
                  <a:lnTo>
                    <a:pt x="6301692" y="869759"/>
                  </a:lnTo>
                  <a:cubicBezTo>
                    <a:pt x="6301692" y="901787"/>
                    <a:pt x="6275728" y="927751"/>
                    <a:pt x="6243700" y="927751"/>
                  </a:cubicBezTo>
                  <a:lnTo>
                    <a:pt x="57992" y="927751"/>
                  </a:lnTo>
                  <a:cubicBezTo>
                    <a:pt x="25964" y="927751"/>
                    <a:pt x="0" y="901787"/>
                    <a:pt x="0" y="869759"/>
                  </a:cubicBezTo>
                  <a:lnTo>
                    <a:pt x="0" y="57992"/>
                  </a:lnTo>
                  <a:cubicBezTo>
                    <a:pt x="0" y="25964"/>
                    <a:pt x="25964" y="0"/>
                    <a:pt x="57992" y="0"/>
                  </a:cubicBezTo>
                  <a:close/>
                </a:path>
              </a:pathLst>
            </a:custGeom>
            <a:solidFill>
              <a:srgbClr val="5681B2">
                <a:alpha val="49804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867996" y="5364232"/>
              <a:ext cx="6808493" cy="10538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  <p:sp>
          <p:nvSpPr>
            <p:cNvPr id="13" name="Freeform 13"/>
            <p:cNvSpPr/>
            <p:nvPr/>
          </p:nvSpPr>
          <p:spPr>
            <a:xfrm>
              <a:off x="5712022" y="5467142"/>
              <a:ext cx="6808493" cy="1002363"/>
            </a:xfrm>
            <a:custGeom>
              <a:avLst/>
              <a:gdLst/>
              <a:ahLst/>
              <a:cxnLst/>
              <a:rect l="l" t="t" r="r" b="b"/>
              <a:pathLst>
                <a:path w="6301692" h="927751">
                  <a:moveTo>
                    <a:pt x="57992" y="0"/>
                  </a:moveTo>
                  <a:lnTo>
                    <a:pt x="6243700" y="0"/>
                  </a:lnTo>
                  <a:cubicBezTo>
                    <a:pt x="6275728" y="0"/>
                    <a:pt x="6301692" y="25964"/>
                    <a:pt x="6301692" y="57992"/>
                  </a:cubicBezTo>
                  <a:lnTo>
                    <a:pt x="6301692" y="869759"/>
                  </a:lnTo>
                  <a:cubicBezTo>
                    <a:pt x="6301692" y="901787"/>
                    <a:pt x="6275728" y="927751"/>
                    <a:pt x="6243700" y="927751"/>
                  </a:cubicBezTo>
                  <a:lnTo>
                    <a:pt x="57992" y="927751"/>
                  </a:lnTo>
                  <a:cubicBezTo>
                    <a:pt x="25964" y="927751"/>
                    <a:pt x="0" y="901787"/>
                    <a:pt x="0" y="869759"/>
                  </a:cubicBezTo>
                  <a:lnTo>
                    <a:pt x="0" y="57992"/>
                  </a:lnTo>
                  <a:cubicBezTo>
                    <a:pt x="0" y="25964"/>
                    <a:pt x="25964" y="0"/>
                    <a:pt x="57992" y="0"/>
                  </a:cubicBezTo>
                  <a:close/>
                </a:path>
              </a:pathLst>
            </a:custGeom>
            <a:solidFill>
              <a:srgbClr val="5681B2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712022" y="5415687"/>
              <a:ext cx="6808493" cy="10538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 rot="1721810">
            <a:off x="14757223" y="-765765"/>
            <a:ext cx="3979661" cy="3588931"/>
          </a:xfrm>
          <a:custGeom>
            <a:avLst/>
            <a:gdLst/>
            <a:ahLst/>
            <a:cxnLst/>
            <a:rect l="l" t="t" r="r" b="b"/>
            <a:pathLst>
              <a:path w="3979661" h="3588931">
                <a:moveTo>
                  <a:pt x="0" y="0"/>
                </a:moveTo>
                <a:lnTo>
                  <a:pt x="3979661" y="0"/>
                </a:lnTo>
                <a:lnTo>
                  <a:pt x="3979661" y="3588930"/>
                </a:lnTo>
                <a:lnTo>
                  <a:pt x="0" y="358893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6" name="Freeform 16"/>
          <p:cNvSpPr/>
          <p:nvPr/>
        </p:nvSpPr>
        <p:spPr>
          <a:xfrm>
            <a:off x="3860710" y="-1729344"/>
            <a:ext cx="3213823" cy="2758044"/>
          </a:xfrm>
          <a:custGeom>
            <a:avLst/>
            <a:gdLst/>
            <a:ahLst/>
            <a:cxnLst/>
            <a:rect l="l" t="t" r="r" b="b"/>
            <a:pathLst>
              <a:path w="3213823" h="2758044">
                <a:moveTo>
                  <a:pt x="0" y="0"/>
                </a:moveTo>
                <a:lnTo>
                  <a:pt x="3213822" y="0"/>
                </a:lnTo>
                <a:lnTo>
                  <a:pt x="3213822" y="2758044"/>
                </a:lnTo>
                <a:lnTo>
                  <a:pt x="0" y="275804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7" name="Freeform 17"/>
          <p:cNvSpPr/>
          <p:nvPr/>
        </p:nvSpPr>
        <p:spPr>
          <a:xfrm>
            <a:off x="12172156" y="9258300"/>
            <a:ext cx="3213823" cy="2758044"/>
          </a:xfrm>
          <a:custGeom>
            <a:avLst/>
            <a:gdLst/>
            <a:ahLst/>
            <a:cxnLst/>
            <a:rect l="l" t="t" r="r" b="b"/>
            <a:pathLst>
              <a:path w="3213823" h="2758044">
                <a:moveTo>
                  <a:pt x="0" y="0"/>
                </a:moveTo>
                <a:lnTo>
                  <a:pt x="3213823" y="0"/>
                </a:lnTo>
                <a:lnTo>
                  <a:pt x="3213823" y="2758044"/>
                </a:lnTo>
                <a:lnTo>
                  <a:pt x="0" y="275804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8" name="Freeform 18"/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19" name="Group 19"/>
          <p:cNvGrpSpPr/>
          <p:nvPr/>
        </p:nvGrpSpPr>
        <p:grpSpPr>
          <a:xfrm>
            <a:off x="8211037" y="966641"/>
            <a:ext cx="2761763" cy="708578"/>
            <a:chOff x="0" y="0"/>
            <a:chExt cx="3038818" cy="748565"/>
          </a:xfrm>
        </p:grpSpPr>
        <p:sp>
          <p:nvSpPr>
            <p:cNvPr id="20" name="TextBox 20"/>
            <p:cNvSpPr txBox="1"/>
            <p:nvPr/>
          </p:nvSpPr>
          <p:spPr>
            <a:xfrm>
              <a:off x="1110400" y="6488"/>
              <a:ext cx="1928418" cy="71802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5319"/>
                </a:lnSpc>
              </a:pPr>
              <a:r>
                <a:rPr lang="en-US" sz="4800" spc="334" dirty="0" err="1">
                  <a:solidFill>
                    <a:srgbClr val="0154A6"/>
                  </a:solidFill>
                  <a:latin typeface="王漢宗特黑體"/>
                  <a:ea typeface="王漢宗特黑體"/>
                  <a:cs typeface="王漢宗特黑體"/>
                  <a:sym typeface="王漢宗特黑體"/>
                </a:rPr>
                <a:t>國語</a:t>
              </a:r>
              <a:endParaRPr lang="en-US" sz="4800" spc="334" dirty="0">
                <a:solidFill>
                  <a:srgbClr val="0154A6"/>
                </a:solidFill>
                <a:latin typeface="王漢宗特黑體"/>
                <a:ea typeface="王漢宗特黑體"/>
                <a:cs typeface="王漢宗特黑體"/>
                <a:sym typeface="王漢宗特黑體"/>
              </a:endParaRPr>
            </a:p>
          </p:txBody>
        </p:sp>
        <p:sp>
          <p:nvSpPr>
            <p:cNvPr id="21" name="Freeform 21"/>
            <p:cNvSpPr/>
            <p:nvPr/>
          </p:nvSpPr>
          <p:spPr>
            <a:xfrm>
              <a:off x="0" y="0"/>
              <a:ext cx="1423684" cy="748565"/>
            </a:xfrm>
            <a:custGeom>
              <a:avLst/>
              <a:gdLst/>
              <a:ahLst/>
              <a:cxnLst/>
              <a:rect l="l" t="t" r="r" b="b"/>
              <a:pathLst>
                <a:path w="1423684" h="748565">
                  <a:moveTo>
                    <a:pt x="0" y="0"/>
                  </a:moveTo>
                  <a:lnTo>
                    <a:pt x="1423684" y="0"/>
                  </a:lnTo>
                  <a:lnTo>
                    <a:pt x="1423684" y="748565"/>
                  </a:lnTo>
                  <a:lnTo>
                    <a:pt x="0" y="7485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r="-168996"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22" name="文字方塊 21"/>
          <p:cNvSpPr txBox="1"/>
          <p:nvPr/>
        </p:nvSpPr>
        <p:spPr>
          <a:xfrm>
            <a:off x="3327550" y="2326352"/>
            <a:ext cx="13360250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15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閱 讀 理 解 提 問 單</a:t>
            </a:r>
          </a:p>
        </p:txBody>
      </p:sp>
      <p:sp>
        <p:nvSpPr>
          <p:cNvPr id="26" name="文字方塊 25"/>
          <p:cNvSpPr txBox="1"/>
          <p:nvPr/>
        </p:nvSpPr>
        <p:spPr>
          <a:xfrm>
            <a:off x="5728078" y="7461965"/>
            <a:ext cx="141853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5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提問設計</a:t>
            </a:r>
            <a:r>
              <a:rPr lang="en-US" altLang="zh-TW" sz="5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5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郭富華老師</a:t>
            </a:r>
          </a:p>
        </p:txBody>
      </p:sp>
      <p:sp>
        <p:nvSpPr>
          <p:cNvPr id="28" name="Freeform 4"/>
          <p:cNvSpPr/>
          <p:nvPr/>
        </p:nvSpPr>
        <p:spPr>
          <a:xfrm>
            <a:off x="3535501" y="5408279"/>
            <a:ext cx="1583640" cy="1336723"/>
          </a:xfrm>
          <a:custGeom>
            <a:avLst/>
            <a:gdLst/>
            <a:ahLst/>
            <a:cxnLst/>
            <a:rect l="l" t="t" r="r" b="b"/>
            <a:pathLst>
              <a:path w="3941664" h="3662164">
                <a:moveTo>
                  <a:pt x="0" y="0"/>
                </a:moveTo>
                <a:lnTo>
                  <a:pt x="3941663" y="0"/>
                </a:lnTo>
                <a:lnTo>
                  <a:pt x="3941663" y="3662164"/>
                </a:lnTo>
                <a:lnTo>
                  <a:pt x="0" y="366216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29" name="圖片 28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85979" y="6825113"/>
            <a:ext cx="2536570" cy="3399250"/>
          </a:xfrm>
          <a:prstGeom prst="rect">
            <a:avLst/>
          </a:prstGeom>
        </p:spPr>
      </p:pic>
      <p:sp>
        <p:nvSpPr>
          <p:cNvPr id="30" name="Freeform 11"/>
          <p:cNvSpPr/>
          <p:nvPr/>
        </p:nvSpPr>
        <p:spPr>
          <a:xfrm rot="-1789354">
            <a:off x="1585337" y="2049027"/>
            <a:ext cx="1658309" cy="2253630"/>
          </a:xfrm>
          <a:custGeom>
            <a:avLst/>
            <a:gdLst/>
            <a:ahLst/>
            <a:cxnLst/>
            <a:rect l="l" t="t" r="r" b="b"/>
            <a:pathLst>
              <a:path w="2725139" h="3833315">
                <a:moveTo>
                  <a:pt x="0" y="0"/>
                </a:moveTo>
                <a:lnTo>
                  <a:pt x="2725139" y="0"/>
                </a:lnTo>
                <a:lnTo>
                  <a:pt x="2725139" y="3833316"/>
                </a:lnTo>
                <a:lnTo>
                  <a:pt x="0" y="383331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5" name="文字方塊 24"/>
          <p:cNvSpPr txBox="1"/>
          <p:nvPr/>
        </p:nvSpPr>
        <p:spPr>
          <a:xfrm>
            <a:off x="4158053" y="5660945"/>
            <a:ext cx="998191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6600" b="1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三下 </a:t>
            </a:r>
            <a:r>
              <a:rPr lang="en-US" altLang="zh-TW" sz="6600" b="1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L10</a:t>
            </a:r>
            <a:r>
              <a:rPr lang="zh-TW" altLang="en-US" sz="6600" b="1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飛行員和小王子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2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978173">
            <a:off x="-1434441" y="-1744732"/>
            <a:ext cx="4926281" cy="5297076"/>
          </a:xfrm>
          <a:custGeom>
            <a:avLst/>
            <a:gdLst/>
            <a:ahLst/>
            <a:cxnLst/>
            <a:rect l="l" t="t" r="r" b="b"/>
            <a:pathLst>
              <a:path w="4926281" h="5297076">
                <a:moveTo>
                  <a:pt x="0" y="0"/>
                </a:moveTo>
                <a:lnTo>
                  <a:pt x="4926282" y="0"/>
                </a:lnTo>
                <a:lnTo>
                  <a:pt x="4926282" y="5297077"/>
                </a:lnTo>
                <a:lnTo>
                  <a:pt x="0" y="52970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24" name="群組 23"/>
          <p:cNvGrpSpPr/>
          <p:nvPr/>
        </p:nvGrpSpPr>
        <p:grpSpPr>
          <a:xfrm>
            <a:off x="5072586" y="766557"/>
            <a:ext cx="8516876" cy="1155939"/>
            <a:chOff x="8742424" y="3811491"/>
            <a:chExt cx="8516876" cy="1155939"/>
          </a:xfrm>
        </p:grpSpPr>
        <p:grpSp>
          <p:nvGrpSpPr>
            <p:cNvPr id="3" name="Group 3"/>
            <p:cNvGrpSpPr/>
            <p:nvPr/>
          </p:nvGrpSpPr>
          <p:grpSpPr>
            <a:xfrm>
              <a:off x="8742424" y="3965067"/>
              <a:ext cx="8467690" cy="1002363"/>
              <a:chOff x="0" y="0"/>
              <a:chExt cx="7837384" cy="92775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7837384" cy="927751"/>
              </a:xfrm>
              <a:custGeom>
                <a:avLst/>
                <a:gdLst/>
                <a:ahLst/>
                <a:cxnLst/>
                <a:rect l="l" t="t" r="r" b="b"/>
                <a:pathLst>
                  <a:path w="7837384" h="927751">
                    <a:moveTo>
                      <a:pt x="46629" y="0"/>
                    </a:moveTo>
                    <a:lnTo>
                      <a:pt x="7790755" y="0"/>
                    </a:lnTo>
                    <a:cubicBezTo>
                      <a:pt x="7816508" y="0"/>
                      <a:pt x="7837384" y="20876"/>
                      <a:pt x="7837384" y="46629"/>
                    </a:cubicBezTo>
                    <a:lnTo>
                      <a:pt x="7837384" y="881122"/>
                    </a:lnTo>
                    <a:cubicBezTo>
                      <a:pt x="7837384" y="893489"/>
                      <a:pt x="7832472" y="905349"/>
                      <a:pt x="7823727" y="914094"/>
                    </a:cubicBezTo>
                    <a:cubicBezTo>
                      <a:pt x="7814983" y="922838"/>
                      <a:pt x="7803122" y="927751"/>
                      <a:pt x="7790755" y="927751"/>
                    </a:cubicBezTo>
                    <a:lnTo>
                      <a:pt x="46629" y="927751"/>
                    </a:lnTo>
                    <a:cubicBezTo>
                      <a:pt x="34262" y="927751"/>
                      <a:pt x="22402" y="922838"/>
                      <a:pt x="13657" y="914094"/>
                    </a:cubicBezTo>
                    <a:cubicBezTo>
                      <a:pt x="4913" y="905349"/>
                      <a:pt x="0" y="893489"/>
                      <a:pt x="0" y="881122"/>
                    </a:cubicBezTo>
                    <a:lnTo>
                      <a:pt x="0" y="46629"/>
                    </a:lnTo>
                    <a:cubicBezTo>
                      <a:pt x="0" y="34262"/>
                      <a:pt x="4913" y="22402"/>
                      <a:pt x="13657" y="13657"/>
                    </a:cubicBezTo>
                    <a:cubicBezTo>
                      <a:pt x="22402" y="4913"/>
                      <a:pt x="34262" y="0"/>
                      <a:pt x="46629" y="0"/>
                    </a:cubicBezTo>
                    <a:close/>
                  </a:path>
                </a:pathLst>
              </a:custGeom>
              <a:solidFill>
                <a:srgbClr val="FFAF64">
                  <a:alpha val="49804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47625"/>
                <a:ext cx="7837384" cy="97537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8791610" y="3811491"/>
              <a:ext cx="8467690" cy="1002363"/>
              <a:chOff x="0" y="0"/>
              <a:chExt cx="7837384" cy="92775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7837384" cy="927751"/>
              </a:xfrm>
              <a:custGeom>
                <a:avLst/>
                <a:gdLst/>
                <a:ahLst/>
                <a:cxnLst/>
                <a:rect l="l" t="t" r="r" b="b"/>
                <a:pathLst>
                  <a:path w="7837384" h="927751">
                    <a:moveTo>
                      <a:pt x="46629" y="0"/>
                    </a:moveTo>
                    <a:lnTo>
                      <a:pt x="7790755" y="0"/>
                    </a:lnTo>
                    <a:cubicBezTo>
                      <a:pt x="7816508" y="0"/>
                      <a:pt x="7837384" y="20876"/>
                      <a:pt x="7837384" y="46629"/>
                    </a:cubicBezTo>
                    <a:lnTo>
                      <a:pt x="7837384" y="881122"/>
                    </a:lnTo>
                    <a:cubicBezTo>
                      <a:pt x="7837384" y="893489"/>
                      <a:pt x="7832472" y="905349"/>
                      <a:pt x="7823727" y="914094"/>
                    </a:cubicBezTo>
                    <a:cubicBezTo>
                      <a:pt x="7814983" y="922838"/>
                      <a:pt x="7803122" y="927751"/>
                      <a:pt x="7790755" y="927751"/>
                    </a:cubicBezTo>
                    <a:lnTo>
                      <a:pt x="46629" y="927751"/>
                    </a:lnTo>
                    <a:cubicBezTo>
                      <a:pt x="34262" y="927751"/>
                      <a:pt x="22402" y="922838"/>
                      <a:pt x="13657" y="914094"/>
                    </a:cubicBezTo>
                    <a:cubicBezTo>
                      <a:pt x="4913" y="905349"/>
                      <a:pt x="0" y="893489"/>
                      <a:pt x="0" y="881122"/>
                    </a:cubicBezTo>
                    <a:lnTo>
                      <a:pt x="0" y="46629"/>
                    </a:lnTo>
                    <a:cubicBezTo>
                      <a:pt x="0" y="34262"/>
                      <a:pt x="4913" y="22402"/>
                      <a:pt x="13657" y="13657"/>
                    </a:cubicBezTo>
                    <a:cubicBezTo>
                      <a:pt x="22402" y="4913"/>
                      <a:pt x="34262" y="0"/>
                      <a:pt x="46629" y="0"/>
                    </a:cubicBezTo>
                    <a:close/>
                  </a:path>
                </a:pathLst>
              </a:custGeom>
              <a:solidFill>
                <a:srgbClr val="FFAF64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7837384" cy="97537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9" name="Freeform 9"/>
          <p:cNvSpPr/>
          <p:nvPr/>
        </p:nvSpPr>
        <p:spPr>
          <a:xfrm rot="-10800000">
            <a:off x="15392400" y="6057900"/>
            <a:ext cx="6222354" cy="5339911"/>
          </a:xfrm>
          <a:custGeom>
            <a:avLst/>
            <a:gdLst/>
            <a:ahLst/>
            <a:cxnLst/>
            <a:rect l="l" t="t" r="r" b="b"/>
            <a:pathLst>
              <a:path w="6222354" h="5339911">
                <a:moveTo>
                  <a:pt x="0" y="0"/>
                </a:moveTo>
                <a:lnTo>
                  <a:pt x="6222354" y="0"/>
                </a:lnTo>
                <a:lnTo>
                  <a:pt x="6222354" y="5339911"/>
                </a:lnTo>
                <a:lnTo>
                  <a:pt x="0" y="53399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2" name="Freeform 22"/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3" name="矩形 22"/>
          <p:cNvSpPr/>
          <p:nvPr/>
        </p:nvSpPr>
        <p:spPr>
          <a:xfrm>
            <a:off x="6339406" y="872739"/>
            <a:ext cx="6032422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★</a:t>
            </a:r>
            <a:r>
              <a:rPr lang="en-US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讀</a:t>
            </a:r>
            <a:r>
              <a:rPr lang="en-US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在</a:t>
            </a:r>
            <a:r>
              <a:rPr lang="en-US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課</a:t>
            </a:r>
            <a:r>
              <a:rPr lang="en-US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文</a:t>
            </a:r>
            <a:r>
              <a:rPr lang="en-US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前  ★</a:t>
            </a:r>
            <a:endParaRPr lang="zh-TW" altLang="zh-TW" sz="4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893134" y="2921304"/>
            <a:ext cx="13891213" cy="36951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spcAft>
                <a:spcPts val="0"/>
              </a:spcAft>
              <a:buAutoNum type="arabicPeriod"/>
            </a:pP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請閱讀「旁白：飛行員遇見了從外太空來的小王子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……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圖畫給小王子看。」請你試著預測看看，接下來飛行員和小王子之間發生了什麼事情？</a:t>
            </a:r>
            <a:endParaRPr lang="en-US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endParaRPr lang="en-US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2. 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仔細欣賞影片，記下你印象中最深刻的一段話和一個畫面。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圖畫中要放入那一段令你最深刻的話呵！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endParaRPr lang="zh-TW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3118018" y="2181419"/>
            <a:ext cx="171232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en-US" sz="28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參考影片</a:t>
            </a:r>
            <a:r>
              <a:rPr lang="en-US" altLang="zh-TW" sz="28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:</a:t>
            </a:r>
            <a:endParaRPr lang="zh-TW" altLang="zh-TW" sz="28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4830346" y="2258363"/>
            <a:ext cx="62620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u="sng" kern="100" dirty="0">
                <a:solidFill>
                  <a:srgbClr val="0000FF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https://</a:t>
            </a:r>
            <a:r>
              <a:rPr lang="en-US" altLang="zh-TW" u="sng" kern="100" dirty="0" err="1">
                <a:solidFill>
                  <a:srgbClr val="0000FF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youtu.be</a:t>
            </a:r>
            <a:r>
              <a:rPr lang="en-US" altLang="zh-TW" u="sng" kern="100" dirty="0">
                <a:solidFill>
                  <a:srgbClr val="0000FF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/4CPPimpV8cE?si=Zt5Uzb_bF3RA8m5w</a:t>
            </a:r>
            <a:endParaRPr lang="zh-TW" altLang="en-US" dirty="0"/>
          </a:p>
        </p:txBody>
      </p:sp>
      <p:pic>
        <p:nvPicPr>
          <p:cNvPr id="30" name="圖片 29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2560682" y="2161778"/>
            <a:ext cx="557336" cy="557336"/>
          </a:xfrm>
          <a:prstGeom prst="rect">
            <a:avLst/>
          </a:prstGeom>
        </p:spPr>
      </p:pic>
      <p:pic>
        <p:nvPicPr>
          <p:cNvPr id="33" name="圖片 32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78200" y="325900"/>
            <a:ext cx="1806304" cy="2940337"/>
          </a:xfrm>
          <a:prstGeom prst="rect">
            <a:avLst/>
          </a:prstGeom>
        </p:spPr>
      </p:pic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4055A53F-A9C3-1CE1-23EF-633B17C0CB8E}"/>
              </a:ext>
            </a:extLst>
          </p:cNvPr>
          <p:cNvCxnSpPr>
            <a:cxnSpLocks/>
          </p:cNvCxnSpPr>
          <p:nvPr/>
        </p:nvCxnSpPr>
        <p:spPr>
          <a:xfrm>
            <a:off x="2502735" y="5042446"/>
            <a:ext cx="1298275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0432654B-F0EF-AD7B-3E30-0355C8ADCCFB}"/>
              </a:ext>
            </a:extLst>
          </p:cNvPr>
          <p:cNvSpPr/>
          <p:nvPr/>
        </p:nvSpPr>
        <p:spPr>
          <a:xfrm>
            <a:off x="2452494" y="4408140"/>
            <a:ext cx="757295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學生依經驗回答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D09DE86-8CCC-22F3-8E90-A55227DD48EB}"/>
              </a:ext>
            </a:extLst>
          </p:cNvPr>
          <p:cNvSpPr/>
          <p:nvPr/>
        </p:nvSpPr>
        <p:spPr>
          <a:xfrm>
            <a:off x="1893134" y="6762551"/>
            <a:ext cx="14090857" cy="2952217"/>
          </a:xfrm>
          <a:prstGeom prst="rect">
            <a:avLst/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912EDC9-AF1D-597F-FEFC-9CED303AF69F}"/>
              </a:ext>
            </a:extLst>
          </p:cNvPr>
          <p:cNvSpPr/>
          <p:nvPr/>
        </p:nvSpPr>
        <p:spPr>
          <a:xfrm>
            <a:off x="14456913" y="3921163"/>
            <a:ext cx="389814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000" kern="100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預測策略</a:t>
            </a:r>
          </a:p>
        </p:txBody>
      </p:sp>
      <p:pic>
        <p:nvPicPr>
          <p:cNvPr id="16" name="圖片 15">
            <a:extLst>
              <a:ext uri="{FF2B5EF4-FFF2-40B4-BE49-F238E27FC236}">
                <a16:creationId xmlns:a16="http://schemas.microsoft.com/office/drawing/2014/main" id="{26318C5C-9711-9DEA-76DF-8567C7A9B3E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6150" y="1171440"/>
            <a:ext cx="1527605" cy="153453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2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8"/>
          <p:cNvGrpSpPr/>
          <p:nvPr/>
        </p:nvGrpSpPr>
        <p:grpSpPr>
          <a:xfrm>
            <a:off x="1013460" y="2343663"/>
            <a:ext cx="5542194" cy="1275837"/>
            <a:chOff x="0" y="0"/>
            <a:chExt cx="2188840" cy="1097141"/>
          </a:xfrm>
        </p:grpSpPr>
        <p:sp>
          <p:nvSpPr>
            <p:cNvPr id="31" name="Freeform 9"/>
            <p:cNvSpPr/>
            <p:nvPr/>
          </p:nvSpPr>
          <p:spPr>
            <a:xfrm>
              <a:off x="0" y="0"/>
              <a:ext cx="2188840" cy="1097141"/>
            </a:xfrm>
            <a:custGeom>
              <a:avLst/>
              <a:gdLst/>
              <a:ahLst/>
              <a:cxnLst/>
              <a:rect l="l" t="t" r="r" b="b"/>
              <a:pathLst>
                <a:path w="2188840" h="1097141">
                  <a:moveTo>
                    <a:pt x="44452" y="0"/>
                  </a:moveTo>
                  <a:lnTo>
                    <a:pt x="2144388" y="0"/>
                  </a:lnTo>
                  <a:cubicBezTo>
                    <a:pt x="2156178" y="0"/>
                    <a:pt x="2167484" y="4683"/>
                    <a:pt x="2175820" y="13020"/>
                  </a:cubicBezTo>
                  <a:cubicBezTo>
                    <a:pt x="2184157" y="21356"/>
                    <a:pt x="2188840" y="32663"/>
                    <a:pt x="2188840" y="44452"/>
                  </a:cubicBezTo>
                  <a:lnTo>
                    <a:pt x="2188840" y="1052689"/>
                  </a:lnTo>
                  <a:cubicBezTo>
                    <a:pt x="2188840" y="1064479"/>
                    <a:pt x="2184157" y="1075785"/>
                    <a:pt x="2175820" y="1084122"/>
                  </a:cubicBezTo>
                  <a:cubicBezTo>
                    <a:pt x="2167484" y="1092458"/>
                    <a:pt x="2156178" y="1097141"/>
                    <a:pt x="2144388" y="1097141"/>
                  </a:cubicBezTo>
                  <a:lnTo>
                    <a:pt x="44452" y="1097141"/>
                  </a:lnTo>
                  <a:cubicBezTo>
                    <a:pt x="32663" y="1097141"/>
                    <a:pt x="21356" y="1092458"/>
                    <a:pt x="13020" y="1084122"/>
                  </a:cubicBezTo>
                  <a:cubicBezTo>
                    <a:pt x="4683" y="1075785"/>
                    <a:pt x="0" y="1064479"/>
                    <a:pt x="0" y="1052689"/>
                  </a:cubicBezTo>
                  <a:lnTo>
                    <a:pt x="0" y="44452"/>
                  </a:lnTo>
                  <a:cubicBezTo>
                    <a:pt x="0" y="32663"/>
                    <a:pt x="4683" y="21356"/>
                    <a:pt x="13020" y="13020"/>
                  </a:cubicBezTo>
                  <a:cubicBezTo>
                    <a:pt x="21356" y="4683"/>
                    <a:pt x="32663" y="0"/>
                    <a:pt x="44452" y="0"/>
                  </a:cubicBezTo>
                  <a:close/>
                </a:path>
              </a:pathLst>
            </a:custGeom>
            <a:solidFill>
              <a:srgbClr val="BCE1EB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3" name="TextBox 10"/>
            <p:cNvSpPr txBox="1"/>
            <p:nvPr/>
          </p:nvSpPr>
          <p:spPr>
            <a:xfrm>
              <a:off x="0" y="-47625"/>
              <a:ext cx="2188840" cy="11447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Freeform 2"/>
          <p:cNvSpPr/>
          <p:nvPr/>
        </p:nvSpPr>
        <p:spPr>
          <a:xfrm rot="9746419">
            <a:off x="16861985" y="-353079"/>
            <a:ext cx="3283184" cy="4243996"/>
          </a:xfrm>
          <a:custGeom>
            <a:avLst/>
            <a:gdLst/>
            <a:ahLst/>
            <a:cxnLst/>
            <a:rect l="l" t="t" r="r" b="b"/>
            <a:pathLst>
              <a:path w="4926281" h="5297076">
                <a:moveTo>
                  <a:pt x="0" y="0"/>
                </a:moveTo>
                <a:lnTo>
                  <a:pt x="4926282" y="0"/>
                </a:lnTo>
                <a:lnTo>
                  <a:pt x="4926282" y="5297077"/>
                </a:lnTo>
                <a:lnTo>
                  <a:pt x="0" y="52970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24" name="群組 23"/>
          <p:cNvGrpSpPr/>
          <p:nvPr/>
        </p:nvGrpSpPr>
        <p:grpSpPr>
          <a:xfrm>
            <a:off x="5072586" y="766557"/>
            <a:ext cx="8516876" cy="1155939"/>
            <a:chOff x="8742424" y="3811491"/>
            <a:chExt cx="8516876" cy="1155939"/>
          </a:xfrm>
        </p:grpSpPr>
        <p:grpSp>
          <p:nvGrpSpPr>
            <p:cNvPr id="3" name="Group 3"/>
            <p:cNvGrpSpPr/>
            <p:nvPr/>
          </p:nvGrpSpPr>
          <p:grpSpPr>
            <a:xfrm>
              <a:off x="8742424" y="3965067"/>
              <a:ext cx="8467690" cy="1002363"/>
              <a:chOff x="0" y="0"/>
              <a:chExt cx="7837384" cy="92775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7837384" cy="927751"/>
              </a:xfrm>
              <a:custGeom>
                <a:avLst/>
                <a:gdLst/>
                <a:ahLst/>
                <a:cxnLst/>
                <a:rect l="l" t="t" r="r" b="b"/>
                <a:pathLst>
                  <a:path w="7837384" h="927751">
                    <a:moveTo>
                      <a:pt x="46629" y="0"/>
                    </a:moveTo>
                    <a:lnTo>
                      <a:pt x="7790755" y="0"/>
                    </a:lnTo>
                    <a:cubicBezTo>
                      <a:pt x="7816508" y="0"/>
                      <a:pt x="7837384" y="20876"/>
                      <a:pt x="7837384" y="46629"/>
                    </a:cubicBezTo>
                    <a:lnTo>
                      <a:pt x="7837384" y="881122"/>
                    </a:lnTo>
                    <a:cubicBezTo>
                      <a:pt x="7837384" y="893489"/>
                      <a:pt x="7832472" y="905349"/>
                      <a:pt x="7823727" y="914094"/>
                    </a:cubicBezTo>
                    <a:cubicBezTo>
                      <a:pt x="7814983" y="922838"/>
                      <a:pt x="7803122" y="927751"/>
                      <a:pt x="7790755" y="927751"/>
                    </a:cubicBezTo>
                    <a:lnTo>
                      <a:pt x="46629" y="927751"/>
                    </a:lnTo>
                    <a:cubicBezTo>
                      <a:pt x="34262" y="927751"/>
                      <a:pt x="22402" y="922838"/>
                      <a:pt x="13657" y="914094"/>
                    </a:cubicBezTo>
                    <a:cubicBezTo>
                      <a:pt x="4913" y="905349"/>
                      <a:pt x="0" y="893489"/>
                      <a:pt x="0" y="881122"/>
                    </a:cubicBezTo>
                    <a:lnTo>
                      <a:pt x="0" y="46629"/>
                    </a:lnTo>
                    <a:cubicBezTo>
                      <a:pt x="0" y="34262"/>
                      <a:pt x="4913" y="22402"/>
                      <a:pt x="13657" y="13657"/>
                    </a:cubicBezTo>
                    <a:cubicBezTo>
                      <a:pt x="22402" y="4913"/>
                      <a:pt x="34262" y="0"/>
                      <a:pt x="46629" y="0"/>
                    </a:cubicBezTo>
                    <a:close/>
                  </a:path>
                </a:pathLst>
              </a:custGeom>
              <a:solidFill>
                <a:srgbClr val="FFAF64">
                  <a:alpha val="49804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47625"/>
                <a:ext cx="7837384" cy="97537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8791610" y="3811491"/>
              <a:ext cx="8467690" cy="1002363"/>
              <a:chOff x="0" y="0"/>
              <a:chExt cx="7837384" cy="92775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7837384" cy="927751"/>
              </a:xfrm>
              <a:custGeom>
                <a:avLst/>
                <a:gdLst/>
                <a:ahLst/>
                <a:cxnLst/>
                <a:rect l="l" t="t" r="r" b="b"/>
                <a:pathLst>
                  <a:path w="7837384" h="927751">
                    <a:moveTo>
                      <a:pt x="46629" y="0"/>
                    </a:moveTo>
                    <a:lnTo>
                      <a:pt x="7790755" y="0"/>
                    </a:lnTo>
                    <a:cubicBezTo>
                      <a:pt x="7816508" y="0"/>
                      <a:pt x="7837384" y="20876"/>
                      <a:pt x="7837384" y="46629"/>
                    </a:cubicBezTo>
                    <a:lnTo>
                      <a:pt x="7837384" y="881122"/>
                    </a:lnTo>
                    <a:cubicBezTo>
                      <a:pt x="7837384" y="893489"/>
                      <a:pt x="7832472" y="905349"/>
                      <a:pt x="7823727" y="914094"/>
                    </a:cubicBezTo>
                    <a:cubicBezTo>
                      <a:pt x="7814983" y="922838"/>
                      <a:pt x="7803122" y="927751"/>
                      <a:pt x="7790755" y="927751"/>
                    </a:cubicBezTo>
                    <a:lnTo>
                      <a:pt x="46629" y="927751"/>
                    </a:lnTo>
                    <a:cubicBezTo>
                      <a:pt x="34262" y="927751"/>
                      <a:pt x="22402" y="922838"/>
                      <a:pt x="13657" y="914094"/>
                    </a:cubicBezTo>
                    <a:cubicBezTo>
                      <a:pt x="4913" y="905349"/>
                      <a:pt x="0" y="893489"/>
                      <a:pt x="0" y="881122"/>
                    </a:cubicBezTo>
                    <a:lnTo>
                      <a:pt x="0" y="46629"/>
                    </a:lnTo>
                    <a:cubicBezTo>
                      <a:pt x="0" y="34262"/>
                      <a:pt x="4913" y="22402"/>
                      <a:pt x="13657" y="13657"/>
                    </a:cubicBezTo>
                    <a:cubicBezTo>
                      <a:pt x="22402" y="4913"/>
                      <a:pt x="34262" y="0"/>
                      <a:pt x="46629" y="0"/>
                    </a:cubicBezTo>
                    <a:close/>
                  </a:path>
                </a:pathLst>
              </a:custGeom>
              <a:solidFill>
                <a:srgbClr val="FFAF64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7837384" cy="97537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9" name="Freeform 9"/>
          <p:cNvSpPr/>
          <p:nvPr/>
        </p:nvSpPr>
        <p:spPr>
          <a:xfrm rot="-10800000">
            <a:off x="-4038600" y="6515100"/>
            <a:ext cx="6222354" cy="5339911"/>
          </a:xfrm>
          <a:custGeom>
            <a:avLst/>
            <a:gdLst/>
            <a:ahLst/>
            <a:cxnLst/>
            <a:rect l="l" t="t" r="r" b="b"/>
            <a:pathLst>
              <a:path w="6222354" h="5339911">
                <a:moveTo>
                  <a:pt x="0" y="0"/>
                </a:moveTo>
                <a:lnTo>
                  <a:pt x="6222354" y="0"/>
                </a:lnTo>
                <a:lnTo>
                  <a:pt x="6222354" y="5339911"/>
                </a:lnTo>
                <a:lnTo>
                  <a:pt x="0" y="53399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2" name="Freeform 22"/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3" name="矩形 22"/>
          <p:cNvSpPr/>
          <p:nvPr/>
        </p:nvSpPr>
        <p:spPr>
          <a:xfrm>
            <a:off x="6339406" y="872739"/>
            <a:ext cx="6032422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★</a:t>
            </a:r>
            <a:r>
              <a:rPr lang="en-US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讀</a:t>
            </a:r>
            <a:r>
              <a:rPr lang="en-US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在</a:t>
            </a:r>
            <a:r>
              <a:rPr lang="en-US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課</a:t>
            </a:r>
            <a:r>
              <a:rPr lang="en-US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文</a:t>
            </a:r>
            <a:r>
              <a:rPr lang="en-US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前  ★</a:t>
            </a:r>
            <a:endParaRPr lang="zh-TW" altLang="zh-TW" sz="4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267867" y="2661502"/>
            <a:ext cx="3159839" cy="58477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個人自學 任務一</a:t>
            </a:r>
            <a:endParaRPr lang="zh-TW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628729" y="2704007"/>
            <a:ext cx="20574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800" kern="100" dirty="0">
                <a:solidFill>
                  <a:schemeClr val="accent1"/>
                </a:solidFill>
                <a:ea typeface="標楷體" panose="03000509000000000000" pitchFamily="65" charset="-120"/>
                <a:cs typeface="Times New Roman" panose="02020603050405020304" pitchFamily="18" charset="0"/>
              </a:rPr>
              <a:t>識字策略</a:t>
            </a:r>
            <a:endParaRPr lang="zh-TW" altLang="en-US" sz="2800" dirty="0">
              <a:solidFill>
                <a:schemeClr val="accent1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013460" y="3823039"/>
            <a:ext cx="15315294" cy="14791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請以「巾」為部件，加上偏旁形成另一個新字後，再造一個詞。</a:t>
            </a:r>
            <a:b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請小心造詞，因為最後是使用你造的詞來造長句喔！</a:t>
            </a:r>
            <a:endParaRPr lang="zh-TW" altLang="zh-TW" sz="3200" b="1" kern="1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pic>
        <p:nvPicPr>
          <p:cNvPr id="35" name="圖片 34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78200" y="325900"/>
            <a:ext cx="1806304" cy="2940337"/>
          </a:xfrm>
          <a:prstGeom prst="rect">
            <a:avLst/>
          </a:prstGeom>
        </p:spPr>
      </p:pic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C9159B49-469A-62DF-479F-6C2FBEABBF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3983601"/>
              </p:ext>
            </p:extLst>
          </p:nvPr>
        </p:nvGraphicFramePr>
        <p:xfrm>
          <a:off x="2183754" y="5629576"/>
          <a:ext cx="15315293" cy="391806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91403">
                  <a:extLst>
                    <a:ext uri="{9D8B030D-6E8A-4147-A177-3AD203B41FA5}">
                      <a16:colId xmlns:a16="http://schemas.microsoft.com/office/drawing/2014/main" val="4227290386"/>
                    </a:ext>
                  </a:extLst>
                </a:gridCol>
                <a:gridCol w="2646363">
                  <a:extLst>
                    <a:ext uri="{9D8B030D-6E8A-4147-A177-3AD203B41FA5}">
                      <a16:colId xmlns:a16="http://schemas.microsoft.com/office/drawing/2014/main" val="1199907279"/>
                    </a:ext>
                  </a:extLst>
                </a:gridCol>
                <a:gridCol w="2646363">
                  <a:extLst>
                    <a:ext uri="{9D8B030D-6E8A-4147-A177-3AD203B41FA5}">
                      <a16:colId xmlns:a16="http://schemas.microsoft.com/office/drawing/2014/main" val="2526551720"/>
                    </a:ext>
                  </a:extLst>
                </a:gridCol>
                <a:gridCol w="8131164">
                  <a:extLst>
                    <a:ext uri="{9D8B030D-6E8A-4147-A177-3AD203B41FA5}">
                      <a16:colId xmlns:a16="http://schemas.microsoft.com/office/drawing/2014/main" val="1713945109"/>
                    </a:ext>
                  </a:extLst>
                </a:gridCol>
              </a:tblGrid>
              <a:tr h="1332512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30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部件</a:t>
                      </a: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30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加偏旁成新字</a:t>
                      </a:r>
                      <a:r>
                        <a:rPr lang="en-US" sz="30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+</a:t>
                      </a:r>
                      <a:r>
                        <a:rPr lang="zh-TW" altLang="en-US" sz="30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注音</a:t>
                      </a: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30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造詞</a:t>
                      </a: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30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完整一小段 </a:t>
                      </a:r>
                      <a:r>
                        <a:rPr lang="en-US" sz="30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30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句中放入</a:t>
                      </a:r>
                      <a:r>
                        <a:rPr lang="en-US" sz="30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❶</a:t>
                      </a:r>
                      <a:r>
                        <a:rPr lang="zh-TW" altLang="en-US" sz="30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和</a:t>
                      </a:r>
                      <a:r>
                        <a:rPr lang="en-US" sz="30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❷</a:t>
                      </a:r>
                      <a:r>
                        <a:rPr lang="zh-TW" altLang="en-US" sz="30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並加入想像 </a:t>
                      </a:r>
                      <a:r>
                        <a:rPr lang="zh-TW" altLang="en-US" sz="3000" b="1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情境</a:t>
                      </a:r>
                      <a:r>
                        <a:rPr lang="zh-TW" altLang="en-US" sz="30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，最後也要加入自己的 </a:t>
                      </a:r>
                      <a:r>
                        <a:rPr lang="zh-TW" altLang="en-US" sz="3000" b="1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感受</a:t>
                      </a:r>
                      <a:r>
                        <a:rPr lang="zh-TW" altLang="en-US" sz="30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，成為完整一小段 </a:t>
                      </a:r>
                      <a:r>
                        <a:rPr lang="en-US" sz="30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3000" b="0" kern="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7128580"/>
                  </a:ext>
                </a:extLst>
              </a:tr>
              <a:tr h="1292777">
                <a:tc rowSpan="2"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</a:pPr>
                      <a:r>
                        <a:rPr lang="zh-TW" altLang="en-US" sz="30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巾</a:t>
                      </a: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altLang="en-US" sz="3000" b="0" kern="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30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❶</a:t>
                      </a:r>
                      <a:endParaRPr lang="zh-TW" altLang="en-US" sz="3000" b="0" kern="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US" sz="30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                                              </a:t>
                      </a:r>
                      <a:endParaRPr lang="zh-TW" altLang="en-US" sz="3000" b="0" kern="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US" sz="30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                                               </a:t>
                      </a:r>
                      <a:endParaRPr lang="zh-TW" altLang="en-US" sz="3000" b="0" kern="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US" sz="30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                                               </a:t>
                      </a:r>
                      <a:endParaRPr lang="zh-TW" altLang="en-US" sz="3000" b="0" kern="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US" sz="30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                                               </a:t>
                      </a:r>
                      <a:endParaRPr lang="zh-TW" altLang="en-US" sz="3000" b="0" kern="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068531"/>
                  </a:ext>
                </a:extLst>
              </a:tr>
              <a:tr h="1292777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0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altLang="en-US" sz="3000" b="0" kern="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30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❷</a:t>
                      </a:r>
                      <a:endParaRPr lang="zh-TW" altLang="en-US" sz="3000" b="0" kern="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2920869"/>
                  </a:ext>
                </a:extLst>
              </a:tr>
            </a:tbl>
          </a:graphicData>
        </a:graphic>
      </p:graphicFrame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AC946FF2-70E8-EB66-089A-C7F21CA6E501}"/>
              </a:ext>
            </a:extLst>
          </p:cNvPr>
          <p:cNvCxnSpPr>
            <a:cxnSpLocks/>
          </p:cNvCxnSpPr>
          <p:nvPr/>
        </p:nvCxnSpPr>
        <p:spPr>
          <a:xfrm>
            <a:off x="9677400" y="7581900"/>
            <a:ext cx="762420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9E78C2AF-B619-7EBA-47F5-0D9A9D7BFAF8}"/>
              </a:ext>
            </a:extLst>
          </p:cNvPr>
          <p:cNvCxnSpPr>
            <a:cxnSpLocks/>
          </p:cNvCxnSpPr>
          <p:nvPr/>
        </p:nvCxnSpPr>
        <p:spPr>
          <a:xfrm>
            <a:off x="9677400" y="8343900"/>
            <a:ext cx="762420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63DC4F53-A7E5-1AC7-989F-10CF60CBF444}"/>
              </a:ext>
            </a:extLst>
          </p:cNvPr>
          <p:cNvCxnSpPr>
            <a:cxnSpLocks/>
          </p:cNvCxnSpPr>
          <p:nvPr/>
        </p:nvCxnSpPr>
        <p:spPr>
          <a:xfrm>
            <a:off x="9677400" y="9029700"/>
            <a:ext cx="762420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84737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C1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721810">
            <a:off x="14451145" y="-2647218"/>
            <a:ext cx="4802903" cy="4331345"/>
          </a:xfrm>
          <a:custGeom>
            <a:avLst/>
            <a:gdLst/>
            <a:ahLst/>
            <a:cxnLst/>
            <a:rect l="l" t="t" r="r" b="b"/>
            <a:pathLst>
              <a:path w="4802903" h="4331345">
                <a:moveTo>
                  <a:pt x="0" y="0"/>
                </a:moveTo>
                <a:lnTo>
                  <a:pt x="4802903" y="0"/>
                </a:lnTo>
                <a:lnTo>
                  <a:pt x="4802903" y="4331346"/>
                </a:lnTo>
                <a:lnTo>
                  <a:pt x="0" y="43313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/>
          <p:cNvSpPr/>
          <p:nvPr/>
        </p:nvSpPr>
        <p:spPr>
          <a:xfrm rot="-1283887">
            <a:off x="-3021977" y="6868896"/>
            <a:ext cx="5345015" cy="5747328"/>
          </a:xfrm>
          <a:custGeom>
            <a:avLst/>
            <a:gdLst/>
            <a:ahLst/>
            <a:cxnLst/>
            <a:rect l="l" t="t" r="r" b="b"/>
            <a:pathLst>
              <a:path w="5345015" h="5747328">
                <a:moveTo>
                  <a:pt x="0" y="0"/>
                </a:moveTo>
                <a:lnTo>
                  <a:pt x="5345015" y="0"/>
                </a:lnTo>
                <a:lnTo>
                  <a:pt x="5345015" y="5747327"/>
                </a:lnTo>
                <a:lnTo>
                  <a:pt x="0" y="57473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4" name="Freeform 4"/>
          <p:cNvSpPr/>
          <p:nvPr/>
        </p:nvSpPr>
        <p:spPr>
          <a:xfrm rot="-10800000">
            <a:off x="14818494" y="8989420"/>
            <a:ext cx="4505274" cy="3866345"/>
          </a:xfrm>
          <a:custGeom>
            <a:avLst/>
            <a:gdLst/>
            <a:ahLst/>
            <a:cxnLst/>
            <a:rect l="l" t="t" r="r" b="b"/>
            <a:pathLst>
              <a:path w="4505274" h="3866345">
                <a:moveTo>
                  <a:pt x="0" y="0"/>
                </a:moveTo>
                <a:lnTo>
                  <a:pt x="4505275" y="0"/>
                </a:lnTo>
                <a:lnTo>
                  <a:pt x="4505275" y="3866345"/>
                </a:lnTo>
                <a:lnTo>
                  <a:pt x="0" y="38663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12" name="群組 11"/>
          <p:cNvGrpSpPr/>
          <p:nvPr/>
        </p:nvGrpSpPr>
        <p:grpSpPr>
          <a:xfrm>
            <a:off x="4876800" y="952500"/>
            <a:ext cx="9056175" cy="1354417"/>
            <a:chOff x="4343400" y="1028700"/>
            <a:chExt cx="9056175" cy="1101452"/>
          </a:xfrm>
        </p:grpSpPr>
        <p:grpSp>
          <p:nvGrpSpPr>
            <p:cNvPr id="5" name="Group 5"/>
            <p:cNvGrpSpPr/>
            <p:nvPr/>
          </p:nvGrpSpPr>
          <p:grpSpPr>
            <a:xfrm>
              <a:off x="4343400" y="1028700"/>
              <a:ext cx="8749543" cy="1101452"/>
              <a:chOff x="0" y="0"/>
              <a:chExt cx="2156113" cy="109714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156113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56113" h="1097141">
                    <a:moveTo>
                      <a:pt x="45127" y="0"/>
                    </a:moveTo>
                    <a:lnTo>
                      <a:pt x="2110986" y="0"/>
                    </a:lnTo>
                    <a:cubicBezTo>
                      <a:pt x="2135909" y="0"/>
                      <a:pt x="2156113" y="20204"/>
                      <a:pt x="2156113" y="45127"/>
                    </a:cubicBezTo>
                    <a:lnTo>
                      <a:pt x="2156113" y="1052015"/>
                    </a:lnTo>
                    <a:cubicBezTo>
                      <a:pt x="2156113" y="1063983"/>
                      <a:pt x="2151358" y="1075461"/>
                      <a:pt x="2142895" y="1083924"/>
                    </a:cubicBezTo>
                    <a:cubicBezTo>
                      <a:pt x="2134432" y="1092387"/>
                      <a:pt x="2122954" y="1097141"/>
                      <a:pt x="2110986" y="1097141"/>
                    </a:cubicBezTo>
                    <a:lnTo>
                      <a:pt x="45127" y="1097141"/>
                    </a:lnTo>
                    <a:cubicBezTo>
                      <a:pt x="33158" y="1097141"/>
                      <a:pt x="21680" y="1092387"/>
                      <a:pt x="13217" y="1083924"/>
                    </a:cubicBezTo>
                    <a:cubicBezTo>
                      <a:pt x="4754" y="1075461"/>
                      <a:pt x="0" y="1063983"/>
                      <a:pt x="0" y="1052015"/>
                    </a:cubicBezTo>
                    <a:lnTo>
                      <a:pt x="0" y="45127"/>
                    </a:lnTo>
                    <a:cubicBezTo>
                      <a:pt x="0" y="33158"/>
                      <a:pt x="4754" y="21680"/>
                      <a:pt x="13217" y="13217"/>
                    </a:cubicBezTo>
                    <a:cubicBezTo>
                      <a:pt x="21680" y="4754"/>
                      <a:pt x="33158" y="0"/>
                      <a:pt x="45127" y="0"/>
                    </a:cubicBezTo>
                    <a:close/>
                  </a:path>
                </a:pathLst>
              </a:custGeom>
              <a:solidFill>
                <a:srgbClr val="BCE1EB">
                  <a:alpha val="49804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47625"/>
                <a:ext cx="2156113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>
              <a:off x="4517223" y="1028700"/>
              <a:ext cx="8882352" cy="1101452"/>
              <a:chOff x="0" y="0"/>
              <a:chExt cx="2188840" cy="1097141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2188840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88840" h="1097141">
                    <a:moveTo>
                      <a:pt x="44452" y="0"/>
                    </a:moveTo>
                    <a:lnTo>
                      <a:pt x="2144388" y="0"/>
                    </a:lnTo>
                    <a:cubicBezTo>
                      <a:pt x="2156178" y="0"/>
                      <a:pt x="2167484" y="4683"/>
                      <a:pt x="2175820" y="13020"/>
                    </a:cubicBezTo>
                    <a:cubicBezTo>
                      <a:pt x="2184157" y="21356"/>
                      <a:pt x="2188840" y="32663"/>
                      <a:pt x="2188840" y="44452"/>
                    </a:cubicBezTo>
                    <a:lnTo>
                      <a:pt x="2188840" y="1052689"/>
                    </a:lnTo>
                    <a:cubicBezTo>
                      <a:pt x="2188840" y="1064479"/>
                      <a:pt x="2184157" y="1075785"/>
                      <a:pt x="2175820" y="1084122"/>
                    </a:cubicBezTo>
                    <a:cubicBezTo>
                      <a:pt x="2167484" y="1092458"/>
                      <a:pt x="2156178" y="1097141"/>
                      <a:pt x="2144388" y="1097141"/>
                    </a:cubicBezTo>
                    <a:lnTo>
                      <a:pt x="44452" y="1097141"/>
                    </a:lnTo>
                    <a:cubicBezTo>
                      <a:pt x="32663" y="1097141"/>
                      <a:pt x="21356" y="1092458"/>
                      <a:pt x="13020" y="1084122"/>
                    </a:cubicBezTo>
                    <a:cubicBezTo>
                      <a:pt x="4683" y="1075785"/>
                      <a:pt x="0" y="1064479"/>
                      <a:pt x="0" y="1052689"/>
                    </a:cubicBezTo>
                    <a:lnTo>
                      <a:pt x="0" y="44452"/>
                    </a:lnTo>
                    <a:cubicBezTo>
                      <a:pt x="0" y="32663"/>
                      <a:pt x="4683" y="21356"/>
                      <a:pt x="13020" y="13020"/>
                    </a:cubicBezTo>
                    <a:cubicBezTo>
                      <a:pt x="21356" y="4683"/>
                      <a:pt x="32663" y="0"/>
                      <a:pt x="44452" y="0"/>
                    </a:cubicBezTo>
                    <a:close/>
                  </a:path>
                </a:pathLst>
              </a:custGeom>
              <a:solidFill>
                <a:srgbClr val="BCE1EB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-47625"/>
                <a:ext cx="2188840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1" name="Freeform 11"/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3" name="矩形 12"/>
          <p:cNvSpPr/>
          <p:nvPr/>
        </p:nvSpPr>
        <p:spPr>
          <a:xfrm>
            <a:off x="6129339" y="1176635"/>
            <a:ext cx="672491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★  文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本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閱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讀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理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解 ★</a:t>
            </a:r>
            <a:endParaRPr lang="zh-TW" altLang="zh-TW" sz="4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491963" y="2643809"/>
            <a:ext cx="15999669" cy="51725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這一課是一篇劇本，請你跟著老師這麼做。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zh-TW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★寫作架構</a:t>
            </a:r>
            <a:r>
              <a:rPr lang="en-US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</a:t>
            </a:r>
            <a:r>
              <a:rPr lang="zh-TW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文體：</a:t>
            </a:r>
            <a:r>
              <a:rPr lang="en-US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                                  )</a:t>
            </a:r>
            <a:endParaRPr lang="en-US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1.【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個人任務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】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先默讀一次課文，邊閱讀邊思考 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: 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哪些地方與以前的課文不一樣？</a:t>
            </a:r>
            <a:endParaRPr lang="en-US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在課文中用鉛筆做記號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2.【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小組任務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】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承上題，與同組夥伴對話，說說自己的發現。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小組將答案整理在白板上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3.【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小組分享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】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請你仔細聽各組的答案，寫下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3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點跟以前課文不一樣的地方。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endParaRPr lang="zh-TW" altLang="en-US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pic>
        <p:nvPicPr>
          <p:cNvPr id="18" name="圖片 17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7261806"/>
            <a:ext cx="2032496" cy="3025194"/>
          </a:xfrm>
          <a:prstGeom prst="rect">
            <a:avLst/>
          </a:prstGeom>
        </p:spPr>
      </p:pic>
      <p:sp>
        <p:nvSpPr>
          <p:cNvPr id="19" name="矩形 18"/>
          <p:cNvSpPr/>
          <p:nvPr/>
        </p:nvSpPr>
        <p:spPr>
          <a:xfrm>
            <a:off x="6153723" y="3509416"/>
            <a:ext cx="2743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en-US" sz="40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劇本</a:t>
            </a:r>
            <a:endParaRPr lang="zh-TW" altLang="zh-TW" sz="4000" b="1" kern="1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3" name="Freeform 7"/>
          <p:cNvSpPr/>
          <p:nvPr/>
        </p:nvSpPr>
        <p:spPr>
          <a:xfrm rot="2237146">
            <a:off x="13284880" y="809491"/>
            <a:ext cx="1643835" cy="1441969"/>
          </a:xfrm>
          <a:custGeom>
            <a:avLst/>
            <a:gdLst/>
            <a:ahLst/>
            <a:cxnLst/>
            <a:rect l="l" t="t" r="r" b="b"/>
            <a:pathLst>
              <a:path w="4459052" h="3210518">
                <a:moveTo>
                  <a:pt x="0" y="0"/>
                </a:moveTo>
                <a:lnTo>
                  <a:pt x="4459052" y="0"/>
                </a:lnTo>
                <a:lnTo>
                  <a:pt x="4459052" y="3210518"/>
                </a:lnTo>
                <a:lnTo>
                  <a:pt x="0" y="321051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4" name="圓角矩形 23">
            <a:extLst>
              <a:ext uri="{FF2B5EF4-FFF2-40B4-BE49-F238E27FC236}">
                <a16:creationId xmlns:a16="http://schemas.microsoft.com/office/drawing/2014/main" id="{B89057CB-7ED3-1F7A-B588-A9FB325FD495}"/>
              </a:ext>
            </a:extLst>
          </p:cNvPr>
          <p:cNvSpPr/>
          <p:nvPr/>
        </p:nvSpPr>
        <p:spPr>
          <a:xfrm>
            <a:off x="2877122" y="7283728"/>
            <a:ext cx="14614509" cy="2681928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C1D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095341-D101-5447-5BD2-115CCD811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7B3AB79-7A45-B683-A5E6-91FB05F2BE49}"/>
              </a:ext>
            </a:extLst>
          </p:cNvPr>
          <p:cNvSpPr/>
          <p:nvPr/>
        </p:nvSpPr>
        <p:spPr>
          <a:xfrm rot="1721810">
            <a:off x="14451145" y="-2647218"/>
            <a:ext cx="4802903" cy="4331345"/>
          </a:xfrm>
          <a:custGeom>
            <a:avLst/>
            <a:gdLst/>
            <a:ahLst/>
            <a:cxnLst/>
            <a:rect l="l" t="t" r="r" b="b"/>
            <a:pathLst>
              <a:path w="4802903" h="4331345">
                <a:moveTo>
                  <a:pt x="0" y="0"/>
                </a:moveTo>
                <a:lnTo>
                  <a:pt x="4802903" y="0"/>
                </a:lnTo>
                <a:lnTo>
                  <a:pt x="4802903" y="4331346"/>
                </a:lnTo>
                <a:lnTo>
                  <a:pt x="0" y="43313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7EB89D0F-AC26-D20A-533F-E677A4A1CA88}"/>
              </a:ext>
            </a:extLst>
          </p:cNvPr>
          <p:cNvSpPr/>
          <p:nvPr/>
        </p:nvSpPr>
        <p:spPr>
          <a:xfrm rot="-1283887">
            <a:off x="-3021977" y="6868896"/>
            <a:ext cx="5345015" cy="5747328"/>
          </a:xfrm>
          <a:custGeom>
            <a:avLst/>
            <a:gdLst/>
            <a:ahLst/>
            <a:cxnLst/>
            <a:rect l="l" t="t" r="r" b="b"/>
            <a:pathLst>
              <a:path w="5345015" h="5747328">
                <a:moveTo>
                  <a:pt x="0" y="0"/>
                </a:moveTo>
                <a:lnTo>
                  <a:pt x="5345015" y="0"/>
                </a:lnTo>
                <a:lnTo>
                  <a:pt x="5345015" y="5747327"/>
                </a:lnTo>
                <a:lnTo>
                  <a:pt x="0" y="57473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86DF16F7-0B69-62FA-CDBC-B55EEAF5364C}"/>
              </a:ext>
            </a:extLst>
          </p:cNvPr>
          <p:cNvSpPr/>
          <p:nvPr/>
        </p:nvSpPr>
        <p:spPr>
          <a:xfrm rot="-10800000">
            <a:off x="14818494" y="8989420"/>
            <a:ext cx="4505274" cy="3866345"/>
          </a:xfrm>
          <a:custGeom>
            <a:avLst/>
            <a:gdLst/>
            <a:ahLst/>
            <a:cxnLst/>
            <a:rect l="l" t="t" r="r" b="b"/>
            <a:pathLst>
              <a:path w="4505274" h="3866345">
                <a:moveTo>
                  <a:pt x="0" y="0"/>
                </a:moveTo>
                <a:lnTo>
                  <a:pt x="4505275" y="0"/>
                </a:lnTo>
                <a:lnTo>
                  <a:pt x="4505275" y="3866345"/>
                </a:lnTo>
                <a:lnTo>
                  <a:pt x="0" y="38663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57705856-02D0-6A84-B4C9-F0E5970C017B}"/>
              </a:ext>
            </a:extLst>
          </p:cNvPr>
          <p:cNvGrpSpPr/>
          <p:nvPr/>
        </p:nvGrpSpPr>
        <p:grpSpPr>
          <a:xfrm>
            <a:off x="4876800" y="952500"/>
            <a:ext cx="9056175" cy="1354417"/>
            <a:chOff x="4343400" y="1028700"/>
            <a:chExt cx="9056175" cy="1101452"/>
          </a:xfrm>
        </p:grpSpPr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292B5497-50AE-9920-3669-C8AB8495D814}"/>
                </a:ext>
              </a:extLst>
            </p:cNvPr>
            <p:cNvGrpSpPr/>
            <p:nvPr/>
          </p:nvGrpSpPr>
          <p:grpSpPr>
            <a:xfrm>
              <a:off x="4343400" y="1028700"/>
              <a:ext cx="8749543" cy="1101452"/>
              <a:chOff x="0" y="0"/>
              <a:chExt cx="2156113" cy="1097141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C316A6B4-DCAC-0919-10C1-8C1EAB0C5D7F}"/>
                  </a:ext>
                </a:extLst>
              </p:cNvPr>
              <p:cNvSpPr/>
              <p:nvPr/>
            </p:nvSpPr>
            <p:spPr>
              <a:xfrm>
                <a:off x="0" y="0"/>
                <a:ext cx="2156113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56113" h="1097141">
                    <a:moveTo>
                      <a:pt x="45127" y="0"/>
                    </a:moveTo>
                    <a:lnTo>
                      <a:pt x="2110986" y="0"/>
                    </a:lnTo>
                    <a:cubicBezTo>
                      <a:pt x="2135909" y="0"/>
                      <a:pt x="2156113" y="20204"/>
                      <a:pt x="2156113" y="45127"/>
                    </a:cubicBezTo>
                    <a:lnTo>
                      <a:pt x="2156113" y="1052015"/>
                    </a:lnTo>
                    <a:cubicBezTo>
                      <a:pt x="2156113" y="1063983"/>
                      <a:pt x="2151358" y="1075461"/>
                      <a:pt x="2142895" y="1083924"/>
                    </a:cubicBezTo>
                    <a:cubicBezTo>
                      <a:pt x="2134432" y="1092387"/>
                      <a:pt x="2122954" y="1097141"/>
                      <a:pt x="2110986" y="1097141"/>
                    </a:cubicBezTo>
                    <a:lnTo>
                      <a:pt x="45127" y="1097141"/>
                    </a:lnTo>
                    <a:cubicBezTo>
                      <a:pt x="33158" y="1097141"/>
                      <a:pt x="21680" y="1092387"/>
                      <a:pt x="13217" y="1083924"/>
                    </a:cubicBezTo>
                    <a:cubicBezTo>
                      <a:pt x="4754" y="1075461"/>
                      <a:pt x="0" y="1063983"/>
                      <a:pt x="0" y="1052015"/>
                    </a:cubicBezTo>
                    <a:lnTo>
                      <a:pt x="0" y="45127"/>
                    </a:lnTo>
                    <a:cubicBezTo>
                      <a:pt x="0" y="33158"/>
                      <a:pt x="4754" y="21680"/>
                      <a:pt x="13217" y="13217"/>
                    </a:cubicBezTo>
                    <a:cubicBezTo>
                      <a:pt x="21680" y="4754"/>
                      <a:pt x="33158" y="0"/>
                      <a:pt x="45127" y="0"/>
                    </a:cubicBezTo>
                    <a:close/>
                  </a:path>
                </a:pathLst>
              </a:custGeom>
              <a:solidFill>
                <a:srgbClr val="BCE1EB">
                  <a:alpha val="49804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" name="TextBox 7">
                <a:extLst>
                  <a:ext uri="{FF2B5EF4-FFF2-40B4-BE49-F238E27FC236}">
                    <a16:creationId xmlns:a16="http://schemas.microsoft.com/office/drawing/2014/main" id="{D1782E60-1DA9-A113-A6BE-37D0423805FD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156113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8" name="Group 8">
              <a:extLst>
                <a:ext uri="{FF2B5EF4-FFF2-40B4-BE49-F238E27FC236}">
                  <a16:creationId xmlns:a16="http://schemas.microsoft.com/office/drawing/2014/main" id="{CC114C5B-6EA5-8DFE-675B-9DC539D8E1DA}"/>
                </a:ext>
              </a:extLst>
            </p:cNvPr>
            <p:cNvGrpSpPr/>
            <p:nvPr/>
          </p:nvGrpSpPr>
          <p:grpSpPr>
            <a:xfrm>
              <a:off x="4517223" y="1028700"/>
              <a:ext cx="8882352" cy="1101452"/>
              <a:chOff x="0" y="0"/>
              <a:chExt cx="2188840" cy="1097141"/>
            </a:xfrm>
          </p:grpSpPr>
          <p:sp>
            <p:nvSpPr>
              <p:cNvPr id="9" name="Freeform 9">
                <a:extLst>
                  <a:ext uri="{FF2B5EF4-FFF2-40B4-BE49-F238E27FC236}">
                    <a16:creationId xmlns:a16="http://schemas.microsoft.com/office/drawing/2014/main" id="{D762E2B1-76B4-C8B1-969D-159133C680CF}"/>
                  </a:ext>
                </a:extLst>
              </p:cNvPr>
              <p:cNvSpPr/>
              <p:nvPr/>
            </p:nvSpPr>
            <p:spPr>
              <a:xfrm>
                <a:off x="0" y="0"/>
                <a:ext cx="2188840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88840" h="1097141">
                    <a:moveTo>
                      <a:pt x="44452" y="0"/>
                    </a:moveTo>
                    <a:lnTo>
                      <a:pt x="2144388" y="0"/>
                    </a:lnTo>
                    <a:cubicBezTo>
                      <a:pt x="2156178" y="0"/>
                      <a:pt x="2167484" y="4683"/>
                      <a:pt x="2175820" y="13020"/>
                    </a:cubicBezTo>
                    <a:cubicBezTo>
                      <a:pt x="2184157" y="21356"/>
                      <a:pt x="2188840" y="32663"/>
                      <a:pt x="2188840" y="44452"/>
                    </a:cubicBezTo>
                    <a:lnTo>
                      <a:pt x="2188840" y="1052689"/>
                    </a:lnTo>
                    <a:cubicBezTo>
                      <a:pt x="2188840" y="1064479"/>
                      <a:pt x="2184157" y="1075785"/>
                      <a:pt x="2175820" y="1084122"/>
                    </a:cubicBezTo>
                    <a:cubicBezTo>
                      <a:pt x="2167484" y="1092458"/>
                      <a:pt x="2156178" y="1097141"/>
                      <a:pt x="2144388" y="1097141"/>
                    </a:cubicBezTo>
                    <a:lnTo>
                      <a:pt x="44452" y="1097141"/>
                    </a:lnTo>
                    <a:cubicBezTo>
                      <a:pt x="32663" y="1097141"/>
                      <a:pt x="21356" y="1092458"/>
                      <a:pt x="13020" y="1084122"/>
                    </a:cubicBezTo>
                    <a:cubicBezTo>
                      <a:pt x="4683" y="1075785"/>
                      <a:pt x="0" y="1064479"/>
                      <a:pt x="0" y="1052689"/>
                    </a:cubicBezTo>
                    <a:lnTo>
                      <a:pt x="0" y="44452"/>
                    </a:lnTo>
                    <a:cubicBezTo>
                      <a:pt x="0" y="32663"/>
                      <a:pt x="4683" y="21356"/>
                      <a:pt x="13020" y="13020"/>
                    </a:cubicBezTo>
                    <a:cubicBezTo>
                      <a:pt x="21356" y="4683"/>
                      <a:pt x="32663" y="0"/>
                      <a:pt x="44452" y="0"/>
                    </a:cubicBezTo>
                    <a:close/>
                  </a:path>
                </a:pathLst>
              </a:custGeom>
              <a:solidFill>
                <a:srgbClr val="BCE1EB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" name="TextBox 10">
                <a:extLst>
                  <a:ext uri="{FF2B5EF4-FFF2-40B4-BE49-F238E27FC236}">
                    <a16:creationId xmlns:a16="http://schemas.microsoft.com/office/drawing/2014/main" id="{BE5A3A7F-FE1C-D127-53BC-6E92B9FAD1CC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188840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503ED6B8-14B2-BB6C-6EF5-DEBC2BA9E1C7}"/>
              </a:ext>
            </a:extLst>
          </p:cNvPr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B7DDE57-54E9-1790-934B-10122A68680F}"/>
              </a:ext>
            </a:extLst>
          </p:cNvPr>
          <p:cNvSpPr/>
          <p:nvPr/>
        </p:nvSpPr>
        <p:spPr>
          <a:xfrm>
            <a:off x="6129339" y="1176635"/>
            <a:ext cx="672491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★  文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本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閱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讀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理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解 ★</a:t>
            </a:r>
            <a:endParaRPr lang="zh-TW" altLang="zh-TW" sz="4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EC1A9DB-7743-3C23-7C8D-7931579FEC3A}"/>
              </a:ext>
            </a:extLst>
          </p:cNvPr>
          <p:cNvSpPr/>
          <p:nvPr/>
        </p:nvSpPr>
        <p:spPr>
          <a:xfrm>
            <a:off x="1872963" y="2929392"/>
            <a:ext cx="15999669" cy="41454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TW" sz="36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4.</a:t>
            </a:r>
            <a:r>
              <a:rPr lang="zh-TW" altLang="en-US" sz="36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請拿著鉛筆，在課本上試著自己分段，再與同組夥伴討論。</a:t>
            </a:r>
            <a:endParaRPr lang="en-US" altLang="zh-TW" sz="36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zh-TW" altLang="en-US" sz="36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我這麼分段的理由是 </a:t>
            </a:r>
            <a:endParaRPr lang="en-US" altLang="zh-TW" sz="36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endParaRPr lang="en-US" altLang="zh-TW" sz="36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endParaRPr lang="zh-TW" altLang="en-US" sz="36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endParaRPr lang="zh-TW" altLang="en-US" sz="36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pic>
        <p:nvPicPr>
          <p:cNvPr id="18" name="圖片 17">
            <a:extLst>
              <a:ext uri="{FF2B5EF4-FFF2-40B4-BE49-F238E27FC236}">
                <a16:creationId xmlns:a16="http://schemas.microsoft.com/office/drawing/2014/main" id="{B81D7E45-1F3A-0041-2037-BD8FD3050861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7261806"/>
            <a:ext cx="2032496" cy="3025194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47583437-64E8-4A56-B999-099EF27076EE}"/>
              </a:ext>
            </a:extLst>
          </p:cNvPr>
          <p:cNvSpPr/>
          <p:nvPr/>
        </p:nvSpPr>
        <p:spPr>
          <a:xfrm>
            <a:off x="1905000" y="3707583"/>
            <a:ext cx="15304075" cy="33144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zh-TW" altLang="en-US" sz="36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                            第一段是飛行員給小王子看像帽子的圖畫，第二段是小王子請飛行員畫小羊，第三段是總結 </a:t>
            </a:r>
            <a:r>
              <a:rPr lang="en-US" altLang="zh-TW" sz="36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/ </a:t>
            </a:r>
            <a:r>
              <a:rPr lang="zh-TW" altLang="en-US" sz="36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學生回答。</a:t>
            </a:r>
            <a:endParaRPr lang="en-US" altLang="zh-TW" sz="3600" b="1" kern="1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endParaRPr lang="en-US" altLang="zh-TW" sz="3600" b="1" kern="1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zh-TW" altLang="en-US" sz="36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★老師引導學生畫出意義段，再進入下列提問。</a:t>
            </a:r>
          </a:p>
        </p:txBody>
      </p:sp>
      <p:sp>
        <p:nvSpPr>
          <p:cNvPr id="23" name="Freeform 7">
            <a:extLst>
              <a:ext uri="{FF2B5EF4-FFF2-40B4-BE49-F238E27FC236}">
                <a16:creationId xmlns:a16="http://schemas.microsoft.com/office/drawing/2014/main" id="{0595D06E-CF03-3440-C095-64486BC34EF3}"/>
              </a:ext>
            </a:extLst>
          </p:cNvPr>
          <p:cNvSpPr/>
          <p:nvPr/>
        </p:nvSpPr>
        <p:spPr>
          <a:xfrm rot="2237146">
            <a:off x="13284880" y="809491"/>
            <a:ext cx="1643835" cy="1441969"/>
          </a:xfrm>
          <a:custGeom>
            <a:avLst/>
            <a:gdLst/>
            <a:ahLst/>
            <a:cxnLst/>
            <a:rect l="l" t="t" r="r" b="b"/>
            <a:pathLst>
              <a:path w="4459052" h="3210518">
                <a:moveTo>
                  <a:pt x="0" y="0"/>
                </a:moveTo>
                <a:lnTo>
                  <a:pt x="4459052" y="0"/>
                </a:lnTo>
                <a:lnTo>
                  <a:pt x="4459052" y="3210518"/>
                </a:lnTo>
                <a:lnTo>
                  <a:pt x="0" y="321051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EE51A14A-4809-255A-2121-49FBCD2F777B}"/>
              </a:ext>
            </a:extLst>
          </p:cNvPr>
          <p:cNvCxnSpPr>
            <a:cxnSpLocks/>
          </p:cNvCxnSpPr>
          <p:nvPr/>
        </p:nvCxnSpPr>
        <p:spPr>
          <a:xfrm>
            <a:off x="6096000" y="4514683"/>
            <a:ext cx="1111307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3612BC34-C03F-EE82-E6AB-AA4B71540962}"/>
              </a:ext>
            </a:extLst>
          </p:cNvPr>
          <p:cNvCxnSpPr>
            <a:cxnSpLocks/>
          </p:cNvCxnSpPr>
          <p:nvPr/>
        </p:nvCxnSpPr>
        <p:spPr>
          <a:xfrm>
            <a:off x="2040963" y="5352883"/>
            <a:ext cx="1516811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2886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C1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721810">
            <a:off x="14451145" y="-2647218"/>
            <a:ext cx="4802903" cy="4331345"/>
          </a:xfrm>
          <a:custGeom>
            <a:avLst/>
            <a:gdLst/>
            <a:ahLst/>
            <a:cxnLst/>
            <a:rect l="l" t="t" r="r" b="b"/>
            <a:pathLst>
              <a:path w="4802903" h="4331345">
                <a:moveTo>
                  <a:pt x="0" y="0"/>
                </a:moveTo>
                <a:lnTo>
                  <a:pt x="4802903" y="0"/>
                </a:lnTo>
                <a:lnTo>
                  <a:pt x="4802903" y="4331346"/>
                </a:lnTo>
                <a:lnTo>
                  <a:pt x="0" y="43313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/>
          <p:cNvSpPr/>
          <p:nvPr/>
        </p:nvSpPr>
        <p:spPr>
          <a:xfrm rot="-1283887">
            <a:off x="-3021977" y="6868896"/>
            <a:ext cx="5345015" cy="5747328"/>
          </a:xfrm>
          <a:custGeom>
            <a:avLst/>
            <a:gdLst/>
            <a:ahLst/>
            <a:cxnLst/>
            <a:rect l="l" t="t" r="r" b="b"/>
            <a:pathLst>
              <a:path w="5345015" h="5747328">
                <a:moveTo>
                  <a:pt x="0" y="0"/>
                </a:moveTo>
                <a:lnTo>
                  <a:pt x="5345015" y="0"/>
                </a:lnTo>
                <a:lnTo>
                  <a:pt x="5345015" y="5747327"/>
                </a:lnTo>
                <a:lnTo>
                  <a:pt x="0" y="57473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4" name="Freeform 4"/>
          <p:cNvSpPr/>
          <p:nvPr/>
        </p:nvSpPr>
        <p:spPr>
          <a:xfrm rot="-10800000">
            <a:off x="14818494" y="8989420"/>
            <a:ext cx="4505274" cy="3866345"/>
          </a:xfrm>
          <a:custGeom>
            <a:avLst/>
            <a:gdLst/>
            <a:ahLst/>
            <a:cxnLst/>
            <a:rect l="l" t="t" r="r" b="b"/>
            <a:pathLst>
              <a:path w="4505274" h="3866345">
                <a:moveTo>
                  <a:pt x="0" y="0"/>
                </a:moveTo>
                <a:lnTo>
                  <a:pt x="4505275" y="0"/>
                </a:lnTo>
                <a:lnTo>
                  <a:pt x="4505275" y="3866345"/>
                </a:lnTo>
                <a:lnTo>
                  <a:pt x="0" y="38663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12" name="群組 11"/>
          <p:cNvGrpSpPr/>
          <p:nvPr/>
        </p:nvGrpSpPr>
        <p:grpSpPr>
          <a:xfrm>
            <a:off x="4876800" y="952500"/>
            <a:ext cx="9056175" cy="1354417"/>
            <a:chOff x="4343400" y="1028700"/>
            <a:chExt cx="9056175" cy="1101452"/>
          </a:xfrm>
        </p:grpSpPr>
        <p:grpSp>
          <p:nvGrpSpPr>
            <p:cNvPr id="5" name="Group 5"/>
            <p:cNvGrpSpPr/>
            <p:nvPr/>
          </p:nvGrpSpPr>
          <p:grpSpPr>
            <a:xfrm>
              <a:off x="4343400" y="1028700"/>
              <a:ext cx="8749543" cy="1101452"/>
              <a:chOff x="0" y="0"/>
              <a:chExt cx="2156113" cy="109714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156113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56113" h="1097141">
                    <a:moveTo>
                      <a:pt x="45127" y="0"/>
                    </a:moveTo>
                    <a:lnTo>
                      <a:pt x="2110986" y="0"/>
                    </a:lnTo>
                    <a:cubicBezTo>
                      <a:pt x="2135909" y="0"/>
                      <a:pt x="2156113" y="20204"/>
                      <a:pt x="2156113" y="45127"/>
                    </a:cubicBezTo>
                    <a:lnTo>
                      <a:pt x="2156113" y="1052015"/>
                    </a:lnTo>
                    <a:cubicBezTo>
                      <a:pt x="2156113" y="1063983"/>
                      <a:pt x="2151358" y="1075461"/>
                      <a:pt x="2142895" y="1083924"/>
                    </a:cubicBezTo>
                    <a:cubicBezTo>
                      <a:pt x="2134432" y="1092387"/>
                      <a:pt x="2122954" y="1097141"/>
                      <a:pt x="2110986" y="1097141"/>
                    </a:cubicBezTo>
                    <a:lnTo>
                      <a:pt x="45127" y="1097141"/>
                    </a:lnTo>
                    <a:cubicBezTo>
                      <a:pt x="33158" y="1097141"/>
                      <a:pt x="21680" y="1092387"/>
                      <a:pt x="13217" y="1083924"/>
                    </a:cubicBezTo>
                    <a:cubicBezTo>
                      <a:pt x="4754" y="1075461"/>
                      <a:pt x="0" y="1063983"/>
                      <a:pt x="0" y="1052015"/>
                    </a:cubicBezTo>
                    <a:lnTo>
                      <a:pt x="0" y="45127"/>
                    </a:lnTo>
                    <a:cubicBezTo>
                      <a:pt x="0" y="33158"/>
                      <a:pt x="4754" y="21680"/>
                      <a:pt x="13217" y="13217"/>
                    </a:cubicBezTo>
                    <a:cubicBezTo>
                      <a:pt x="21680" y="4754"/>
                      <a:pt x="33158" y="0"/>
                      <a:pt x="45127" y="0"/>
                    </a:cubicBezTo>
                    <a:close/>
                  </a:path>
                </a:pathLst>
              </a:custGeom>
              <a:solidFill>
                <a:srgbClr val="BCE1EB">
                  <a:alpha val="49804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47625"/>
                <a:ext cx="2156113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>
              <a:off x="4517223" y="1028700"/>
              <a:ext cx="8882352" cy="1101452"/>
              <a:chOff x="0" y="0"/>
              <a:chExt cx="2188840" cy="1097141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2188840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88840" h="1097141">
                    <a:moveTo>
                      <a:pt x="44452" y="0"/>
                    </a:moveTo>
                    <a:lnTo>
                      <a:pt x="2144388" y="0"/>
                    </a:lnTo>
                    <a:cubicBezTo>
                      <a:pt x="2156178" y="0"/>
                      <a:pt x="2167484" y="4683"/>
                      <a:pt x="2175820" y="13020"/>
                    </a:cubicBezTo>
                    <a:cubicBezTo>
                      <a:pt x="2184157" y="21356"/>
                      <a:pt x="2188840" y="32663"/>
                      <a:pt x="2188840" y="44452"/>
                    </a:cubicBezTo>
                    <a:lnTo>
                      <a:pt x="2188840" y="1052689"/>
                    </a:lnTo>
                    <a:cubicBezTo>
                      <a:pt x="2188840" y="1064479"/>
                      <a:pt x="2184157" y="1075785"/>
                      <a:pt x="2175820" y="1084122"/>
                    </a:cubicBezTo>
                    <a:cubicBezTo>
                      <a:pt x="2167484" y="1092458"/>
                      <a:pt x="2156178" y="1097141"/>
                      <a:pt x="2144388" y="1097141"/>
                    </a:cubicBezTo>
                    <a:lnTo>
                      <a:pt x="44452" y="1097141"/>
                    </a:lnTo>
                    <a:cubicBezTo>
                      <a:pt x="32663" y="1097141"/>
                      <a:pt x="21356" y="1092458"/>
                      <a:pt x="13020" y="1084122"/>
                    </a:cubicBezTo>
                    <a:cubicBezTo>
                      <a:pt x="4683" y="1075785"/>
                      <a:pt x="0" y="1064479"/>
                      <a:pt x="0" y="1052689"/>
                    </a:cubicBezTo>
                    <a:lnTo>
                      <a:pt x="0" y="44452"/>
                    </a:lnTo>
                    <a:cubicBezTo>
                      <a:pt x="0" y="32663"/>
                      <a:pt x="4683" y="21356"/>
                      <a:pt x="13020" y="13020"/>
                    </a:cubicBezTo>
                    <a:cubicBezTo>
                      <a:pt x="21356" y="4683"/>
                      <a:pt x="32663" y="0"/>
                      <a:pt x="44452" y="0"/>
                    </a:cubicBezTo>
                    <a:close/>
                  </a:path>
                </a:pathLst>
              </a:custGeom>
              <a:solidFill>
                <a:srgbClr val="BCE1EB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-47625"/>
                <a:ext cx="2188840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1" name="Freeform 11"/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3" name="矩形 12"/>
          <p:cNvSpPr/>
          <p:nvPr/>
        </p:nvSpPr>
        <p:spPr>
          <a:xfrm>
            <a:off x="6129339" y="1176635"/>
            <a:ext cx="672491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★  文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本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閱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讀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理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解 ★</a:t>
            </a:r>
            <a:endParaRPr lang="zh-TW" altLang="zh-TW" sz="4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523998" y="2461283"/>
            <a:ext cx="216116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★</a:t>
            </a:r>
            <a:r>
              <a:rPr lang="zh-TW" altLang="en-US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意義段一</a:t>
            </a:r>
            <a:endParaRPr lang="zh-TW" altLang="zh-TW" sz="3200" b="1" kern="10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3" name="Freeform 7"/>
          <p:cNvSpPr/>
          <p:nvPr/>
        </p:nvSpPr>
        <p:spPr>
          <a:xfrm rot="2237146">
            <a:off x="13284880" y="809491"/>
            <a:ext cx="1643835" cy="1441969"/>
          </a:xfrm>
          <a:custGeom>
            <a:avLst/>
            <a:gdLst/>
            <a:ahLst/>
            <a:cxnLst/>
            <a:rect l="l" t="t" r="r" b="b"/>
            <a:pathLst>
              <a:path w="4459052" h="3210518">
                <a:moveTo>
                  <a:pt x="0" y="0"/>
                </a:moveTo>
                <a:lnTo>
                  <a:pt x="4459052" y="0"/>
                </a:lnTo>
                <a:lnTo>
                  <a:pt x="4459052" y="3210518"/>
                </a:lnTo>
                <a:lnTo>
                  <a:pt x="0" y="321051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4" name="矩形 23"/>
          <p:cNvSpPr/>
          <p:nvPr/>
        </p:nvSpPr>
        <p:spPr>
          <a:xfrm>
            <a:off x="1524000" y="3143760"/>
            <a:ext cx="15632130" cy="22178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飛行員遇見小王子，拿出一幅圖給小王子看。請你閱讀完這一大段，依提示回答。</a:t>
            </a:r>
            <a:endParaRPr lang="en-US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endParaRPr lang="en-US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endParaRPr lang="en-US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739DCBD-7560-FCB8-58D4-CA9AC68C3ECF}"/>
              </a:ext>
            </a:extLst>
          </p:cNvPr>
          <p:cNvSpPr/>
          <p:nvPr/>
        </p:nvSpPr>
        <p:spPr>
          <a:xfrm>
            <a:off x="14979722" y="2806432"/>
            <a:ext cx="389814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000" kern="100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自我提問策略</a:t>
            </a:r>
          </a:p>
        </p:txBody>
      </p:sp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8CD080CB-A426-69E9-386C-5E1496A776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9370688"/>
              </p:ext>
            </p:extLst>
          </p:nvPr>
        </p:nvGraphicFramePr>
        <p:xfrm>
          <a:off x="1524000" y="4035764"/>
          <a:ext cx="15632130" cy="57923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96812">
                  <a:extLst>
                    <a:ext uri="{9D8B030D-6E8A-4147-A177-3AD203B41FA5}">
                      <a16:colId xmlns:a16="http://schemas.microsoft.com/office/drawing/2014/main" val="3951756491"/>
                    </a:ext>
                  </a:extLst>
                </a:gridCol>
                <a:gridCol w="7467031">
                  <a:extLst>
                    <a:ext uri="{9D8B030D-6E8A-4147-A177-3AD203B41FA5}">
                      <a16:colId xmlns:a16="http://schemas.microsoft.com/office/drawing/2014/main" val="2000298139"/>
                    </a:ext>
                  </a:extLst>
                </a:gridCol>
                <a:gridCol w="4968287">
                  <a:extLst>
                    <a:ext uri="{9D8B030D-6E8A-4147-A177-3AD203B41FA5}">
                      <a16:colId xmlns:a16="http://schemas.microsoft.com/office/drawing/2014/main" val="1500592925"/>
                    </a:ext>
                  </a:extLst>
                </a:gridCol>
              </a:tblGrid>
              <a:tr h="1613637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TW" sz="3200" b="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請你試著畫出飛行員的圖畫</a:t>
                      </a:r>
                      <a:endParaRPr lang="zh-TW" sz="3200" b="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altLang="zh-TW" sz="32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❶</a:t>
                      </a:r>
                      <a:r>
                        <a:rPr lang="zh-TW" altLang="en-US" sz="32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zh-TW" sz="3200" b="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小王子說這幅圖畫的是 </a:t>
                      </a:r>
                      <a:r>
                        <a:rPr lang="en-US" altLang="zh-TW" sz="3200" b="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                      </a:t>
                      </a:r>
                    </a:p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altLang="zh-TW" sz="3200" b="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                   </a:t>
                      </a:r>
                      <a:r>
                        <a:rPr lang="zh-TW" sz="3200" b="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。</a:t>
                      </a:r>
                      <a:endParaRPr lang="zh-TW" sz="3200" b="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TW" sz="3200" b="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飛行員的反應</a:t>
                      </a:r>
                      <a:r>
                        <a:rPr lang="zh-TW" sz="3200" b="0" u="sng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</a:t>
                      </a:r>
                      <a:r>
                        <a:rPr lang="zh-TW" altLang="en-US" sz="3200" b="0" u="sng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                  </a:t>
                      </a:r>
                      <a:r>
                        <a:rPr lang="zh-TW" sz="3200" b="0" u="none" kern="100" dirty="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。</a:t>
                      </a:r>
                      <a:endParaRPr lang="zh-TW" sz="3200" b="0" u="none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3004491"/>
                  </a:ext>
                </a:extLst>
              </a:tr>
              <a:tr h="1282515">
                <a:tc rowSpan="3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3200" b="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 </a:t>
                      </a:r>
                      <a:endParaRPr lang="zh-TW" sz="3200" b="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TW" sz="3200" b="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畫出圖像</a:t>
                      </a:r>
                      <a:r>
                        <a:rPr lang="zh-TW" altLang="en-US" sz="3200" b="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：</a:t>
                      </a:r>
                      <a:r>
                        <a:rPr lang="en-US" sz="3200" b="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 </a:t>
                      </a:r>
                      <a:endParaRPr lang="zh-TW" sz="3200" b="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501062786"/>
                  </a:ext>
                </a:extLst>
              </a:tr>
              <a:tr h="1613637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❷</a:t>
                      </a:r>
                      <a:r>
                        <a:rPr lang="zh-TW" sz="3200" b="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小王子再說</a:t>
                      </a:r>
                      <a:r>
                        <a:rPr lang="zh-TW" altLang="en-US" sz="3200" b="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：</a:t>
                      </a:r>
                      <a:r>
                        <a:rPr lang="zh-TW" sz="3200" b="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這條蛇 不久前</a:t>
                      </a:r>
                      <a:endParaRPr lang="en-US" altLang="zh-TW" sz="3200" b="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3200" b="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    </a:t>
                      </a:r>
                      <a:r>
                        <a:rPr lang="zh-TW" sz="3200" b="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才</a:t>
                      </a:r>
                      <a:r>
                        <a:rPr lang="zh-TW" sz="3200" b="0" u="sng" kern="100" dirty="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</a:t>
                      </a:r>
                      <a:r>
                        <a:rPr lang="zh-TW" altLang="en-US" sz="3200" b="0" u="sng" kern="100" dirty="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                      </a:t>
                      </a:r>
                      <a:r>
                        <a:rPr lang="zh-TW" sz="3200" b="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。</a:t>
                      </a:r>
                      <a:endParaRPr lang="zh-TW" sz="3200" b="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TW" sz="3200" b="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飛行員的反應</a:t>
                      </a:r>
                      <a:r>
                        <a:rPr lang="zh-TW" sz="3200" b="0" u="sng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</a:t>
                      </a:r>
                      <a:r>
                        <a:rPr lang="zh-TW" altLang="en-US" sz="3200" b="0" u="sng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                 </a:t>
                      </a:r>
                      <a:r>
                        <a:rPr lang="zh-TW" sz="3200" b="0" u="none" kern="100" dirty="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。</a:t>
                      </a:r>
                      <a:endParaRPr lang="zh-TW" sz="3200" b="0" u="none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8154261"/>
                  </a:ext>
                </a:extLst>
              </a:tr>
              <a:tr h="1282515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TW" sz="3200" b="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畫出圖像</a:t>
                      </a:r>
                      <a:r>
                        <a:rPr lang="zh-TW" altLang="en-US" sz="3200" b="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：</a:t>
                      </a:r>
                      <a:r>
                        <a:rPr lang="en-US" sz="3200" b="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 </a:t>
                      </a:r>
                      <a:endParaRPr lang="zh-TW" sz="3200" b="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025402777"/>
                  </a:ext>
                </a:extLst>
              </a:tr>
            </a:tbl>
          </a:graphicData>
        </a:graphic>
      </p:graphicFrame>
      <p:sp>
        <p:nvSpPr>
          <p:cNvPr id="22" name="矩形 21">
            <a:extLst>
              <a:ext uri="{FF2B5EF4-FFF2-40B4-BE49-F238E27FC236}">
                <a16:creationId xmlns:a16="http://schemas.microsoft.com/office/drawing/2014/main" id="{6560EB7C-F105-982E-81D6-AED6DA4012E5}"/>
              </a:ext>
            </a:extLst>
          </p:cNvPr>
          <p:cNvSpPr/>
          <p:nvPr/>
        </p:nvSpPr>
        <p:spPr>
          <a:xfrm>
            <a:off x="5334000" y="4045313"/>
            <a:ext cx="6629401" cy="14791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TW" sz="32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                               </a:t>
            </a:r>
            <a:r>
              <a:rPr lang="zh-TW" altLang="en-US" sz="32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一條吞了大象的蛇</a:t>
            </a:r>
            <a:endParaRPr lang="zh-TW" altLang="zh-TW" sz="3200" b="1" kern="1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25" name="直線接點 24">
            <a:extLst>
              <a:ext uri="{FF2B5EF4-FFF2-40B4-BE49-F238E27FC236}">
                <a16:creationId xmlns:a16="http://schemas.microsoft.com/office/drawing/2014/main" id="{1A47A57C-0328-1DFE-57F8-A5F3A791C66F}"/>
              </a:ext>
            </a:extLst>
          </p:cNvPr>
          <p:cNvCxnSpPr>
            <a:cxnSpLocks/>
          </p:cNvCxnSpPr>
          <p:nvPr/>
        </p:nvCxnSpPr>
        <p:spPr>
          <a:xfrm>
            <a:off x="9448800" y="4762500"/>
            <a:ext cx="243148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線接點 26">
            <a:extLst>
              <a:ext uri="{FF2B5EF4-FFF2-40B4-BE49-F238E27FC236}">
                <a16:creationId xmlns:a16="http://schemas.microsoft.com/office/drawing/2014/main" id="{C5CAC25B-C828-CA40-66B9-F08D14C4CEA9}"/>
              </a:ext>
            </a:extLst>
          </p:cNvPr>
          <p:cNvCxnSpPr>
            <a:cxnSpLocks/>
          </p:cNvCxnSpPr>
          <p:nvPr/>
        </p:nvCxnSpPr>
        <p:spPr>
          <a:xfrm>
            <a:off x="5410200" y="5524500"/>
            <a:ext cx="13716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矩形 28">
            <a:extLst>
              <a:ext uri="{FF2B5EF4-FFF2-40B4-BE49-F238E27FC236}">
                <a16:creationId xmlns:a16="http://schemas.microsoft.com/office/drawing/2014/main" id="{73B75842-1010-C128-86F4-9691ED158895}"/>
              </a:ext>
            </a:extLst>
          </p:cNvPr>
          <p:cNvSpPr/>
          <p:nvPr/>
        </p:nvSpPr>
        <p:spPr>
          <a:xfrm>
            <a:off x="5829300" y="7647362"/>
            <a:ext cx="2768164" cy="7405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zh-TW" altLang="en-US" sz="32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吞過大鯨魚</a:t>
            </a:r>
            <a:endParaRPr lang="zh-TW" altLang="zh-TW" sz="3200" b="1" kern="1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0630840-5E92-86F4-87D3-C3875C9CCB6A}"/>
              </a:ext>
            </a:extLst>
          </p:cNvPr>
          <p:cNvSpPr/>
          <p:nvPr/>
        </p:nvSpPr>
        <p:spPr>
          <a:xfrm>
            <a:off x="14793094" y="4414644"/>
            <a:ext cx="2768164" cy="7405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zh-TW" altLang="en-US" sz="32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大吃一驚</a:t>
            </a:r>
            <a:endParaRPr lang="zh-TW" altLang="zh-TW" sz="3200" b="1" kern="1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16BC08F7-EF10-7EBF-1199-C60088FC61AB}"/>
              </a:ext>
            </a:extLst>
          </p:cNvPr>
          <p:cNvSpPr/>
          <p:nvPr/>
        </p:nvSpPr>
        <p:spPr>
          <a:xfrm>
            <a:off x="14706600" y="7277100"/>
            <a:ext cx="2768164" cy="7405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zh-TW" altLang="en-US" sz="32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目瞪口呆</a:t>
            </a:r>
            <a:endParaRPr lang="zh-TW" altLang="zh-TW" sz="3200" b="1" kern="1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244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9" grpId="0"/>
      <p:bldP spid="30" grpId="0"/>
      <p:bldP spid="3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C1D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228F01-2CF3-2291-E62B-2C63958A0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E5BE055-2A05-7223-570B-B7F6EFB087BA}"/>
              </a:ext>
            </a:extLst>
          </p:cNvPr>
          <p:cNvSpPr/>
          <p:nvPr/>
        </p:nvSpPr>
        <p:spPr>
          <a:xfrm rot="1721810">
            <a:off x="14451145" y="-2647218"/>
            <a:ext cx="4802903" cy="4331345"/>
          </a:xfrm>
          <a:custGeom>
            <a:avLst/>
            <a:gdLst/>
            <a:ahLst/>
            <a:cxnLst/>
            <a:rect l="l" t="t" r="r" b="b"/>
            <a:pathLst>
              <a:path w="4802903" h="4331345">
                <a:moveTo>
                  <a:pt x="0" y="0"/>
                </a:moveTo>
                <a:lnTo>
                  <a:pt x="4802903" y="0"/>
                </a:lnTo>
                <a:lnTo>
                  <a:pt x="4802903" y="4331346"/>
                </a:lnTo>
                <a:lnTo>
                  <a:pt x="0" y="43313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943CC67A-1644-66D2-0D17-94713AC76834}"/>
              </a:ext>
            </a:extLst>
          </p:cNvPr>
          <p:cNvSpPr/>
          <p:nvPr/>
        </p:nvSpPr>
        <p:spPr>
          <a:xfrm rot="-1283887">
            <a:off x="-3021977" y="6868896"/>
            <a:ext cx="5345015" cy="5747328"/>
          </a:xfrm>
          <a:custGeom>
            <a:avLst/>
            <a:gdLst/>
            <a:ahLst/>
            <a:cxnLst/>
            <a:rect l="l" t="t" r="r" b="b"/>
            <a:pathLst>
              <a:path w="5345015" h="5747328">
                <a:moveTo>
                  <a:pt x="0" y="0"/>
                </a:moveTo>
                <a:lnTo>
                  <a:pt x="5345015" y="0"/>
                </a:lnTo>
                <a:lnTo>
                  <a:pt x="5345015" y="5747327"/>
                </a:lnTo>
                <a:lnTo>
                  <a:pt x="0" y="57473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9CFCAF20-44FE-6893-2C91-D794D88A170D}"/>
              </a:ext>
            </a:extLst>
          </p:cNvPr>
          <p:cNvSpPr/>
          <p:nvPr/>
        </p:nvSpPr>
        <p:spPr>
          <a:xfrm rot="-10800000">
            <a:off x="14818494" y="8989420"/>
            <a:ext cx="4505274" cy="3866345"/>
          </a:xfrm>
          <a:custGeom>
            <a:avLst/>
            <a:gdLst/>
            <a:ahLst/>
            <a:cxnLst/>
            <a:rect l="l" t="t" r="r" b="b"/>
            <a:pathLst>
              <a:path w="4505274" h="3866345">
                <a:moveTo>
                  <a:pt x="0" y="0"/>
                </a:moveTo>
                <a:lnTo>
                  <a:pt x="4505275" y="0"/>
                </a:lnTo>
                <a:lnTo>
                  <a:pt x="4505275" y="3866345"/>
                </a:lnTo>
                <a:lnTo>
                  <a:pt x="0" y="38663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978C00F2-C242-D382-EB2B-EDB4EDBE8C70}"/>
              </a:ext>
            </a:extLst>
          </p:cNvPr>
          <p:cNvGrpSpPr/>
          <p:nvPr/>
        </p:nvGrpSpPr>
        <p:grpSpPr>
          <a:xfrm>
            <a:off x="4876800" y="952500"/>
            <a:ext cx="9056175" cy="1354417"/>
            <a:chOff x="4343400" y="1028700"/>
            <a:chExt cx="9056175" cy="1101452"/>
          </a:xfrm>
        </p:grpSpPr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207EBC2B-C0DE-6C49-A8D9-878CEE7D8BD8}"/>
                </a:ext>
              </a:extLst>
            </p:cNvPr>
            <p:cNvGrpSpPr/>
            <p:nvPr/>
          </p:nvGrpSpPr>
          <p:grpSpPr>
            <a:xfrm>
              <a:off x="4343400" y="1028700"/>
              <a:ext cx="8749543" cy="1101452"/>
              <a:chOff x="0" y="0"/>
              <a:chExt cx="2156113" cy="1097141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183EF100-02F3-B1BA-B26E-C6C5B8985240}"/>
                  </a:ext>
                </a:extLst>
              </p:cNvPr>
              <p:cNvSpPr/>
              <p:nvPr/>
            </p:nvSpPr>
            <p:spPr>
              <a:xfrm>
                <a:off x="0" y="0"/>
                <a:ext cx="2156113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56113" h="1097141">
                    <a:moveTo>
                      <a:pt x="45127" y="0"/>
                    </a:moveTo>
                    <a:lnTo>
                      <a:pt x="2110986" y="0"/>
                    </a:lnTo>
                    <a:cubicBezTo>
                      <a:pt x="2135909" y="0"/>
                      <a:pt x="2156113" y="20204"/>
                      <a:pt x="2156113" y="45127"/>
                    </a:cubicBezTo>
                    <a:lnTo>
                      <a:pt x="2156113" y="1052015"/>
                    </a:lnTo>
                    <a:cubicBezTo>
                      <a:pt x="2156113" y="1063983"/>
                      <a:pt x="2151358" y="1075461"/>
                      <a:pt x="2142895" y="1083924"/>
                    </a:cubicBezTo>
                    <a:cubicBezTo>
                      <a:pt x="2134432" y="1092387"/>
                      <a:pt x="2122954" y="1097141"/>
                      <a:pt x="2110986" y="1097141"/>
                    </a:cubicBezTo>
                    <a:lnTo>
                      <a:pt x="45127" y="1097141"/>
                    </a:lnTo>
                    <a:cubicBezTo>
                      <a:pt x="33158" y="1097141"/>
                      <a:pt x="21680" y="1092387"/>
                      <a:pt x="13217" y="1083924"/>
                    </a:cubicBezTo>
                    <a:cubicBezTo>
                      <a:pt x="4754" y="1075461"/>
                      <a:pt x="0" y="1063983"/>
                      <a:pt x="0" y="1052015"/>
                    </a:cubicBezTo>
                    <a:lnTo>
                      <a:pt x="0" y="45127"/>
                    </a:lnTo>
                    <a:cubicBezTo>
                      <a:pt x="0" y="33158"/>
                      <a:pt x="4754" y="21680"/>
                      <a:pt x="13217" y="13217"/>
                    </a:cubicBezTo>
                    <a:cubicBezTo>
                      <a:pt x="21680" y="4754"/>
                      <a:pt x="33158" y="0"/>
                      <a:pt x="45127" y="0"/>
                    </a:cubicBezTo>
                    <a:close/>
                  </a:path>
                </a:pathLst>
              </a:custGeom>
              <a:solidFill>
                <a:srgbClr val="BCE1EB">
                  <a:alpha val="49804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" name="TextBox 7">
                <a:extLst>
                  <a:ext uri="{FF2B5EF4-FFF2-40B4-BE49-F238E27FC236}">
                    <a16:creationId xmlns:a16="http://schemas.microsoft.com/office/drawing/2014/main" id="{DE7D0AA5-F4E1-41FF-C316-CAE560ED4CFA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156113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8" name="Group 8">
              <a:extLst>
                <a:ext uri="{FF2B5EF4-FFF2-40B4-BE49-F238E27FC236}">
                  <a16:creationId xmlns:a16="http://schemas.microsoft.com/office/drawing/2014/main" id="{4E615239-B2C1-EB80-3C08-67D700F10015}"/>
                </a:ext>
              </a:extLst>
            </p:cNvPr>
            <p:cNvGrpSpPr/>
            <p:nvPr/>
          </p:nvGrpSpPr>
          <p:grpSpPr>
            <a:xfrm>
              <a:off x="4517223" y="1028700"/>
              <a:ext cx="8882352" cy="1101452"/>
              <a:chOff x="0" y="0"/>
              <a:chExt cx="2188840" cy="1097141"/>
            </a:xfrm>
          </p:grpSpPr>
          <p:sp>
            <p:nvSpPr>
              <p:cNvPr id="9" name="Freeform 9">
                <a:extLst>
                  <a:ext uri="{FF2B5EF4-FFF2-40B4-BE49-F238E27FC236}">
                    <a16:creationId xmlns:a16="http://schemas.microsoft.com/office/drawing/2014/main" id="{3B8D307B-F155-815D-9C44-EDC095BA98F3}"/>
                  </a:ext>
                </a:extLst>
              </p:cNvPr>
              <p:cNvSpPr/>
              <p:nvPr/>
            </p:nvSpPr>
            <p:spPr>
              <a:xfrm>
                <a:off x="0" y="0"/>
                <a:ext cx="2188840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88840" h="1097141">
                    <a:moveTo>
                      <a:pt x="44452" y="0"/>
                    </a:moveTo>
                    <a:lnTo>
                      <a:pt x="2144388" y="0"/>
                    </a:lnTo>
                    <a:cubicBezTo>
                      <a:pt x="2156178" y="0"/>
                      <a:pt x="2167484" y="4683"/>
                      <a:pt x="2175820" y="13020"/>
                    </a:cubicBezTo>
                    <a:cubicBezTo>
                      <a:pt x="2184157" y="21356"/>
                      <a:pt x="2188840" y="32663"/>
                      <a:pt x="2188840" y="44452"/>
                    </a:cubicBezTo>
                    <a:lnTo>
                      <a:pt x="2188840" y="1052689"/>
                    </a:lnTo>
                    <a:cubicBezTo>
                      <a:pt x="2188840" y="1064479"/>
                      <a:pt x="2184157" y="1075785"/>
                      <a:pt x="2175820" y="1084122"/>
                    </a:cubicBezTo>
                    <a:cubicBezTo>
                      <a:pt x="2167484" y="1092458"/>
                      <a:pt x="2156178" y="1097141"/>
                      <a:pt x="2144388" y="1097141"/>
                    </a:cubicBezTo>
                    <a:lnTo>
                      <a:pt x="44452" y="1097141"/>
                    </a:lnTo>
                    <a:cubicBezTo>
                      <a:pt x="32663" y="1097141"/>
                      <a:pt x="21356" y="1092458"/>
                      <a:pt x="13020" y="1084122"/>
                    </a:cubicBezTo>
                    <a:cubicBezTo>
                      <a:pt x="4683" y="1075785"/>
                      <a:pt x="0" y="1064479"/>
                      <a:pt x="0" y="1052689"/>
                    </a:cubicBezTo>
                    <a:lnTo>
                      <a:pt x="0" y="44452"/>
                    </a:lnTo>
                    <a:cubicBezTo>
                      <a:pt x="0" y="32663"/>
                      <a:pt x="4683" y="21356"/>
                      <a:pt x="13020" y="13020"/>
                    </a:cubicBezTo>
                    <a:cubicBezTo>
                      <a:pt x="21356" y="4683"/>
                      <a:pt x="32663" y="0"/>
                      <a:pt x="44452" y="0"/>
                    </a:cubicBezTo>
                    <a:close/>
                  </a:path>
                </a:pathLst>
              </a:custGeom>
              <a:solidFill>
                <a:srgbClr val="BCE1EB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" name="TextBox 10">
                <a:extLst>
                  <a:ext uri="{FF2B5EF4-FFF2-40B4-BE49-F238E27FC236}">
                    <a16:creationId xmlns:a16="http://schemas.microsoft.com/office/drawing/2014/main" id="{C88FD074-50EB-1C8D-3F69-65F296D3CFC1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188840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A0A0F73A-43F1-C4A5-53F2-CEE1182D783F}"/>
              </a:ext>
            </a:extLst>
          </p:cNvPr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973F7DD-4948-62F2-4287-390C12EA6994}"/>
              </a:ext>
            </a:extLst>
          </p:cNvPr>
          <p:cNvSpPr/>
          <p:nvPr/>
        </p:nvSpPr>
        <p:spPr>
          <a:xfrm>
            <a:off x="6129339" y="1176635"/>
            <a:ext cx="672491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★  文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本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閱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讀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理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解 ★</a:t>
            </a:r>
            <a:endParaRPr lang="zh-TW" altLang="zh-TW" sz="4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E3A1984-9AF0-12D7-C391-C6851F293F53}"/>
              </a:ext>
            </a:extLst>
          </p:cNvPr>
          <p:cNvSpPr/>
          <p:nvPr/>
        </p:nvSpPr>
        <p:spPr>
          <a:xfrm>
            <a:off x="1447800" y="2708423"/>
            <a:ext cx="216116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★</a:t>
            </a:r>
            <a:r>
              <a:rPr lang="zh-TW" altLang="en-US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意義段一</a:t>
            </a:r>
            <a:endParaRPr lang="zh-TW" altLang="zh-TW" sz="3200" b="1" kern="10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3" name="Freeform 7">
            <a:extLst>
              <a:ext uri="{FF2B5EF4-FFF2-40B4-BE49-F238E27FC236}">
                <a16:creationId xmlns:a16="http://schemas.microsoft.com/office/drawing/2014/main" id="{3FEAC43B-39D1-4BFA-F108-1E9C2A21D17A}"/>
              </a:ext>
            </a:extLst>
          </p:cNvPr>
          <p:cNvSpPr/>
          <p:nvPr/>
        </p:nvSpPr>
        <p:spPr>
          <a:xfrm rot="2237146">
            <a:off x="13284880" y="809491"/>
            <a:ext cx="1643835" cy="1441969"/>
          </a:xfrm>
          <a:custGeom>
            <a:avLst/>
            <a:gdLst/>
            <a:ahLst/>
            <a:cxnLst/>
            <a:rect l="l" t="t" r="r" b="b"/>
            <a:pathLst>
              <a:path w="4459052" h="3210518">
                <a:moveTo>
                  <a:pt x="0" y="0"/>
                </a:moveTo>
                <a:lnTo>
                  <a:pt x="4459052" y="0"/>
                </a:lnTo>
                <a:lnTo>
                  <a:pt x="4459052" y="3210518"/>
                </a:lnTo>
                <a:lnTo>
                  <a:pt x="0" y="321051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aphicFrame>
        <p:nvGraphicFramePr>
          <p:cNvPr id="25" name="表格 24">
            <a:extLst>
              <a:ext uri="{FF2B5EF4-FFF2-40B4-BE49-F238E27FC236}">
                <a16:creationId xmlns:a16="http://schemas.microsoft.com/office/drawing/2014/main" id="{970F51E7-FF6C-ABFB-E6E2-F1EC741330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2566432"/>
              </p:ext>
            </p:extLst>
          </p:nvPr>
        </p:nvGraphicFramePr>
        <p:xfrm>
          <a:off x="1221435" y="3918090"/>
          <a:ext cx="16060271" cy="2162747"/>
        </p:xfrm>
        <a:graphic>
          <a:graphicData uri="http://schemas.openxmlformats.org/drawingml/2006/table">
            <a:tbl>
              <a:tblPr firstRow="1" firstCol="1" bandRow="1"/>
              <a:tblGrid>
                <a:gridCol w="160602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TW" altLang="en-US" sz="4400" b="1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意義段一：</a:t>
                      </a: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TW" altLang="en-US" sz="4400" b="0" u="none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飛行員遇見小王子，請他猜一猜自己圖畫的內容。</a:t>
                      </a: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7307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C1D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81DA08-ED59-5909-F207-189B0BC84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C3C5099-3A39-06AC-B004-9C6E60AC7686}"/>
              </a:ext>
            </a:extLst>
          </p:cNvPr>
          <p:cNvSpPr/>
          <p:nvPr/>
        </p:nvSpPr>
        <p:spPr>
          <a:xfrm rot="1721810">
            <a:off x="14451145" y="-2647218"/>
            <a:ext cx="4802903" cy="4331345"/>
          </a:xfrm>
          <a:custGeom>
            <a:avLst/>
            <a:gdLst/>
            <a:ahLst/>
            <a:cxnLst/>
            <a:rect l="l" t="t" r="r" b="b"/>
            <a:pathLst>
              <a:path w="4802903" h="4331345">
                <a:moveTo>
                  <a:pt x="0" y="0"/>
                </a:moveTo>
                <a:lnTo>
                  <a:pt x="4802903" y="0"/>
                </a:lnTo>
                <a:lnTo>
                  <a:pt x="4802903" y="4331346"/>
                </a:lnTo>
                <a:lnTo>
                  <a:pt x="0" y="43313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EE516720-4C03-4FF2-BF2D-DB490F3E2242}"/>
              </a:ext>
            </a:extLst>
          </p:cNvPr>
          <p:cNvSpPr/>
          <p:nvPr/>
        </p:nvSpPr>
        <p:spPr>
          <a:xfrm rot="-1283887">
            <a:off x="-3021977" y="6868896"/>
            <a:ext cx="5345015" cy="5747328"/>
          </a:xfrm>
          <a:custGeom>
            <a:avLst/>
            <a:gdLst/>
            <a:ahLst/>
            <a:cxnLst/>
            <a:rect l="l" t="t" r="r" b="b"/>
            <a:pathLst>
              <a:path w="5345015" h="5747328">
                <a:moveTo>
                  <a:pt x="0" y="0"/>
                </a:moveTo>
                <a:lnTo>
                  <a:pt x="5345015" y="0"/>
                </a:lnTo>
                <a:lnTo>
                  <a:pt x="5345015" y="5747327"/>
                </a:lnTo>
                <a:lnTo>
                  <a:pt x="0" y="57473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D2A7B776-55DA-161A-FE4E-D883BFFDF323}"/>
              </a:ext>
            </a:extLst>
          </p:cNvPr>
          <p:cNvSpPr/>
          <p:nvPr/>
        </p:nvSpPr>
        <p:spPr>
          <a:xfrm rot="-10800000">
            <a:off x="14818494" y="8989420"/>
            <a:ext cx="4505274" cy="3866345"/>
          </a:xfrm>
          <a:custGeom>
            <a:avLst/>
            <a:gdLst/>
            <a:ahLst/>
            <a:cxnLst/>
            <a:rect l="l" t="t" r="r" b="b"/>
            <a:pathLst>
              <a:path w="4505274" h="3866345">
                <a:moveTo>
                  <a:pt x="0" y="0"/>
                </a:moveTo>
                <a:lnTo>
                  <a:pt x="4505275" y="0"/>
                </a:lnTo>
                <a:lnTo>
                  <a:pt x="4505275" y="3866345"/>
                </a:lnTo>
                <a:lnTo>
                  <a:pt x="0" y="38663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36B7FA98-F1CD-7B7B-15B1-AA2E7E54528D}"/>
              </a:ext>
            </a:extLst>
          </p:cNvPr>
          <p:cNvGrpSpPr/>
          <p:nvPr/>
        </p:nvGrpSpPr>
        <p:grpSpPr>
          <a:xfrm>
            <a:off x="4876800" y="952500"/>
            <a:ext cx="9056175" cy="1354417"/>
            <a:chOff x="4343400" y="1028700"/>
            <a:chExt cx="9056175" cy="1101452"/>
          </a:xfrm>
        </p:grpSpPr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7163C4CE-454C-872A-A3D7-4712976DE631}"/>
                </a:ext>
              </a:extLst>
            </p:cNvPr>
            <p:cNvGrpSpPr/>
            <p:nvPr/>
          </p:nvGrpSpPr>
          <p:grpSpPr>
            <a:xfrm>
              <a:off x="4343400" y="1028700"/>
              <a:ext cx="8749543" cy="1101452"/>
              <a:chOff x="0" y="0"/>
              <a:chExt cx="2156113" cy="1097141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F01DB097-A10D-ADC4-F586-3BC93239C17A}"/>
                  </a:ext>
                </a:extLst>
              </p:cNvPr>
              <p:cNvSpPr/>
              <p:nvPr/>
            </p:nvSpPr>
            <p:spPr>
              <a:xfrm>
                <a:off x="0" y="0"/>
                <a:ext cx="2156113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56113" h="1097141">
                    <a:moveTo>
                      <a:pt x="45127" y="0"/>
                    </a:moveTo>
                    <a:lnTo>
                      <a:pt x="2110986" y="0"/>
                    </a:lnTo>
                    <a:cubicBezTo>
                      <a:pt x="2135909" y="0"/>
                      <a:pt x="2156113" y="20204"/>
                      <a:pt x="2156113" y="45127"/>
                    </a:cubicBezTo>
                    <a:lnTo>
                      <a:pt x="2156113" y="1052015"/>
                    </a:lnTo>
                    <a:cubicBezTo>
                      <a:pt x="2156113" y="1063983"/>
                      <a:pt x="2151358" y="1075461"/>
                      <a:pt x="2142895" y="1083924"/>
                    </a:cubicBezTo>
                    <a:cubicBezTo>
                      <a:pt x="2134432" y="1092387"/>
                      <a:pt x="2122954" y="1097141"/>
                      <a:pt x="2110986" y="1097141"/>
                    </a:cubicBezTo>
                    <a:lnTo>
                      <a:pt x="45127" y="1097141"/>
                    </a:lnTo>
                    <a:cubicBezTo>
                      <a:pt x="33158" y="1097141"/>
                      <a:pt x="21680" y="1092387"/>
                      <a:pt x="13217" y="1083924"/>
                    </a:cubicBezTo>
                    <a:cubicBezTo>
                      <a:pt x="4754" y="1075461"/>
                      <a:pt x="0" y="1063983"/>
                      <a:pt x="0" y="1052015"/>
                    </a:cubicBezTo>
                    <a:lnTo>
                      <a:pt x="0" y="45127"/>
                    </a:lnTo>
                    <a:cubicBezTo>
                      <a:pt x="0" y="33158"/>
                      <a:pt x="4754" y="21680"/>
                      <a:pt x="13217" y="13217"/>
                    </a:cubicBezTo>
                    <a:cubicBezTo>
                      <a:pt x="21680" y="4754"/>
                      <a:pt x="33158" y="0"/>
                      <a:pt x="45127" y="0"/>
                    </a:cubicBezTo>
                    <a:close/>
                  </a:path>
                </a:pathLst>
              </a:custGeom>
              <a:solidFill>
                <a:srgbClr val="BCE1EB">
                  <a:alpha val="49804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" name="TextBox 7">
                <a:extLst>
                  <a:ext uri="{FF2B5EF4-FFF2-40B4-BE49-F238E27FC236}">
                    <a16:creationId xmlns:a16="http://schemas.microsoft.com/office/drawing/2014/main" id="{463BE92A-DDC0-0CFF-94B6-59B728ABC3F6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156113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8" name="Group 8">
              <a:extLst>
                <a:ext uri="{FF2B5EF4-FFF2-40B4-BE49-F238E27FC236}">
                  <a16:creationId xmlns:a16="http://schemas.microsoft.com/office/drawing/2014/main" id="{793BD630-CFAF-9EC4-70B0-072B37D8A5A0}"/>
                </a:ext>
              </a:extLst>
            </p:cNvPr>
            <p:cNvGrpSpPr/>
            <p:nvPr/>
          </p:nvGrpSpPr>
          <p:grpSpPr>
            <a:xfrm>
              <a:off x="4517223" y="1028700"/>
              <a:ext cx="8882352" cy="1101452"/>
              <a:chOff x="0" y="0"/>
              <a:chExt cx="2188840" cy="1097141"/>
            </a:xfrm>
          </p:grpSpPr>
          <p:sp>
            <p:nvSpPr>
              <p:cNvPr id="9" name="Freeform 9">
                <a:extLst>
                  <a:ext uri="{FF2B5EF4-FFF2-40B4-BE49-F238E27FC236}">
                    <a16:creationId xmlns:a16="http://schemas.microsoft.com/office/drawing/2014/main" id="{FCBBEFF8-5577-B86E-0122-8906781CCED2}"/>
                  </a:ext>
                </a:extLst>
              </p:cNvPr>
              <p:cNvSpPr/>
              <p:nvPr/>
            </p:nvSpPr>
            <p:spPr>
              <a:xfrm>
                <a:off x="0" y="0"/>
                <a:ext cx="2188840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88840" h="1097141">
                    <a:moveTo>
                      <a:pt x="44452" y="0"/>
                    </a:moveTo>
                    <a:lnTo>
                      <a:pt x="2144388" y="0"/>
                    </a:lnTo>
                    <a:cubicBezTo>
                      <a:pt x="2156178" y="0"/>
                      <a:pt x="2167484" y="4683"/>
                      <a:pt x="2175820" y="13020"/>
                    </a:cubicBezTo>
                    <a:cubicBezTo>
                      <a:pt x="2184157" y="21356"/>
                      <a:pt x="2188840" y="32663"/>
                      <a:pt x="2188840" y="44452"/>
                    </a:cubicBezTo>
                    <a:lnTo>
                      <a:pt x="2188840" y="1052689"/>
                    </a:lnTo>
                    <a:cubicBezTo>
                      <a:pt x="2188840" y="1064479"/>
                      <a:pt x="2184157" y="1075785"/>
                      <a:pt x="2175820" y="1084122"/>
                    </a:cubicBezTo>
                    <a:cubicBezTo>
                      <a:pt x="2167484" y="1092458"/>
                      <a:pt x="2156178" y="1097141"/>
                      <a:pt x="2144388" y="1097141"/>
                    </a:cubicBezTo>
                    <a:lnTo>
                      <a:pt x="44452" y="1097141"/>
                    </a:lnTo>
                    <a:cubicBezTo>
                      <a:pt x="32663" y="1097141"/>
                      <a:pt x="21356" y="1092458"/>
                      <a:pt x="13020" y="1084122"/>
                    </a:cubicBezTo>
                    <a:cubicBezTo>
                      <a:pt x="4683" y="1075785"/>
                      <a:pt x="0" y="1064479"/>
                      <a:pt x="0" y="1052689"/>
                    </a:cubicBezTo>
                    <a:lnTo>
                      <a:pt x="0" y="44452"/>
                    </a:lnTo>
                    <a:cubicBezTo>
                      <a:pt x="0" y="32663"/>
                      <a:pt x="4683" y="21356"/>
                      <a:pt x="13020" y="13020"/>
                    </a:cubicBezTo>
                    <a:cubicBezTo>
                      <a:pt x="21356" y="4683"/>
                      <a:pt x="32663" y="0"/>
                      <a:pt x="44452" y="0"/>
                    </a:cubicBezTo>
                    <a:close/>
                  </a:path>
                </a:pathLst>
              </a:custGeom>
              <a:solidFill>
                <a:srgbClr val="BCE1EB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" name="TextBox 10">
                <a:extLst>
                  <a:ext uri="{FF2B5EF4-FFF2-40B4-BE49-F238E27FC236}">
                    <a16:creationId xmlns:a16="http://schemas.microsoft.com/office/drawing/2014/main" id="{D69435FC-B535-983D-FE0D-B03D55EC7788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188840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8280BA8A-CC1B-8094-896B-2A5A35BA2948}"/>
              </a:ext>
            </a:extLst>
          </p:cNvPr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A23F5C3-BC8C-6895-BD8C-16019ADAFB27}"/>
              </a:ext>
            </a:extLst>
          </p:cNvPr>
          <p:cNvSpPr/>
          <p:nvPr/>
        </p:nvSpPr>
        <p:spPr>
          <a:xfrm>
            <a:off x="6129339" y="1176635"/>
            <a:ext cx="672491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★  文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本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閱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讀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理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解 ★</a:t>
            </a:r>
            <a:endParaRPr lang="zh-TW" altLang="zh-TW" sz="4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D34E074-5860-EE98-6620-D702418FE715}"/>
              </a:ext>
            </a:extLst>
          </p:cNvPr>
          <p:cNvSpPr/>
          <p:nvPr/>
        </p:nvSpPr>
        <p:spPr>
          <a:xfrm>
            <a:off x="1447800" y="2708423"/>
            <a:ext cx="216116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★</a:t>
            </a:r>
            <a:r>
              <a:rPr lang="zh-TW" altLang="en-US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意義段二</a:t>
            </a:r>
            <a:endParaRPr lang="zh-TW" altLang="zh-TW" sz="3200" b="1" kern="10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3" name="Freeform 7">
            <a:extLst>
              <a:ext uri="{FF2B5EF4-FFF2-40B4-BE49-F238E27FC236}">
                <a16:creationId xmlns:a16="http://schemas.microsoft.com/office/drawing/2014/main" id="{92695F00-DE84-B69F-9488-9E3EBC6B3F86}"/>
              </a:ext>
            </a:extLst>
          </p:cNvPr>
          <p:cNvSpPr/>
          <p:nvPr/>
        </p:nvSpPr>
        <p:spPr>
          <a:xfrm rot="2237146">
            <a:off x="13284880" y="809491"/>
            <a:ext cx="1643835" cy="1441969"/>
          </a:xfrm>
          <a:custGeom>
            <a:avLst/>
            <a:gdLst/>
            <a:ahLst/>
            <a:cxnLst/>
            <a:rect l="l" t="t" r="r" b="b"/>
            <a:pathLst>
              <a:path w="4459052" h="3210518">
                <a:moveTo>
                  <a:pt x="0" y="0"/>
                </a:moveTo>
                <a:lnTo>
                  <a:pt x="4459052" y="0"/>
                </a:lnTo>
                <a:lnTo>
                  <a:pt x="4459052" y="3210518"/>
                </a:lnTo>
                <a:lnTo>
                  <a:pt x="0" y="321051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4BE2DF0-04A9-ACB8-0719-EA81F9C7980D}"/>
              </a:ext>
            </a:extLst>
          </p:cNvPr>
          <p:cNvSpPr/>
          <p:nvPr/>
        </p:nvSpPr>
        <p:spPr>
          <a:xfrm>
            <a:off x="1447802" y="3586684"/>
            <a:ext cx="15632130" cy="51725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小王子請飛行員畫一隻羊給他，請問飛行員畫了幾次小王子才滿意？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</a:t>
            </a:r>
            <a:b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en-US" altLang="zh-TW" sz="3200" b="0" kern="1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❶</a:t>
            </a:r>
            <a:r>
              <a:rPr lang="zh-TW" altLang="en-US" sz="3200" b="0" kern="1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en-US" sz="3200" b="1" kern="1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畫了</a:t>
            </a:r>
            <a:r>
              <a:rPr lang="en-US" altLang="zh-TW" sz="3200" b="1" u="sng" kern="1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en-US" sz="3200" b="1" u="sng" kern="1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</a:t>
            </a:r>
            <a:r>
              <a:rPr lang="en-US" altLang="zh-TW" sz="3200" b="1" u="sng" kern="1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</a:t>
            </a:r>
            <a:r>
              <a:rPr lang="zh-TW" altLang="en-US" sz="3200" b="1" kern="1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次</a:t>
            </a:r>
            <a:b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en-US" altLang="zh-TW" sz="3200" b="0" kern="1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❷</a:t>
            </a:r>
            <a:r>
              <a:rPr lang="zh-TW" altLang="en-US" sz="3200" b="0" kern="1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en-US" sz="3200" b="1" kern="1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你從課文中哪些訊息知道飛行員畫了這麼多次？在課文中圈出來。  </a:t>
            </a:r>
            <a:endParaRPr lang="en-US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FontTx/>
              <a:buAutoNum type="arabicPeriod"/>
            </a:pPr>
            <a:endParaRPr lang="zh-TW" altLang="en-US" sz="3200" b="0" kern="1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endParaRPr lang="zh-TW" altLang="en-US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endParaRPr lang="en-US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EDB0AEB-0502-E1BF-9C09-B6A877D5608F}"/>
              </a:ext>
            </a:extLst>
          </p:cNvPr>
          <p:cNvSpPr/>
          <p:nvPr/>
        </p:nvSpPr>
        <p:spPr>
          <a:xfrm>
            <a:off x="14816921" y="3838811"/>
            <a:ext cx="389814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000" kern="100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推論策略</a:t>
            </a:r>
            <a:endParaRPr lang="en-US" altLang="zh-TW" sz="2000" kern="100" dirty="0">
              <a:solidFill>
                <a:schemeClr val="accent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38103AE-5773-5961-F5F7-9AAD1952A09B}"/>
              </a:ext>
            </a:extLst>
          </p:cNvPr>
          <p:cNvSpPr/>
          <p:nvPr/>
        </p:nvSpPr>
        <p:spPr>
          <a:xfrm>
            <a:off x="3352800" y="4433196"/>
            <a:ext cx="117989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endParaRPr lang="zh-TW" altLang="en-US" sz="32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ACFF851-0753-379C-9CF2-E094D8BFBAAB}"/>
              </a:ext>
            </a:extLst>
          </p:cNvPr>
          <p:cNvSpPr/>
          <p:nvPr/>
        </p:nvSpPr>
        <p:spPr>
          <a:xfrm>
            <a:off x="14466057" y="5318633"/>
            <a:ext cx="389814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000" kern="100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找支持理由</a:t>
            </a:r>
            <a:endParaRPr lang="en-US" altLang="zh-TW" sz="2000" kern="100" dirty="0">
              <a:solidFill>
                <a:schemeClr val="accent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E0258FC-6D5B-553C-5117-EC8115533C89}"/>
              </a:ext>
            </a:extLst>
          </p:cNvPr>
          <p:cNvSpPr/>
          <p:nvPr/>
        </p:nvSpPr>
        <p:spPr>
          <a:xfrm>
            <a:off x="2563267" y="5798443"/>
            <a:ext cx="13161466" cy="29565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老師引導學生在文本中圈出</a:t>
            </a:r>
            <a:r>
              <a:rPr lang="en-US" altLang="zh-TW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  )</a:t>
            </a:r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中的句子：</a:t>
            </a:r>
            <a:endParaRPr lang="en-US" altLang="zh-TW" sz="32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TW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揮動畫筆，畫了一隻羊，給小王子看。</a:t>
            </a:r>
            <a:r>
              <a:rPr lang="en-US" altLang="zh-TW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又了一隻羊。</a:t>
            </a:r>
            <a:r>
              <a:rPr lang="en-US" altLang="zh-TW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再畫了一隻羊。</a:t>
            </a:r>
            <a:r>
              <a:rPr lang="en-US" altLang="zh-TW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畫了一個箱子</a:t>
            </a:r>
            <a:r>
              <a:rPr lang="en-US" altLang="zh-TW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</a:p>
          <a:p>
            <a:pPr>
              <a:lnSpc>
                <a:spcPct val="150000"/>
              </a:lnSpc>
            </a:pPr>
            <a:endParaRPr lang="zh-TW" altLang="en-US" sz="32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40172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C1D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BE288F-77A0-EBD4-B1ED-CBB0432BD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D81715D-2050-B544-D6B5-F569289F4A39}"/>
              </a:ext>
            </a:extLst>
          </p:cNvPr>
          <p:cNvSpPr/>
          <p:nvPr/>
        </p:nvSpPr>
        <p:spPr>
          <a:xfrm rot="1721810">
            <a:off x="14451145" y="-2647218"/>
            <a:ext cx="4802903" cy="4331345"/>
          </a:xfrm>
          <a:custGeom>
            <a:avLst/>
            <a:gdLst/>
            <a:ahLst/>
            <a:cxnLst/>
            <a:rect l="l" t="t" r="r" b="b"/>
            <a:pathLst>
              <a:path w="4802903" h="4331345">
                <a:moveTo>
                  <a:pt x="0" y="0"/>
                </a:moveTo>
                <a:lnTo>
                  <a:pt x="4802903" y="0"/>
                </a:lnTo>
                <a:lnTo>
                  <a:pt x="4802903" y="4331346"/>
                </a:lnTo>
                <a:lnTo>
                  <a:pt x="0" y="43313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15E5BD80-358B-F016-1F4E-B4431C2A1D72}"/>
              </a:ext>
            </a:extLst>
          </p:cNvPr>
          <p:cNvSpPr/>
          <p:nvPr/>
        </p:nvSpPr>
        <p:spPr>
          <a:xfrm rot="-1283887">
            <a:off x="-3021977" y="6868896"/>
            <a:ext cx="5345015" cy="5747328"/>
          </a:xfrm>
          <a:custGeom>
            <a:avLst/>
            <a:gdLst/>
            <a:ahLst/>
            <a:cxnLst/>
            <a:rect l="l" t="t" r="r" b="b"/>
            <a:pathLst>
              <a:path w="5345015" h="5747328">
                <a:moveTo>
                  <a:pt x="0" y="0"/>
                </a:moveTo>
                <a:lnTo>
                  <a:pt x="5345015" y="0"/>
                </a:lnTo>
                <a:lnTo>
                  <a:pt x="5345015" y="5747327"/>
                </a:lnTo>
                <a:lnTo>
                  <a:pt x="0" y="57473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B50B56FD-CE79-A0E8-421E-56C3DF6ACBC5}"/>
              </a:ext>
            </a:extLst>
          </p:cNvPr>
          <p:cNvSpPr/>
          <p:nvPr/>
        </p:nvSpPr>
        <p:spPr>
          <a:xfrm rot="-10800000">
            <a:off x="14818494" y="8989420"/>
            <a:ext cx="4505274" cy="3866345"/>
          </a:xfrm>
          <a:custGeom>
            <a:avLst/>
            <a:gdLst/>
            <a:ahLst/>
            <a:cxnLst/>
            <a:rect l="l" t="t" r="r" b="b"/>
            <a:pathLst>
              <a:path w="4505274" h="3866345">
                <a:moveTo>
                  <a:pt x="0" y="0"/>
                </a:moveTo>
                <a:lnTo>
                  <a:pt x="4505275" y="0"/>
                </a:lnTo>
                <a:lnTo>
                  <a:pt x="4505275" y="3866345"/>
                </a:lnTo>
                <a:lnTo>
                  <a:pt x="0" y="38663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FE6281E3-FFBB-7EB1-9B9B-307B9E033B34}"/>
              </a:ext>
            </a:extLst>
          </p:cNvPr>
          <p:cNvGrpSpPr/>
          <p:nvPr/>
        </p:nvGrpSpPr>
        <p:grpSpPr>
          <a:xfrm>
            <a:off x="4876800" y="952500"/>
            <a:ext cx="9056175" cy="1354417"/>
            <a:chOff x="4343400" y="1028700"/>
            <a:chExt cx="9056175" cy="1101452"/>
          </a:xfrm>
        </p:grpSpPr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82B57448-D0D7-4EEC-B72A-DD52FC33A55E}"/>
                </a:ext>
              </a:extLst>
            </p:cNvPr>
            <p:cNvGrpSpPr/>
            <p:nvPr/>
          </p:nvGrpSpPr>
          <p:grpSpPr>
            <a:xfrm>
              <a:off x="4343400" y="1028700"/>
              <a:ext cx="8749543" cy="1101452"/>
              <a:chOff x="0" y="0"/>
              <a:chExt cx="2156113" cy="1097141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F67A33DE-1AAF-2A9A-598A-C62FC8766F0E}"/>
                  </a:ext>
                </a:extLst>
              </p:cNvPr>
              <p:cNvSpPr/>
              <p:nvPr/>
            </p:nvSpPr>
            <p:spPr>
              <a:xfrm>
                <a:off x="0" y="0"/>
                <a:ext cx="2156113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56113" h="1097141">
                    <a:moveTo>
                      <a:pt x="45127" y="0"/>
                    </a:moveTo>
                    <a:lnTo>
                      <a:pt x="2110986" y="0"/>
                    </a:lnTo>
                    <a:cubicBezTo>
                      <a:pt x="2135909" y="0"/>
                      <a:pt x="2156113" y="20204"/>
                      <a:pt x="2156113" y="45127"/>
                    </a:cubicBezTo>
                    <a:lnTo>
                      <a:pt x="2156113" y="1052015"/>
                    </a:lnTo>
                    <a:cubicBezTo>
                      <a:pt x="2156113" y="1063983"/>
                      <a:pt x="2151358" y="1075461"/>
                      <a:pt x="2142895" y="1083924"/>
                    </a:cubicBezTo>
                    <a:cubicBezTo>
                      <a:pt x="2134432" y="1092387"/>
                      <a:pt x="2122954" y="1097141"/>
                      <a:pt x="2110986" y="1097141"/>
                    </a:cubicBezTo>
                    <a:lnTo>
                      <a:pt x="45127" y="1097141"/>
                    </a:lnTo>
                    <a:cubicBezTo>
                      <a:pt x="33158" y="1097141"/>
                      <a:pt x="21680" y="1092387"/>
                      <a:pt x="13217" y="1083924"/>
                    </a:cubicBezTo>
                    <a:cubicBezTo>
                      <a:pt x="4754" y="1075461"/>
                      <a:pt x="0" y="1063983"/>
                      <a:pt x="0" y="1052015"/>
                    </a:cubicBezTo>
                    <a:lnTo>
                      <a:pt x="0" y="45127"/>
                    </a:lnTo>
                    <a:cubicBezTo>
                      <a:pt x="0" y="33158"/>
                      <a:pt x="4754" y="21680"/>
                      <a:pt x="13217" y="13217"/>
                    </a:cubicBezTo>
                    <a:cubicBezTo>
                      <a:pt x="21680" y="4754"/>
                      <a:pt x="33158" y="0"/>
                      <a:pt x="45127" y="0"/>
                    </a:cubicBezTo>
                    <a:close/>
                  </a:path>
                </a:pathLst>
              </a:custGeom>
              <a:solidFill>
                <a:srgbClr val="BCE1EB">
                  <a:alpha val="49804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" name="TextBox 7">
                <a:extLst>
                  <a:ext uri="{FF2B5EF4-FFF2-40B4-BE49-F238E27FC236}">
                    <a16:creationId xmlns:a16="http://schemas.microsoft.com/office/drawing/2014/main" id="{397CCF2C-E25B-14D3-CD26-708EECA4D0BA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156113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8" name="Group 8">
              <a:extLst>
                <a:ext uri="{FF2B5EF4-FFF2-40B4-BE49-F238E27FC236}">
                  <a16:creationId xmlns:a16="http://schemas.microsoft.com/office/drawing/2014/main" id="{B1329F23-2941-52D5-BFB5-E577320AA77C}"/>
                </a:ext>
              </a:extLst>
            </p:cNvPr>
            <p:cNvGrpSpPr/>
            <p:nvPr/>
          </p:nvGrpSpPr>
          <p:grpSpPr>
            <a:xfrm>
              <a:off x="4517223" y="1028700"/>
              <a:ext cx="8882352" cy="1101452"/>
              <a:chOff x="0" y="0"/>
              <a:chExt cx="2188840" cy="1097141"/>
            </a:xfrm>
          </p:grpSpPr>
          <p:sp>
            <p:nvSpPr>
              <p:cNvPr id="9" name="Freeform 9">
                <a:extLst>
                  <a:ext uri="{FF2B5EF4-FFF2-40B4-BE49-F238E27FC236}">
                    <a16:creationId xmlns:a16="http://schemas.microsoft.com/office/drawing/2014/main" id="{38791E97-9994-7A23-52F8-19FEAAAC35F9}"/>
                  </a:ext>
                </a:extLst>
              </p:cNvPr>
              <p:cNvSpPr/>
              <p:nvPr/>
            </p:nvSpPr>
            <p:spPr>
              <a:xfrm>
                <a:off x="0" y="0"/>
                <a:ext cx="2188840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88840" h="1097141">
                    <a:moveTo>
                      <a:pt x="44452" y="0"/>
                    </a:moveTo>
                    <a:lnTo>
                      <a:pt x="2144388" y="0"/>
                    </a:lnTo>
                    <a:cubicBezTo>
                      <a:pt x="2156178" y="0"/>
                      <a:pt x="2167484" y="4683"/>
                      <a:pt x="2175820" y="13020"/>
                    </a:cubicBezTo>
                    <a:cubicBezTo>
                      <a:pt x="2184157" y="21356"/>
                      <a:pt x="2188840" y="32663"/>
                      <a:pt x="2188840" y="44452"/>
                    </a:cubicBezTo>
                    <a:lnTo>
                      <a:pt x="2188840" y="1052689"/>
                    </a:lnTo>
                    <a:cubicBezTo>
                      <a:pt x="2188840" y="1064479"/>
                      <a:pt x="2184157" y="1075785"/>
                      <a:pt x="2175820" y="1084122"/>
                    </a:cubicBezTo>
                    <a:cubicBezTo>
                      <a:pt x="2167484" y="1092458"/>
                      <a:pt x="2156178" y="1097141"/>
                      <a:pt x="2144388" y="1097141"/>
                    </a:cubicBezTo>
                    <a:lnTo>
                      <a:pt x="44452" y="1097141"/>
                    </a:lnTo>
                    <a:cubicBezTo>
                      <a:pt x="32663" y="1097141"/>
                      <a:pt x="21356" y="1092458"/>
                      <a:pt x="13020" y="1084122"/>
                    </a:cubicBezTo>
                    <a:cubicBezTo>
                      <a:pt x="4683" y="1075785"/>
                      <a:pt x="0" y="1064479"/>
                      <a:pt x="0" y="1052689"/>
                    </a:cubicBezTo>
                    <a:lnTo>
                      <a:pt x="0" y="44452"/>
                    </a:lnTo>
                    <a:cubicBezTo>
                      <a:pt x="0" y="32663"/>
                      <a:pt x="4683" y="21356"/>
                      <a:pt x="13020" y="13020"/>
                    </a:cubicBezTo>
                    <a:cubicBezTo>
                      <a:pt x="21356" y="4683"/>
                      <a:pt x="32663" y="0"/>
                      <a:pt x="44452" y="0"/>
                    </a:cubicBezTo>
                    <a:close/>
                  </a:path>
                </a:pathLst>
              </a:custGeom>
              <a:solidFill>
                <a:srgbClr val="BCE1EB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" name="TextBox 10">
                <a:extLst>
                  <a:ext uri="{FF2B5EF4-FFF2-40B4-BE49-F238E27FC236}">
                    <a16:creationId xmlns:a16="http://schemas.microsoft.com/office/drawing/2014/main" id="{23EB4938-52B9-D0A8-25F9-5D14EB88BAE8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188840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DB1AB979-1336-554F-D23F-CCE2B0F8C2F7}"/>
              </a:ext>
            </a:extLst>
          </p:cNvPr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77AB3D3-915B-18DF-775A-C36FF7A2CD3E}"/>
              </a:ext>
            </a:extLst>
          </p:cNvPr>
          <p:cNvSpPr/>
          <p:nvPr/>
        </p:nvSpPr>
        <p:spPr>
          <a:xfrm>
            <a:off x="6129339" y="1176635"/>
            <a:ext cx="672491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★  文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本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閱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讀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理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解 ★</a:t>
            </a:r>
            <a:endParaRPr lang="zh-TW" altLang="zh-TW" sz="4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AC33B94-B9E3-D764-FAF3-6F436154665F}"/>
              </a:ext>
            </a:extLst>
          </p:cNvPr>
          <p:cNvSpPr/>
          <p:nvPr/>
        </p:nvSpPr>
        <p:spPr>
          <a:xfrm>
            <a:off x="1455150" y="2514076"/>
            <a:ext cx="216116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★</a:t>
            </a:r>
            <a:r>
              <a:rPr lang="zh-TW" altLang="en-US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意義段二</a:t>
            </a:r>
            <a:endParaRPr lang="zh-TW" altLang="zh-TW" sz="3200" b="1" kern="10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3" name="Freeform 7">
            <a:extLst>
              <a:ext uri="{FF2B5EF4-FFF2-40B4-BE49-F238E27FC236}">
                <a16:creationId xmlns:a16="http://schemas.microsoft.com/office/drawing/2014/main" id="{DF34B3BD-7789-0838-10E7-42752739E952}"/>
              </a:ext>
            </a:extLst>
          </p:cNvPr>
          <p:cNvSpPr/>
          <p:nvPr/>
        </p:nvSpPr>
        <p:spPr>
          <a:xfrm rot="2237146">
            <a:off x="13284880" y="809491"/>
            <a:ext cx="1643835" cy="1441969"/>
          </a:xfrm>
          <a:custGeom>
            <a:avLst/>
            <a:gdLst/>
            <a:ahLst/>
            <a:cxnLst/>
            <a:rect l="l" t="t" r="r" b="b"/>
            <a:pathLst>
              <a:path w="4459052" h="3210518">
                <a:moveTo>
                  <a:pt x="0" y="0"/>
                </a:moveTo>
                <a:lnTo>
                  <a:pt x="4459052" y="0"/>
                </a:lnTo>
                <a:lnTo>
                  <a:pt x="4459052" y="3210518"/>
                </a:lnTo>
                <a:lnTo>
                  <a:pt x="0" y="321051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47CCFAE-8E6E-286F-9ADD-74AB6E146C4A}"/>
              </a:ext>
            </a:extLst>
          </p:cNvPr>
          <p:cNvSpPr/>
          <p:nvPr/>
        </p:nvSpPr>
        <p:spPr>
          <a:xfrm>
            <a:off x="1447800" y="3041685"/>
            <a:ext cx="15632130" cy="14791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2.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小王子對於每一次飛行員畫的羊，都會說出自己的想法，請你參考小王子的回應，畫出飛行員畫給小王子的羊。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要用色鉛筆塗色呵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1FDB9DC-D8B4-E6F3-478A-832F4AF7D740}"/>
              </a:ext>
            </a:extLst>
          </p:cNvPr>
          <p:cNvSpPr/>
          <p:nvPr/>
        </p:nvSpPr>
        <p:spPr>
          <a:xfrm>
            <a:off x="10537432" y="4065878"/>
            <a:ext cx="389814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000" kern="100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筆記策略</a:t>
            </a:r>
            <a:endParaRPr lang="en-US" altLang="zh-TW" sz="2000" kern="100" dirty="0">
              <a:solidFill>
                <a:schemeClr val="accent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C441B987-1DCA-7B3B-7503-E5D2477D99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8671727"/>
              </p:ext>
            </p:extLst>
          </p:nvPr>
        </p:nvGraphicFramePr>
        <p:xfrm>
          <a:off x="1447798" y="4805003"/>
          <a:ext cx="15392400" cy="52584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47337">
                  <a:extLst>
                    <a:ext uri="{9D8B030D-6E8A-4147-A177-3AD203B41FA5}">
                      <a16:colId xmlns:a16="http://schemas.microsoft.com/office/drawing/2014/main" val="2714128557"/>
                    </a:ext>
                  </a:extLst>
                </a:gridCol>
                <a:gridCol w="3848863">
                  <a:extLst>
                    <a:ext uri="{9D8B030D-6E8A-4147-A177-3AD203B41FA5}">
                      <a16:colId xmlns:a16="http://schemas.microsoft.com/office/drawing/2014/main" val="232710959"/>
                    </a:ext>
                  </a:extLst>
                </a:gridCol>
                <a:gridCol w="3847337">
                  <a:extLst>
                    <a:ext uri="{9D8B030D-6E8A-4147-A177-3AD203B41FA5}">
                      <a16:colId xmlns:a16="http://schemas.microsoft.com/office/drawing/2014/main" val="909971816"/>
                    </a:ext>
                  </a:extLst>
                </a:gridCol>
                <a:gridCol w="3848863">
                  <a:extLst>
                    <a:ext uri="{9D8B030D-6E8A-4147-A177-3AD203B41FA5}">
                      <a16:colId xmlns:a16="http://schemas.microsoft.com/office/drawing/2014/main" val="428905778"/>
                    </a:ext>
                  </a:extLst>
                </a:gridCol>
              </a:tblGrid>
              <a:tr h="63498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3200" b="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小王子回應</a:t>
                      </a:r>
                      <a:r>
                        <a:rPr lang="en-US" sz="3200" b="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1</a:t>
                      </a:r>
                      <a:endParaRPr lang="zh-TW" sz="3200" b="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3200" b="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小王子回應</a:t>
                      </a:r>
                      <a:r>
                        <a:rPr lang="en-US" sz="3200" b="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</a:t>
                      </a:r>
                      <a:endParaRPr lang="zh-TW" sz="3200" b="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3200" b="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小王子回應</a:t>
                      </a:r>
                      <a:r>
                        <a:rPr lang="en-US" sz="3200" b="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3</a:t>
                      </a:r>
                      <a:endParaRPr lang="zh-TW" sz="3200" b="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3200" b="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小王子回應</a:t>
                      </a:r>
                      <a:r>
                        <a:rPr lang="en-US" sz="3200" b="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4</a:t>
                      </a:r>
                      <a:endParaRPr lang="zh-TW" sz="3200" b="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9956822"/>
                  </a:ext>
                </a:extLst>
              </a:tr>
              <a:tr h="19049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3200" b="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這隻太老，我希望</a:t>
                      </a:r>
                      <a:r>
                        <a:rPr lang="en-US" sz="3200" b="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……</a:t>
                      </a:r>
                      <a:endParaRPr lang="zh-TW" sz="3200" b="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3200" b="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這是已經長大的公羊，我想要</a:t>
                      </a:r>
                      <a:r>
                        <a:rPr lang="en-US" sz="3200" b="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……</a:t>
                      </a:r>
                      <a:endParaRPr lang="zh-TW" sz="3200" b="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3200" b="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這隻羊生病了，看起來沒什麼精神，</a:t>
                      </a:r>
                      <a:r>
                        <a:rPr lang="en-US" sz="3200" b="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……</a:t>
                      </a:r>
                      <a:endParaRPr lang="zh-TW" sz="3200" b="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b="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</a:t>
                      </a:r>
                      <a:r>
                        <a:rPr lang="zh-TW" sz="3200" b="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眼睛靠近箱子上的小洞</a:t>
                      </a:r>
                      <a:r>
                        <a:rPr lang="en-US" sz="3200" b="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)</a:t>
                      </a:r>
                      <a:r>
                        <a:rPr lang="zh-TW" sz="3200" b="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這隻羊太適合我了，</a:t>
                      </a:r>
                      <a:r>
                        <a:rPr lang="en-US" sz="3200" b="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……</a:t>
                      </a:r>
                      <a:endParaRPr lang="zh-TW" sz="3200" b="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2578390"/>
                  </a:ext>
                </a:extLst>
              </a:tr>
              <a:tr h="634982">
                <a:tc gridSpan="4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3200" b="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請你從小王子的回應想一想，畫出飛行員畫的小羊。</a:t>
                      </a:r>
                      <a:endParaRPr lang="zh-TW" sz="3200" b="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1892567"/>
                  </a:ext>
                </a:extLst>
              </a:tr>
              <a:tr h="20835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b="0" kern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 </a:t>
                      </a:r>
                      <a:endParaRPr lang="zh-TW" sz="3200" b="0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b="0" kern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 </a:t>
                      </a:r>
                      <a:endParaRPr lang="zh-TW" sz="3200" b="0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b="0" kern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 </a:t>
                      </a:r>
                      <a:endParaRPr lang="zh-TW" sz="3200" b="0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b="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 </a:t>
                      </a:r>
                      <a:endParaRPr lang="zh-TW" sz="3200" b="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03169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35075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C1D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32FBAA-A130-0887-7A29-EA20B68AA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3F424F5-A8CD-258C-E076-4F1309C21E86}"/>
              </a:ext>
            </a:extLst>
          </p:cNvPr>
          <p:cNvSpPr/>
          <p:nvPr/>
        </p:nvSpPr>
        <p:spPr>
          <a:xfrm rot="1721810">
            <a:off x="14451145" y="-2647218"/>
            <a:ext cx="4802903" cy="4331345"/>
          </a:xfrm>
          <a:custGeom>
            <a:avLst/>
            <a:gdLst/>
            <a:ahLst/>
            <a:cxnLst/>
            <a:rect l="l" t="t" r="r" b="b"/>
            <a:pathLst>
              <a:path w="4802903" h="4331345">
                <a:moveTo>
                  <a:pt x="0" y="0"/>
                </a:moveTo>
                <a:lnTo>
                  <a:pt x="4802903" y="0"/>
                </a:lnTo>
                <a:lnTo>
                  <a:pt x="4802903" y="4331346"/>
                </a:lnTo>
                <a:lnTo>
                  <a:pt x="0" y="43313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76C0B829-14FA-BAD9-AB7C-E93E0A2E5481}"/>
              </a:ext>
            </a:extLst>
          </p:cNvPr>
          <p:cNvSpPr/>
          <p:nvPr/>
        </p:nvSpPr>
        <p:spPr>
          <a:xfrm rot="-1283887">
            <a:off x="-3021977" y="6868896"/>
            <a:ext cx="5345015" cy="5747328"/>
          </a:xfrm>
          <a:custGeom>
            <a:avLst/>
            <a:gdLst/>
            <a:ahLst/>
            <a:cxnLst/>
            <a:rect l="l" t="t" r="r" b="b"/>
            <a:pathLst>
              <a:path w="5345015" h="5747328">
                <a:moveTo>
                  <a:pt x="0" y="0"/>
                </a:moveTo>
                <a:lnTo>
                  <a:pt x="5345015" y="0"/>
                </a:lnTo>
                <a:lnTo>
                  <a:pt x="5345015" y="5747327"/>
                </a:lnTo>
                <a:lnTo>
                  <a:pt x="0" y="57473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78E993A4-8674-5A92-72C2-91E51EC2DAD2}"/>
              </a:ext>
            </a:extLst>
          </p:cNvPr>
          <p:cNvSpPr/>
          <p:nvPr/>
        </p:nvSpPr>
        <p:spPr>
          <a:xfrm rot="-10800000">
            <a:off x="14818494" y="8989420"/>
            <a:ext cx="4505274" cy="3866345"/>
          </a:xfrm>
          <a:custGeom>
            <a:avLst/>
            <a:gdLst/>
            <a:ahLst/>
            <a:cxnLst/>
            <a:rect l="l" t="t" r="r" b="b"/>
            <a:pathLst>
              <a:path w="4505274" h="3866345">
                <a:moveTo>
                  <a:pt x="0" y="0"/>
                </a:moveTo>
                <a:lnTo>
                  <a:pt x="4505275" y="0"/>
                </a:lnTo>
                <a:lnTo>
                  <a:pt x="4505275" y="3866345"/>
                </a:lnTo>
                <a:lnTo>
                  <a:pt x="0" y="38663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4F03DA4B-508A-BC54-C421-2796D8BC44CB}"/>
              </a:ext>
            </a:extLst>
          </p:cNvPr>
          <p:cNvGrpSpPr/>
          <p:nvPr/>
        </p:nvGrpSpPr>
        <p:grpSpPr>
          <a:xfrm>
            <a:off x="4876800" y="952500"/>
            <a:ext cx="9056175" cy="1354417"/>
            <a:chOff x="4343400" y="1028700"/>
            <a:chExt cx="9056175" cy="1101452"/>
          </a:xfrm>
        </p:grpSpPr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C2091581-C472-4391-CAE7-717459139397}"/>
                </a:ext>
              </a:extLst>
            </p:cNvPr>
            <p:cNvGrpSpPr/>
            <p:nvPr/>
          </p:nvGrpSpPr>
          <p:grpSpPr>
            <a:xfrm>
              <a:off x="4343400" y="1028700"/>
              <a:ext cx="8749543" cy="1101452"/>
              <a:chOff x="0" y="0"/>
              <a:chExt cx="2156113" cy="1097141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48E611E7-3A31-9B61-A170-699E3FA1BC46}"/>
                  </a:ext>
                </a:extLst>
              </p:cNvPr>
              <p:cNvSpPr/>
              <p:nvPr/>
            </p:nvSpPr>
            <p:spPr>
              <a:xfrm>
                <a:off x="0" y="0"/>
                <a:ext cx="2156113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56113" h="1097141">
                    <a:moveTo>
                      <a:pt x="45127" y="0"/>
                    </a:moveTo>
                    <a:lnTo>
                      <a:pt x="2110986" y="0"/>
                    </a:lnTo>
                    <a:cubicBezTo>
                      <a:pt x="2135909" y="0"/>
                      <a:pt x="2156113" y="20204"/>
                      <a:pt x="2156113" y="45127"/>
                    </a:cubicBezTo>
                    <a:lnTo>
                      <a:pt x="2156113" y="1052015"/>
                    </a:lnTo>
                    <a:cubicBezTo>
                      <a:pt x="2156113" y="1063983"/>
                      <a:pt x="2151358" y="1075461"/>
                      <a:pt x="2142895" y="1083924"/>
                    </a:cubicBezTo>
                    <a:cubicBezTo>
                      <a:pt x="2134432" y="1092387"/>
                      <a:pt x="2122954" y="1097141"/>
                      <a:pt x="2110986" y="1097141"/>
                    </a:cubicBezTo>
                    <a:lnTo>
                      <a:pt x="45127" y="1097141"/>
                    </a:lnTo>
                    <a:cubicBezTo>
                      <a:pt x="33158" y="1097141"/>
                      <a:pt x="21680" y="1092387"/>
                      <a:pt x="13217" y="1083924"/>
                    </a:cubicBezTo>
                    <a:cubicBezTo>
                      <a:pt x="4754" y="1075461"/>
                      <a:pt x="0" y="1063983"/>
                      <a:pt x="0" y="1052015"/>
                    </a:cubicBezTo>
                    <a:lnTo>
                      <a:pt x="0" y="45127"/>
                    </a:lnTo>
                    <a:cubicBezTo>
                      <a:pt x="0" y="33158"/>
                      <a:pt x="4754" y="21680"/>
                      <a:pt x="13217" y="13217"/>
                    </a:cubicBezTo>
                    <a:cubicBezTo>
                      <a:pt x="21680" y="4754"/>
                      <a:pt x="33158" y="0"/>
                      <a:pt x="45127" y="0"/>
                    </a:cubicBezTo>
                    <a:close/>
                  </a:path>
                </a:pathLst>
              </a:custGeom>
              <a:solidFill>
                <a:srgbClr val="BCE1EB">
                  <a:alpha val="49804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" name="TextBox 7">
                <a:extLst>
                  <a:ext uri="{FF2B5EF4-FFF2-40B4-BE49-F238E27FC236}">
                    <a16:creationId xmlns:a16="http://schemas.microsoft.com/office/drawing/2014/main" id="{9D090AE2-CD4E-CA36-F67F-CAB82732C4DE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156113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8" name="Group 8">
              <a:extLst>
                <a:ext uri="{FF2B5EF4-FFF2-40B4-BE49-F238E27FC236}">
                  <a16:creationId xmlns:a16="http://schemas.microsoft.com/office/drawing/2014/main" id="{3D5F2B77-8229-9A0A-8177-97607D2D8CEB}"/>
                </a:ext>
              </a:extLst>
            </p:cNvPr>
            <p:cNvGrpSpPr/>
            <p:nvPr/>
          </p:nvGrpSpPr>
          <p:grpSpPr>
            <a:xfrm>
              <a:off x="4517223" y="1028700"/>
              <a:ext cx="8882352" cy="1101452"/>
              <a:chOff x="0" y="0"/>
              <a:chExt cx="2188840" cy="1097141"/>
            </a:xfrm>
          </p:grpSpPr>
          <p:sp>
            <p:nvSpPr>
              <p:cNvPr id="9" name="Freeform 9">
                <a:extLst>
                  <a:ext uri="{FF2B5EF4-FFF2-40B4-BE49-F238E27FC236}">
                    <a16:creationId xmlns:a16="http://schemas.microsoft.com/office/drawing/2014/main" id="{6B070A5A-030B-5BEC-A1FA-EA0A3C6CBC76}"/>
                  </a:ext>
                </a:extLst>
              </p:cNvPr>
              <p:cNvSpPr/>
              <p:nvPr/>
            </p:nvSpPr>
            <p:spPr>
              <a:xfrm>
                <a:off x="0" y="0"/>
                <a:ext cx="2188840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88840" h="1097141">
                    <a:moveTo>
                      <a:pt x="44452" y="0"/>
                    </a:moveTo>
                    <a:lnTo>
                      <a:pt x="2144388" y="0"/>
                    </a:lnTo>
                    <a:cubicBezTo>
                      <a:pt x="2156178" y="0"/>
                      <a:pt x="2167484" y="4683"/>
                      <a:pt x="2175820" y="13020"/>
                    </a:cubicBezTo>
                    <a:cubicBezTo>
                      <a:pt x="2184157" y="21356"/>
                      <a:pt x="2188840" y="32663"/>
                      <a:pt x="2188840" y="44452"/>
                    </a:cubicBezTo>
                    <a:lnTo>
                      <a:pt x="2188840" y="1052689"/>
                    </a:lnTo>
                    <a:cubicBezTo>
                      <a:pt x="2188840" y="1064479"/>
                      <a:pt x="2184157" y="1075785"/>
                      <a:pt x="2175820" y="1084122"/>
                    </a:cubicBezTo>
                    <a:cubicBezTo>
                      <a:pt x="2167484" y="1092458"/>
                      <a:pt x="2156178" y="1097141"/>
                      <a:pt x="2144388" y="1097141"/>
                    </a:cubicBezTo>
                    <a:lnTo>
                      <a:pt x="44452" y="1097141"/>
                    </a:lnTo>
                    <a:cubicBezTo>
                      <a:pt x="32663" y="1097141"/>
                      <a:pt x="21356" y="1092458"/>
                      <a:pt x="13020" y="1084122"/>
                    </a:cubicBezTo>
                    <a:cubicBezTo>
                      <a:pt x="4683" y="1075785"/>
                      <a:pt x="0" y="1064479"/>
                      <a:pt x="0" y="1052689"/>
                    </a:cubicBezTo>
                    <a:lnTo>
                      <a:pt x="0" y="44452"/>
                    </a:lnTo>
                    <a:cubicBezTo>
                      <a:pt x="0" y="32663"/>
                      <a:pt x="4683" y="21356"/>
                      <a:pt x="13020" y="13020"/>
                    </a:cubicBezTo>
                    <a:cubicBezTo>
                      <a:pt x="21356" y="4683"/>
                      <a:pt x="32663" y="0"/>
                      <a:pt x="44452" y="0"/>
                    </a:cubicBezTo>
                    <a:close/>
                  </a:path>
                </a:pathLst>
              </a:custGeom>
              <a:solidFill>
                <a:srgbClr val="BCE1EB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" name="TextBox 10">
                <a:extLst>
                  <a:ext uri="{FF2B5EF4-FFF2-40B4-BE49-F238E27FC236}">
                    <a16:creationId xmlns:a16="http://schemas.microsoft.com/office/drawing/2014/main" id="{6CDAF099-AFBC-4B73-1165-6F5F70AF24C6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188840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050375B2-7642-31BC-4250-73802C64BF90}"/>
              </a:ext>
            </a:extLst>
          </p:cNvPr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95DA400-14BD-B3B1-7A63-775EF392502B}"/>
              </a:ext>
            </a:extLst>
          </p:cNvPr>
          <p:cNvSpPr/>
          <p:nvPr/>
        </p:nvSpPr>
        <p:spPr>
          <a:xfrm>
            <a:off x="6129339" y="1176635"/>
            <a:ext cx="672491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★  文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本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閱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讀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理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解 ★</a:t>
            </a:r>
            <a:endParaRPr lang="zh-TW" altLang="zh-TW" sz="4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385CB65-D814-E780-542E-520B448BA4FC}"/>
              </a:ext>
            </a:extLst>
          </p:cNvPr>
          <p:cNvSpPr/>
          <p:nvPr/>
        </p:nvSpPr>
        <p:spPr>
          <a:xfrm>
            <a:off x="1447800" y="2708423"/>
            <a:ext cx="216116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★</a:t>
            </a:r>
            <a:r>
              <a:rPr lang="zh-TW" altLang="en-US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意義段二</a:t>
            </a:r>
            <a:endParaRPr lang="zh-TW" altLang="zh-TW" sz="3200" b="1" kern="10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3" name="Freeform 7">
            <a:extLst>
              <a:ext uri="{FF2B5EF4-FFF2-40B4-BE49-F238E27FC236}">
                <a16:creationId xmlns:a16="http://schemas.microsoft.com/office/drawing/2014/main" id="{16EEA018-F08C-BAF5-301F-23AB2477FEF0}"/>
              </a:ext>
            </a:extLst>
          </p:cNvPr>
          <p:cNvSpPr/>
          <p:nvPr/>
        </p:nvSpPr>
        <p:spPr>
          <a:xfrm rot="2237146">
            <a:off x="13284880" y="809491"/>
            <a:ext cx="1643835" cy="1441969"/>
          </a:xfrm>
          <a:custGeom>
            <a:avLst/>
            <a:gdLst/>
            <a:ahLst/>
            <a:cxnLst/>
            <a:rect l="l" t="t" r="r" b="b"/>
            <a:pathLst>
              <a:path w="4459052" h="3210518">
                <a:moveTo>
                  <a:pt x="0" y="0"/>
                </a:moveTo>
                <a:lnTo>
                  <a:pt x="4459052" y="0"/>
                </a:lnTo>
                <a:lnTo>
                  <a:pt x="4459052" y="3210518"/>
                </a:lnTo>
                <a:lnTo>
                  <a:pt x="0" y="321051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aphicFrame>
        <p:nvGraphicFramePr>
          <p:cNvPr id="25" name="表格 24">
            <a:extLst>
              <a:ext uri="{FF2B5EF4-FFF2-40B4-BE49-F238E27FC236}">
                <a16:creationId xmlns:a16="http://schemas.microsoft.com/office/drawing/2014/main" id="{C4140A86-5DCC-F1C2-E11D-17F701A0C1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2132448"/>
              </p:ext>
            </p:extLst>
          </p:nvPr>
        </p:nvGraphicFramePr>
        <p:xfrm>
          <a:off x="1221435" y="3918090"/>
          <a:ext cx="16060271" cy="3168587"/>
        </p:xfrm>
        <a:graphic>
          <a:graphicData uri="http://schemas.openxmlformats.org/drawingml/2006/table">
            <a:tbl>
              <a:tblPr firstRow="1" firstCol="1" bandRow="1"/>
              <a:tblGrid>
                <a:gridCol w="160602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TW" altLang="en-US" sz="4400" b="1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意義段二：</a:t>
                      </a: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TW" altLang="en-US" sz="4400" b="0" u="none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小王子請飛行員畫一隻給他，最後飛行員畫了一個</a:t>
                      </a:r>
                      <a:r>
                        <a:rPr lang="zh-TW" altLang="en-US" sz="4400" b="0" u="sng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                </a:t>
                      </a:r>
                      <a:r>
                        <a:rPr lang="zh-TW" altLang="en-US" sz="4400" b="0" u="none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，告訴小王子羊在裡面，小王子很滿意。</a:t>
                      </a: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" name="矩形 13">
            <a:extLst>
              <a:ext uri="{FF2B5EF4-FFF2-40B4-BE49-F238E27FC236}">
                <a16:creationId xmlns:a16="http://schemas.microsoft.com/office/drawing/2014/main" id="{86431AB2-5593-63F4-038A-FDA2718A5C79}"/>
              </a:ext>
            </a:extLst>
          </p:cNvPr>
          <p:cNvSpPr/>
          <p:nvPr/>
        </p:nvSpPr>
        <p:spPr>
          <a:xfrm>
            <a:off x="12192000" y="5143500"/>
            <a:ext cx="514229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4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寵物箱</a:t>
            </a:r>
          </a:p>
        </p:txBody>
      </p:sp>
    </p:spTree>
    <p:extLst>
      <p:ext uri="{BB962C8B-B14F-4D97-AF65-F5344CB8AC3E}">
        <p14:creationId xmlns:p14="http://schemas.microsoft.com/office/powerpoint/2010/main" val="3942759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C1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721810">
            <a:off x="14451145" y="-2647218"/>
            <a:ext cx="4802903" cy="4331345"/>
          </a:xfrm>
          <a:custGeom>
            <a:avLst/>
            <a:gdLst/>
            <a:ahLst/>
            <a:cxnLst/>
            <a:rect l="l" t="t" r="r" b="b"/>
            <a:pathLst>
              <a:path w="4802903" h="4331345">
                <a:moveTo>
                  <a:pt x="0" y="0"/>
                </a:moveTo>
                <a:lnTo>
                  <a:pt x="4802903" y="0"/>
                </a:lnTo>
                <a:lnTo>
                  <a:pt x="4802903" y="4331346"/>
                </a:lnTo>
                <a:lnTo>
                  <a:pt x="0" y="43313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/>
          <p:cNvSpPr/>
          <p:nvPr/>
        </p:nvSpPr>
        <p:spPr>
          <a:xfrm rot="-1283887">
            <a:off x="-3021977" y="6868896"/>
            <a:ext cx="5345015" cy="5747328"/>
          </a:xfrm>
          <a:custGeom>
            <a:avLst/>
            <a:gdLst/>
            <a:ahLst/>
            <a:cxnLst/>
            <a:rect l="l" t="t" r="r" b="b"/>
            <a:pathLst>
              <a:path w="5345015" h="5747328">
                <a:moveTo>
                  <a:pt x="0" y="0"/>
                </a:moveTo>
                <a:lnTo>
                  <a:pt x="5345015" y="0"/>
                </a:lnTo>
                <a:lnTo>
                  <a:pt x="5345015" y="5747327"/>
                </a:lnTo>
                <a:lnTo>
                  <a:pt x="0" y="57473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4" name="Freeform 4"/>
          <p:cNvSpPr/>
          <p:nvPr/>
        </p:nvSpPr>
        <p:spPr>
          <a:xfrm rot="-10800000">
            <a:off x="14818494" y="8989420"/>
            <a:ext cx="4505274" cy="3866345"/>
          </a:xfrm>
          <a:custGeom>
            <a:avLst/>
            <a:gdLst/>
            <a:ahLst/>
            <a:cxnLst/>
            <a:rect l="l" t="t" r="r" b="b"/>
            <a:pathLst>
              <a:path w="4505274" h="3866345">
                <a:moveTo>
                  <a:pt x="0" y="0"/>
                </a:moveTo>
                <a:lnTo>
                  <a:pt x="4505275" y="0"/>
                </a:lnTo>
                <a:lnTo>
                  <a:pt x="4505275" y="3866345"/>
                </a:lnTo>
                <a:lnTo>
                  <a:pt x="0" y="38663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12" name="群組 11"/>
          <p:cNvGrpSpPr/>
          <p:nvPr/>
        </p:nvGrpSpPr>
        <p:grpSpPr>
          <a:xfrm>
            <a:off x="4876800" y="952500"/>
            <a:ext cx="9056175" cy="1354417"/>
            <a:chOff x="4343400" y="1028700"/>
            <a:chExt cx="9056175" cy="1101452"/>
          </a:xfrm>
        </p:grpSpPr>
        <p:grpSp>
          <p:nvGrpSpPr>
            <p:cNvPr id="5" name="Group 5"/>
            <p:cNvGrpSpPr/>
            <p:nvPr/>
          </p:nvGrpSpPr>
          <p:grpSpPr>
            <a:xfrm>
              <a:off x="4343400" y="1028700"/>
              <a:ext cx="8749543" cy="1101452"/>
              <a:chOff x="0" y="0"/>
              <a:chExt cx="2156113" cy="109714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156113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56113" h="1097141">
                    <a:moveTo>
                      <a:pt x="45127" y="0"/>
                    </a:moveTo>
                    <a:lnTo>
                      <a:pt x="2110986" y="0"/>
                    </a:lnTo>
                    <a:cubicBezTo>
                      <a:pt x="2135909" y="0"/>
                      <a:pt x="2156113" y="20204"/>
                      <a:pt x="2156113" y="45127"/>
                    </a:cubicBezTo>
                    <a:lnTo>
                      <a:pt x="2156113" y="1052015"/>
                    </a:lnTo>
                    <a:cubicBezTo>
                      <a:pt x="2156113" y="1063983"/>
                      <a:pt x="2151358" y="1075461"/>
                      <a:pt x="2142895" y="1083924"/>
                    </a:cubicBezTo>
                    <a:cubicBezTo>
                      <a:pt x="2134432" y="1092387"/>
                      <a:pt x="2122954" y="1097141"/>
                      <a:pt x="2110986" y="1097141"/>
                    </a:cubicBezTo>
                    <a:lnTo>
                      <a:pt x="45127" y="1097141"/>
                    </a:lnTo>
                    <a:cubicBezTo>
                      <a:pt x="33158" y="1097141"/>
                      <a:pt x="21680" y="1092387"/>
                      <a:pt x="13217" y="1083924"/>
                    </a:cubicBezTo>
                    <a:cubicBezTo>
                      <a:pt x="4754" y="1075461"/>
                      <a:pt x="0" y="1063983"/>
                      <a:pt x="0" y="1052015"/>
                    </a:cubicBezTo>
                    <a:lnTo>
                      <a:pt x="0" y="45127"/>
                    </a:lnTo>
                    <a:cubicBezTo>
                      <a:pt x="0" y="33158"/>
                      <a:pt x="4754" y="21680"/>
                      <a:pt x="13217" y="13217"/>
                    </a:cubicBezTo>
                    <a:cubicBezTo>
                      <a:pt x="21680" y="4754"/>
                      <a:pt x="33158" y="0"/>
                      <a:pt x="45127" y="0"/>
                    </a:cubicBezTo>
                    <a:close/>
                  </a:path>
                </a:pathLst>
              </a:custGeom>
              <a:solidFill>
                <a:srgbClr val="BCE1EB">
                  <a:alpha val="49804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47625"/>
                <a:ext cx="2156113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>
              <a:off x="4517223" y="1028700"/>
              <a:ext cx="8882352" cy="1101452"/>
              <a:chOff x="0" y="0"/>
              <a:chExt cx="2188840" cy="1097141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2188840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88840" h="1097141">
                    <a:moveTo>
                      <a:pt x="44452" y="0"/>
                    </a:moveTo>
                    <a:lnTo>
                      <a:pt x="2144388" y="0"/>
                    </a:lnTo>
                    <a:cubicBezTo>
                      <a:pt x="2156178" y="0"/>
                      <a:pt x="2167484" y="4683"/>
                      <a:pt x="2175820" y="13020"/>
                    </a:cubicBezTo>
                    <a:cubicBezTo>
                      <a:pt x="2184157" y="21356"/>
                      <a:pt x="2188840" y="32663"/>
                      <a:pt x="2188840" y="44452"/>
                    </a:cubicBezTo>
                    <a:lnTo>
                      <a:pt x="2188840" y="1052689"/>
                    </a:lnTo>
                    <a:cubicBezTo>
                      <a:pt x="2188840" y="1064479"/>
                      <a:pt x="2184157" y="1075785"/>
                      <a:pt x="2175820" y="1084122"/>
                    </a:cubicBezTo>
                    <a:cubicBezTo>
                      <a:pt x="2167484" y="1092458"/>
                      <a:pt x="2156178" y="1097141"/>
                      <a:pt x="2144388" y="1097141"/>
                    </a:cubicBezTo>
                    <a:lnTo>
                      <a:pt x="44452" y="1097141"/>
                    </a:lnTo>
                    <a:cubicBezTo>
                      <a:pt x="32663" y="1097141"/>
                      <a:pt x="21356" y="1092458"/>
                      <a:pt x="13020" y="1084122"/>
                    </a:cubicBezTo>
                    <a:cubicBezTo>
                      <a:pt x="4683" y="1075785"/>
                      <a:pt x="0" y="1064479"/>
                      <a:pt x="0" y="1052689"/>
                    </a:cubicBezTo>
                    <a:lnTo>
                      <a:pt x="0" y="44452"/>
                    </a:lnTo>
                    <a:cubicBezTo>
                      <a:pt x="0" y="32663"/>
                      <a:pt x="4683" y="21356"/>
                      <a:pt x="13020" y="13020"/>
                    </a:cubicBezTo>
                    <a:cubicBezTo>
                      <a:pt x="21356" y="4683"/>
                      <a:pt x="32663" y="0"/>
                      <a:pt x="44452" y="0"/>
                    </a:cubicBezTo>
                    <a:close/>
                  </a:path>
                </a:pathLst>
              </a:custGeom>
              <a:solidFill>
                <a:srgbClr val="BCE1EB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-47625"/>
                <a:ext cx="2188840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1" name="Freeform 11"/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3" name="矩形 12"/>
          <p:cNvSpPr/>
          <p:nvPr/>
        </p:nvSpPr>
        <p:spPr>
          <a:xfrm>
            <a:off x="6129339" y="1176635"/>
            <a:ext cx="672491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★  文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本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閱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讀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理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解 ★</a:t>
            </a:r>
            <a:endParaRPr lang="zh-TW" altLang="zh-TW" sz="4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447800" y="2708423"/>
            <a:ext cx="216116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★</a:t>
            </a:r>
            <a:r>
              <a:rPr lang="zh-TW" altLang="en-US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意義段三</a:t>
            </a:r>
            <a:endParaRPr lang="zh-TW" altLang="zh-TW" sz="3200" b="1" kern="10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3" name="Freeform 7"/>
          <p:cNvSpPr/>
          <p:nvPr/>
        </p:nvSpPr>
        <p:spPr>
          <a:xfrm rot="2237146">
            <a:off x="13284880" y="809491"/>
            <a:ext cx="1643835" cy="1441969"/>
          </a:xfrm>
          <a:custGeom>
            <a:avLst/>
            <a:gdLst/>
            <a:ahLst/>
            <a:cxnLst/>
            <a:rect l="l" t="t" r="r" b="b"/>
            <a:pathLst>
              <a:path w="4459052" h="3210518">
                <a:moveTo>
                  <a:pt x="0" y="0"/>
                </a:moveTo>
                <a:lnTo>
                  <a:pt x="4459052" y="0"/>
                </a:lnTo>
                <a:lnTo>
                  <a:pt x="4459052" y="3210518"/>
                </a:lnTo>
                <a:lnTo>
                  <a:pt x="0" y="321051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4" name="矩形 23"/>
          <p:cNvSpPr/>
          <p:nvPr/>
        </p:nvSpPr>
        <p:spPr>
          <a:xfrm>
            <a:off x="1447800" y="3381063"/>
            <a:ext cx="10339690" cy="14791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最後飛行員說自己用手畫畫，小王子是如何看畫的？</a:t>
            </a:r>
            <a:b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小王子</a:t>
            </a:r>
            <a:r>
              <a:rPr lang="zh-TW" altLang="en-US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         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，了不起。</a:t>
            </a:r>
            <a:endParaRPr lang="en-US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1507179" y="3620047"/>
            <a:ext cx="556395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000" kern="100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自我提問策略</a:t>
            </a:r>
            <a:endParaRPr lang="zh-TW" altLang="en-US" sz="2000" dirty="0">
              <a:solidFill>
                <a:schemeClr val="accent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3352800" y="4228484"/>
            <a:ext cx="8001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用心看畫</a:t>
            </a:r>
          </a:p>
        </p:txBody>
      </p:sp>
      <p:graphicFrame>
        <p:nvGraphicFramePr>
          <p:cNvPr id="36" name="表格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4067655"/>
              </p:ext>
            </p:extLst>
          </p:nvPr>
        </p:nvGraphicFramePr>
        <p:xfrm>
          <a:off x="1447800" y="5369972"/>
          <a:ext cx="16224722" cy="1888427"/>
        </p:xfrm>
        <a:graphic>
          <a:graphicData uri="http://schemas.openxmlformats.org/drawingml/2006/table">
            <a:tbl>
              <a:tblPr firstRow="1" firstCol="1" bandRow="1"/>
              <a:tblGrid>
                <a:gridCol w="16224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6399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TW" altLang="en-US" sz="4400" b="1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意義段三 ：</a:t>
                      </a: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TW" altLang="en-US" sz="4400" b="0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飛行員稱讚小王子能用心看畫。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0739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198094" y="-325777"/>
            <a:ext cx="5910568" cy="4723539"/>
          </a:xfrm>
          <a:custGeom>
            <a:avLst/>
            <a:gdLst/>
            <a:ahLst/>
            <a:cxnLst/>
            <a:rect l="l" t="t" r="r" b="b"/>
            <a:pathLst>
              <a:path w="8015757" h="6878977">
                <a:moveTo>
                  <a:pt x="0" y="0"/>
                </a:moveTo>
                <a:lnTo>
                  <a:pt x="8015758" y="0"/>
                </a:lnTo>
                <a:lnTo>
                  <a:pt x="8015758" y="6878977"/>
                </a:lnTo>
                <a:lnTo>
                  <a:pt x="0" y="68789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18" name="群組 17"/>
          <p:cNvGrpSpPr/>
          <p:nvPr/>
        </p:nvGrpSpPr>
        <p:grpSpPr>
          <a:xfrm>
            <a:off x="5257800" y="647701"/>
            <a:ext cx="9016633" cy="1524000"/>
            <a:chOff x="9677400" y="2520481"/>
            <a:chExt cx="7037093" cy="2057759"/>
          </a:xfrm>
        </p:grpSpPr>
        <p:grpSp>
          <p:nvGrpSpPr>
            <p:cNvPr id="10" name="Group 10"/>
            <p:cNvGrpSpPr/>
            <p:nvPr/>
          </p:nvGrpSpPr>
          <p:grpSpPr>
            <a:xfrm>
              <a:off x="9677400" y="2520481"/>
              <a:ext cx="6808493" cy="2057759"/>
              <a:chOff x="0" y="0"/>
              <a:chExt cx="6301692" cy="1904587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6301692" cy="1904587"/>
              </a:xfrm>
              <a:custGeom>
                <a:avLst/>
                <a:gdLst/>
                <a:ahLst/>
                <a:cxnLst/>
                <a:rect l="l" t="t" r="r" b="b"/>
                <a:pathLst>
                  <a:path w="6301692" h="1904587">
                    <a:moveTo>
                      <a:pt x="57992" y="0"/>
                    </a:moveTo>
                    <a:lnTo>
                      <a:pt x="6243700" y="0"/>
                    </a:lnTo>
                    <a:cubicBezTo>
                      <a:pt x="6275728" y="0"/>
                      <a:pt x="6301692" y="25964"/>
                      <a:pt x="6301692" y="57992"/>
                    </a:cubicBezTo>
                    <a:lnTo>
                      <a:pt x="6301692" y="1846595"/>
                    </a:lnTo>
                    <a:cubicBezTo>
                      <a:pt x="6301692" y="1878623"/>
                      <a:pt x="6275728" y="1904587"/>
                      <a:pt x="6243700" y="1904587"/>
                    </a:cubicBezTo>
                    <a:lnTo>
                      <a:pt x="57992" y="1904587"/>
                    </a:lnTo>
                    <a:cubicBezTo>
                      <a:pt x="25964" y="1904587"/>
                      <a:pt x="0" y="1878623"/>
                      <a:pt x="0" y="1846595"/>
                    </a:cubicBezTo>
                    <a:lnTo>
                      <a:pt x="0" y="57992"/>
                    </a:lnTo>
                    <a:cubicBezTo>
                      <a:pt x="0" y="25964"/>
                      <a:pt x="25964" y="0"/>
                      <a:pt x="57992" y="0"/>
                    </a:cubicBezTo>
                    <a:close/>
                  </a:path>
                </a:pathLst>
              </a:custGeom>
              <a:solidFill>
                <a:srgbClr val="D67E7E">
                  <a:alpha val="49804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-47625"/>
                <a:ext cx="6301692" cy="19522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9906000" y="2520481"/>
              <a:ext cx="6808493" cy="2057759"/>
              <a:chOff x="0" y="0"/>
              <a:chExt cx="6301692" cy="1904587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6301692" cy="1904587"/>
              </a:xfrm>
              <a:custGeom>
                <a:avLst/>
                <a:gdLst/>
                <a:ahLst/>
                <a:cxnLst/>
                <a:rect l="l" t="t" r="r" b="b"/>
                <a:pathLst>
                  <a:path w="6301692" h="1904587">
                    <a:moveTo>
                      <a:pt x="57992" y="0"/>
                    </a:moveTo>
                    <a:lnTo>
                      <a:pt x="6243700" y="0"/>
                    </a:lnTo>
                    <a:cubicBezTo>
                      <a:pt x="6275728" y="0"/>
                      <a:pt x="6301692" y="25964"/>
                      <a:pt x="6301692" y="57992"/>
                    </a:cubicBezTo>
                    <a:lnTo>
                      <a:pt x="6301692" y="1846595"/>
                    </a:lnTo>
                    <a:cubicBezTo>
                      <a:pt x="6301692" y="1878623"/>
                      <a:pt x="6275728" y="1904587"/>
                      <a:pt x="6243700" y="1904587"/>
                    </a:cubicBezTo>
                    <a:lnTo>
                      <a:pt x="57992" y="1904587"/>
                    </a:lnTo>
                    <a:cubicBezTo>
                      <a:pt x="25964" y="1904587"/>
                      <a:pt x="0" y="1878623"/>
                      <a:pt x="0" y="1846595"/>
                    </a:cubicBezTo>
                    <a:lnTo>
                      <a:pt x="0" y="57992"/>
                    </a:lnTo>
                    <a:cubicBezTo>
                      <a:pt x="0" y="25964"/>
                      <a:pt x="25964" y="0"/>
                      <a:pt x="57992" y="0"/>
                    </a:cubicBezTo>
                    <a:close/>
                  </a:path>
                </a:pathLst>
              </a:custGeom>
              <a:solidFill>
                <a:srgbClr val="D67E7E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47625"/>
                <a:ext cx="6301692" cy="19522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6" name="Freeform 16"/>
          <p:cNvSpPr/>
          <p:nvPr/>
        </p:nvSpPr>
        <p:spPr>
          <a:xfrm rot="1721810">
            <a:off x="-2668664" y="-3034820"/>
            <a:ext cx="6061775" cy="5466619"/>
          </a:xfrm>
          <a:custGeom>
            <a:avLst/>
            <a:gdLst/>
            <a:ahLst/>
            <a:cxnLst/>
            <a:rect l="l" t="t" r="r" b="b"/>
            <a:pathLst>
              <a:path w="6061775" h="5466619">
                <a:moveTo>
                  <a:pt x="0" y="0"/>
                </a:moveTo>
                <a:lnTo>
                  <a:pt x="6061775" y="0"/>
                </a:lnTo>
                <a:lnTo>
                  <a:pt x="6061775" y="5466619"/>
                </a:lnTo>
                <a:lnTo>
                  <a:pt x="0" y="546661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7" name="Freeform 17"/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9" name="矩形 18"/>
          <p:cNvSpPr/>
          <p:nvPr/>
        </p:nvSpPr>
        <p:spPr>
          <a:xfrm>
            <a:off x="7399701" y="1002244"/>
            <a:ext cx="5025735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★  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挑 戰 全 文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★</a:t>
            </a:r>
            <a:endParaRPr lang="zh-TW" altLang="zh-TW" sz="4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449043" y="2764982"/>
            <a:ext cx="15389914" cy="51844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飛行員畫了一幅看起來很像帽子的圖畫，你認同小王子所說的嗎？為什麼？</a:t>
            </a:r>
            <a:b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❶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認同嗎？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b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❷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為什麼？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                                                               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請發揮想像力，你覺得飛行員的這幅畫畫的是什麼？</a:t>
            </a:r>
            <a:b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請說出自己的想法或理由。</a:t>
            </a:r>
            <a:b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❶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是什麼？</a:t>
            </a:r>
            <a:b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❷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自己的想法？</a:t>
            </a:r>
            <a:endParaRPr lang="en-US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9" name="向右箭號 8">
            <a:extLst>
              <a:ext uri="{FF2B5EF4-FFF2-40B4-BE49-F238E27FC236}">
                <a16:creationId xmlns:a16="http://schemas.microsoft.com/office/drawing/2014/main" id="{8AC2F197-BCF0-39EF-B8E6-699A30CAA6D8}"/>
              </a:ext>
            </a:extLst>
          </p:cNvPr>
          <p:cNvSpPr/>
          <p:nvPr/>
        </p:nvSpPr>
        <p:spPr>
          <a:xfrm>
            <a:off x="5482273" y="12670310"/>
            <a:ext cx="422361" cy="494561"/>
          </a:xfrm>
          <a:prstGeom prst="rightArrow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8FD8A16-BDCA-4E98-E612-69CBCC0024F7}"/>
              </a:ext>
            </a:extLst>
          </p:cNvPr>
          <p:cNvSpPr/>
          <p:nvPr/>
        </p:nvSpPr>
        <p:spPr>
          <a:xfrm>
            <a:off x="15506024" y="3009900"/>
            <a:ext cx="556395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000" kern="100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讀者觀點</a:t>
            </a:r>
            <a:endParaRPr lang="zh-TW" altLang="en-US" sz="2000" dirty="0">
              <a:solidFill>
                <a:schemeClr val="accent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68A3ADE-4F10-E4AE-728D-668DAE4EF559}"/>
              </a:ext>
            </a:extLst>
          </p:cNvPr>
          <p:cNvSpPr/>
          <p:nvPr/>
        </p:nvSpPr>
        <p:spPr>
          <a:xfrm>
            <a:off x="7010400" y="5940909"/>
            <a:ext cx="556395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000" kern="100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讀者觀點</a:t>
            </a:r>
            <a:endParaRPr lang="zh-TW" altLang="en-US" sz="2000" dirty="0">
              <a:solidFill>
                <a:schemeClr val="accent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6F6E8950-B470-77C2-CD35-D89946087E13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74352" y="5262460"/>
            <a:ext cx="5151842" cy="4379379"/>
          </a:xfrm>
          <a:prstGeom prst="rect">
            <a:avLst/>
          </a:prstGeom>
        </p:spPr>
      </p:pic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A30E9707-1FED-A053-6195-E44EB81A6D5A}"/>
              </a:ext>
            </a:extLst>
          </p:cNvPr>
          <p:cNvCxnSpPr>
            <a:cxnSpLocks/>
          </p:cNvCxnSpPr>
          <p:nvPr/>
        </p:nvCxnSpPr>
        <p:spPr>
          <a:xfrm>
            <a:off x="4334965" y="4112109"/>
            <a:ext cx="1105743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118DF386-F197-4551-0579-61FA6621ABF2}"/>
              </a:ext>
            </a:extLst>
          </p:cNvPr>
          <p:cNvCxnSpPr>
            <a:cxnSpLocks/>
          </p:cNvCxnSpPr>
          <p:nvPr/>
        </p:nvCxnSpPr>
        <p:spPr>
          <a:xfrm>
            <a:off x="4333303" y="4857847"/>
            <a:ext cx="1105743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C223F6EF-5D39-0E5D-782A-8AF792331A00}"/>
              </a:ext>
            </a:extLst>
          </p:cNvPr>
          <p:cNvCxnSpPr>
            <a:cxnSpLocks/>
          </p:cNvCxnSpPr>
          <p:nvPr/>
        </p:nvCxnSpPr>
        <p:spPr>
          <a:xfrm>
            <a:off x="4333303" y="7083909"/>
            <a:ext cx="778249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802D3551-8782-C7D0-7417-817085EB9583}"/>
              </a:ext>
            </a:extLst>
          </p:cNvPr>
          <p:cNvCxnSpPr>
            <a:cxnSpLocks/>
          </p:cNvCxnSpPr>
          <p:nvPr/>
        </p:nvCxnSpPr>
        <p:spPr>
          <a:xfrm>
            <a:off x="5029200" y="7829647"/>
            <a:ext cx="70866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CE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283887">
            <a:off x="-1943197" y="5287779"/>
            <a:ext cx="4826491" cy="5189775"/>
          </a:xfrm>
          <a:custGeom>
            <a:avLst/>
            <a:gdLst/>
            <a:ahLst/>
            <a:cxnLst/>
            <a:rect l="l" t="t" r="r" b="b"/>
            <a:pathLst>
              <a:path w="4826491" h="5189775">
                <a:moveTo>
                  <a:pt x="0" y="0"/>
                </a:moveTo>
                <a:lnTo>
                  <a:pt x="4826491" y="0"/>
                </a:lnTo>
                <a:lnTo>
                  <a:pt x="4826491" y="5189775"/>
                </a:lnTo>
                <a:lnTo>
                  <a:pt x="0" y="51897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5" name="Freeform 15"/>
          <p:cNvSpPr/>
          <p:nvPr/>
        </p:nvSpPr>
        <p:spPr>
          <a:xfrm rot="1721810">
            <a:off x="14757223" y="-765765"/>
            <a:ext cx="3979661" cy="3588931"/>
          </a:xfrm>
          <a:custGeom>
            <a:avLst/>
            <a:gdLst/>
            <a:ahLst/>
            <a:cxnLst/>
            <a:rect l="l" t="t" r="r" b="b"/>
            <a:pathLst>
              <a:path w="3979661" h="3588931">
                <a:moveTo>
                  <a:pt x="0" y="0"/>
                </a:moveTo>
                <a:lnTo>
                  <a:pt x="3979661" y="0"/>
                </a:lnTo>
                <a:lnTo>
                  <a:pt x="3979661" y="3588930"/>
                </a:lnTo>
                <a:lnTo>
                  <a:pt x="0" y="35889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6" name="Freeform 16"/>
          <p:cNvSpPr/>
          <p:nvPr/>
        </p:nvSpPr>
        <p:spPr>
          <a:xfrm>
            <a:off x="3860710" y="-1729344"/>
            <a:ext cx="3213823" cy="2758044"/>
          </a:xfrm>
          <a:custGeom>
            <a:avLst/>
            <a:gdLst/>
            <a:ahLst/>
            <a:cxnLst/>
            <a:rect l="l" t="t" r="r" b="b"/>
            <a:pathLst>
              <a:path w="3213823" h="2758044">
                <a:moveTo>
                  <a:pt x="0" y="0"/>
                </a:moveTo>
                <a:lnTo>
                  <a:pt x="3213822" y="0"/>
                </a:lnTo>
                <a:lnTo>
                  <a:pt x="3213822" y="2758044"/>
                </a:lnTo>
                <a:lnTo>
                  <a:pt x="0" y="27580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7" name="Freeform 17"/>
          <p:cNvSpPr/>
          <p:nvPr/>
        </p:nvSpPr>
        <p:spPr>
          <a:xfrm>
            <a:off x="12172156" y="9258300"/>
            <a:ext cx="3213823" cy="2758044"/>
          </a:xfrm>
          <a:custGeom>
            <a:avLst/>
            <a:gdLst/>
            <a:ahLst/>
            <a:cxnLst/>
            <a:rect l="l" t="t" r="r" b="b"/>
            <a:pathLst>
              <a:path w="3213823" h="2758044">
                <a:moveTo>
                  <a:pt x="0" y="0"/>
                </a:moveTo>
                <a:lnTo>
                  <a:pt x="3213823" y="0"/>
                </a:lnTo>
                <a:lnTo>
                  <a:pt x="3213823" y="2758044"/>
                </a:lnTo>
                <a:lnTo>
                  <a:pt x="0" y="27580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8" name="Freeform 18"/>
          <p:cNvSpPr/>
          <p:nvPr/>
        </p:nvSpPr>
        <p:spPr>
          <a:xfrm>
            <a:off x="14139970" y="5600700"/>
            <a:ext cx="3878036" cy="4686300"/>
          </a:xfrm>
          <a:custGeom>
            <a:avLst/>
            <a:gdLst/>
            <a:ahLst/>
            <a:cxnLst/>
            <a:rect l="l" t="t" r="r" b="b"/>
            <a:pathLst>
              <a:path w="5308092" h="8229600">
                <a:moveTo>
                  <a:pt x="0" y="0"/>
                </a:moveTo>
                <a:lnTo>
                  <a:pt x="5308092" y="0"/>
                </a:lnTo>
                <a:lnTo>
                  <a:pt x="530809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9" name="Freeform 19"/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3" name="矩形 22"/>
          <p:cNvSpPr/>
          <p:nvPr/>
        </p:nvSpPr>
        <p:spPr>
          <a:xfrm>
            <a:off x="1255462" y="3808331"/>
            <a:ext cx="160020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9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本課閱讀理解提問單</a:t>
            </a:r>
            <a:endParaRPr lang="en-US" altLang="zh-TW" sz="9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9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學習完畢</a:t>
            </a:r>
            <a:r>
              <a:rPr lang="en-US" altLang="zh-TW" sz="9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!</a:t>
            </a:r>
            <a:endParaRPr lang="zh-TW" altLang="en-US" sz="9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1006</TotalTime>
  <Words>1019</Words>
  <Application>Microsoft Macintosh PowerPoint</Application>
  <PresentationFormat>自訂</PresentationFormat>
  <Paragraphs>114</Paragraphs>
  <Slides>13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20" baseType="lpstr">
      <vt:lpstr>微軟正黑體</vt:lpstr>
      <vt:lpstr>Arial</vt:lpstr>
      <vt:lpstr>王漢宗特黑體</vt:lpstr>
      <vt:lpstr>微軟正黑體</vt:lpstr>
      <vt:lpstr>Calibri</vt:lpstr>
      <vt:lpstr>標楷體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趙曼貽</dc:creator>
  <cp:lastModifiedBy>綺雯 林</cp:lastModifiedBy>
  <cp:revision>123</cp:revision>
  <dcterms:created xsi:type="dcterms:W3CDTF">2006-08-16T00:00:00Z</dcterms:created>
  <dcterms:modified xsi:type="dcterms:W3CDTF">2025-10-05T15:02:45Z</dcterms:modified>
  <dc:identifier>DAGWD1Ntyd0</dc:identifier>
</cp:coreProperties>
</file>