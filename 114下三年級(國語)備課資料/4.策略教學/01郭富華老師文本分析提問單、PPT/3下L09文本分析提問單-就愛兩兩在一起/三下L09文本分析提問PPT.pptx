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74" r:id="rId5"/>
    <p:sldId id="269" r:id="rId6"/>
    <p:sldId id="275" r:id="rId7"/>
    <p:sldId id="276" r:id="rId8"/>
    <p:sldId id="277" r:id="rId9"/>
    <p:sldId id="272" r:id="rId10"/>
    <p:sldId id="259" r:id="rId11"/>
    <p:sldId id="266" r:id="rId12"/>
  </p:sldIdLst>
  <p:sldSz cx="18288000" cy="10287000"/>
  <p:notesSz cx="6858000" cy="9144000"/>
  <p:embeddedFontLst>
    <p:embeddedFont>
      <p:font typeface="王漢宗特黑體" panose="02000500000000000000" pitchFamily="2" charset="-120"/>
      <p:regular r:id="rId14"/>
    </p:embeddedFont>
    <p:embeddedFont>
      <p:font typeface="微軟正黑體" panose="020B0604030504040204" pitchFamily="34" charset="-120"/>
      <p:regular r:id="rId15"/>
      <p:bold r:id="rId16"/>
    </p:embeddedFont>
    <p:embeddedFont>
      <p:font typeface="微軟正黑體" panose="020B0604030504040204" pitchFamily="34" charset="-120"/>
      <p:regular r:id="rId15"/>
      <p:bold r:id="rId16"/>
    </p:embeddedFont>
    <p:embeddedFont>
      <p:font typeface="標楷體" panose="03000509000000000000" pitchFamily="49" charset="-12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2C7"/>
    <a:srgbClr val="CCC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9" autoAdjust="0"/>
    <p:restoredTop sz="94624" autoAdjust="0"/>
  </p:normalViewPr>
  <p:slideViewPr>
    <p:cSldViewPr>
      <p:cViewPr varScale="1">
        <p:scale>
          <a:sx n="54" d="100"/>
          <a:sy n="54" d="100"/>
        </p:scale>
        <p:origin x="736" y="8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hyperlink" Target="https://www.youtube.com/watch?v=GVQMgjUsD6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177854" y="5582739"/>
            <a:ext cx="133602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L09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就愛兩兩在一起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76400" y="3327158"/>
            <a:ext cx="8090676" cy="2217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生活中有哪些物品是需要成雙成對出現？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spcAft>
                <a:spcPts val="0"/>
              </a:spcAft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把你從影片中讀到的訊息記下來。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18018" y="2181419"/>
            <a:ext cx="17123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</a:t>
            </a: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endParaRPr lang="zh-TW" altLang="zh-TW" sz="28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830346" y="2258363"/>
            <a:ext cx="5796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hlinkClick r:id="rId7"/>
              </a:rPr>
              <a:t>https://www.youtube.com/watch?v=GVQMgjUsD64</a:t>
            </a:r>
            <a:endParaRPr lang="zh-TW" altLang="en-US" dirty="0"/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560682" y="2161778"/>
            <a:ext cx="557336" cy="557336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C7B5E84-D435-E43F-ACD9-596E57B053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989" y="1122095"/>
            <a:ext cx="1556298" cy="1542245"/>
          </a:xfrm>
          <a:prstGeom prst="rect">
            <a:avLst/>
          </a:prstGeom>
        </p:spPr>
      </p:pic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055A53F-A9C3-1CE1-23EF-633B17C0CB8E}"/>
              </a:ext>
            </a:extLst>
          </p:cNvPr>
          <p:cNvCxnSpPr>
            <a:cxnSpLocks/>
          </p:cNvCxnSpPr>
          <p:nvPr/>
        </p:nvCxnSpPr>
        <p:spPr>
          <a:xfrm>
            <a:off x="2265107" y="4757814"/>
            <a:ext cx="10134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432654B-F0EF-AD7B-3E30-0355C8ADCCFB}"/>
              </a:ext>
            </a:extLst>
          </p:cNvPr>
          <p:cNvSpPr/>
          <p:nvPr/>
        </p:nvSpPr>
        <p:spPr>
          <a:xfrm>
            <a:off x="2194120" y="4161405"/>
            <a:ext cx="75729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襪子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鞋子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手套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學生依經驗回答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09DE86-8CCC-22F3-8E90-A55227DD48EB}"/>
              </a:ext>
            </a:extLst>
          </p:cNvPr>
          <p:cNvSpPr/>
          <p:nvPr/>
        </p:nvSpPr>
        <p:spPr>
          <a:xfrm>
            <a:off x="1676400" y="5746516"/>
            <a:ext cx="13335000" cy="3540041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5542194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28729" y="2704007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3823039"/>
            <a:ext cx="15315294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請以「交」為部件，加上偏旁形成另一個新字後，再造一個詞。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請小心造詞，因為最後是使用你造的詞來造長句喔！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159B49-469A-62DF-479F-6C2FBEABB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05625"/>
              </p:ext>
            </p:extLst>
          </p:nvPr>
        </p:nvGraphicFramePr>
        <p:xfrm>
          <a:off x="2183754" y="5629576"/>
          <a:ext cx="15315293" cy="3918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1403">
                  <a:extLst>
                    <a:ext uri="{9D8B030D-6E8A-4147-A177-3AD203B41FA5}">
                      <a16:colId xmlns:a16="http://schemas.microsoft.com/office/drawing/2014/main" val="4227290386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1199907279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2526551720"/>
                    </a:ext>
                  </a:extLst>
                </a:gridCol>
                <a:gridCol w="8131164">
                  <a:extLst>
                    <a:ext uri="{9D8B030D-6E8A-4147-A177-3AD203B41FA5}">
                      <a16:colId xmlns:a16="http://schemas.microsoft.com/office/drawing/2014/main" val="1713945109"/>
                    </a:ext>
                  </a:extLst>
                </a:gridCol>
              </a:tblGrid>
              <a:tr h="133251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部件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加偏旁成新字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注音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造詞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句中放入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並加入想像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情境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，最後也要加入自己的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感受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，成為完整一小段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128580"/>
                  </a:ext>
                </a:extLst>
              </a:tr>
              <a:tr h="1292777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交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68531"/>
                  </a:ext>
                </a:extLst>
              </a:tr>
              <a:tr h="12927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920869"/>
                  </a:ext>
                </a:extLst>
              </a:tr>
            </a:tbl>
          </a:graphicData>
        </a:graphic>
      </p:graphicFrame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C946FF2-70E8-EB66-089A-C7F21CA6E501}"/>
              </a:ext>
            </a:extLst>
          </p:cNvPr>
          <p:cNvCxnSpPr>
            <a:cxnSpLocks/>
          </p:cNvCxnSpPr>
          <p:nvPr/>
        </p:nvCxnSpPr>
        <p:spPr>
          <a:xfrm>
            <a:off x="9677400" y="7581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E78C2AF-B619-7EBA-47F5-0D9A9D7BFAF8}"/>
              </a:ext>
            </a:extLst>
          </p:cNvPr>
          <p:cNvCxnSpPr>
            <a:cxnSpLocks/>
          </p:cNvCxnSpPr>
          <p:nvPr/>
        </p:nvCxnSpPr>
        <p:spPr>
          <a:xfrm>
            <a:off x="9677400" y="8343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3DC4F53-A7E5-1AC7-989F-10CF60CBF444}"/>
              </a:ext>
            </a:extLst>
          </p:cNvPr>
          <p:cNvCxnSpPr>
            <a:cxnSpLocks/>
          </p:cNvCxnSpPr>
          <p:nvPr/>
        </p:nvCxnSpPr>
        <p:spPr>
          <a:xfrm>
            <a:off x="9677400" y="90297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89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2000" y="2741692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040751" y="4664214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說明文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A7FBB223-29C5-A110-9736-920F3F883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589140"/>
              </p:ext>
            </p:extLst>
          </p:nvPr>
        </p:nvGraphicFramePr>
        <p:xfrm>
          <a:off x="2535734" y="5656134"/>
          <a:ext cx="15218866" cy="3688749"/>
        </p:xfrm>
        <a:graphic>
          <a:graphicData uri="http://schemas.openxmlformats.org/drawingml/2006/table">
            <a:tbl>
              <a:tblPr firstRow="1" firstCol="1" bandRow="1"/>
              <a:tblGrid>
                <a:gridCol w="172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2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2632">
                  <a:extLst>
                    <a:ext uri="{9D8B030D-6E8A-4147-A177-3AD203B41FA5}">
                      <a16:colId xmlns:a16="http://schemas.microsoft.com/office/drawing/2014/main" val="2549719967"/>
                    </a:ext>
                  </a:extLst>
                </a:gridCol>
              </a:tblGrid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架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總說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分說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總結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一、筷子是生活用品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</a:t>
                      </a:r>
                      <a:r>
                        <a:rPr lang="zh-TW" altLang="en-US" sz="3200" b="1" u="sng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中</a:t>
                      </a:r>
                      <a:r>
                        <a:rPr lang="zh-TW" altLang="en-US" sz="3200" b="1" u="none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3200" b="1" u="sng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3200" b="1" u="sng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韓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筷子比較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三、免洗筷和環保筷比較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四、留意平凡東西，都有大學問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TW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7653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E2DE042C-A762-6C7B-3439-8F081C654486}"/>
              </a:ext>
            </a:extLst>
          </p:cNvPr>
          <p:cNvSpPr/>
          <p:nvPr/>
        </p:nvSpPr>
        <p:spPr>
          <a:xfrm>
            <a:off x="5791200" y="8420100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7BD861-2321-8DF8-86CA-976E20CD6CD2}"/>
              </a:ext>
            </a:extLst>
          </p:cNvPr>
          <p:cNvSpPr/>
          <p:nvPr/>
        </p:nvSpPr>
        <p:spPr>
          <a:xfrm>
            <a:off x="15795984" y="8428517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DAF9B7-A542-8463-2591-9A6702A25A26}"/>
              </a:ext>
            </a:extLst>
          </p:cNvPr>
          <p:cNvSpPr/>
          <p:nvPr/>
        </p:nvSpPr>
        <p:spPr>
          <a:xfrm>
            <a:off x="9091957" y="8420100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D55457-057E-DDE3-55C1-2DBBC2DF2BCB}"/>
              </a:ext>
            </a:extLst>
          </p:cNvPr>
          <p:cNvSpPr/>
          <p:nvPr/>
        </p:nvSpPr>
        <p:spPr>
          <a:xfrm>
            <a:off x="12268200" y="8428517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5" grpId="0"/>
      <p:bldP spid="28" grpId="0"/>
      <p:bldP spid="17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533263"/>
            <a:ext cx="32287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373455"/>
            <a:ext cx="126800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段使用謎語開頭，讓我們知道這一課即將介紹哪一種生活用品？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4127874" y="3481076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894593" y="4104545"/>
            <a:ext cx="5563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筷子</a:t>
            </a: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323632"/>
              </p:ext>
            </p:extLst>
          </p:nvPr>
        </p:nvGraphicFramePr>
        <p:xfrm>
          <a:off x="1482212" y="5575910"/>
          <a:ext cx="14367387" cy="1888427"/>
        </p:xfrm>
        <a:graphic>
          <a:graphicData uri="http://schemas.openxmlformats.org/drawingml/2006/table">
            <a:tbl>
              <a:tblPr firstRow="1" firstCol="1" bandRow="1"/>
              <a:tblGrid>
                <a:gridCol w="1436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39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 </a:t>
                      </a:r>
                      <a:r>
                        <a:rPr lang="zh-TW" sz="440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筷子成雙出現，是生活用品。</a:t>
                      </a:r>
                      <a:endParaRPr lang="zh-TW" sz="3600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F81824E-E94D-568E-CA37-79F34401F106}"/>
              </a:ext>
            </a:extLst>
          </p:cNvPr>
          <p:cNvCxnSpPr>
            <a:cxnSpLocks/>
          </p:cNvCxnSpPr>
          <p:nvPr/>
        </p:nvCxnSpPr>
        <p:spPr>
          <a:xfrm>
            <a:off x="1976991" y="4749543"/>
            <a:ext cx="119559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9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1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4EEF5-29D6-C2A5-73FB-3BDDB5E6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408EB8-676F-969A-5991-E029AA21B702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C6F8CAB-7642-0F55-0715-2F0C1C2508B5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05D2A4-A2E5-A08F-19E7-13E3AD3A17E0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00BD44F-04F8-8436-3FEC-7D20FD97EA05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46A8980-CD24-F6C1-FA75-40A90BFF2203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D359923-22F4-9AAB-93DD-9E69AE16C743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0BBE58A7-6563-8CBE-B849-A9F06DCEC59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70A410F-7F0D-DFBC-B1C2-10C0C1BD5FE5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77AA6828-287C-6EB0-A320-9B90FDD4750D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94CC7853-E5B7-C94A-3EEF-51619B4EB06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1AAEE0B-85C7-BC34-A6A1-B806EDB628E7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89A252-35A5-9AD4-A1C6-9136F2285F02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6CEBEC-DB27-36BC-D76A-3915315E9CA2}"/>
              </a:ext>
            </a:extLst>
          </p:cNvPr>
          <p:cNvSpPr/>
          <p:nvPr/>
        </p:nvSpPr>
        <p:spPr>
          <a:xfrm>
            <a:off x="1447800" y="2533263"/>
            <a:ext cx="42659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2-8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C643C0F-E359-0067-4EAC-070F4E91A19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AE5BACC-9EE2-165F-CFEA-A58A57DB8ECE}"/>
              </a:ext>
            </a:extLst>
          </p:cNvPr>
          <p:cNvSpPr/>
          <p:nvPr/>
        </p:nvSpPr>
        <p:spPr>
          <a:xfrm>
            <a:off x="1447800" y="3205704"/>
            <a:ext cx="14367387" cy="295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接下來，分成兩大方向進行比較。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找到 各式筷子比一比  和  免洗筷還是環保筷？ ，畫上螢光筆重點。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各式筷子比一比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2-5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段針對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日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韓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三國的筷子進行比較，請你先閱讀，再藉由下方表格整理文本訊息。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E38FCD-54C9-6854-DF20-EE1F6D4CA1CB}"/>
              </a:ext>
            </a:extLst>
          </p:cNvPr>
          <p:cNvSpPr/>
          <p:nvPr/>
        </p:nvSpPr>
        <p:spPr>
          <a:xfrm>
            <a:off x="6362024" y="5705338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筆記策略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833D9A-693F-C453-EAC8-766A1F8FB405}"/>
              </a:ext>
            </a:extLst>
          </p:cNvPr>
          <p:cNvSpPr/>
          <p:nvPr/>
        </p:nvSpPr>
        <p:spPr>
          <a:xfrm>
            <a:off x="2438400" y="4058198"/>
            <a:ext cx="2971799" cy="6189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FD942E-C2BF-0E7A-F8A6-5B4D8CD81E3D}"/>
              </a:ext>
            </a:extLst>
          </p:cNvPr>
          <p:cNvSpPr/>
          <p:nvPr/>
        </p:nvSpPr>
        <p:spPr>
          <a:xfrm>
            <a:off x="6034703" y="4053464"/>
            <a:ext cx="3795098" cy="6576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C263C14-3081-B690-B822-4BD7DF63E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800579"/>
              </p:ext>
            </p:extLst>
          </p:nvPr>
        </p:nvGraphicFramePr>
        <p:xfrm>
          <a:off x="1447798" y="6453622"/>
          <a:ext cx="16078202" cy="35288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5602">
                  <a:extLst>
                    <a:ext uri="{9D8B030D-6E8A-4147-A177-3AD203B41FA5}">
                      <a16:colId xmlns:a16="http://schemas.microsoft.com/office/drawing/2014/main" val="1330301406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1334798343"/>
                    </a:ext>
                  </a:extLst>
                </a:gridCol>
                <a:gridCol w="4514131">
                  <a:extLst>
                    <a:ext uri="{9D8B030D-6E8A-4147-A177-3AD203B41FA5}">
                      <a16:colId xmlns:a16="http://schemas.microsoft.com/office/drawing/2014/main" val="2600644658"/>
                    </a:ext>
                  </a:extLst>
                </a:gridCol>
                <a:gridCol w="4020269">
                  <a:extLst>
                    <a:ext uri="{9D8B030D-6E8A-4147-A177-3AD203B41FA5}">
                      <a16:colId xmlns:a16="http://schemas.microsoft.com/office/drawing/2014/main" val="2012425489"/>
                    </a:ext>
                  </a:extLst>
                </a:gridCol>
              </a:tblGrid>
              <a:tr h="660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中國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日本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韓國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909438"/>
                  </a:ext>
                </a:extLst>
              </a:tr>
              <a:tr h="660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筷子外觀比較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448399"/>
                  </a:ext>
                </a:extLst>
              </a:tr>
              <a:tr h="885379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飲食習慣影響筷子外觀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圓桌一起用餐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單人套餐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飯菜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675713"/>
                  </a:ext>
                </a:extLst>
              </a:tr>
              <a:tr h="132174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筷子長，比較可以</a:t>
                      </a:r>
                      <a:endParaRPr lang="en-US" altLang="zh-TW" sz="3200" kern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因為飯菜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</a:t>
                      </a:r>
                      <a:endParaRPr lang="en-US" altLang="zh-TW" sz="3200" kern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buNone/>
                      </a:pP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，所以筷子短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端的過程，扁扁的筷子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03911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726CA16-BA05-8560-A750-4CAD424E3872}"/>
              </a:ext>
            </a:extLst>
          </p:cNvPr>
          <p:cNvSpPr/>
          <p:nvPr/>
        </p:nvSpPr>
        <p:spPr>
          <a:xfrm>
            <a:off x="6560652" y="7149663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AD5CEB-6315-EE4C-53FB-208249D4AFDA}"/>
              </a:ext>
            </a:extLst>
          </p:cNvPr>
          <p:cNvSpPr/>
          <p:nvPr/>
        </p:nvSpPr>
        <p:spPr>
          <a:xfrm>
            <a:off x="11189775" y="7149663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7B22E4-D02A-DB61-7C5C-1458ABC3E97B}"/>
              </a:ext>
            </a:extLst>
          </p:cNvPr>
          <p:cNvSpPr/>
          <p:nvPr/>
        </p:nvSpPr>
        <p:spPr>
          <a:xfrm>
            <a:off x="15197501" y="7149663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7278E0-7595-B38D-94C8-C001A81A8EB5}"/>
              </a:ext>
            </a:extLst>
          </p:cNvPr>
          <p:cNvSpPr/>
          <p:nvPr/>
        </p:nvSpPr>
        <p:spPr>
          <a:xfrm>
            <a:off x="15197501" y="7925670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端到房間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09DD3B-16AB-6EBC-BF82-20F5D067AFDB}"/>
              </a:ext>
            </a:extLst>
          </p:cNvPr>
          <p:cNvSpPr/>
          <p:nvPr/>
        </p:nvSpPr>
        <p:spPr>
          <a:xfrm>
            <a:off x="4757739" y="9346885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夾到遠方的菜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783522-75A3-A09F-8C72-CE8C77466F8C}"/>
              </a:ext>
            </a:extLst>
          </p:cNvPr>
          <p:cNvSpPr/>
          <p:nvPr/>
        </p:nvSpPr>
        <p:spPr>
          <a:xfrm>
            <a:off x="9132868" y="8795891"/>
            <a:ext cx="42021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都在自己面前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FE2C44-489A-456F-ACE6-0A11ED146A67}"/>
              </a:ext>
            </a:extLst>
          </p:cNvPr>
          <p:cNvSpPr/>
          <p:nvPr/>
        </p:nvSpPr>
        <p:spPr>
          <a:xfrm>
            <a:off x="14443586" y="9288334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不會滾動掉落</a:t>
            </a:r>
          </a:p>
        </p:txBody>
      </p:sp>
    </p:spTree>
    <p:extLst>
      <p:ext uri="{BB962C8B-B14F-4D97-AF65-F5344CB8AC3E}">
        <p14:creationId xmlns:p14="http://schemas.microsoft.com/office/powerpoint/2010/main" val="404952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6" grpId="0"/>
      <p:bldP spid="27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1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B56F4-1DCD-9EBB-C89C-E15E0E6C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76EC7C-AA44-A364-205F-7D824D9075B4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49DC722-D853-D70C-976D-D4463160BE2D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8E07513-48FB-7058-A808-F79BFCC3E5CB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7B54FF8-3D1E-CAEE-BB40-C233BA288436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0B9D609-B8E7-F64B-5D2E-F187D4A87BD3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8C9C790-7B89-3C6B-7B34-FC32A3D82E38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72F658B-44D6-674B-9F2D-1F1D2D88025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1CCE8B8C-E312-500B-F11D-74FBDE776488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80B6C70-E950-F4CA-F4FB-2202C6586EE8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98FB4199-326A-EF29-4948-45BA5D7E9E7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C1DD3DFF-99B1-58F8-6C0E-6D258E74F5BC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2CD24E-C961-4749-9099-1E422ABF386F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C484C8-37FA-C6F3-1253-59F43597E7FA}"/>
              </a:ext>
            </a:extLst>
          </p:cNvPr>
          <p:cNvSpPr/>
          <p:nvPr/>
        </p:nvSpPr>
        <p:spPr>
          <a:xfrm>
            <a:off x="1447800" y="2533263"/>
            <a:ext cx="42659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2-8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4C933235-48F1-2868-14AA-A47E7ABA22B3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0610ED-E00E-89B7-400F-727AFE7EF3F1}"/>
              </a:ext>
            </a:extLst>
          </p:cNvPr>
          <p:cNvSpPr/>
          <p:nvPr/>
        </p:nvSpPr>
        <p:spPr>
          <a:xfrm>
            <a:off x="1447800" y="3205704"/>
            <a:ext cx="14367387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免洗筷還是環保筷？ ，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6-8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段對於免洗筷和環保筷做了比較，請你先閱讀，再藉由下方表格整理文本訊息。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CA2331-CECE-D136-1D1E-C87B001A04E4}"/>
              </a:ext>
            </a:extLst>
          </p:cNvPr>
          <p:cNvSpPr/>
          <p:nvPr/>
        </p:nvSpPr>
        <p:spPr>
          <a:xfrm>
            <a:off x="7210574" y="4242179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筆記策略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6FDA79-2A00-5FCE-77C0-A56A1899D093}"/>
              </a:ext>
            </a:extLst>
          </p:cNvPr>
          <p:cNvSpPr/>
          <p:nvPr/>
        </p:nvSpPr>
        <p:spPr>
          <a:xfrm>
            <a:off x="1918613" y="3312906"/>
            <a:ext cx="3795098" cy="6576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8559007-A8BF-EB6A-D702-A5369BE13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51402"/>
              </p:ext>
            </p:extLst>
          </p:nvPr>
        </p:nvGraphicFramePr>
        <p:xfrm>
          <a:off x="1447799" y="4945873"/>
          <a:ext cx="15738987" cy="400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1330301406"/>
                    </a:ext>
                  </a:extLst>
                </a:gridCol>
                <a:gridCol w="6840793">
                  <a:extLst>
                    <a:ext uri="{9D8B030D-6E8A-4147-A177-3AD203B41FA5}">
                      <a16:colId xmlns:a16="http://schemas.microsoft.com/office/drawing/2014/main" val="1334798343"/>
                    </a:ext>
                  </a:extLst>
                </a:gridCol>
                <a:gridCol w="6840793">
                  <a:extLst>
                    <a:ext uri="{9D8B030D-6E8A-4147-A177-3AD203B41FA5}">
                      <a16:colId xmlns:a16="http://schemas.microsoft.com/office/drawing/2014/main" val="2600644658"/>
                    </a:ext>
                  </a:extLst>
                </a:gridCol>
              </a:tblGrid>
              <a:tr h="9777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b="1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免洗筷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b="1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環保筷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909438"/>
                  </a:ext>
                </a:extLst>
              </a:tr>
              <a:tr h="15116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b="1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優點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不需</a:t>
                      </a: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(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容易</a:t>
                      </a:r>
                      <a:r>
                        <a:rPr lang="en-US" alt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(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保護環境</a:t>
                      </a:r>
                      <a:r>
                        <a:rPr lang="en-US" alt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(              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吃得安心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448399"/>
                  </a:ext>
                </a:extLst>
              </a:tr>
              <a:tr h="15116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b="1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缺點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製造垃圾</a:t>
                      </a:r>
                      <a:r>
                        <a:rPr lang="en-US" alt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(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有害</a:t>
                      </a:r>
                      <a:r>
                        <a:rPr lang="en-US" alt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(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不一定有地方清洗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 </a:t>
                      </a:r>
                      <a:r>
                        <a:rPr 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會</a:t>
                      </a:r>
                      <a:r>
                        <a:rPr lang="en-US" altLang="zh-TW" sz="3200" kern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新細明體" panose="02020500000000000000" pitchFamily="18" charset="-120"/>
                        </a:rPr>
                        <a:t>(                 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675713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678D6F5D-4746-3176-445E-C668C8347FE3}"/>
              </a:ext>
            </a:extLst>
          </p:cNvPr>
          <p:cNvSpPr/>
          <p:nvPr/>
        </p:nvSpPr>
        <p:spPr>
          <a:xfrm>
            <a:off x="5277221" y="6156316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清洗</a:t>
            </a:r>
          </a:p>
        </p:txBody>
      </p:sp>
      <p:cxnSp>
        <p:nvCxnSpPr>
          <p:cNvPr id="14" name="直線單箭頭接點 5">
            <a:extLst>
              <a:ext uri="{FF2B5EF4-FFF2-40B4-BE49-F238E27FC236}">
                <a16:creationId xmlns:a16="http://schemas.microsoft.com/office/drawing/2014/main" id="{A60E5DC6-4ED4-18A5-E040-7FBE96B8A29B}"/>
              </a:ext>
            </a:extLst>
          </p:cNvPr>
          <p:cNvCxnSpPr>
            <a:cxnSpLocks/>
          </p:cNvCxnSpPr>
          <p:nvPr/>
        </p:nvCxnSpPr>
        <p:spPr>
          <a:xfrm>
            <a:off x="9472578" y="6943824"/>
            <a:ext cx="992513" cy="711571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FAFC0B64-08DE-509F-4575-B32F847C0332}"/>
              </a:ext>
            </a:extLst>
          </p:cNvPr>
          <p:cNvSpPr/>
          <p:nvPr/>
        </p:nvSpPr>
        <p:spPr>
          <a:xfrm>
            <a:off x="12948201" y="6156315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環保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BA4B60E-9617-71D0-9447-84FEF5494EA6}"/>
              </a:ext>
            </a:extLst>
          </p:cNvPr>
          <p:cNvSpPr/>
          <p:nvPr/>
        </p:nvSpPr>
        <p:spPr>
          <a:xfrm>
            <a:off x="5277221" y="6828073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A79A460-429D-4A3E-F1B2-88AD167952F9}"/>
              </a:ext>
            </a:extLst>
          </p:cNvPr>
          <p:cNvSpPr/>
          <p:nvPr/>
        </p:nvSpPr>
        <p:spPr>
          <a:xfrm>
            <a:off x="11644494" y="8325101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忘記帶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8B522BB-727C-C0F0-90F7-16275C406BA8}"/>
              </a:ext>
            </a:extLst>
          </p:cNvPr>
          <p:cNvSpPr/>
          <p:nvPr/>
        </p:nvSpPr>
        <p:spPr>
          <a:xfrm>
            <a:off x="6072224" y="7655395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不環保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D2946C0-8379-00A0-4EB1-E3E1027B6230}"/>
              </a:ext>
            </a:extLst>
          </p:cNvPr>
          <p:cNvSpPr/>
          <p:nvPr/>
        </p:nvSpPr>
        <p:spPr>
          <a:xfrm>
            <a:off x="5324531" y="8325101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健康</a:t>
            </a:r>
          </a:p>
        </p:txBody>
      </p:sp>
    </p:spTree>
    <p:extLst>
      <p:ext uri="{BB962C8B-B14F-4D97-AF65-F5344CB8AC3E}">
        <p14:creationId xmlns:p14="http://schemas.microsoft.com/office/powerpoint/2010/main" val="20346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1" grpId="0"/>
      <p:bldP spid="32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1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91A61-B867-A73C-08B3-264FE6EB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12282B-B617-50E8-F53C-3127085E6C36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890F4D8-CDB8-5B3C-FBA9-CAAF42253EA0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B6A2BCB-6197-92EC-08AD-28F8A4F3AA5C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9746A02-3667-CF79-6E0C-AC8CF164CC1F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453CC34-3ECD-4D79-71B1-D723A83505BC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B0DB32D9-0594-FA19-4D00-785586225BB0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D454B24D-F169-9A6C-3014-CA4D64BD885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C93CEFF-5F11-570A-CAC8-5D52C4633DA6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D6C9231-E271-A2DA-CDE3-9771ABA6FD80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5F64367-FC51-6D43-7EBA-10768066389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F0D063A3-C985-E8B2-34A2-1466199303C9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FB775B-6D3D-3196-A4F1-2E78205D5700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3D8879-7FC8-F4EC-E839-C0E44453A66D}"/>
              </a:ext>
            </a:extLst>
          </p:cNvPr>
          <p:cNvSpPr/>
          <p:nvPr/>
        </p:nvSpPr>
        <p:spPr>
          <a:xfrm>
            <a:off x="1447800" y="2533263"/>
            <a:ext cx="42659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2-8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C874F7CC-C388-E418-E3F9-5C7198125575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432F9643-30B2-8664-A41A-18317FA6E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068917"/>
              </p:ext>
            </p:extLst>
          </p:nvPr>
        </p:nvGraphicFramePr>
        <p:xfrm>
          <a:off x="1500804" y="3891902"/>
          <a:ext cx="15491796" cy="2200027"/>
        </p:xfrm>
        <a:graphic>
          <a:graphicData uri="http://schemas.openxmlformats.org/drawingml/2006/table">
            <a:tbl>
              <a:tblPr firstRow="1" firstCol="1" bandRow="1"/>
              <a:tblGrid>
                <a:gridCol w="15491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00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zh-TW" sz="440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分別說明</a:t>
                      </a:r>
                      <a:r>
                        <a:rPr lang="zh-TW" altLang="en-US" sz="440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中</a:t>
                      </a:r>
                      <a:r>
                        <a:rPr lang="zh-TW" altLang="en-US" sz="440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440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zh-TW" altLang="en-US" sz="440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440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韓</a:t>
                      </a:r>
                      <a:r>
                        <a:rPr lang="zh-TW" altLang="en-US" sz="440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筷子的差異，免洗筷和環保筷優缺點比較。</a:t>
                      </a:r>
                      <a:endParaRPr lang="zh-TW" sz="3600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18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2287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381063"/>
            <a:ext cx="8090676" cy="1479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生活中平凡的東西，背後都存在著什麼？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背後都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540885" y="3618854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657600" y="4188178"/>
            <a:ext cx="8001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大有學問 </a:t>
            </a: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584184"/>
              </p:ext>
            </p:extLst>
          </p:nvPr>
        </p:nvGraphicFramePr>
        <p:xfrm>
          <a:off x="1447800" y="5369972"/>
          <a:ext cx="16224722" cy="1888427"/>
        </p:xfrm>
        <a:graphic>
          <a:graphicData uri="http://schemas.openxmlformats.org/drawingml/2006/table">
            <a:tbl>
              <a:tblPr firstRow="1" firstCol="1" bandRow="1"/>
              <a:tblGrid>
                <a:gridCol w="16224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39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 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平凡的東西，背後都大有學問。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7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040636" y="2926579"/>
            <a:ext cx="12263294" cy="44338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2-8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段的文字說明，找一找是否有作者自己的想法？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複選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作者有寫自己比較喜歡哪國筷子。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客觀提供中 日 韓筷子的比較。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說明環保筷和免洗筷的優缺點。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承上題，請判斷這樣的文章是什麼文體？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單選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說明文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95AFF70-393D-D15A-55CC-21804A8637D4}"/>
              </a:ext>
            </a:extLst>
          </p:cNvPr>
          <p:cNvSpPr txBox="1"/>
          <p:nvPr/>
        </p:nvSpPr>
        <p:spPr>
          <a:xfrm>
            <a:off x="2040636" y="4497169"/>
            <a:ext cx="625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4E48ED-C08A-12F3-D494-CB0F6F539B4A}"/>
              </a:ext>
            </a:extLst>
          </p:cNvPr>
          <p:cNvSpPr txBox="1"/>
          <p:nvPr/>
        </p:nvSpPr>
        <p:spPr>
          <a:xfrm>
            <a:off x="2040636" y="5228706"/>
            <a:ext cx="625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48F92EC-558A-8755-FBC9-68797509B003}"/>
              </a:ext>
            </a:extLst>
          </p:cNvPr>
          <p:cNvSpPr txBox="1"/>
          <p:nvPr/>
        </p:nvSpPr>
        <p:spPr>
          <a:xfrm>
            <a:off x="5038001" y="6714090"/>
            <a:ext cx="625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776</Words>
  <Application>Microsoft Macintosh PowerPoint</Application>
  <PresentationFormat>自訂</PresentationFormat>
  <Paragraphs>129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29</cp:revision>
  <dcterms:created xsi:type="dcterms:W3CDTF">2006-08-16T00:00:00Z</dcterms:created>
  <dcterms:modified xsi:type="dcterms:W3CDTF">2025-10-05T15:07:44Z</dcterms:modified>
  <dc:identifier>DAGWD1Ntyd0</dc:identifier>
</cp:coreProperties>
</file>