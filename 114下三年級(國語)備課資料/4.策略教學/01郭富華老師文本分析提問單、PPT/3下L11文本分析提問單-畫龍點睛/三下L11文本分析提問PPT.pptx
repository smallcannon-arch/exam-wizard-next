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94" r:id="rId4"/>
    <p:sldId id="295" r:id="rId5"/>
    <p:sldId id="291" r:id="rId6"/>
    <p:sldId id="300" r:id="rId7"/>
    <p:sldId id="292" r:id="rId8"/>
    <p:sldId id="298" r:id="rId9"/>
    <p:sldId id="259" r:id="rId10"/>
    <p:sldId id="266" r:id="rId11"/>
  </p:sldIdLst>
  <p:sldSz cx="18288000" cy="10287000"/>
  <p:notesSz cx="6858000" cy="9144000"/>
  <p:embeddedFontLst>
    <p:embeddedFont>
      <p:font typeface="王漢宗特黑體" panose="02000500000000000000" pitchFamily="2" charset="-120"/>
      <p:regular r:id="rId13"/>
    </p:embeddedFont>
    <p:embeddedFont>
      <p:font typeface="微軟正黑體" panose="020B0604030504040204" pitchFamily="34" charset="-120"/>
      <p:regular r:id="rId14"/>
      <p:bold r:id="rId15"/>
    </p:embeddedFont>
    <p:embeddedFont>
      <p:font typeface="微軟正黑體" panose="020B0604030504040204" pitchFamily="34" charset="-12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1DA"/>
    <a:srgbClr val="FFE2C7"/>
    <a:srgbClr val="F7D9D9"/>
    <a:srgbClr val="EBD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453" autoAdjust="0"/>
    <p:restoredTop sz="93667" autoAdjust="0"/>
  </p:normalViewPr>
  <p:slideViewPr>
    <p:cSldViewPr>
      <p:cViewPr varScale="1">
        <p:scale>
          <a:sx n="50" d="100"/>
          <a:sy n="50" d="100"/>
        </p:scale>
        <p:origin x="112" y="9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6E865-201C-435A-BDC9-6D06C10AE8AC}" type="datetimeFigureOut">
              <a:rPr lang="zh-TW" altLang="en-US" smtClean="0"/>
              <a:t>2025/10/5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D71DF-5DF0-41FF-846D-B40FD35A5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98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4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1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9.svg"/><Relationship Id="rId5" Type="http://schemas.openxmlformats.org/officeDocument/2006/relationships/image" Target="../media/image15.svg"/><Relationship Id="rId10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20.sv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20.sv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20.sv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20.sv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2062779" y="4323198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56566" y="1881864"/>
            <a:ext cx="13632158" cy="2749755"/>
            <a:chOff x="1605289" y="3003345"/>
            <a:chExt cx="13632158" cy="2749755"/>
          </a:xfrm>
        </p:grpSpPr>
        <p:grpSp>
          <p:nvGrpSpPr>
            <p:cNvPr id="3" name="Group 3"/>
            <p:cNvGrpSpPr/>
            <p:nvPr/>
          </p:nvGrpSpPr>
          <p:grpSpPr>
            <a:xfrm>
              <a:off x="1605289" y="3042897"/>
              <a:ext cx="13478483" cy="2710203"/>
              <a:chOff x="0" y="0"/>
              <a:chExt cx="1689033" cy="14202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92123" y="3003345"/>
              <a:ext cx="13445324" cy="2676299"/>
              <a:chOff x="0" y="0"/>
              <a:chExt cx="1689033" cy="1420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/>
          <p:cNvGrpSpPr/>
          <p:nvPr/>
        </p:nvGrpSpPr>
        <p:grpSpPr>
          <a:xfrm>
            <a:off x="5728078" y="7300674"/>
            <a:ext cx="6964467" cy="1105273"/>
            <a:chOff x="5712022" y="5364232"/>
            <a:chExt cx="6964467" cy="1105273"/>
          </a:xfrm>
        </p:grpSpPr>
        <p:sp>
          <p:nvSpPr>
            <p:cNvPr id="10" name="Freeform 10"/>
            <p:cNvSpPr/>
            <p:nvPr/>
          </p:nvSpPr>
          <p:spPr>
            <a:xfrm>
              <a:off x="5867996" y="5415687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>
                <a:alpha val="49804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996" y="5364232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2022" y="5467142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2022" y="5415687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211037" y="966641"/>
            <a:ext cx="2761763" cy="708578"/>
            <a:chOff x="0" y="0"/>
            <a:chExt cx="3038818" cy="748565"/>
          </a:xfrm>
        </p:grpSpPr>
        <p:sp>
          <p:nvSpPr>
            <p:cNvPr id="20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spc="334" dirty="0" err="1">
                  <a:solidFill>
                    <a:srgbClr val="0154A6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國語</a:t>
              </a:r>
              <a:endParaRPr lang="en-US" sz="4800" spc="334" dirty="0">
                <a:solidFill>
                  <a:srgbClr val="0154A6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3327550" y="2326352"/>
            <a:ext cx="133602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閱 讀 理 解 提 問 單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4770582" y="5483431"/>
            <a:ext cx="946867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三下 </a:t>
            </a:r>
            <a:r>
              <a:rPr lang="en-US" altLang="zh-TW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L11</a:t>
            </a:r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畫龍點睛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5728078" y="7461965"/>
            <a:ext cx="141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提問設計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郭富華老師</a:t>
            </a:r>
          </a:p>
        </p:txBody>
      </p:sp>
      <p:sp>
        <p:nvSpPr>
          <p:cNvPr id="28" name="Freeform 4"/>
          <p:cNvSpPr/>
          <p:nvPr/>
        </p:nvSpPr>
        <p:spPr>
          <a:xfrm>
            <a:off x="3535501" y="5408279"/>
            <a:ext cx="1583640" cy="1336723"/>
          </a:xfrm>
          <a:custGeom>
            <a:avLst/>
            <a:gdLst/>
            <a:ahLst/>
            <a:cxnLst/>
            <a:rect l="l" t="t" r="r" b="b"/>
            <a:pathLst>
              <a:path w="3941664" h="3662164">
                <a:moveTo>
                  <a:pt x="0" y="0"/>
                </a:moveTo>
                <a:lnTo>
                  <a:pt x="3941663" y="0"/>
                </a:lnTo>
                <a:lnTo>
                  <a:pt x="3941663" y="3662164"/>
                </a:lnTo>
                <a:lnTo>
                  <a:pt x="0" y="3662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979" y="6825113"/>
            <a:ext cx="2536570" cy="3399250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-1789354">
            <a:off x="1585337" y="2049027"/>
            <a:ext cx="1658309" cy="2253630"/>
          </a:xfrm>
          <a:custGeom>
            <a:avLst/>
            <a:gdLst/>
            <a:ahLst/>
            <a:cxnLst/>
            <a:rect l="l" t="t" r="r" b="b"/>
            <a:pathLst>
              <a:path w="2725139" h="3833315">
                <a:moveTo>
                  <a:pt x="0" y="0"/>
                </a:moveTo>
                <a:lnTo>
                  <a:pt x="2725139" y="0"/>
                </a:lnTo>
                <a:lnTo>
                  <a:pt x="2725139" y="3833316"/>
                </a:lnTo>
                <a:lnTo>
                  <a:pt x="0" y="38333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8173">
            <a:off x="-1434441" y="-1744732"/>
            <a:ext cx="4926281" cy="529707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15392400" y="60579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1068866" y="2400300"/>
            <a:ext cx="16573501" cy="5184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課名「畫龍點睛」，請畫出畫和點。請問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b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「畫、點」是動作還是名詞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？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「龍、睛」是動作還是名詞？</a:t>
            </a:r>
            <a:r>
              <a:rPr lang="zh-TW" altLang="en-US" sz="3200" b="1" u="sng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b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❸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「畫龍點睛」從字面上理解，是什麼意思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？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請靜下心看影片，回答問題：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畫家畫龍點睛後，發生什麼事情？</a:t>
            </a:r>
            <a:r>
              <a:rPr lang="zh-TW" altLang="en-US" sz="3200" b="1" u="sng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b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為什麼會發生這種事情？畫龍點睛代表畫家的畫作如何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？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en-US" sz="3200" b="1" kern="1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1A5166E-F8AD-8F4A-062F-5B0626143922}"/>
              </a:ext>
            </a:extLst>
          </p:cNvPr>
          <p:cNvSpPr/>
          <p:nvPr/>
        </p:nvSpPr>
        <p:spPr>
          <a:xfrm>
            <a:off x="6094461" y="3200284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0456F5-D1B2-74FD-02AC-E35E8D09EF30}"/>
              </a:ext>
            </a:extLst>
          </p:cNvPr>
          <p:cNvSpPr/>
          <p:nvPr/>
        </p:nvSpPr>
        <p:spPr>
          <a:xfrm>
            <a:off x="9723914" y="4692766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畫龍，為龍點上眼睛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8CD57B-82A1-979F-0E67-A45438E54986}"/>
              </a:ext>
            </a:extLst>
          </p:cNvPr>
          <p:cNvSpPr/>
          <p:nvPr/>
        </p:nvSpPr>
        <p:spPr>
          <a:xfrm>
            <a:off x="9400824" y="2663160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審題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153CD5-C346-4171-AAD7-050BF24FC18E}"/>
              </a:ext>
            </a:extLst>
          </p:cNvPr>
          <p:cNvSpPr/>
          <p:nvPr/>
        </p:nvSpPr>
        <p:spPr>
          <a:xfrm>
            <a:off x="6094461" y="3930914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名詞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341A0D2-4AC7-5157-2CE0-3C9ECEB9AC67}"/>
              </a:ext>
            </a:extLst>
          </p:cNvPr>
          <p:cNvSpPr/>
          <p:nvPr/>
        </p:nvSpPr>
        <p:spPr>
          <a:xfrm>
            <a:off x="11774967" y="6896100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畫家的畫作維妙維肖  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C55B7D1-A596-A851-6B68-C28C4BD8363D}"/>
              </a:ext>
            </a:extLst>
          </p:cNvPr>
          <p:cNvSpPr/>
          <p:nvPr/>
        </p:nvSpPr>
        <p:spPr>
          <a:xfrm>
            <a:off x="7736367" y="6217746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龍變成真的，飛走了 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303AC12A-93EF-2D11-79CC-CF8B01BCAC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5263" y="7945117"/>
            <a:ext cx="1846583" cy="1846583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75734995-3EFA-27AE-284E-6DC85FE0C614}"/>
              </a:ext>
            </a:extLst>
          </p:cNvPr>
          <p:cNvSpPr/>
          <p:nvPr/>
        </p:nvSpPr>
        <p:spPr>
          <a:xfrm>
            <a:off x="4023261" y="9222933"/>
            <a:ext cx="17123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參考影片</a:t>
            </a:r>
            <a:r>
              <a:rPr lang="en-US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endParaRPr lang="zh-TW" altLang="zh-TW" sz="28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4D56F6-430C-C953-E4C1-D5CA1A47E4BE}"/>
              </a:ext>
            </a:extLst>
          </p:cNvPr>
          <p:cNvSpPr/>
          <p:nvPr/>
        </p:nvSpPr>
        <p:spPr>
          <a:xfrm>
            <a:off x="5735589" y="9299877"/>
            <a:ext cx="6837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https://</a:t>
            </a:r>
            <a:r>
              <a:rPr lang="en-US" altLang="zh-TW" u="sng" kern="100" dirty="0" err="1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youtube.com</a:t>
            </a:r>
            <a:r>
              <a:rPr lang="en-US" altLang="zh-TW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en-US" altLang="zh-TW" u="sng" kern="100" dirty="0" err="1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watch?v</a:t>
            </a:r>
            <a:r>
              <a:rPr lang="en-US" altLang="zh-TW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=YNlsfpuu3So&amp;feature=shared</a:t>
            </a:r>
            <a:endParaRPr lang="zh-TW" altLang="en-US" dirty="0"/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FA18F564-2E4A-03A2-F406-6B173A60F1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465925" y="9203292"/>
            <a:ext cx="557336" cy="557336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8AE30923-3444-AE4E-A270-1C4A0D7ABC1D}"/>
              </a:ext>
            </a:extLst>
          </p:cNvPr>
          <p:cNvSpPr/>
          <p:nvPr/>
        </p:nvSpPr>
        <p:spPr>
          <a:xfrm>
            <a:off x="6553200" y="2591660"/>
            <a:ext cx="388809" cy="494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1BC2237-C0BB-B23D-D074-E46EA1AAAB68}"/>
              </a:ext>
            </a:extLst>
          </p:cNvPr>
          <p:cNvSpPr/>
          <p:nvPr/>
        </p:nvSpPr>
        <p:spPr>
          <a:xfrm>
            <a:off x="7347558" y="2585446"/>
            <a:ext cx="388809" cy="494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"/>
          <p:cNvGrpSpPr/>
          <p:nvPr/>
        </p:nvGrpSpPr>
        <p:grpSpPr>
          <a:xfrm>
            <a:off x="1013460" y="2288281"/>
            <a:ext cx="4985476" cy="1331219"/>
            <a:chOff x="0" y="-47625"/>
            <a:chExt cx="2188840" cy="1144766"/>
          </a:xfrm>
        </p:grpSpPr>
        <p:sp>
          <p:nvSpPr>
            <p:cNvPr id="31" name="Freeform 9"/>
            <p:cNvSpPr/>
            <p:nvPr/>
          </p:nvSpPr>
          <p:spPr>
            <a:xfrm>
              <a:off x="0" y="0"/>
              <a:ext cx="1662719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任務一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45654" y="3952579"/>
            <a:ext cx="10084812" cy="44338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句型練習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不管是花草、動物還是人像，他都畫得維妙維肖。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不管是故事書、漫畫還是雜誌，他都看得津津有味。</a:t>
            </a: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換你試試看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不管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都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C274782-262A-5A9E-D27C-12C713C34D3D}"/>
              </a:ext>
            </a:extLst>
          </p:cNvPr>
          <p:cNvSpPr/>
          <p:nvPr/>
        </p:nvSpPr>
        <p:spPr>
          <a:xfrm>
            <a:off x="8399835" y="4853940"/>
            <a:ext cx="388809" cy="494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497B43-EF0B-0F19-A757-D4474A298553}"/>
              </a:ext>
            </a:extLst>
          </p:cNvPr>
          <p:cNvSpPr/>
          <p:nvPr/>
        </p:nvSpPr>
        <p:spPr>
          <a:xfrm>
            <a:off x="8780835" y="5615940"/>
            <a:ext cx="388809" cy="494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D351E2-E173-73B4-DD58-9C44C9270B1B}"/>
              </a:ext>
            </a:extLst>
          </p:cNvPr>
          <p:cNvSpPr/>
          <p:nvPr/>
        </p:nvSpPr>
        <p:spPr>
          <a:xfrm>
            <a:off x="2684835" y="5615940"/>
            <a:ext cx="777959" cy="494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2ABCF7-A932-3D15-DD3A-BEC21A11AC4B}"/>
              </a:ext>
            </a:extLst>
          </p:cNvPr>
          <p:cNvSpPr/>
          <p:nvPr/>
        </p:nvSpPr>
        <p:spPr>
          <a:xfrm>
            <a:off x="2708414" y="4853940"/>
            <a:ext cx="777959" cy="494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2422ADB3-5E2F-B96C-937C-33DE4DB1234A}"/>
              </a:ext>
            </a:extLst>
          </p:cNvPr>
          <p:cNvCxnSpPr>
            <a:cxnSpLocks/>
          </p:cNvCxnSpPr>
          <p:nvPr/>
        </p:nvCxnSpPr>
        <p:spPr>
          <a:xfrm>
            <a:off x="2708414" y="8206740"/>
            <a:ext cx="126256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F970F4E-5A09-B55C-D5CE-D59BE179927D}"/>
              </a:ext>
            </a:extLst>
          </p:cNvPr>
          <p:cNvCxnSpPr>
            <a:cxnSpLocks/>
          </p:cNvCxnSpPr>
          <p:nvPr/>
        </p:nvCxnSpPr>
        <p:spPr>
          <a:xfrm>
            <a:off x="2761035" y="8968740"/>
            <a:ext cx="126256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1963" y="2643809"/>
            <a:ext cx="15999669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這一課總共分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段「自然段」，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把自然段中在說相同事情的段落歸類成一大段，成為「意義段」。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72000" y="2741692"/>
            <a:ext cx="106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31865" y="4725770"/>
            <a:ext cx="7374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★寫作架構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文體：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      )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310829"/>
              </p:ext>
            </p:extLst>
          </p:nvPr>
        </p:nvGraphicFramePr>
        <p:xfrm>
          <a:off x="2535734" y="5656133"/>
          <a:ext cx="15232911" cy="3866346"/>
        </p:xfrm>
        <a:graphic>
          <a:graphicData uri="http://schemas.openxmlformats.org/drawingml/2006/table">
            <a:tbl>
              <a:tblPr firstRow="1" firstCol="1" bandRow="1"/>
              <a:tblGrid>
                <a:gridCol w="1896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4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4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4016">
                  <a:extLst>
                    <a:ext uri="{9D8B030D-6E8A-4147-A177-3AD203B41FA5}">
                      <a16:colId xmlns:a16="http://schemas.microsoft.com/office/drawing/2014/main" val="2815796130"/>
                    </a:ext>
                  </a:extLst>
                </a:gridCol>
              </a:tblGrid>
              <a:tr h="1288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架</a:t>
                      </a:r>
                      <a:r>
                        <a:rPr lang="en-US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04800" algn="ctr">
                        <a:buNone/>
                      </a:pPr>
                      <a:r>
                        <a:rPr lang="zh-TW" sz="3200" b="1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承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合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8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意義段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04800" algn="ctr">
                        <a:buNone/>
                      </a:pP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一、</a:t>
                      </a:r>
                      <a:r>
                        <a:rPr lang="zh-TW" sz="3200" b="1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張僧繇</a:t>
                      </a: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的畫維妙維肖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二、畫龍點睛前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三、畫龍點睛後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四、牆上只剩</a:t>
                      </a:r>
                      <a:endParaRPr lang="en-US" alt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沒眼的龍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31404277"/>
                  </a:ext>
                </a:extLst>
              </a:tr>
              <a:tr h="1288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自然段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" name="圖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7040751" y="4664214"/>
            <a:ext cx="2743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記敘文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7BA0D9-D1C4-4453-34CA-6D85B9AEDEF8}"/>
              </a:ext>
            </a:extLst>
          </p:cNvPr>
          <p:cNvSpPr/>
          <p:nvPr/>
        </p:nvSpPr>
        <p:spPr>
          <a:xfrm>
            <a:off x="3461900" y="8572500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1-2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A323584-A2B8-35A4-9E85-797956E98ED2}"/>
              </a:ext>
            </a:extLst>
          </p:cNvPr>
          <p:cNvSpPr/>
          <p:nvPr/>
        </p:nvSpPr>
        <p:spPr>
          <a:xfrm>
            <a:off x="6920652" y="8572499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3-4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93B5B4F-8EEE-3331-E7D0-94F04AFDB971}"/>
              </a:ext>
            </a:extLst>
          </p:cNvPr>
          <p:cNvSpPr/>
          <p:nvPr/>
        </p:nvSpPr>
        <p:spPr>
          <a:xfrm>
            <a:off x="10283113" y="8572498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5-7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451C257-F008-D32C-9888-892B49984EBF}"/>
              </a:ext>
            </a:extLst>
          </p:cNvPr>
          <p:cNvSpPr/>
          <p:nvPr/>
        </p:nvSpPr>
        <p:spPr>
          <a:xfrm>
            <a:off x="13563600" y="8572497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" grpId="0"/>
      <p:bldP spid="25" grpId="0"/>
      <p:bldP spid="26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1-2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2" y="3390900"/>
            <a:ext cx="16154398" cy="8127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的畫畫得「維妙維肖」，請從第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1-2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段內容進行推想「維妙維肖」的可能意思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 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□ 形容巧妙精細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□ 形容傳神逼真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在佛寺牆上畫了兩隻老鷹後，為什麼野鳥不敢再靠近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寫出自己的想法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因為</a:t>
            </a:r>
            <a:r>
              <a:rPr lang="en-US" altLang="zh-TW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8CA9F0-49B5-7C44-C34A-715B54D7761D}"/>
              </a:ext>
            </a:extLst>
          </p:cNvPr>
          <p:cNvSpPr/>
          <p:nvPr/>
        </p:nvSpPr>
        <p:spPr>
          <a:xfrm>
            <a:off x="15240000" y="3093143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詞彙策略  </a:t>
            </a:r>
            <a:r>
              <a:rPr lang="en-US" altLang="zh-TW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由文推詞義</a:t>
            </a:r>
            <a:r>
              <a:rPr lang="en-US" altLang="zh-TW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C520D88-923F-EADF-ADFA-DC13F9560A57}"/>
              </a:ext>
            </a:extLst>
          </p:cNvPr>
          <p:cNvSpPr txBox="1"/>
          <p:nvPr/>
        </p:nvSpPr>
        <p:spPr>
          <a:xfrm>
            <a:off x="1964950" y="4954369"/>
            <a:ext cx="4091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■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0A21ED-0023-CF59-4817-748A259402BA}"/>
              </a:ext>
            </a:extLst>
          </p:cNvPr>
          <p:cNvSpPr/>
          <p:nvPr/>
        </p:nvSpPr>
        <p:spPr>
          <a:xfrm>
            <a:off x="2882462" y="6387320"/>
            <a:ext cx="140339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張僧繇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的老鷹畫得維妙維肖，野鳥以為是真的老鷹，所以不敢靠近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學生回答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E5866304-220E-CDC9-C7F4-53158E03D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515000"/>
              </p:ext>
            </p:extLst>
          </p:nvPr>
        </p:nvGraphicFramePr>
        <p:xfrm>
          <a:off x="1343385" y="7453498"/>
          <a:ext cx="16060271" cy="2162747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意義段一：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張僧繇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的畫維妙維肖，他畫的老鷹把野鳥嚇得不敢靠近。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E89E323D-0FF9-5FBB-7097-8F4E494E7940}"/>
              </a:ext>
            </a:extLst>
          </p:cNvPr>
          <p:cNvSpPr/>
          <p:nvPr/>
        </p:nvSpPr>
        <p:spPr>
          <a:xfrm>
            <a:off x="16100844" y="5841226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en-US" altLang="zh-TW" sz="2000" kern="1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8D44D-3696-7661-9A92-168830B0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D76AFA-B6B6-E3B0-9805-A926795E1503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921B2A4-DBA3-9E86-4B37-DE017ED05139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16EA193-70E9-B970-5164-D4BEAE798841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BE87461-694D-55A1-0028-47ECE90CB8CE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8FA8706-EB87-7F9D-3E16-01C042AC54B9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8E61003-A9B7-9FF4-A4E1-5EFAC9F8F5C9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34B91ED-62C7-8C21-2763-9ABDD4954F6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CD67ABAE-02D9-205B-276D-1F67E8D62FE0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41DFE4B0-C59F-77B3-4F53-F262E77FDACD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CA7F058B-CA8A-8D42-5873-15C78528838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BDBFE157-C324-B10E-209C-2BD556043867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AA204-4329-D545-C3E3-6A2B09521E4E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806D8E-4431-FBCF-C12D-B1A633DB4E4F}"/>
              </a:ext>
            </a:extLst>
          </p:cNvPr>
          <p:cNvSpPr/>
          <p:nvPr/>
        </p:nvSpPr>
        <p:spPr>
          <a:xfrm>
            <a:off x="1447800" y="2708423"/>
            <a:ext cx="44694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3-7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66750DAB-33BF-2DB6-6754-894192B8D743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9F2B37B-FF48-8FE7-9C0B-BFA37ED15CD4}"/>
              </a:ext>
            </a:extLst>
          </p:cNvPr>
          <p:cNvSpPr/>
          <p:nvPr/>
        </p:nvSpPr>
        <p:spPr>
          <a:xfrm>
            <a:off x="1447802" y="3586684"/>
            <a:ext cx="15632130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3-4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受邀來到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安樂寺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做什麼？完成後發生什麼事情？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4D541D-040F-5811-A3FF-B8281D880EA1}"/>
              </a:ext>
            </a:extLst>
          </p:cNvPr>
          <p:cNvSpPr/>
          <p:nvPr/>
        </p:nvSpPr>
        <p:spPr>
          <a:xfrm>
            <a:off x="14618457" y="3843453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筆記策略</a:t>
            </a:r>
            <a:endParaRPr lang="en-US" altLang="zh-TW" sz="2000" kern="1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EAF8655-393A-8F1D-C844-9F3C854D0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196294"/>
              </p:ext>
            </p:extLst>
          </p:nvPr>
        </p:nvGraphicFramePr>
        <p:xfrm>
          <a:off x="1260325" y="4785196"/>
          <a:ext cx="15982492" cy="43251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95623">
                  <a:extLst>
                    <a:ext uri="{9D8B030D-6E8A-4147-A177-3AD203B41FA5}">
                      <a16:colId xmlns:a16="http://schemas.microsoft.com/office/drawing/2014/main" val="2011613018"/>
                    </a:ext>
                  </a:extLst>
                </a:gridCol>
                <a:gridCol w="3995623">
                  <a:extLst>
                    <a:ext uri="{9D8B030D-6E8A-4147-A177-3AD203B41FA5}">
                      <a16:colId xmlns:a16="http://schemas.microsoft.com/office/drawing/2014/main" val="4215507051"/>
                    </a:ext>
                  </a:extLst>
                </a:gridCol>
                <a:gridCol w="3995623">
                  <a:extLst>
                    <a:ext uri="{9D8B030D-6E8A-4147-A177-3AD203B41FA5}">
                      <a16:colId xmlns:a16="http://schemas.microsoft.com/office/drawing/2014/main" val="3071475979"/>
                    </a:ext>
                  </a:extLst>
                </a:gridCol>
                <a:gridCol w="3995623">
                  <a:extLst>
                    <a:ext uri="{9D8B030D-6E8A-4147-A177-3AD203B41FA5}">
                      <a16:colId xmlns:a16="http://schemas.microsoft.com/office/drawing/2014/main" val="1419107872"/>
                    </a:ext>
                  </a:extLst>
                </a:gridCol>
              </a:tblGrid>
              <a:tr h="1244882"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28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r>
                        <a:rPr lang="zh-TW" altLang="en-US" sz="28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2800" b="1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張僧繇</a:t>
                      </a:r>
                      <a:r>
                        <a:rPr lang="zh-TW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受邀在</a:t>
                      </a:r>
                      <a:r>
                        <a:rPr lang="zh-TW" sz="2800" b="1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安樂寺</a:t>
                      </a:r>
                      <a:r>
                        <a:rPr lang="zh-TW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牆上做什麼事</a:t>
                      </a:r>
                      <a:r>
                        <a:rPr lang="en-US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？</a:t>
                      </a:r>
                      <a:r>
                        <a:rPr lang="zh-TW" altLang="en-US" sz="2800" b="1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</a:t>
                      </a:r>
                      <a:r>
                        <a:rPr lang="zh-TW" altLang="en-US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b="1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完成後大家的反應如何</a:t>
                      </a:r>
                      <a:r>
                        <a:rPr lang="en-US" sz="2800" b="1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?</a:t>
                      </a:r>
                      <a:endParaRPr lang="zh-TW" sz="2800" b="1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現場小插曲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567617"/>
                  </a:ext>
                </a:extLst>
              </a:tr>
              <a:tr h="308028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28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r>
                        <a:rPr lang="zh-TW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畫得逼真，大家</a:t>
                      </a:r>
                      <a:endParaRPr lang="en-US" altLang="zh-TW" sz="2800" b="1" kern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28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</a:t>
                      </a:r>
                      <a:r>
                        <a:rPr lang="en-US" sz="28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</a:t>
                      </a:r>
                      <a:r>
                        <a:rPr lang="zh-TW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❸</a:t>
                      </a:r>
                      <a:r>
                        <a:rPr lang="zh-TW" altLang="en-US" sz="28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站在牆前的老奶奶怎麼了</a:t>
                      </a:r>
                      <a:r>
                        <a:rPr lang="en-US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？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28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</a:t>
                      </a:r>
                      <a:r>
                        <a:rPr lang="zh-TW" sz="2800" b="1" u="none" kern="0" dirty="0">
                          <a:solidFill>
                            <a:schemeClr val="bg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br>
                        <a:rPr lang="en-US" altLang="zh-TW" sz="2800" b="1" u="none" kern="0" dirty="0">
                          <a:solidFill>
                            <a:schemeClr val="bg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zh-TW" sz="28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sz="28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</a:t>
                      </a:r>
                      <a:r>
                        <a:rPr lang="en-US" sz="2800" b="1" u="none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2800" b="1" u="none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❹</a:t>
                      </a:r>
                      <a:r>
                        <a:rPr lang="zh-TW" altLang="en-US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孫子有什麼反應</a:t>
                      </a:r>
                      <a:r>
                        <a:rPr lang="en-US" sz="28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？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28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</a:t>
                      </a:r>
                      <a:r>
                        <a:rPr lang="zh-TW" sz="2800" b="1" u="sng" kern="0" dirty="0">
                          <a:solidFill>
                            <a:schemeClr val="bg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en-US" altLang="zh-TW" sz="2800" b="1" u="sng" kern="0" dirty="0">
                        <a:solidFill>
                          <a:schemeClr val="bg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2800" b="1" u="sng" kern="0" dirty="0">
                          <a:solidFill>
                            <a:schemeClr val="bg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</a:t>
                      </a:r>
                      <a:r>
                        <a:rPr lang="zh-TW" altLang="en-US" sz="2800" b="1" u="none" kern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r>
                        <a:rPr lang="en-US" sz="2800" b="1" u="sng" kern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</a:t>
                      </a:r>
                      <a:r>
                        <a:rPr lang="en-US" sz="2800" b="1" u="sng" kern="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</a:t>
                      </a:r>
                      <a:endParaRPr lang="zh-TW" sz="28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458304"/>
                  </a:ext>
                </a:extLst>
              </a:tr>
            </a:tbl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B76616E8-7DAE-0AF2-0B5D-BEDB9C4D0A3A}"/>
              </a:ext>
            </a:extLst>
          </p:cNvPr>
          <p:cNvSpPr/>
          <p:nvPr/>
        </p:nvSpPr>
        <p:spPr>
          <a:xfrm>
            <a:off x="2895600" y="7060706"/>
            <a:ext cx="297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畫龍    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0BB40A-74A0-E252-211D-9BB40D60E8BA}"/>
              </a:ext>
            </a:extLst>
          </p:cNvPr>
          <p:cNvSpPr/>
          <p:nvPr/>
        </p:nvSpPr>
        <p:spPr>
          <a:xfrm>
            <a:off x="4953000" y="7668280"/>
            <a:ext cx="297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讚嘆不已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12516B3-20F0-2A39-0200-BE54A955ECF7}"/>
              </a:ext>
            </a:extLst>
          </p:cNvPr>
          <p:cNvSpPr/>
          <p:nvPr/>
        </p:nvSpPr>
        <p:spPr>
          <a:xfrm>
            <a:off x="9296399" y="7505700"/>
            <a:ext cx="3871933" cy="1305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被畫嚇到，拉著孫子的手跑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2B39BA-D67D-4CF5-CD11-76FFF30EDC19}"/>
              </a:ext>
            </a:extLst>
          </p:cNvPr>
          <p:cNvSpPr/>
          <p:nvPr/>
        </p:nvSpPr>
        <p:spPr>
          <a:xfrm>
            <a:off x="13349267" y="7190493"/>
            <a:ext cx="3871933" cy="1305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指著龍說：龍沒眼睛，是假的</a:t>
            </a:r>
          </a:p>
        </p:txBody>
      </p:sp>
    </p:spTree>
    <p:extLst>
      <p:ext uri="{BB962C8B-B14F-4D97-AF65-F5344CB8AC3E}">
        <p14:creationId xmlns:p14="http://schemas.microsoft.com/office/powerpoint/2010/main" val="382856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5" grpId="0"/>
      <p:bldP spid="18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1DA08-ED59-5909-F207-189B0BC8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3C5099-3A39-06AC-B004-9C6E60AC7686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516720-4C03-4FF2-BF2D-DB490F3E224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2A7B776-55DA-161A-FE4E-D883BFFDF323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36B7FA98-F1CD-7B7B-15B1-AA2E7E54528D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163C4CE-454C-872A-A3D7-4712976DE631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01DB097-A10D-ADC4-F586-3BC93239C17A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463BE92A-DDC0-0CFF-94B6-59B728ABC3F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793BD630-CFAF-9EC4-70B0-072B37D8A5A0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FCBBEFF8-5577-B86E-0122-8906781CCED2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69435FC-B535-983D-FE0D-B03D55EC778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8280BA8A-CC1B-8094-896B-2A5A35BA2948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23F5C3-BC8C-6895-BD8C-16019ADAFB27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34E074-5860-EE98-6620-D702418FE715}"/>
              </a:ext>
            </a:extLst>
          </p:cNvPr>
          <p:cNvSpPr/>
          <p:nvPr/>
        </p:nvSpPr>
        <p:spPr>
          <a:xfrm>
            <a:off x="1447800" y="2708423"/>
            <a:ext cx="44694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3-7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92695F00-DE84-B69F-9488-9E3EBC6B3F86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BE2DF0-04A9-ACB8-0719-EA81F9C7980D}"/>
              </a:ext>
            </a:extLst>
          </p:cNvPr>
          <p:cNvSpPr/>
          <p:nvPr/>
        </p:nvSpPr>
        <p:spPr>
          <a:xfrm>
            <a:off x="1447802" y="3586684"/>
            <a:ext cx="15632130" cy="3695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請問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在畫完四條龍後，為什麼不幫龍畫眼睛？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因為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                      </a:t>
            </a: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在圍觀者吵鬧聲越來越大的情況下，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決定怎麼做？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拿起畫筆，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                             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DB0AEB-0502-E1BF-9C09-B6A877D5608F}"/>
              </a:ext>
            </a:extLst>
          </p:cNvPr>
          <p:cNvSpPr/>
          <p:nvPr/>
        </p:nvSpPr>
        <p:spPr>
          <a:xfrm>
            <a:off x="11299358" y="3820068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en-US" altLang="zh-TW" sz="2000" kern="1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E0258FC-6D5B-553C-5117-EC8115533C89}"/>
              </a:ext>
            </a:extLst>
          </p:cNvPr>
          <p:cNvSpPr/>
          <p:nvPr/>
        </p:nvSpPr>
        <p:spPr>
          <a:xfrm>
            <a:off x="1267867" y="4423036"/>
            <a:ext cx="739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畫上眼睛，龍就會飛走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2D73E3-6C72-01FB-C1EE-FF272D40BBC5}"/>
              </a:ext>
            </a:extLst>
          </p:cNvPr>
          <p:cNvSpPr/>
          <p:nvPr/>
        </p:nvSpPr>
        <p:spPr>
          <a:xfrm>
            <a:off x="12157725" y="5299890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en-US" altLang="zh-TW" sz="2000" kern="1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518B44-5303-0EFD-1485-BACD84FBBE67}"/>
              </a:ext>
            </a:extLst>
          </p:cNvPr>
          <p:cNvSpPr/>
          <p:nvPr/>
        </p:nvSpPr>
        <p:spPr>
          <a:xfrm>
            <a:off x="2535735" y="5852449"/>
            <a:ext cx="739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給其中兩條龍點上眼珠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13EC4CDF-2D9B-AE95-9D19-B9AB058BB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506224"/>
              </p:ext>
            </p:extLst>
          </p:nvPr>
        </p:nvGraphicFramePr>
        <p:xfrm>
          <a:off x="1447800" y="6957060"/>
          <a:ext cx="15726335" cy="2286000"/>
        </p:xfrm>
        <a:graphic>
          <a:graphicData uri="http://schemas.openxmlformats.org/drawingml/2006/table">
            <a:tbl>
              <a:tblPr firstRow="1" firstCol="1" bandRow="1"/>
              <a:tblGrid>
                <a:gridCol w="15726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意義段二</a:t>
                      </a:r>
                      <a:r>
                        <a:rPr lang="en-US" altLang="zh-TW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三：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張僧繇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受邀畫龍，畫完後圍觀者為點眼睛爭吵，最後</a:t>
                      </a: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張僧繇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給其中兩條龍點上眼珠。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17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EC6F9-DF33-432A-2B6C-45B4C25A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D638BD-011B-F7D3-3B16-E8815FC996A1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C27B131-9F4D-77B4-504B-498B0F89A3CD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259FF3B-4BC2-FD2B-ED45-602023AE1060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A93B8D77-D532-6300-295A-8D540C5CAB60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08E8840-DA38-463C-4EE5-E759EF043960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1BE53B9-D24C-B675-537F-A13DBAE234B5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7DA6C68D-A80F-9B1D-32F4-4751C92FB65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66AA3514-05F0-5AA4-221F-15237DE8D617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BF07133-B8C6-B634-CC20-B558C221D083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C1466660-60C9-22B3-9735-EE990CACC93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93465AF1-6D6A-B9C8-36A9-8310425B6E2D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35522A-BAF9-B4F1-0C26-229FEA78E177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ADEE3ADC-6393-71CF-76D1-E1D67130545F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65B0BA-F250-BDEA-E954-18DD6D1B540F}"/>
              </a:ext>
            </a:extLst>
          </p:cNvPr>
          <p:cNvSpPr/>
          <p:nvPr/>
        </p:nvSpPr>
        <p:spPr>
          <a:xfrm>
            <a:off x="1447802" y="3467100"/>
            <a:ext cx="15632130" cy="2217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安樂寺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的牆上最後只剩下什麼？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兩條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60B2D8A-AB8E-646F-AC5F-128D0701EB59}"/>
              </a:ext>
            </a:extLst>
          </p:cNvPr>
          <p:cNvSpPr/>
          <p:nvPr/>
        </p:nvSpPr>
        <p:spPr>
          <a:xfrm>
            <a:off x="7772400" y="3746088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en-US" altLang="zh-TW" sz="2000" kern="1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1BE935-1AF4-CCB6-5AA1-68757F5CAF50}"/>
              </a:ext>
            </a:extLst>
          </p:cNvPr>
          <p:cNvSpPr/>
          <p:nvPr/>
        </p:nvSpPr>
        <p:spPr>
          <a:xfrm>
            <a:off x="1981200" y="4298680"/>
            <a:ext cx="51422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沒有畫眼珠的龍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E83724-1D59-AE03-F965-28B39E2BEE7F}"/>
              </a:ext>
            </a:extLst>
          </p:cNvPr>
          <p:cNvSpPr/>
          <p:nvPr/>
        </p:nvSpPr>
        <p:spPr>
          <a:xfrm>
            <a:off x="1447800" y="270842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意義段四：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B28A544F-75CB-9900-3B50-A0EBF7D93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605431"/>
              </p:ext>
            </p:extLst>
          </p:nvPr>
        </p:nvGraphicFramePr>
        <p:xfrm>
          <a:off x="1447800" y="5684951"/>
          <a:ext cx="15880338" cy="1827467"/>
        </p:xfrm>
        <a:graphic>
          <a:graphicData uri="http://schemas.openxmlformats.org/drawingml/2006/table">
            <a:tbl>
              <a:tblPr firstRow="1" firstCol="1" bandRow="1"/>
              <a:tblGrid>
                <a:gridCol w="15880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意義段四：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點上眼珠的龍飛走，牆上只剩下兩條沒有畫眼珠的龍。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3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/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49043" y="3009900"/>
            <a:ext cx="15389914" cy="5172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請再默讀一次文本，第一段的「維妙維肖」畫螢光筆，接著邊讀邊找出「可以用來證明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的畫維妙維肖」的文句，並在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課本中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用螢光筆做上記號。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如果你是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，面對第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段的事情時，你會怎麼做？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張僧繇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「畫龍點睛」這則故事，想告訴我們什麼事情？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8AC2F197-BCF0-39EF-B8E6-699A30CAA6D8}"/>
              </a:ext>
            </a:extLst>
          </p:cNvPr>
          <p:cNvSpPr/>
          <p:nvPr/>
        </p:nvSpPr>
        <p:spPr>
          <a:xfrm>
            <a:off x="5482273" y="12670310"/>
            <a:ext cx="422361" cy="494561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FDF139-5035-B6AE-3281-0CA383D24FF7}"/>
              </a:ext>
            </a:extLst>
          </p:cNvPr>
          <p:cNvSpPr/>
          <p:nvPr/>
        </p:nvSpPr>
        <p:spPr>
          <a:xfrm>
            <a:off x="1981200" y="5188313"/>
            <a:ext cx="14712361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我會在牆角畫一隻小龍，再點上眼睛，這樣飛走的小龍比較小不會傷害到別人。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學生回答 </a:t>
            </a: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314D56AC-2490-D6A0-0142-7545AF455F98}"/>
              </a:ext>
            </a:extLst>
          </p:cNvPr>
          <p:cNvCxnSpPr>
            <a:cxnSpLocks/>
          </p:cNvCxnSpPr>
          <p:nvPr/>
        </p:nvCxnSpPr>
        <p:spPr>
          <a:xfrm>
            <a:off x="1981201" y="5935935"/>
            <a:ext cx="1471236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F00140AA-4827-CC90-89ED-2373F8752BE4}"/>
              </a:ext>
            </a:extLst>
          </p:cNvPr>
          <p:cNvSpPr/>
          <p:nvPr/>
        </p:nvSpPr>
        <p:spPr>
          <a:xfrm>
            <a:off x="1981200" y="7399064"/>
            <a:ext cx="14712361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張僧繇的畫作逼真，神態栩栩如生。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眼睛是龍的精神所在，畫上眼睛後，龍更傳神更出神入化了。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學生回答</a:t>
            </a:r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CD160252-4526-7907-0949-B74E739A1BD4}"/>
              </a:ext>
            </a:extLst>
          </p:cNvPr>
          <p:cNvCxnSpPr>
            <a:cxnSpLocks/>
          </p:cNvCxnSpPr>
          <p:nvPr/>
        </p:nvCxnSpPr>
        <p:spPr>
          <a:xfrm>
            <a:off x="1981200" y="6667500"/>
            <a:ext cx="1471236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9D232A21-FBC1-C72A-304B-3FF729A706CF}"/>
              </a:ext>
            </a:extLst>
          </p:cNvPr>
          <p:cNvCxnSpPr>
            <a:cxnSpLocks/>
          </p:cNvCxnSpPr>
          <p:nvPr/>
        </p:nvCxnSpPr>
        <p:spPr>
          <a:xfrm>
            <a:off x="2043458" y="8154306"/>
            <a:ext cx="1471236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E1A817F8-FC49-4814-6261-387EAB4EF74E}"/>
              </a:ext>
            </a:extLst>
          </p:cNvPr>
          <p:cNvCxnSpPr>
            <a:cxnSpLocks/>
          </p:cNvCxnSpPr>
          <p:nvPr/>
        </p:nvCxnSpPr>
        <p:spPr>
          <a:xfrm>
            <a:off x="2043457" y="8885871"/>
            <a:ext cx="1471236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1943197" y="5287779"/>
            <a:ext cx="4826491" cy="5189775"/>
          </a:xfrm>
          <a:custGeom>
            <a:avLst/>
            <a:gdLst/>
            <a:ahLst/>
            <a:cxnLst/>
            <a:rect l="l" t="t" r="r" b="b"/>
            <a:pathLst>
              <a:path w="4826491" h="5189775">
                <a:moveTo>
                  <a:pt x="0" y="0"/>
                </a:moveTo>
                <a:lnTo>
                  <a:pt x="4826491" y="0"/>
                </a:lnTo>
                <a:lnTo>
                  <a:pt x="4826491" y="5189775"/>
                </a:lnTo>
                <a:lnTo>
                  <a:pt x="0" y="518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4139970" y="5600700"/>
            <a:ext cx="3878036" cy="4686300"/>
          </a:xfrm>
          <a:custGeom>
            <a:avLst/>
            <a:gdLst/>
            <a:ahLst/>
            <a:cxnLst/>
            <a:rect l="l" t="t" r="r" b="b"/>
            <a:pathLst>
              <a:path w="5308092" h="8229600">
                <a:moveTo>
                  <a:pt x="0" y="0"/>
                </a:moveTo>
                <a:lnTo>
                  <a:pt x="5308092" y="0"/>
                </a:lnTo>
                <a:lnTo>
                  <a:pt x="5308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255462" y="3808331"/>
            <a:ext cx="1600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本課閱讀理解提問單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學習完畢</a:t>
            </a:r>
            <a:r>
              <a:rPr lang="en-US" altLang="zh-TW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</TotalTime>
  <Words>903</Words>
  <Application>Microsoft Macintosh PowerPoint</Application>
  <PresentationFormat>自訂</PresentationFormat>
  <Paragraphs>100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微軟正黑體</vt:lpstr>
      <vt:lpstr>Arial</vt:lpstr>
      <vt:lpstr>王漢宗特黑體</vt:lpstr>
      <vt:lpstr>微軟正黑體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趙曼貽</dc:creator>
  <cp:lastModifiedBy>綺雯 林</cp:lastModifiedBy>
  <cp:revision>139</cp:revision>
  <dcterms:created xsi:type="dcterms:W3CDTF">2006-08-16T00:00:00Z</dcterms:created>
  <dcterms:modified xsi:type="dcterms:W3CDTF">2025-10-05T15:04:33Z</dcterms:modified>
  <dc:identifier>DAGWD1Ntyd0</dc:identifier>
</cp:coreProperties>
</file>