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69" r:id="rId6"/>
    <p:sldId id="272" r:id="rId7"/>
    <p:sldId id="285" r:id="rId8"/>
    <p:sldId id="279" r:id="rId9"/>
    <p:sldId id="281" r:id="rId10"/>
    <p:sldId id="259" r:id="rId11"/>
    <p:sldId id="288" r:id="rId12"/>
    <p:sldId id="289" r:id="rId13"/>
    <p:sldId id="266" r:id="rId14"/>
  </p:sldIdLst>
  <p:sldSz cx="18288000" cy="10287000"/>
  <p:notesSz cx="6858000" cy="9144000"/>
  <p:embeddedFontLst>
    <p:embeddedFont>
      <p:font typeface="王漢宗特黑體" panose="02000500000000000000" pitchFamily="2" charset="-120"/>
      <p:regular r:id="rId16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標楷體" panose="03000509000000000000" pitchFamily="49" charset="-12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9D9"/>
    <a:srgbClr val="FFE2C7"/>
    <a:srgbClr val="CBC1DA"/>
    <a:srgbClr val="EB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94698" autoAdjust="0"/>
  </p:normalViewPr>
  <p:slideViewPr>
    <p:cSldViewPr>
      <p:cViewPr varScale="1">
        <p:scale>
          <a:sx n="50" d="100"/>
          <a:sy n="50" d="100"/>
        </p:scale>
        <p:origin x="216" y="9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4770582" y="5483431"/>
            <a:ext cx="94686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L06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月世界之旅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028699" y="2781300"/>
            <a:ext cx="14820901" cy="2894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一聽到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，你第一個想到的畫面是什麼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請寫下來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從影片中你看到了什麼值得記下來的重點。可以用圖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文的方式快速記錄。</a:t>
            </a:r>
            <a:endParaRPr lang="en-US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1226008-E42B-5BE0-4013-6298197F4D0F}"/>
              </a:ext>
            </a:extLst>
          </p:cNvPr>
          <p:cNvSpPr/>
          <p:nvPr/>
        </p:nvSpPr>
        <p:spPr>
          <a:xfrm>
            <a:off x="1530005" y="3972396"/>
            <a:ext cx="124907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像月球一樣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沒有植物生長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學生回答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6051289-5404-CC83-785C-D7CE84B6B9CB}"/>
              </a:ext>
            </a:extLst>
          </p:cNvPr>
          <p:cNvCxnSpPr>
            <a:cxnSpLocks/>
          </p:cNvCxnSpPr>
          <p:nvPr/>
        </p:nvCxnSpPr>
        <p:spPr>
          <a:xfrm>
            <a:off x="1600200" y="4533900"/>
            <a:ext cx="118914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86EDCF6D-A47F-FF74-AC52-05DB9FBC2434}"/>
              </a:ext>
            </a:extLst>
          </p:cNvPr>
          <p:cNvSpPr/>
          <p:nvPr/>
        </p:nvSpPr>
        <p:spPr>
          <a:xfrm>
            <a:off x="15011400" y="5143500"/>
            <a:ext cx="2438400" cy="400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數位閱讀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3AAB9A8-F6A4-9927-53DA-45DA1DE0E9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45" y="959607"/>
            <a:ext cx="1446123" cy="144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圓角矩形 14">
            <a:extLst>
              <a:ext uri="{FF2B5EF4-FFF2-40B4-BE49-F238E27FC236}">
                <a16:creationId xmlns:a16="http://schemas.microsoft.com/office/drawing/2014/main" id="{C00C0770-0714-B176-14AA-9805700B55D9}"/>
              </a:ext>
            </a:extLst>
          </p:cNvPr>
          <p:cNvSpPr/>
          <p:nvPr/>
        </p:nvSpPr>
        <p:spPr>
          <a:xfrm>
            <a:off x="1059806" y="6057899"/>
            <a:ext cx="15551793" cy="3513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DAB019-C34F-46AB-9086-790EC8646C2A}"/>
              </a:ext>
            </a:extLst>
          </p:cNvPr>
          <p:cNvSpPr/>
          <p:nvPr/>
        </p:nvSpPr>
        <p:spPr>
          <a:xfrm>
            <a:off x="2760956" y="1951132"/>
            <a:ext cx="6571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2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參考影片：                                                               </a:t>
            </a:r>
            <a:endParaRPr lang="zh-TW" altLang="zh-TW" sz="24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337828-AD0A-F009-1D38-0AA1F2E7EAC9}"/>
              </a:ext>
            </a:extLst>
          </p:cNvPr>
          <p:cNvSpPr/>
          <p:nvPr/>
        </p:nvSpPr>
        <p:spPr>
          <a:xfrm>
            <a:off x="2133600" y="2473523"/>
            <a:ext cx="49841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https://</a:t>
            </a:r>
            <a:r>
              <a:rPr lang="en-US" altLang="zh-TW" sz="1400" u="sng" kern="100" dirty="0" err="1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youtu.be</a:t>
            </a:r>
            <a:r>
              <a:rPr lang="en-US" altLang="zh-TW" sz="1400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/EXXcJ89BCN4?si=6UtsYq7v6WQcjD09</a:t>
            </a:r>
            <a:endParaRPr lang="zh-TW" altLang="en-US" sz="14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78ED27D-27C9-2283-BA1B-7993B78F84A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84570" y="1894156"/>
            <a:ext cx="557336" cy="557336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05B58C38-7CF3-7F07-CCA9-F2D26F5FD24E}"/>
              </a:ext>
            </a:extLst>
          </p:cNvPr>
          <p:cNvSpPr txBox="1"/>
          <p:nvPr/>
        </p:nvSpPr>
        <p:spPr>
          <a:xfrm>
            <a:off x="577538" y="2453378"/>
            <a:ext cx="1358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kern="100" dirty="0"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下課花路米</a:t>
            </a:r>
            <a:r>
              <a:rPr lang="zh-TW" altLang="zh-TW" dirty="0">
                <a:effectLst/>
              </a:rPr>
              <a:t>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343663"/>
            <a:ext cx="5542194" cy="1275837"/>
            <a:chOff x="0" y="0"/>
            <a:chExt cx="2188840" cy="1097141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28729" y="2704007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0" y="3823039"/>
            <a:ext cx="15315294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請以「言」為部件，加上偏旁形成另一個新字後，再造一個詞。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請小心造詞，因為最後是使用你造的詞來造長句喔！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159B49-469A-62DF-479F-6C2FBEABB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105509"/>
              </p:ext>
            </p:extLst>
          </p:nvPr>
        </p:nvGraphicFramePr>
        <p:xfrm>
          <a:off x="2183754" y="5629576"/>
          <a:ext cx="15315293" cy="3918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1403">
                  <a:extLst>
                    <a:ext uri="{9D8B030D-6E8A-4147-A177-3AD203B41FA5}">
                      <a16:colId xmlns:a16="http://schemas.microsoft.com/office/drawing/2014/main" val="4227290386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1199907279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2526551720"/>
                    </a:ext>
                  </a:extLst>
                </a:gridCol>
                <a:gridCol w="8131164">
                  <a:extLst>
                    <a:ext uri="{9D8B030D-6E8A-4147-A177-3AD203B41FA5}">
                      <a16:colId xmlns:a16="http://schemas.microsoft.com/office/drawing/2014/main" val="1713945109"/>
                    </a:ext>
                  </a:extLst>
                </a:gridCol>
              </a:tblGrid>
              <a:tr h="133251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部件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加偏旁成新字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注音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造詞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句中放入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並加入想像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情境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，最後也要加入自己的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感受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，成為完整一小段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128580"/>
                  </a:ext>
                </a:extLst>
              </a:tr>
              <a:tr h="1292777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言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68531"/>
                  </a:ext>
                </a:extLst>
              </a:tr>
              <a:tr h="12927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920869"/>
                  </a:ext>
                </a:extLst>
              </a:tr>
            </a:tbl>
          </a:graphicData>
        </a:graphic>
      </p:graphicFrame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C946FF2-70E8-EB66-089A-C7F21CA6E501}"/>
              </a:ext>
            </a:extLst>
          </p:cNvPr>
          <p:cNvCxnSpPr>
            <a:cxnSpLocks/>
          </p:cNvCxnSpPr>
          <p:nvPr/>
        </p:nvCxnSpPr>
        <p:spPr>
          <a:xfrm>
            <a:off x="9677400" y="7581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9E78C2AF-B619-7EBA-47F5-0D9A9D7BFAF8}"/>
              </a:ext>
            </a:extLst>
          </p:cNvPr>
          <p:cNvCxnSpPr>
            <a:cxnSpLocks/>
          </p:cNvCxnSpPr>
          <p:nvPr/>
        </p:nvCxnSpPr>
        <p:spPr>
          <a:xfrm>
            <a:off x="9677400" y="8343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3DC4F53-A7E5-1AC7-989F-10CF60CBF444}"/>
              </a:ext>
            </a:extLst>
          </p:cNvPr>
          <p:cNvCxnSpPr>
            <a:cxnSpLocks/>
          </p:cNvCxnSpPr>
          <p:nvPr/>
        </p:nvCxnSpPr>
        <p:spPr>
          <a:xfrm>
            <a:off x="9677400" y="90297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89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17223" y="2797981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4725770"/>
            <a:ext cx="7374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040751" y="4664214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A7FBB223-29C5-A110-9736-920F3F883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162583"/>
              </p:ext>
            </p:extLst>
          </p:nvPr>
        </p:nvGraphicFramePr>
        <p:xfrm>
          <a:off x="2535734" y="5656134"/>
          <a:ext cx="15218866" cy="3688749"/>
        </p:xfrm>
        <a:graphic>
          <a:graphicData uri="http://schemas.openxmlformats.org/drawingml/2006/table">
            <a:tbl>
              <a:tblPr firstRow="1" firstCol="1" bandRow="1"/>
              <a:tblGrid>
                <a:gridCol w="222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架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緣起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經過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總結 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一、戶外教育到</a:t>
                      </a:r>
                      <a:r>
                        <a:rPr lang="zh-TW" altLang="en-US" sz="3200" b="1" u="sng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月世界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              )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實際樣貌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三、難忘的景色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3-4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7653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E2DE042C-A762-6C7B-3439-8F081C654486}"/>
              </a:ext>
            </a:extLst>
          </p:cNvPr>
          <p:cNvSpPr/>
          <p:nvPr/>
        </p:nvSpPr>
        <p:spPr>
          <a:xfrm>
            <a:off x="6471177" y="8395438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1 -2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7BD861-2321-8DF8-86CA-976E20CD6CD2}"/>
              </a:ext>
            </a:extLst>
          </p:cNvPr>
          <p:cNvSpPr/>
          <p:nvPr/>
        </p:nvSpPr>
        <p:spPr>
          <a:xfrm>
            <a:off x="15316200" y="8456992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16FA18-7BD6-C1B2-2E71-BCC5D52DADFA}"/>
              </a:ext>
            </a:extLst>
          </p:cNvPr>
          <p:cNvSpPr/>
          <p:nvPr/>
        </p:nvSpPr>
        <p:spPr>
          <a:xfrm>
            <a:off x="10210800" y="7225207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endParaRPr lang="zh-TW" altLang="zh-TW" sz="3200" b="1" u="sng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5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2" y="3548615"/>
            <a:ext cx="15632130" cy="3695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作者想像中的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是什麼樣子？請你畫出來，並用色鉛筆塗上顏色。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因為什麼原因，作者可以拜訪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因為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8" name="矩形 27"/>
          <p:cNvSpPr/>
          <p:nvPr/>
        </p:nvSpPr>
        <p:spPr>
          <a:xfrm>
            <a:off x="2819400" y="6515100"/>
            <a:ext cx="36456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戶外教育到</a:t>
            </a:r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月世界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9DCBD-7560-FCB8-58D4-CA9AC68C3ECF}"/>
              </a:ext>
            </a:extLst>
          </p:cNvPr>
          <p:cNvSpPr/>
          <p:nvPr/>
        </p:nvSpPr>
        <p:spPr>
          <a:xfrm>
            <a:off x="14618457" y="3800011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理解監控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75F751-9737-C4BF-4E33-EFF38815678B}"/>
              </a:ext>
            </a:extLst>
          </p:cNvPr>
          <p:cNvSpPr/>
          <p:nvPr/>
        </p:nvSpPr>
        <p:spPr>
          <a:xfrm>
            <a:off x="9085822" y="5981700"/>
            <a:ext cx="3898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77977442-6CCB-7A29-13FD-6A3164258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962818"/>
              </p:ext>
            </p:extLst>
          </p:nvPr>
        </p:nvGraphicFramePr>
        <p:xfrm>
          <a:off x="1447800" y="7697426"/>
          <a:ext cx="16060271" cy="1615440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作者全班因戶外教育來到</a:t>
                      </a: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月世界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9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508254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0" y="3353321"/>
            <a:ext cx="15623331" cy="5911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段與第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段文本，知道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在作者拜訪前的想像，和拜訪後實際看到的景色截然不同。請藉由下方表格整理出訊息。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看完第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給你什麼感受？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給我感受是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188888-9661-7BA3-545A-C3DED6DABF93}"/>
              </a:ext>
            </a:extLst>
          </p:cNvPr>
          <p:cNvSpPr/>
          <p:nvPr/>
        </p:nvSpPr>
        <p:spPr>
          <a:xfrm>
            <a:off x="9526433" y="4303253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 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0951457B-2196-50F4-D334-44FE1BE2D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324237"/>
              </p:ext>
            </p:extLst>
          </p:nvPr>
        </p:nvGraphicFramePr>
        <p:xfrm>
          <a:off x="1870314" y="5085332"/>
          <a:ext cx="14776877" cy="2612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8871">
                  <a:extLst>
                    <a:ext uri="{9D8B030D-6E8A-4147-A177-3AD203B41FA5}">
                      <a16:colId xmlns:a16="http://schemas.microsoft.com/office/drawing/2014/main" val="2426661722"/>
                    </a:ext>
                  </a:extLst>
                </a:gridCol>
                <a:gridCol w="7771415">
                  <a:extLst>
                    <a:ext uri="{9D8B030D-6E8A-4147-A177-3AD203B41FA5}">
                      <a16:colId xmlns:a16="http://schemas.microsoft.com/office/drawing/2014/main" val="426650286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49426843"/>
                    </a:ext>
                  </a:extLst>
                </a:gridCol>
                <a:gridCol w="2169191">
                  <a:extLst>
                    <a:ext uri="{9D8B030D-6E8A-4147-A177-3AD203B41FA5}">
                      <a16:colId xmlns:a16="http://schemas.microsoft.com/office/drawing/2014/main" val="3830239725"/>
                    </a:ext>
                  </a:extLst>
                </a:gridCol>
              </a:tblGrid>
              <a:tr h="7762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月世界</a:t>
                      </a:r>
                      <a:endParaRPr lang="zh-TW" sz="3200" b="1" u="sng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顏色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感受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178129"/>
                  </a:ext>
                </a:extLst>
              </a:tr>
              <a:tr h="7762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想像的</a:t>
                      </a:r>
                      <a:r>
                        <a:rPr lang="zh-TW" sz="3200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月世界</a:t>
                      </a:r>
                      <a:endParaRPr lang="zh-TW" sz="3200" u="sng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月亮映在湖水上，群山圍繞著湖。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色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安靜神祕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001109"/>
                  </a:ext>
                </a:extLst>
              </a:tr>
              <a:tr h="1059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實際的</a:t>
                      </a:r>
                      <a:r>
                        <a:rPr lang="zh-TW" sz="3200" u="sng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月世界</a:t>
                      </a:r>
                      <a:endParaRPr lang="zh-TW" sz="3200" u="sng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山丘如灰色紋路的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，沒有草木生長。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色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400014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202BF8D2-D80D-2F62-D1A0-30CB38E289EC}"/>
              </a:ext>
            </a:extLst>
          </p:cNvPr>
          <p:cNvSpPr/>
          <p:nvPr/>
        </p:nvSpPr>
        <p:spPr>
          <a:xfrm>
            <a:off x="6159063" y="6819900"/>
            <a:ext cx="4724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F3B267-5D2F-839C-25EF-AEA94A45A6E3}"/>
              </a:ext>
            </a:extLst>
          </p:cNvPr>
          <p:cNvSpPr/>
          <p:nvPr/>
        </p:nvSpPr>
        <p:spPr>
          <a:xfrm>
            <a:off x="10908863" y="6880758"/>
            <a:ext cx="4724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F1A726-EB0A-E845-8CA5-422CA32AE756}"/>
              </a:ext>
            </a:extLst>
          </p:cNvPr>
          <p:cNvSpPr/>
          <p:nvPr/>
        </p:nvSpPr>
        <p:spPr>
          <a:xfrm>
            <a:off x="10883463" y="5942374"/>
            <a:ext cx="4724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0842162-8A37-9790-6F6D-18FC9B39A597}"/>
              </a:ext>
            </a:extLst>
          </p:cNvPr>
          <p:cNvSpPr/>
          <p:nvPr/>
        </p:nvSpPr>
        <p:spPr>
          <a:xfrm>
            <a:off x="5626679" y="8496300"/>
            <a:ext cx="4724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學生回答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灰暗死寂 </a:t>
            </a:r>
          </a:p>
        </p:txBody>
      </p:sp>
      <p:cxnSp>
        <p:nvCxnSpPr>
          <p:cNvPr id="26" name="肘形接點 25">
            <a:extLst>
              <a:ext uri="{FF2B5EF4-FFF2-40B4-BE49-F238E27FC236}">
                <a16:creationId xmlns:a16="http://schemas.microsoft.com/office/drawing/2014/main" id="{E6DEE71B-6126-1DE8-FD20-D24F0A64B8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833538" y="7497354"/>
            <a:ext cx="4787462" cy="1379946"/>
          </a:xfrm>
          <a:prstGeom prst="bentConnector3">
            <a:avLst>
              <a:gd name="adj1" fmla="val 128"/>
            </a:avLst>
          </a:prstGeom>
          <a:ln w="3492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3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F795D-2AF5-D428-4151-992C71C9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612391-E821-E3D0-7D6E-647193E8E7CD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0E09DE-2AD4-D815-7E25-079DD673EBDB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471A43B-AB18-0CA5-6271-B3727FC7872B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0A5B187F-9A07-8014-9106-868AD7BC51CD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5278FA9-C42A-5AD0-36B9-424FC29BD12C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EFA9F13-C30B-89C9-8A03-2B96A6E98D48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2B6C2670-0EA9-4CA2-9DC7-C4F60842532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82B8F59D-EFF1-7F45-EAE9-414C20363235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8326B59F-2D75-877F-D2E1-E002064CF955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8ED8C873-8FB8-8205-5CDF-CE08090C447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9859FD7-8EFC-F265-49A7-04AA1072624C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214584-C73A-6F59-A955-A98D059512BA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4FA376-C4E6-A62D-CB7E-0DA483D67525}"/>
              </a:ext>
            </a:extLst>
          </p:cNvPr>
          <p:cNvSpPr/>
          <p:nvPr/>
        </p:nvSpPr>
        <p:spPr>
          <a:xfrm>
            <a:off x="1447800" y="2508254"/>
            <a:ext cx="3958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1C38AE4C-B4DD-DD2E-C7B2-92973D679641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A7435B7-7F45-5121-34E6-DEE250AB8465}"/>
              </a:ext>
            </a:extLst>
          </p:cNvPr>
          <p:cNvSpPr/>
          <p:nvPr/>
        </p:nvSpPr>
        <p:spPr>
          <a:xfrm>
            <a:off x="1447800" y="3279161"/>
            <a:ext cx="15468600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「兩旁的山丘，就像一頭頭並排的大象」，請從文本中想一想，山丘與大象有什麼共同點是很像的？</a:t>
            </a:r>
            <a:endParaRPr lang="en-US" altLang="zh-TW" sz="3200" b="1" kern="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共同點是</a:t>
            </a:r>
            <a:r>
              <a:rPr lang="zh-TW" altLang="en-US" sz="3200" b="1" u="sng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第</a:t>
            </a:r>
            <a:r>
              <a:rPr lang="en-US" altLang="zh-TW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en-US" sz="3200" b="1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段文本中，作者把泥漿冒出來的聲音和噴發樣子，具體描述讓我們更清楚。請藉由下方表格整理作者具體的描述。 </a:t>
            </a:r>
          </a:p>
          <a:p>
            <a:pPr>
              <a:lnSpc>
                <a:spcPct val="150000"/>
              </a:lnSpc>
            </a:pPr>
            <a:endParaRPr lang="zh-TW" altLang="en-US" sz="3200" b="1" kern="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754887-10B8-FFD3-7D42-992561BBBB09}"/>
              </a:ext>
            </a:extLst>
          </p:cNvPr>
          <p:cNvSpPr/>
          <p:nvPr/>
        </p:nvSpPr>
        <p:spPr>
          <a:xfrm>
            <a:off x="4908884" y="4228051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推論策略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B9EA86-99C0-8EFD-61AA-29288CFEFAFA}"/>
              </a:ext>
            </a:extLst>
          </p:cNvPr>
          <p:cNvSpPr/>
          <p:nvPr/>
        </p:nvSpPr>
        <p:spPr>
          <a:xfrm>
            <a:off x="2090739" y="4838700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灰色而且表面都有一條條紋路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02515F-D9CB-8748-3D25-9F0C03873CCD}"/>
              </a:ext>
            </a:extLst>
          </p:cNvPr>
          <p:cNvSpPr/>
          <p:nvPr/>
        </p:nvSpPr>
        <p:spPr>
          <a:xfrm>
            <a:off x="3503067" y="3430326"/>
            <a:ext cx="838201" cy="584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476977-9632-A6AE-0CFC-9ED5EF32F091}"/>
              </a:ext>
            </a:extLst>
          </p:cNvPr>
          <p:cNvSpPr/>
          <p:nvPr/>
        </p:nvSpPr>
        <p:spPr>
          <a:xfrm>
            <a:off x="8001000" y="3430326"/>
            <a:ext cx="838200" cy="584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4696F9-00E7-73BE-AC31-F613418C4030}"/>
              </a:ext>
            </a:extLst>
          </p:cNvPr>
          <p:cNvSpPr/>
          <p:nvPr/>
        </p:nvSpPr>
        <p:spPr>
          <a:xfrm>
            <a:off x="8142254" y="6416795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8DE4F9F5-98AE-96D1-C508-F63474957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254597"/>
              </p:ext>
            </p:extLst>
          </p:nvPr>
        </p:nvGraphicFramePr>
        <p:xfrm>
          <a:off x="1642563" y="7255695"/>
          <a:ext cx="15273839" cy="17345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2465">
                  <a:extLst>
                    <a:ext uri="{9D8B030D-6E8A-4147-A177-3AD203B41FA5}">
                      <a16:colId xmlns:a16="http://schemas.microsoft.com/office/drawing/2014/main" val="4027956823"/>
                    </a:ext>
                  </a:extLst>
                </a:gridCol>
                <a:gridCol w="3007198">
                  <a:extLst>
                    <a:ext uri="{9D8B030D-6E8A-4147-A177-3AD203B41FA5}">
                      <a16:colId xmlns:a16="http://schemas.microsoft.com/office/drawing/2014/main" val="324896134"/>
                    </a:ext>
                  </a:extLst>
                </a:gridCol>
                <a:gridCol w="7764176">
                  <a:extLst>
                    <a:ext uri="{9D8B030D-6E8A-4147-A177-3AD203B41FA5}">
                      <a16:colId xmlns:a16="http://schemas.microsoft.com/office/drawing/2014/main" val="3246219207"/>
                    </a:ext>
                  </a:extLst>
                </a:gridCol>
              </a:tblGrid>
              <a:tr h="867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泥漿冒出聲音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像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有人在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330484"/>
                  </a:ext>
                </a:extLst>
              </a:tr>
              <a:tr h="867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泥漿噴發樣子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從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跳出來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914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631B1A55-2819-89E0-E4CB-03EC92DF8CB0}"/>
              </a:ext>
            </a:extLst>
          </p:cNvPr>
          <p:cNvSpPr/>
          <p:nvPr/>
        </p:nvSpPr>
        <p:spPr>
          <a:xfrm>
            <a:off x="8420100" y="8261915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水池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D88BBCD-39D4-8853-9885-16A15D5F19DE}"/>
              </a:ext>
            </a:extLst>
          </p:cNvPr>
          <p:cNvSpPr/>
          <p:nvPr/>
        </p:nvSpPr>
        <p:spPr>
          <a:xfrm>
            <a:off x="7315200" y="7402684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打嗝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2F11E6-4879-E184-2C36-C8AF31327A1A}"/>
              </a:ext>
            </a:extLst>
          </p:cNvPr>
          <p:cNvSpPr/>
          <p:nvPr/>
        </p:nvSpPr>
        <p:spPr>
          <a:xfrm>
            <a:off x="6129339" y="8261915"/>
            <a:ext cx="8077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泥巴魚</a:t>
            </a:r>
          </a:p>
        </p:txBody>
      </p:sp>
    </p:spTree>
    <p:extLst>
      <p:ext uri="{BB962C8B-B14F-4D97-AF65-F5344CB8AC3E}">
        <p14:creationId xmlns:p14="http://schemas.microsoft.com/office/powerpoint/2010/main" val="426807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7BBBD-BBA8-F235-074E-2D39B5B3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1FA453-6494-4D96-C68C-16AE782A4F6B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39E77E-3D5A-897A-E0A4-8AA11A7DDC6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7A6BC2-9623-A997-BB1F-D302E172847A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070E957-B7EB-3683-7EC6-F6D26AB57564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005EFC5-8526-FD62-2EFA-CED069DDDAAD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F9D8F74-188F-D209-E92F-A6284722F14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14EB7A2-D64B-04CC-5342-4041F7E4843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29AC820F-C8EF-6A7A-EB5B-8E6FCA188715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447BE8DF-3AEA-EDBD-0E4B-2A588B22BB90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9EF36525-004C-FBDA-7357-730BF3BBEAE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5FDAE92-E35F-B79E-3D0B-54D232EA27CB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BE031B-9F1F-1723-795E-84FE51D85975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C26C39B5-AB93-9A20-BFAA-572A741168E1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E29B896-5FB8-3AD7-71C7-DC44E7105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274711"/>
              </p:ext>
            </p:extLst>
          </p:nvPr>
        </p:nvGraphicFramePr>
        <p:xfrm>
          <a:off x="1461662" y="3775233"/>
          <a:ext cx="16060271" cy="2996946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來到</a:t>
                      </a:r>
                      <a:r>
                        <a:rPr lang="zh-TW" altLang="en-US" sz="40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月世界</a:t>
                      </a:r>
                      <a:r>
                        <a:rPr lang="zh-TW" altLang="en-US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，兩旁是灰色山丘，與想像不同；泥火山從地底噴發，如打嗝聲，如泥巴魚跳出。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2B2EE035-E1F4-22DE-210B-A4E3FEBA45A8}"/>
              </a:ext>
            </a:extLst>
          </p:cNvPr>
          <p:cNvSpPr/>
          <p:nvPr/>
        </p:nvSpPr>
        <p:spPr>
          <a:xfrm>
            <a:off x="1447800" y="2857500"/>
            <a:ext cx="3958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53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1BC47-264D-231D-C4E6-B6A55D8C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35E670-BACB-0C65-4DEB-E3F1CB8906EC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0C828A-9588-08DA-75F2-62084852FD6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F654C3-9113-A9D5-DAC7-B453ECA98D87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5FF305B-A399-5A15-A6CC-173C2527743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18C3968-1529-09D5-4F11-4A91DB1D15BA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DD2775D-25FC-F8C5-6DAB-448ADDF5058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960063D-8F0F-A06E-8E7C-6B553D9CF4F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FDBF287-168B-E7AA-7EBE-41535B5E04DB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6388714-C790-CE17-551D-375ACD1363B4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D9572BA-BF08-45A6-8BA5-177AE86EEF0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FE8FB98-BA22-EE14-2170-D4B6BF96D85C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D80834-70AE-B588-ABAB-3F7C39F45DBA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8C494F-029A-3CD9-8FA7-CD27553EE1EC}"/>
              </a:ext>
            </a:extLst>
          </p:cNvPr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E7EF3C4-02FE-8BA1-CA00-56196B9CCD24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7CAFE0-1AAF-658B-D780-D27C069DE47F}"/>
              </a:ext>
            </a:extLst>
          </p:cNvPr>
          <p:cNvSpPr/>
          <p:nvPr/>
        </p:nvSpPr>
        <p:spPr>
          <a:xfrm>
            <a:off x="3495259" y="4400176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讓人難忘 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F1CFB2-EF05-C320-7F87-B6655D92E985}"/>
              </a:ext>
            </a:extLst>
          </p:cNvPr>
          <p:cNvSpPr/>
          <p:nvPr/>
        </p:nvSpPr>
        <p:spPr>
          <a:xfrm>
            <a:off x="1447802" y="3548615"/>
            <a:ext cx="15632130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作者這趟旅程有什麼感受？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月世界景色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B19ED4-6ACF-D6DB-E6A2-49560BF85BAF}"/>
              </a:ext>
            </a:extLst>
          </p:cNvPr>
          <p:cNvSpPr/>
          <p:nvPr/>
        </p:nvSpPr>
        <p:spPr>
          <a:xfrm>
            <a:off x="7086600" y="3819703"/>
            <a:ext cx="3189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275E350-7AE9-47A4-96ED-05C365678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08349"/>
              </p:ext>
            </p:extLst>
          </p:nvPr>
        </p:nvGraphicFramePr>
        <p:xfrm>
          <a:off x="1461662" y="5662466"/>
          <a:ext cx="16060271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意義段三：</a:t>
                      </a:r>
                      <a:endParaRPr lang="zh-TW" altLang="en-US" sz="4400" b="0" u="none" kern="100" dirty="0">
                        <a:solidFill>
                          <a:schemeClr val="tx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月世界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景色讓人難忘。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3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8AC2F197-BCF0-39EF-B8E6-699A30CAA6D8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A0AA0F5-0D1F-22C1-0E6D-D471B3EC67D8}"/>
              </a:ext>
            </a:extLst>
          </p:cNvPr>
          <p:cNvSpPr/>
          <p:nvPr/>
        </p:nvSpPr>
        <p:spPr>
          <a:xfrm>
            <a:off x="4540137" y="4381500"/>
            <a:ext cx="717663" cy="7321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107965" y="2857500"/>
            <a:ext cx="15732235" cy="5172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我是描寫高手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請從句子中找出共同點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兩旁的山丘，像 一頭頭並排的大象，灰色的表面上有許多紋路。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A1676D-5D0C-37E3-1D96-24DE2043E3D3}"/>
              </a:ext>
            </a:extLst>
          </p:cNvPr>
          <p:cNvSpPr/>
          <p:nvPr/>
        </p:nvSpPr>
        <p:spPr>
          <a:xfrm>
            <a:off x="3429000" y="4461658"/>
            <a:ext cx="838200" cy="584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06DC10-1D1C-21D6-3691-82695CC2420A}"/>
              </a:ext>
            </a:extLst>
          </p:cNvPr>
          <p:cNvSpPr/>
          <p:nvPr/>
        </p:nvSpPr>
        <p:spPr>
          <a:xfrm>
            <a:off x="7620000" y="4473430"/>
            <a:ext cx="838200" cy="584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0" name="肘形接點 39">
            <a:extLst>
              <a:ext uri="{FF2B5EF4-FFF2-40B4-BE49-F238E27FC236}">
                <a16:creationId xmlns:a16="http://schemas.microsoft.com/office/drawing/2014/main" id="{2CAB05F2-8C46-41CB-E56F-181ECCF3B154}"/>
              </a:ext>
            </a:extLst>
          </p:cNvPr>
          <p:cNvCxnSpPr>
            <a:cxnSpLocks/>
          </p:cNvCxnSpPr>
          <p:nvPr/>
        </p:nvCxnSpPr>
        <p:spPr>
          <a:xfrm>
            <a:off x="4876800" y="5311503"/>
            <a:ext cx="3200400" cy="723738"/>
          </a:xfrm>
          <a:prstGeom prst="bentConnector3">
            <a:avLst>
              <a:gd name="adj1" fmla="val 376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15">
            <a:extLst>
              <a:ext uri="{FF2B5EF4-FFF2-40B4-BE49-F238E27FC236}">
                <a16:creationId xmlns:a16="http://schemas.microsoft.com/office/drawing/2014/main" id="{E32B6B34-66AC-BD18-4A44-6F85079DFDE7}"/>
              </a:ext>
            </a:extLst>
          </p:cNvPr>
          <p:cNvCxnSpPr>
            <a:cxnSpLocks/>
          </p:cNvCxnSpPr>
          <p:nvPr/>
        </p:nvCxnSpPr>
        <p:spPr>
          <a:xfrm flipV="1">
            <a:off x="8077200" y="5216613"/>
            <a:ext cx="0" cy="81862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16">
            <a:extLst>
              <a:ext uri="{FF2B5EF4-FFF2-40B4-BE49-F238E27FC236}">
                <a16:creationId xmlns:a16="http://schemas.microsoft.com/office/drawing/2014/main" id="{BC712FAC-C260-9930-C062-23AD0FC51240}"/>
              </a:ext>
            </a:extLst>
          </p:cNvPr>
          <p:cNvSpPr txBox="1"/>
          <p:nvPr/>
        </p:nvSpPr>
        <p:spPr>
          <a:xfrm>
            <a:off x="1975342" y="6296452"/>
            <a:ext cx="12002175" cy="1155887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zh-TW" altLang="en-US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山丘和大象的共同點：</a:t>
            </a:r>
            <a:r>
              <a:rPr lang="zh-TW" altLang="en-US" sz="3200" u="sng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                 </a:t>
            </a:r>
            <a:r>
              <a:rPr lang="en-US" altLang="zh-TW" sz="3200" u="sng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相似</a:t>
            </a:r>
            <a:endParaRPr lang="zh-TW" sz="3200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4F9288-F824-453E-4176-BB79C186C06F}"/>
              </a:ext>
            </a:extLst>
          </p:cNvPr>
          <p:cNvSpPr/>
          <p:nvPr/>
        </p:nvSpPr>
        <p:spPr>
          <a:xfrm>
            <a:off x="8470232" y="6539925"/>
            <a:ext cx="25787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灰色、紋路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E5287-242A-4873-5924-37FF6EB0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037FC9-0890-B652-7689-C8A7FA99B67D}"/>
              </a:ext>
            </a:extLst>
          </p:cNvPr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B9CC2EEF-F5F5-CE8B-5EA4-C91FEEE4E16F}"/>
              </a:ext>
            </a:extLst>
          </p:cNvPr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1B3003CA-DA1D-9728-00F7-6197D9FD6F4B}"/>
                </a:ext>
              </a:extLst>
            </p:cNvPr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7E4718CB-C3FD-3D1A-483D-6F5235E76DB3}"/>
                  </a:ext>
                </a:extLst>
              </p:cNvPr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4900D6DE-53D8-001B-389C-5D4FCB543A6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E093C03-3322-8947-05AF-39AC5FBBF551}"/>
                </a:ext>
              </a:extLst>
            </p:cNvPr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CDEDC7E7-9586-7442-EF6D-5DC9CDED3FAA}"/>
                  </a:ext>
                </a:extLst>
              </p:cNvPr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861263FC-B424-C92C-E4F5-19A7D3117BD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2F4A5E31-26AD-4A7C-7431-99CB45D07C0F}"/>
              </a:ext>
            </a:extLst>
          </p:cNvPr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434BA2AD-9E22-B184-AFDD-E2D88B207582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803AD8-E66B-7682-F20E-3F72DD7E9B7E}"/>
              </a:ext>
            </a:extLst>
          </p:cNvPr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10F53DF9-3646-6731-B46F-6E00F5F0EA9A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ABC1547-F8FD-883B-8889-4EF6E9A83557}"/>
              </a:ext>
            </a:extLst>
          </p:cNvPr>
          <p:cNvSpPr/>
          <p:nvPr/>
        </p:nvSpPr>
        <p:spPr>
          <a:xfrm>
            <a:off x="5835537" y="2955301"/>
            <a:ext cx="717663" cy="7321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EB3387-7C98-F94E-A6E5-4F7FB364B3F7}"/>
              </a:ext>
            </a:extLst>
          </p:cNvPr>
          <p:cNvSpPr/>
          <p:nvPr/>
        </p:nvSpPr>
        <p:spPr>
          <a:xfrm>
            <a:off x="2143627" y="2966655"/>
            <a:ext cx="3407078" cy="6228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A2E13D-54A7-3835-59A1-055DFE7F1186}"/>
              </a:ext>
            </a:extLst>
          </p:cNvPr>
          <p:cNvSpPr/>
          <p:nvPr/>
        </p:nvSpPr>
        <p:spPr>
          <a:xfrm>
            <a:off x="7757815" y="2985709"/>
            <a:ext cx="838200" cy="584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0" name="肘形接點 39">
            <a:extLst>
              <a:ext uri="{FF2B5EF4-FFF2-40B4-BE49-F238E27FC236}">
                <a16:creationId xmlns:a16="http://schemas.microsoft.com/office/drawing/2014/main" id="{CD2EBACF-38D4-2E2C-711A-FEDE881667EA}"/>
              </a:ext>
            </a:extLst>
          </p:cNvPr>
          <p:cNvCxnSpPr>
            <a:cxnSpLocks/>
          </p:cNvCxnSpPr>
          <p:nvPr/>
        </p:nvCxnSpPr>
        <p:spPr>
          <a:xfrm>
            <a:off x="3581400" y="3785267"/>
            <a:ext cx="4635620" cy="705739"/>
          </a:xfrm>
          <a:prstGeom prst="bentConnector3">
            <a:avLst>
              <a:gd name="adj1" fmla="val -352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15">
            <a:extLst>
              <a:ext uri="{FF2B5EF4-FFF2-40B4-BE49-F238E27FC236}">
                <a16:creationId xmlns:a16="http://schemas.microsoft.com/office/drawing/2014/main" id="{BFE87CEC-D26D-9EA6-1944-8F202FAAE0D3}"/>
              </a:ext>
            </a:extLst>
          </p:cNvPr>
          <p:cNvCxnSpPr>
            <a:cxnSpLocks/>
          </p:cNvCxnSpPr>
          <p:nvPr/>
        </p:nvCxnSpPr>
        <p:spPr>
          <a:xfrm flipV="1">
            <a:off x="8217020" y="3687466"/>
            <a:ext cx="0" cy="81862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16">
            <a:extLst>
              <a:ext uri="{FF2B5EF4-FFF2-40B4-BE49-F238E27FC236}">
                <a16:creationId xmlns:a16="http://schemas.microsoft.com/office/drawing/2014/main" id="{80FD6F7E-9720-7C67-7CF7-B7AFF2368C8E}"/>
              </a:ext>
            </a:extLst>
          </p:cNvPr>
          <p:cNvSpPr txBox="1"/>
          <p:nvPr/>
        </p:nvSpPr>
        <p:spPr>
          <a:xfrm>
            <a:off x="1756727" y="4855917"/>
            <a:ext cx="12002175" cy="1155887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zh-TW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泥漿冒出和打嗝的共同點</a:t>
            </a:r>
            <a:r>
              <a:rPr lang="en-US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en-US" sz="3200" u="sng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           </a:t>
            </a:r>
            <a:r>
              <a:rPr lang="zh-TW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相似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A6B809-7440-EF5C-AF47-02D759CE9488}"/>
              </a:ext>
            </a:extLst>
          </p:cNvPr>
          <p:cNvSpPr/>
          <p:nvPr/>
        </p:nvSpPr>
        <p:spPr>
          <a:xfrm>
            <a:off x="9230185" y="5071875"/>
            <a:ext cx="1905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聲音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AFE077-2328-B6D3-FE3C-9F34AE1A80FE}"/>
              </a:ext>
            </a:extLst>
          </p:cNvPr>
          <p:cNvSpPr/>
          <p:nvPr/>
        </p:nvSpPr>
        <p:spPr>
          <a:xfrm>
            <a:off x="1107965" y="2857500"/>
            <a:ext cx="15732235" cy="3695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泥漿冒出來的聲音， 像 有人在打嗝。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76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2F055-E4A3-2A35-E1D7-8A877F0C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A49CD3-D6EE-C8E5-E178-CA9D57CD17ED}"/>
              </a:ext>
            </a:extLst>
          </p:cNvPr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955DEA0-B6EC-6360-2BA1-15D2EA396336}"/>
              </a:ext>
            </a:extLst>
          </p:cNvPr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4CE922A-1FB8-F25B-082A-170F5FB113AB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66534DB5-10DD-97A9-83F0-6E4720A786FE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6374EC7-F797-EEBB-989B-BF24FEEA5E8C}"/>
              </a:ext>
            </a:extLst>
          </p:cNvPr>
          <p:cNvSpPr/>
          <p:nvPr/>
        </p:nvSpPr>
        <p:spPr>
          <a:xfrm>
            <a:off x="6054835" y="2126345"/>
            <a:ext cx="717663" cy="7321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5E2AC1-D8B2-E260-EFEF-91DDBEACF9E0}"/>
              </a:ext>
            </a:extLst>
          </p:cNvPr>
          <p:cNvSpPr/>
          <p:nvPr/>
        </p:nvSpPr>
        <p:spPr>
          <a:xfrm>
            <a:off x="1752600" y="1334510"/>
            <a:ext cx="15732235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換我做做看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老師說話的聲音， 像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B3700B-1246-4204-596C-280144D1B4B7}"/>
              </a:ext>
            </a:extLst>
          </p:cNvPr>
          <p:cNvSpPr/>
          <p:nvPr/>
        </p:nvSpPr>
        <p:spPr>
          <a:xfrm>
            <a:off x="2772377" y="2186796"/>
            <a:ext cx="2977658" cy="584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0" name="肘形接點 39">
            <a:extLst>
              <a:ext uri="{FF2B5EF4-FFF2-40B4-BE49-F238E27FC236}">
                <a16:creationId xmlns:a16="http://schemas.microsoft.com/office/drawing/2014/main" id="{E2649A2B-DAA7-0E1B-7224-CE3CF8D8FBC2}"/>
              </a:ext>
            </a:extLst>
          </p:cNvPr>
          <p:cNvCxnSpPr>
            <a:cxnSpLocks/>
          </p:cNvCxnSpPr>
          <p:nvPr/>
        </p:nvCxnSpPr>
        <p:spPr>
          <a:xfrm>
            <a:off x="4306025" y="3028826"/>
            <a:ext cx="4369689" cy="714055"/>
          </a:xfrm>
          <a:prstGeom prst="bentConnector3">
            <a:avLst>
              <a:gd name="adj1" fmla="val 438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15">
            <a:extLst>
              <a:ext uri="{FF2B5EF4-FFF2-40B4-BE49-F238E27FC236}">
                <a16:creationId xmlns:a16="http://schemas.microsoft.com/office/drawing/2014/main" id="{6B81078B-433F-4164-0CB2-4B3A42DCD02B}"/>
              </a:ext>
            </a:extLst>
          </p:cNvPr>
          <p:cNvCxnSpPr>
            <a:cxnSpLocks/>
          </p:cNvCxnSpPr>
          <p:nvPr/>
        </p:nvCxnSpPr>
        <p:spPr>
          <a:xfrm flipV="1">
            <a:off x="8675714" y="2924253"/>
            <a:ext cx="0" cy="81862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16">
            <a:extLst>
              <a:ext uri="{FF2B5EF4-FFF2-40B4-BE49-F238E27FC236}">
                <a16:creationId xmlns:a16="http://schemas.microsoft.com/office/drawing/2014/main" id="{9A89FC02-3F57-5925-5B14-0D38CAB29B29}"/>
              </a:ext>
            </a:extLst>
          </p:cNvPr>
          <p:cNvSpPr txBox="1"/>
          <p:nvPr/>
        </p:nvSpPr>
        <p:spPr>
          <a:xfrm>
            <a:off x="2623988" y="4055831"/>
            <a:ext cx="12002175" cy="1155887"/>
          </a:xfrm>
          <a:prstGeom prst="rect">
            <a:avLst/>
          </a:prstGeom>
          <a:solidFill>
            <a:schemeClr val="bg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zh-TW" altLang="en-US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老師說話聲音和</a:t>
            </a:r>
            <a:r>
              <a:rPr lang="en-US" altLang="zh-TW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  )</a:t>
            </a:r>
            <a:r>
              <a:rPr lang="zh-TW" altLang="en-US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的共同點：</a:t>
            </a:r>
            <a:r>
              <a:rPr lang="en-US" altLang="zh-TW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u="sng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u="sng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</a:t>
            </a:r>
            <a:r>
              <a:rPr lang="en-US" altLang="zh-TW" sz="3200" u="sng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200" kern="1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相似</a:t>
            </a:r>
            <a:endParaRPr lang="zh-TW" sz="3200" kern="100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2" name="肘形接點 21">
            <a:extLst>
              <a:ext uri="{FF2B5EF4-FFF2-40B4-BE49-F238E27FC236}">
                <a16:creationId xmlns:a16="http://schemas.microsoft.com/office/drawing/2014/main" id="{83298F85-4D0B-60F6-301E-681E36974CF6}"/>
              </a:ext>
            </a:extLst>
          </p:cNvPr>
          <p:cNvCxnSpPr>
            <a:cxnSpLocks/>
          </p:cNvCxnSpPr>
          <p:nvPr/>
        </p:nvCxnSpPr>
        <p:spPr>
          <a:xfrm>
            <a:off x="5721961" y="6700558"/>
            <a:ext cx="4369689" cy="714055"/>
          </a:xfrm>
          <a:prstGeom prst="bentConnector3">
            <a:avLst>
              <a:gd name="adj1" fmla="val 438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15">
            <a:extLst>
              <a:ext uri="{FF2B5EF4-FFF2-40B4-BE49-F238E27FC236}">
                <a16:creationId xmlns:a16="http://schemas.microsoft.com/office/drawing/2014/main" id="{8F71427F-7ABC-55F2-F80B-E21D70CC4E99}"/>
              </a:ext>
            </a:extLst>
          </p:cNvPr>
          <p:cNvCxnSpPr>
            <a:cxnSpLocks/>
          </p:cNvCxnSpPr>
          <p:nvPr/>
        </p:nvCxnSpPr>
        <p:spPr>
          <a:xfrm flipV="1">
            <a:off x="10091650" y="6595985"/>
            <a:ext cx="0" cy="81862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0">
            <a:extLst>
              <a:ext uri="{FF2B5EF4-FFF2-40B4-BE49-F238E27FC236}">
                <a16:creationId xmlns:a16="http://schemas.microsoft.com/office/drawing/2014/main" id="{1E988CB1-451B-D99C-776E-098561266E06}"/>
              </a:ext>
            </a:extLst>
          </p:cNvPr>
          <p:cNvSpPr txBox="1"/>
          <p:nvPr/>
        </p:nvSpPr>
        <p:spPr>
          <a:xfrm>
            <a:off x="2632011" y="7698740"/>
            <a:ext cx="12002173" cy="15723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US" sz="32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  )</a:t>
            </a:r>
            <a:r>
              <a:rPr lang="zh-TW" sz="32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sz="32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(          ) </a:t>
            </a:r>
            <a:r>
              <a:rPr lang="zh-TW" sz="32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共同點</a:t>
            </a:r>
            <a:r>
              <a:rPr lang="en-US" sz="32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en-US" sz="3200" u="sng" kern="10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        </a:t>
            </a:r>
            <a:r>
              <a:rPr lang="zh-TW" sz="3200" kern="10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相似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41A706E-DFE2-F0C1-5524-49B7E756579A}"/>
              </a:ext>
            </a:extLst>
          </p:cNvPr>
          <p:cNvSpPr/>
          <p:nvPr/>
        </p:nvSpPr>
        <p:spPr>
          <a:xfrm>
            <a:off x="7772400" y="5805281"/>
            <a:ext cx="717663" cy="7321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9879EC-F959-D259-2C35-6797D9C2C141}"/>
              </a:ext>
            </a:extLst>
          </p:cNvPr>
          <p:cNvSpPr/>
          <p:nvPr/>
        </p:nvSpPr>
        <p:spPr>
          <a:xfrm>
            <a:off x="2092436" y="5715521"/>
            <a:ext cx="15392399" cy="3695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</a:t>
            </a:r>
            <a:r>
              <a:rPr lang="zh-TW" altLang="en-US" sz="3200" u="sng" dirty="0"/>
              <a:t>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 像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06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</TotalTime>
  <Words>838</Words>
  <Application>Microsoft Macintosh PowerPoint</Application>
  <PresentationFormat>自訂</PresentationFormat>
  <Paragraphs>139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92</cp:revision>
  <dcterms:created xsi:type="dcterms:W3CDTF">2006-08-16T00:00:00Z</dcterms:created>
  <dcterms:modified xsi:type="dcterms:W3CDTF">2025-10-05T14:48:37Z</dcterms:modified>
  <dc:identifier>DAGWD1Ntyd0</dc:identifier>
</cp:coreProperties>
</file>