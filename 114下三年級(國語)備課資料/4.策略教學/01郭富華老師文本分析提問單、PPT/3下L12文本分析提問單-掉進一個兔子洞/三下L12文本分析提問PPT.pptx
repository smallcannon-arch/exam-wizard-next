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94" r:id="rId4"/>
    <p:sldId id="295" r:id="rId5"/>
    <p:sldId id="291" r:id="rId6"/>
    <p:sldId id="292" r:id="rId7"/>
    <p:sldId id="302" r:id="rId8"/>
    <p:sldId id="298" r:id="rId9"/>
    <p:sldId id="259" r:id="rId10"/>
    <p:sldId id="303" r:id="rId11"/>
    <p:sldId id="299" r:id="rId12"/>
    <p:sldId id="266" r:id="rId13"/>
  </p:sldIdLst>
  <p:sldSz cx="18288000" cy="10287000"/>
  <p:notesSz cx="6858000" cy="9144000"/>
  <p:embeddedFontLst>
    <p:embeddedFont>
      <p:font typeface="王漢宗特黑體" panose="02000500000000000000" pitchFamily="2" charset="-120"/>
      <p:regular r:id="rId15"/>
    </p:embeddedFont>
    <p:embeddedFont>
      <p:font typeface="微軟正黑體" panose="020B0604030504040204" pitchFamily="34" charset="-120"/>
      <p:regular r:id="rId16"/>
      <p:bold r:id="rId17"/>
    </p:embeddedFont>
    <p:embeddedFont>
      <p:font typeface="微軟正黑體" panose="020B0604030504040204" pitchFamily="34" charset="-120"/>
      <p:regular r:id="rId16"/>
      <p:bold r:id="rId17"/>
    </p:embeddedFont>
    <p:embeddedFont>
      <p:font typeface="新細明體" panose="02020500000000000000" pitchFamily="18" charset="-12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D9D9"/>
    <a:srgbClr val="CBC1DA"/>
    <a:srgbClr val="FFE2C8"/>
    <a:srgbClr val="EBD0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佈景主題樣式 1 - 輔色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39" autoAdjust="0"/>
    <p:restoredTop sz="93373" autoAdjust="0"/>
  </p:normalViewPr>
  <p:slideViewPr>
    <p:cSldViewPr>
      <p:cViewPr varScale="1">
        <p:scale>
          <a:sx n="53" d="100"/>
          <a:sy n="53" d="100"/>
        </p:scale>
        <p:origin x="664" y="8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76E865-201C-435A-BDC9-6D06C10AE8AC}" type="datetimeFigureOut">
              <a:rPr lang="zh-TW" altLang="en-US" smtClean="0"/>
              <a:t>2025/10/5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D71DF-5DF0-41FF-846D-B40FD35A50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0982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ED71DF-5DF0-41FF-846D-B40FD35A5095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5644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2.svg"/><Relationship Id="rId7" Type="http://schemas.openxmlformats.org/officeDocument/2006/relationships/image" Target="../media/image1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7.svg"/><Relationship Id="rId5" Type="http://schemas.openxmlformats.org/officeDocument/2006/relationships/image" Target="../media/image13.svg"/><Relationship Id="rId10" Type="http://schemas.openxmlformats.org/officeDocument/2006/relationships/image" Target="../media/image16.png"/><Relationship Id="rId4" Type="http://schemas.openxmlformats.org/officeDocument/2006/relationships/image" Target="../media/image1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10" Type="http://schemas.openxmlformats.org/officeDocument/2006/relationships/image" Target="../media/image18.svg"/><Relationship Id="rId4" Type="http://schemas.openxmlformats.org/officeDocument/2006/relationships/image" Target="../media/image1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10" Type="http://schemas.openxmlformats.org/officeDocument/2006/relationships/image" Target="../media/image18.svg"/><Relationship Id="rId4" Type="http://schemas.openxmlformats.org/officeDocument/2006/relationships/image" Target="../media/image1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12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9.jpeg"/><Relationship Id="rId5" Type="http://schemas.openxmlformats.org/officeDocument/2006/relationships/image" Target="../media/image2.svg"/><Relationship Id="rId10" Type="http://schemas.openxmlformats.org/officeDocument/2006/relationships/image" Target="../media/image18.svg"/><Relationship Id="rId4" Type="http://schemas.openxmlformats.org/officeDocument/2006/relationships/image" Target="../media/image1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10" Type="http://schemas.openxmlformats.org/officeDocument/2006/relationships/image" Target="../media/image18.svg"/><Relationship Id="rId4" Type="http://schemas.openxmlformats.org/officeDocument/2006/relationships/image" Target="../media/image1.png"/><Relationship Id="rId9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E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283887">
            <a:off x="-2062779" y="4323198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23" name="群組 22"/>
          <p:cNvGrpSpPr/>
          <p:nvPr/>
        </p:nvGrpSpPr>
        <p:grpSpPr>
          <a:xfrm>
            <a:off x="2656566" y="1881864"/>
            <a:ext cx="13632158" cy="2749755"/>
            <a:chOff x="1605289" y="3003345"/>
            <a:chExt cx="13632158" cy="2749755"/>
          </a:xfrm>
        </p:grpSpPr>
        <p:grpSp>
          <p:nvGrpSpPr>
            <p:cNvPr id="3" name="Group 3"/>
            <p:cNvGrpSpPr/>
            <p:nvPr/>
          </p:nvGrpSpPr>
          <p:grpSpPr>
            <a:xfrm>
              <a:off x="1605289" y="3042897"/>
              <a:ext cx="13478483" cy="2710203"/>
              <a:chOff x="0" y="0"/>
              <a:chExt cx="1689033" cy="142025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689033" cy="1420250"/>
              </a:xfrm>
              <a:custGeom>
                <a:avLst/>
                <a:gdLst/>
                <a:ahLst/>
                <a:cxnLst/>
                <a:rect l="l" t="t" r="r" b="b"/>
                <a:pathLst>
                  <a:path w="1689033" h="1420250">
                    <a:moveTo>
                      <a:pt x="61568" y="0"/>
                    </a:moveTo>
                    <a:lnTo>
                      <a:pt x="1627465" y="0"/>
                    </a:lnTo>
                    <a:cubicBezTo>
                      <a:pt x="1643794" y="0"/>
                      <a:pt x="1659454" y="6487"/>
                      <a:pt x="1671000" y="18033"/>
                    </a:cubicBezTo>
                    <a:cubicBezTo>
                      <a:pt x="1682546" y="29579"/>
                      <a:pt x="1689033" y="45239"/>
                      <a:pt x="1689033" y="61568"/>
                    </a:cubicBezTo>
                    <a:lnTo>
                      <a:pt x="1689033" y="1358682"/>
                    </a:lnTo>
                    <a:cubicBezTo>
                      <a:pt x="1689033" y="1375011"/>
                      <a:pt x="1682546" y="1390671"/>
                      <a:pt x="1671000" y="1402217"/>
                    </a:cubicBezTo>
                    <a:cubicBezTo>
                      <a:pt x="1659454" y="1413763"/>
                      <a:pt x="1643794" y="1420250"/>
                      <a:pt x="1627465" y="1420250"/>
                    </a:cubicBezTo>
                    <a:lnTo>
                      <a:pt x="61568" y="1420250"/>
                    </a:lnTo>
                    <a:cubicBezTo>
                      <a:pt x="27565" y="1420250"/>
                      <a:pt x="0" y="1392685"/>
                      <a:pt x="0" y="1358682"/>
                    </a:cubicBezTo>
                    <a:lnTo>
                      <a:pt x="0" y="61568"/>
                    </a:lnTo>
                    <a:cubicBezTo>
                      <a:pt x="0" y="45239"/>
                      <a:pt x="6487" y="29579"/>
                      <a:pt x="18033" y="18033"/>
                    </a:cubicBezTo>
                    <a:cubicBezTo>
                      <a:pt x="29579" y="6487"/>
                      <a:pt x="45239" y="0"/>
                      <a:pt x="61568" y="0"/>
                    </a:cubicBezTo>
                    <a:close/>
                  </a:path>
                </a:pathLst>
              </a:custGeom>
              <a:solidFill>
                <a:srgbClr val="8D7BB2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1689033" cy="1467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792123" y="3003345"/>
              <a:ext cx="13445324" cy="2676299"/>
              <a:chOff x="0" y="0"/>
              <a:chExt cx="1689033" cy="142025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689033" cy="1420250"/>
              </a:xfrm>
              <a:custGeom>
                <a:avLst/>
                <a:gdLst/>
                <a:ahLst/>
                <a:cxnLst/>
                <a:rect l="l" t="t" r="r" b="b"/>
                <a:pathLst>
                  <a:path w="1689033" h="1420250">
                    <a:moveTo>
                      <a:pt x="61568" y="0"/>
                    </a:moveTo>
                    <a:lnTo>
                      <a:pt x="1627465" y="0"/>
                    </a:lnTo>
                    <a:cubicBezTo>
                      <a:pt x="1643794" y="0"/>
                      <a:pt x="1659454" y="6487"/>
                      <a:pt x="1671000" y="18033"/>
                    </a:cubicBezTo>
                    <a:cubicBezTo>
                      <a:pt x="1682546" y="29579"/>
                      <a:pt x="1689033" y="45239"/>
                      <a:pt x="1689033" y="61568"/>
                    </a:cubicBezTo>
                    <a:lnTo>
                      <a:pt x="1689033" y="1358682"/>
                    </a:lnTo>
                    <a:cubicBezTo>
                      <a:pt x="1689033" y="1375011"/>
                      <a:pt x="1682546" y="1390671"/>
                      <a:pt x="1671000" y="1402217"/>
                    </a:cubicBezTo>
                    <a:cubicBezTo>
                      <a:pt x="1659454" y="1413763"/>
                      <a:pt x="1643794" y="1420250"/>
                      <a:pt x="1627465" y="1420250"/>
                    </a:cubicBezTo>
                    <a:lnTo>
                      <a:pt x="61568" y="1420250"/>
                    </a:lnTo>
                    <a:cubicBezTo>
                      <a:pt x="27565" y="1420250"/>
                      <a:pt x="0" y="1392685"/>
                      <a:pt x="0" y="1358682"/>
                    </a:cubicBezTo>
                    <a:lnTo>
                      <a:pt x="0" y="61568"/>
                    </a:lnTo>
                    <a:cubicBezTo>
                      <a:pt x="0" y="45239"/>
                      <a:pt x="6487" y="29579"/>
                      <a:pt x="18033" y="18033"/>
                    </a:cubicBezTo>
                    <a:cubicBezTo>
                      <a:pt x="29579" y="6487"/>
                      <a:pt x="45239" y="0"/>
                      <a:pt x="61568" y="0"/>
                    </a:cubicBezTo>
                    <a:close/>
                  </a:path>
                </a:pathLst>
              </a:custGeom>
              <a:solidFill>
                <a:srgbClr val="8D7BB2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1689033" cy="1467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</p:grpSp>
      <p:grpSp>
        <p:nvGrpSpPr>
          <p:cNvPr id="24" name="群組 23"/>
          <p:cNvGrpSpPr/>
          <p:nvPr/>
        </p:nvGrpSpPr>
        <p:grpSpPr>
          <a:xfrm>
            <a:off x="5728078" y="7300674"/>
            <a:ext cx="6964467" cy="1105273"/>
            <a:chOff x="5712022" y="5364232"/>
            <a:chExt cx="6964467" cy="1105273"/>
          </a:xfrm>
        </p:grpSpPr>
        <p:sp>
          <p:nvSpPr>
            <p:cNvPr id="10" name="Freeform 10"/>
            <p:cNvSpPr/>
            <p:nvPr/>
          </p:nvSpPr>
          <p:spPr>
            <a:xfrm>
              <a:off x="5867996" y="5415687"/>
              <a:ext cx="6808493" cy="1002363"/>
            </a:xfrm>
            <a:custGeom>
              <a:avLst/>
              <a:gdLst/>
              <a:ahLst/>
              <a:cxnLst/>
              <a:rect l="l" t="t" r="r" b="b"/>
              <a:pathLst>
                <a:path w="6301692" h="927751">
                  <a:moveTo>
                    <a:pt x="57992" y="0"/>
                  </a:moveTo>
                  <a:lnTo>
                    <a:pt x="6243700" y="0"/>
                  </a:lnTo>
                  <a:cubicBezTo>
                    <a:pt x="6275728" y="0"/>
                    <a:pt x="6301692" y="25964"/>
                    <a:pt x="6301692" y="57992"/>
                  </a:cubicBezTo>
                  <a:lnTo>
                    <a:pt x="6301692" y="869759"/>
                  </a:lnTo>
                  <a:cubicBezTo>
                    <a:pt x="6301692" y="901787"/>
                    <a:pt x="6275728" y="927751"/>
                    <a:pt x="6243700" y="927751"/>
                  </a:cubicBezTo>
                  <a:lnTo>
                    <a:pt x="57992" y="927751"/>
                  </a:lnTo>
                  <a:cubicBezTo>
                    <a:pt x="25964" y="927751"/>
                    <a:pt x="0" y="901787"/>
                    <a:pt x="0" y="869759"/>
                  </a:cubicBezTo>
                  <a:lnTo>
                    <a:pt x="0" y="57992"/>
                  </a:lnTo>
                  <a:cubicBezTo>
                    <a:pt x="0" y="25964"/>
                    <a:pt x="25964" y="0"/>
                    <a:pt x="57992" y="0"/>
                  </a:cubicBezTo>
                  <a:close/>
                </a:path>
              </a:pathLst>
            </a:custGeom>
            <a:solidFill>
              <a:srgbClr val="5681B2">
                <a:alpha val="49804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867996" y="5364232"/>
              <a:ext cx="6808493" cy="10538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  <p:sp>
          <p:nvSpPr>
            <p:cNvPr id="13" name="Freeform 13"/>
            <p:cNvSpPr/>
            <p:nvPr/>
          </p:nvSpPr>
          <p:spPr>
            <a:xfrm>
              <a:off x="5712022" y="5467142"/>
              <a:ext cx="6808493" cy="1002363"/>
            </a:xfrm>
            <a:custGeom>
              <a:avLst/>
              <a:gdLst/>
              <a:ahLst/>
              <a:cxnLst/>
              <a:rect l="l" t="t" r="r" b="b"/>
              <a:pathLst>
                <a:path w="6301692" h="927751">
                  <a:moveTo>
                    <a:pt x="57992" y="0"/>
                  </a:moveTo>
                  <a:lnTo>
                    <a:pt x="6243700" y="0"/>
                  </a:lnTo>
                  <a:cubicBezTo>
                    <a:pt x="6275728" y="0"/>
                    <a:pt x="6301692" y="25964"/>
                    <a:pt x="6301692" y="57992"/>
                  </a:cubicBezTo>
                  <a:lnTo>
                    <a:pt x="6301692" y="869759"/>
                  </a:lnTo>
                  <a:cubicBezTo>
                    <a:pt x="6301692" y="901787"/>
                    <a:pt x="6275728" y="927751"/>
                    <a:pt x="6243700" y="927751"/>
                  </a:cubicBezTo>
                  <a:lnTo>
                    <a:pt x="57992" y="927751"/>
                  </a:lnTo>
                  <a:cubicBezTo>
                    <a:pt x="25964" y="927751"/>
                    <a:pt x="0" y="901787"/>
                    <a:pt x="0" y="869759"/>
                  </a:cubicBezTo>
                  <a:lnTo>
                    <a:pt x="0" y="57992"/>
                  </a:lnTo>
                  <a:cubicBezTo>
                    <a:pt x="0" y="25964"/>
                    <a:pt x="25964" y="0"/>
                    <a:pt x="57992" y="0"/>
                  </a:cubicBezTo>
                  <a:close/>
                </a:path>
              </a:pathLst>
            </a:custGeom>
            <a:solidFill>
              <a:srgbClr val="5681B2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712022" y="5415687"/>
              <a:ext cx="6808493" cy="10538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 rot="1721810">
            <a:off x="14757223" y="-765765"/>
            <a:ext cx="3979661" cy="3588931"/>
          </a:xfrm>
          <a:custGeom>
            <a:avLst/>
            <a:gdLst/>
            <a:ahLst/>
            <a:cxnLst/>
            <a:rect l="l" t="t" r="r" b="b"/>
            <a:pathLst>
              <a:path w="3979661" h="3588931">
                <a:moveTo>
                  <a:pt x="0" y="0"/>
                </a:moveTo>
                <a:lnTo>
                  <a:pt x="3979661" y="0"/>
                </a:lnTo>
                <a:lnTo>
                  <a:pt x="3979661" y="3588930"/>
                </a:lnTo>
                <a:lnTo>
                  <a:pt x="0" y="35889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6" name="Freeform 16"/>
          <p:cNvSpPr/>
          <p:nvPr/>
        </p:nvSpPr>
        <p:spPr>
          <a:xfrm>
            <a:off x="3860710" y="-1729344"/>
            <a:ext cx="3213823" cy="2758044"/>
          </a:xfrm>
          <a:custGeom>
            <a:avLst/>
            <a:gdLst/>
            <a:ahLst/>
            <a:cxnLst/>
            <a:rect l="l" t="t" r="r" b="b"/>
            <a:pathLst>
              <a:path w="3213823" h="2758044">
                <a:moveTo>
                  <a:pt x="0" y="0"/>
                </a:moveTo>
                <a:lnTo>
                  <a:pt x="3213822" y="0"/>
                </a:lnTo>
                <a:lnTo>
                  <a:pt x="3213822" y="2758044"/>
                </a:lnTo>
                <a:lnTo>
                  <a:pt x="0" y="27580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/>
          <p:cNvSpPr/>
          <p:nvPr/>
        </p:nvSpPr>
        <p:spPr>
          <a:xfrm>
            <a:off x="12172156" y="9258300"/>
            <a:ext cx="3213823" cy="2758044"/>
          </a:xfrm>
          <a:custGeom>
            <a:avLst/>
            <a:gdLst/>
            <a:ahLst/>
            <a:cxnLst/>
            <a:rect l="l" t="t" r="r" b="b"/>
            <a:pathLst>
              <a:path w="3213823" h="2758044">
                <a:moveTo>
                  <a:pt x="0" y="0"/>
                </a:moveTo>
                <a:lnTo>
                  <a:pt x="3213823" y="0"/>
                </a:lnTo>
                <a:lnTo>
                  <a:pt x="3213823" y="2758044"/>
                </a:lnTo>
                <a:lnTo>
                  <a:pt x="0" y="27580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8" name="Freeform 18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9" name="Group 19"/>
          <p:cNvGrpSpPr/>
          <p:nvPr/>
        </p:nvGrpSpPr>
        <p:grpSpPr>
          <a:xfrm>
            <a:off x="8211037" y="966641"/>
            <a:ext cx="2761763" cy="708578"/>
            <a:chOff x="0" y="0"/>
            <a:chExt cx="3038818" cy="748565"/>
          </a:xfrm>
        </p:grpSpPr>
        <p:sp>
          <p:nvSpPr>
            <p:cNvPr id="20" name="TextBox 20"/>
            <p:cNvSpPr txBox="1"/>
            <p:nvPr/>
          </p:nvSpPr>
          <p:spPr>
            <a:xfrm>
              <a:off x="1110400" y="6488"/>
              <a:ext cx="1928418" cy="7180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319"/>
                </a:lnSpc>
              </a:pPr>
              <a:r>
                <a:rPr lang="en-US" sz="4800" spc="334" dirty="0" err="1">
                  <a:solidFill>
                    <a:srgbClr val="0154A6"/>
                  </a:solidFill>
                  <a:latin typeface="王漢宗特黑體"/>
                  <a:ea typeface="王漢宗特黑體"/>
                  <a:cs typeface="王漢宗特黑體"/>
                  <a:sym typeface="王漢宗特黑體"/>
                </a:rPr>
                <a:t>國語</a:t>
              </a:r>
              <a:endParaRPr lang="en-US" sz="4800" spc="334" dirty="0">
                <a:solidFill>
                  <a:srgbClr val="0154A6"/>
                </a:solidFill>
                <a:latin typeface="王漢宗特黑體"/>
                <a:ea typeface="王漢宗特黑體"/>
                <a:cs typeface="王漢宗特黑體"/>
                <a:sym typeface="王漢宗特黑體"/>
              </a:endParaRPr>
            </a:p>
          </p:txBody>
        </p:sp>
        <p:sp>
          <p:nvSpPr>
            <p:cNvPr id="21" name="Freeform 21"/>
            <p:cNvSpPr/>
            <p:nvPr/>
          </p:nvSpPr>
          <p:spPr>
            <a:xfrm>
              <a:off x="0" y="0"/>
              <a:ext cx="1423684" cy="748565"/>
            </a:xfrm>
            <a:custGeom>
              <a:avLst/>
              <a:gdLst/>
              <a:ahLst/>
              <a:cxnLst/>
              <a:rect l="l" t="t" r="r" b="b"/>
              <a:pathLst>
                <a:path w="1423684" h="748565">
                  <a:moveTo>
                    <a:pt x="0" y="0"/>
                  </a:moveTo>
                  <a:lnTo>
                    <a:pt x="1423684" y="0"/>
                  </a:lnTo>
                  <a:lnTo>
                    <a:pt x="1423684" y="748565"/>
                  </a:lnTo>
                  <a:lnTo>
                    <a:pt x="0" y="7485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-168996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2" name="文字方塊 21"/>
          <p:cNvSpPr txBox="1"/>
          <p:nvPr/>
        </p:nvSpPr>
        <p:spPr>
          <a:xfrm>
            <a:off x="3327550" y="2326352"/>
            <a:ext cx="1336025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15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閱 讀 理 解 提 問 單</a:t>
            </a:r>
          </a:p>
        </p:txBody>
      </p:sp>
      <p:sp>
        <p:nvSpPr>
          <p:cNvPr id="26" name="文字方塊 25"/>
          <p:cNvSpPr txBox="1"/>
          <p:nvPr/>
        </p:nvSpPr>
        <p:spPr>
          <a:xfrm>
            <a:off x="5728078" y="7461965"/>
            <a:ext cx="141853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5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提問設計</a:t>
            </a:r>
            <a:r>
              <a:rPr lang="en-US" altLang="zh-TW" sz="5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5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郭富華老師</a:t>
            </a:r>
          </a:p>
        </p:txBody>
      </p:sp>
      <p:sp>
        <p:nvSpPr>
          <p:cNvPr id="28" name="Freeform 4"/>
          <p:cNvSpPr/>
          <p:nvPr/>
        </p:nvSpPr>
        <p:spPr>
          <a:xfrm>
            <a:off x="3535501" y="5408279"/>
            <a:ext cx="1583640" cy="1336723"/>
          </a:xfrm>
          <a:custGeom>
            <a:avLst/>
            <a:gdLst/>
            <a:ahLst/>
            <a:cxnLst/>
            <a:rect l="l" t="t" r="r" b="b"/>
            <a:pathLst>
              <a:path w="3941664" h="3662164">
                <a:moveTo>
                  <a:pt x="0" y="0"/>
                </a:moveTo>
                <a:lnTo>
                  <a:pt x="3941663" y="0"/>
                </a:lnTo>
                <a:lnTo>
                  <a:pt x="3941663" y="3662164"/>
                </a:lnTo>
                <a:lnTo>
                  <a:pt x="0" y="36621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9" name="圖片 28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85979" y="6825113"/>
            <a:ext cx="2536570" cy="3399250"/>
          </a:xfrm>
          <a:prstGeom prst="rect">
            <a:avLst/>
          </a:prstGeom>
        </p:spPr>
      </p:pic>
      <p:sp>
        <p:nvSpPr>
          <p:cNvPr id="30" name="Freeform 11"/>
          <p:cNvSpPr/>
          <p:nvPr/>
        </p:nvSpPr>
        <p:spPr>
          <a:xfrm rot="-1789354">
            <a:off x="1585337" y="2049027"/>
            <a:ext cx="1658309" cy="2253630"/>
          </a:xfrm>
          <a:custGeom>
            <a:avLst/>
            <a:gdLst/>
            <a:ahLst/>
            <a:cxnLst/>
            <a:rect l="l" t="t" r="r" b="b"/>
            <a:pathLst>
              <a:path w="2725139" h="3833315">
                <a:moveTo>
                  <a:pt x="0" y="0"/>
                </a:moveTo>
                <a:lnTo>
                  <a:pt x="2725139" y="0"/>
                </a:lnTo>
                <a:lnTo>
                  <a:pt x="2725139" y="3833316"/>
                </a:lnTo>
                <a:lnTo>
                  <a:pt x="0" y="383331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5" name="文字方塊 24"/>
          <p:cNvSpPr txBox="1"/>
          <p:nvPr/>
        </p:nvSpPr>
        <p:spPr>
          <a:xfrm>
            <a:off x="4404848" y="5480964"/>
            <a:ext cx="998191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66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三下 </a:t>
            </a:r>
            <a:r>
              <a:rPr lang="en-US" altLang="zh-TW" sz="66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L12</a:t>
            </a:r>
            <a:r>
              <a:rPr lang="zh-TW" altLang="en-US" sz="66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掉進一個兔子洞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2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978173">
            <a:off x="-1434441" y="-1744732"/>
            <a:ext cx="4926281" cy="5297076"/>
          </a:xfrm>
          <a:custGeom>
            <a:avLst/>
            <a:gdLst/>
            <a:ahLst/>
            <a:cxnLst/>
            <a:rect l="l" t="t" r="r" b="b"/>
            <a:pathLst>
              <a:path w="4926281" h="5297076">
                <a:moveTo>
                  <a:pt x="0" y="0"/>
                </a:moveTo>
                <a:lnTo>
                  <a:pt x="4926282" y="0"/>
                </a:lnTo>
                <a:lnTo>
                  <a:pt x="4926282" y="5297077"/>
                </a:lnTo>
                <a:lnTo>
                  <a:pt x="0" y="5297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24" name="群組 23"/>
          <p:cNvGrpSpPr/>
          <p:nvPr/>
        </p:nvGrpSpPr>
        <p:grpSpPr>
          <a:xfrm>
            <a:off x="5072586" y="766557"/>
            <a:ext cx="8516876" cy="1155939"/>
            <a:chOff x="8742424" y="3811491"/>
            <a:chExt cx="8516876" cy="1155939"/>
          </a:xfrm>
        </p:grpSpPr>
        <p:grpSp>
          <p:nvGrpSpPr>
            <p:cNvPr id="3" name="Group 3"/>
            <p:cNvGrpSpPr/>
            <p:nvPr/>
          </p:nvGrpSpPr>
          <p:grpSpPr>
            <a:xfrm>
              <a:off x="8742424" y="3965067"/>
              <a:ext cx="8467690" cy="1002363"/>
              <a:chOff x="0" y="0"/>
              <a:chExt cx="7837384" cy="92775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7837384" cy="927751"/>
              </a:xfrm>
              <a:custGeom>
                <a:avLst/>
                <a:gdLst/>
                <a:ahLst/>
                <a:cxnLst/>
                <a:rect l="l" t="t" r="r" b="b"/>
                <a:pathLst>
                  <a:path w="7837384" h="927751">
                    <a:moveTo>
                      <a:pt x="46629" y="0"/>
                    </a:moveTo>
                    <a:lnTo>
                      <a:pt x="7790755" y="0"/>
                    </a:lnTo>
                    <a:cubicBezTo>
                      <a:pt x="7816508" y="0"/>
                      <a:pt x="7837384" y="20876"/>
                      <a:pt x="7837384" y="46629"/>
                    </a:cubicBezTo>
                    <a:lnTo>
                      <a:pt x="7837384" y="881122"/>
                    </a:lnTo>
                    <a:cubicBezTo>
                      <a:pt x="7837384" y="893489"/>
                      <a:pt x="7832472" y="905349"/>
                      <a:pt x="7823727" y="914094"/>
                    </a:cubicBezTo>
                    <a:cubicBezTo>
                      <a:pt x="7814983" y="922838"/>
                      <a:pt x="7803122" y="927751"/>
                      <a:pt x="7790755" y="927751"/>
                    </a:cubicBezTo>
                    <a:lnTo>
                      <a:pt x="46629" y="927751"/>
                    </a:lnTo>
                    <a:cubicBezTo>
                      <a:pt x="34262" y="927751"/>
                      <a:pt x="22402" y="922838"/>
                      <a:pt x="13657" y="914094"/>
                    </a:cubicBezTo>
                    <a:cubicBezTo>
                      <a:pt x="4913" y="905349"/>
                      <a:pt x="0" y="893489"/>
                      <a:pt x="0" y="881122"/>
                    </a:cubicBezTo>
                    <a:lnTo>
                      <a:pt x="0" y="46629"/>
                    </a:lnTo>
                    <a:cubicBezTo>
                      <a:pt x="0" y="34262"/>
                      <a:pt x="4913" y="22402"/>
                      <a:pt x="13657" y="13657"/>
                    </a:cubicBezTo>
                    <a:cubicBezTo>
                      <a:pt x="22402" y="4913"/>
                      <a:pt x="34262" y="0"/>
                      <a:pt x="46629" y="0"/>
                    </a:cubicBezTo>
                    <a:close/>
                  </a:path>
                </a:pathLst>
              </a:custGeom>
              <a:solidFill>
                <a:srgbClr val="FFAF64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7837384" cy="9753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8791610" y="3811491"/>
              <a:ext cx="8467690" cy="1002363"/>
              <a:chOff x="0" y="0"/>
              <a:chExt cx="7837384" cy="92775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7837384" cy="927751"/>
              </a:xfrm>
              <a:custGeom>
                <a:avLst/>
                <a:gdLst/>
                <a:ahLst/>
                <a:cxnLst/>
                <a:rect l="l" t="t" r="r" b="b"/>
                <a:pathLst>
                  <a:path w="7837384" h="927751">
                    <a:moveTo>
                      <a:pt x="46629" y="0"/>
                    </a:moveTo>
                    <a:lnTo>
                      <a:pt x="7790755" y="0"/>
                    </a:lnTo>
                    <a:cubicBezTo>
                      <a:pt x="7816508" y="0"/>
                      <a:pt x="7837384" y="20876"/>
                      <a:pt x="7837384" y="46629"/>
                    </a:cubicBezTo>
                    <a:lnTo>
                      <a:pt x="7837384" y="881122"/>
                    </a:lnTo>
                    <a:cubicBezTo>
                      <a:pt x="7837384" y="893489"/>
                      <a:pt x="7832472" y="905349"/>
                      <a:pt x="7823727" y="914094"/>
                    </a:cubicBezTo>
                    <a:cubicBezTo>
                      <a:pt x="7814983" y="922838"/>
                      <a:pt x="7803122" y="927751"/>
                      <a:pt x="7790755" y="927751"/>
                    </a:cubicBezTo>
                    <a:lnTo>
                      <a:pt x="46629" y="927751"/>
                    </a:lnTo>
                    <a:cubicBezTo>
                      <a:pt x="34262" y="927751"/>
                      <a:pt x="22402" y="922838"/>
                      <a:pt x="13657" y="914094"/>
                    </a:cubicBezTo>
                    <a:cubicBezTo>
                      <a:pt x="4913" y="905349"/>
                      <a:pt x="0" y="893489"/>
                      <a:pt x="0" y="881122"/>
                    </a:cubicBezTo>
                    <a:lnTo>
                      <a:pt x="0" y="46629"/>
                    </a:lnTo>
                    <a:cubicBezTo>
                      <a:pt x="0" y="34262"/>
                      <a:pt x="4913" y="22402"/>
                      <a:pt x="13657" y="13657"/>
                    </a:cubicBezTo>
                    <a:cubicBezTo>
                      <a:pt x="22402" y="4913"/>
                      <a:pt x="34262" y="0"/>
                      <a:pt x="46629" y="0"/>
                    </a:cubicBezTo>
                    <a:close/>
                  </a:path>
                </a:pathLst>
              </a:custGeom>
              <a:solidFill>
                <a:srgbClr val="FFAF64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7837384" cy="9753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9" name="Freeform 9"/>
          <p:cNvSpPr/>
          <p:nvPr/>
        </p:nvSpPr>
        <p:spPr>
          <a:xfrm rot="-10800000">
            <a:off x="15392400" y="6057900"/>
            <a:ext cx="6222354" cy="5339911"/>
          </a:xfrm>
          <a:custGeom>
            <a:avLst/>
            <a:gdLst/>
            <a:ahLst/>
            <a:cxnLst/>
            <a:rect l="l" t="t" r="r" b="b"/>
            <a:pathLst>
              <a:path w="6222354" h="5339911">
                <a:moveTo>
                  <a:pt x="0" y="0"/>
                </a:moveTo>
                <a:lnTo>
                  <a:pt x="6222354" y="0"/>
                </a:lnTo>
                <a:lnTo>
                  <a:pt x="6222354" y="5339911"/>
                </a:lnTo>
                <a:lnTo>
                  <a:pt x="0" y="53399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2" name="Freeform 22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5" name="矩形 24"/>
          <p:cNvSpPr/>
          <p:nvPr/>
        </p:nvSpPr>
        <p:spPr>
          <a:xfrm>
            <a:off x="1809749" y="2848174"/>
            <a:ext cx="14668501" cy="9251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200000"/>
              </a:lnSpc>
              <a:buFontTx/>
              <a:buAutoNum type="arabicPeriod"/>
            </a:pPr>
            <a:r>
              <a:rPr lang="zh-TW" altLang="en-US" sz="3200" b="1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我們一起發揮想像力，「是誰」掉進兔子洞</a:t>
            </a:r>
            <a:r>
              <a:rPr lang="en-US" altLang="zh-TW" sz="3200" b="1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?</a:t>
            </a:r>
            <a:r>
              <a:rPr lang="zh-TW" altLang="en-US" sz="3200" b="1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「結果」如何呢？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339406" y="872739"/>
            <a:ext cx="603242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在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課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文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前 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3" name="圖片 3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8200" y="325900"/>
            <a:ext cx="1806304" cy="2940337"/>
          </a:xfrm>
          <a:prstGeom prst="rect">
            <a:avLst/>
          </a:prstGeom>
        </p:spPr>
      </p:pic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C3C0ADB1-347D-8E90-D17E-F45FEE9284A0}"/>
              </a:ext>
            </a:extLst>
          </p:cNvPr>
          <p:cNvCxnSpPr>
            <a:cxnSpLocks/>
          </p:cNvCxnSpPr>
          <p:nvPr/>
        </p:nvCxnSpPr>
        <p:spPr>
          <a:xfrm>
            <a:off x="2323886" y="4580516"/>
            <a:ext cx="1293516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01A5166E-F8AD-8F4A-062F-5B0626143922}"/>
              </a:ext>
            </a:extLst>
          </p:cNvPr>
          <p:cNvSpPr/>
          <p:nvPr/>
        </p:nvSpPr>
        <p:spPr>
          <a:xfrm>
            <a:off x="1976909" y="4015999"/>
            <a:ext cx="368094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學生依經驗回答 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E8CD57B-82A1-979F-0E67-A45438E54986}"/>
              </a:ext>
            </a:extLst>
          </p:cNvPr>
          <p:cNvSpPr/>
          <p:nvPr/>
        </p:nvSpPr>
        <p:spPr>
          <a:xfrm>
            <a:off x="13618387" y="3330254"/>
            <a:ext cx="38981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舊經驗提取</a:t>
            </a:r>
          </a:p>
        </p:txBody>
      </p: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CC659D8B-2179-E488-F678-B42710BAD814}"/>
              </a:ext>
            </a:extLst>
          </p:cNvPr>
          <p:cNvCxnSpPr>
            <a:cxnSpLocks/>
          </p:cNvCxnSpPr>
          <p:nvPr/>
        </p:nvCxnSpPr>
        <p:spPr>
          <a:xfrm>
            <a:off x="2323886" y="5438974"/>
            <a:ext cx="1293516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2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8"/>
          <p:cNvGrpSpPr/>
          <p:nvPr/>
        </p:nvGrpSpPr>
        <p:grpSpPr>
          <a:xfrm>
            <a:off x="1013460" y="2288281"/>
            <a:ext cx="4985476" cy="1331219"/>
            <a:chOff x="0" y="-47625"/>
            <a:chExt cx="2188840" cy="1144766"/>
          </a:xfrm>
        </p:grpSpPr>
        <p:sp>
          <p:nvSpPr>
            <p:cNvPr id="31" name="Freeform 9"/>
            <p:cNvSpPr/>
            <p:nvPr/>
          </p:nvSpPr>
          <p:spPr>
            <a:xfrm>
              <a:off x="0" y="0"/>
              <a:ext cx="1629263" cy="1097141"/>
            </a:xfrm>
            <a:custGeom>
              <a:avLst/>
              <a:gdLst/>
              <a:ahLst/>
              <a:cxnLst/>
              <a:rect l="l" t="t" r="r" b="b"/>
              <a:pathLst>
                <a:path w="2188840" h="1097141">
                  <a:moveTo>
                    <a:pt x="44452" y="0"/>
                  </a:moveTo>
                  <a:lnTo>
                    <a:pt x="2144388" y="0"/>
                  </a:lnTo>
                  <a:cubicBezTo>
                    <a:pt x="2156178" y="0"/>
                    <a:pt x="2167484" y="4683"/>
                    <a:pt x="2175820" y="13020"/>
                  </a:cubicBezTo>
                  <a:cubicBezTo>
                    <a:pt x="2184157" y="21356"/>
                    <a:pt x="2188840" y="32663"/>
                    <a:pt x="2188840" y="44452"/>
                  </a:cubicBezTo>
                  <a:lnTo>
                    <a:pt x="2188840" y="1052689"/>
                  </a:lnTo>
                  <a:cubicBezTo>
                    <a:pt x="2188840" y="1064479"/>
                    <a:pt x="2184157" y="1075785"/>
                    <a:pt x="2175820" y="1084122"/>
                  </a:cubicBezTo>
                  <a:cubicBezTo>
                    <a:pt x="2167484" y="1092458"/>
                    <a:pt x="2156178" y="1097141"/>
                    <a:pt x="2144388" y="1097141"/>
                  </a:cubicBezTo>
                  <a:lnTo>
                    <a:pt x="44452" y="1097141"/>
                  </a:lnTo>
                  <a:cubicBezTo>
                    <a:pt x="32663" y="1097141"/>
                    <a:pt x="21356" y="1092458"/>
                    <a:pt x="13020" y="1084122"/>
                  </a:cubicBezTo>
                  <a:cubicBezTo>
                    <a:pt x="4683" y="1075785"/>
                    <a:pt x="0" y="1064479"/>
                    <a:pt x="0" y="1052689"/>
                  </a:cubicBezTo>
                  <a:lnTo>
                    <a:pt x="0" y="44452"/>
                  </a:lnTo>
                  <a:cubicBezTo>
                    <a:pt x="0" y="32663"/>
                    <a:pt x="4683" y="21356"/>
                    <a:pt x="13020" y="13020"/>
                  </a:cubicBezTo>
                  <a:cubicBezTo>
                    <a:pt x="21356" y="4683"/>
                    <a:pt x="32663" y="0"/>
                    <a:pt x="44452" y="0"/>
                  </a:cubicBezTo>
                  <a:close/>
                </a:path>
              </a:pathLst>
            </a:custGeom>
            <a:solidFill>
              <a:srgbClr val="BCE1EB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3" name="TextBox 10"/>
            <p:cNvSpPr txBox="1"/>
            <p:nvPr/>
          </p:nvSpPr>
          <p:spPr>
            <a:xfrm>
              <a:off x="0" y="-47625"/>
              <a:ext cx="2188840" cy="11447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Freeform 2"/>
          <p:cNvSpPr/>
          <p:nvPr/>
        </p:nvSpPr>
        <p:spPr>
          <a:xfrm rot="9746419">
            <a:off x="16861985" y="-353079"/>
            <a:ext cx="3283184" cy="4243996"/>
          </a:xfrm>
          <a:custGeom>
            <a:avLst/>
            <a:gdLst/>
            <a:ahLst/>
            <a:cxnLst/>
            <a:rect l="l" t="t" r="r" b="b"/>
            <a:pathLst>
              <a:path w="4926281" h="5297076">
                <a:moveTo>
                  <a:pt x="0" y="0"/>
                </a:moveTo>
                <a:lnTo>
                  <a:pt x="4926282" y="0"/>
                </a:lnTo>
                <a:lnTo>
                  <a:pt x="4926282" y="5297077"/>
                </a:lnTo>
                <a:lnTo>
                  <a:pt x="0" y="5297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24" name="群組 23"/>
          <p:cNvGrpSpPr/>
          <p:nvPr/>
        </p:nvGrpSpPr>
        <p:grpSpPr>
          <a:xfrm>
            <a:off x="5072586" y="766557"/>
            <a:ext cx="8516876" cy="1155939"/>
            <a:chOff x="8742424" y="3811491"/>
            <a:chExt cx="8516876" cy="1155939"/>
          </a:xfrm>
        </p:grpSpPr>
        <p:grpSp>
          <p:nvGrpSpPr>
            <p:cNvPr id="3" name="Group 3"/>
            <p:cNvGrpSpPr/>
            <p:nvPr/>
          </p:nvGrpSpPr>
          <p:grpSpPr>
            <a:xfrm>
              <a:off x="8742424" y="3965067"/>
              <a:ext cx="8467690" cy="1002363"/>
              <a:chOff x="0" y="0"/>
              <a:chExt cx="7837384" cy="92775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7837384" cy="927751"/>
              </a:xfrm>
              <a:custGeom>
                <a:avLst/>
                <a:gdLst/>
                <a:ahLst/>
                <a:cxnLst/>
                <a:rect l="l" t="t" r="r" b="b"/>
                <a:pathLst>
                  <a:path w="7837384" h="927751">
                    <a:moveTo>
                      <a:pt x="46629" y="0"/>
                    </a:moveTo>
                    <a:lnTo>
                      <a:pt x="7790755" y="0"/>
                    </a:lnTo>
                    <a:cubicBezTo>
                      <a:pt x="7816508" y="0"/>
                      <a:pt x="7837384" y="20876"/>
                      <a:pt x="7837384" y="46629"/>
                    </a:cubicBezTo>
                    <a:lnTo>
                      <a:pt x="7837384" y="881122"/>
                    </a:lnTo>
                    <a:cubicBezTo>
                      <a:pt x="7837384" y="893489"/>
                      <a:pt x="7832472" y="905349"/>
                      <a:pt x="7823727" y="914094"/>
                    </a:cubicBezTo>
                    <a:cubicBezTo>
                      <a:pt x="7814983" y="922838"/>
                      <a:pt x="7803122" y="927751"/>
                      <a:pt x="7790755" y="927751"/>
                    </a:cubicBezTo>
                    <a:lnTo>
                      <a:pt x="46629" y="927751"/>
                    </a:lnTo>
                    <a:cubicBezTo>
                      <a:pt x="34262" y="927751"/>
                      <a:pt x="22402" y="922838"/>
                      <a:pt x="13657" y="914094"/>
                    </a:cubicBezTo>
                    <a:cubicBezTo>
                      <a:pt x="4913" y="905349"/>
                      <a:pt x="0" y="893489"/>
                      <a:pt x="0" y="881122"/>
                    </a:cubicBezTo>
                    <a:lnTo>
                      <a:pt x="0" y="46629"/>
                    </a:lnTo>
                    <a:cubicBezTo>
                      <a:pt x="0" y="34262"/>
                      <a:pt x="4913" y="22402"/>
                      <a:pt x="13657" y="13657"/>
                    </a:cubicBezTo>
                    <a:cubicBezTo>
                      <a:pt x="22402" y="4913"/>
                      <a:pt x="34262" y="0"/>
                      <a:pt x="46629" y="0"/>
                    </a:cubicBezTo>
                    <a:close/>
                  </a:path>
                </a:pathLst>
              </a:custGeom>
              <a:solidFill>
                <a:srgbClr val="FFAF64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7837384" cy="9753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8791610" y="3811491"/>
              <a:ext cx="8467690" cy="1002363"/>
              <a:chOff x="0" y="0"/>
              <a:chExt cx="7837384" cy="92775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7837384" cy="927751"/>
              </a:xfrm>
              <a:custGeom>
                <a:avLst/>
                <a:gdLst/>
                <a:ahLst/>
                <a:cxnLst/>
                <a:rect l="l" t="t" r="r" b="b"/>
                <a:pathLst>
                  <a:path w="7837384" h="927751">
                    <a:moveTo>
                      <a:pt x="46629" y="0"/>
                    </a:moveTo>
                    <a:lnTo>
                      <a:pt x="7790755" y="0"/>
                    </a:lnTo>
                    <a:cubicBezTo>
                      <a:pt x="7816508" y="0"/>
                      <a:pt x="7837384" y="20876"/>
                      <a:pt x="7837384" y="46629"/>
                    </a:cubicBezTo>
                    <a:lnTo>
                      <a:pt x="7837384" y="881122"/>
                    </a:lnTo>
                    <a:cubicBezTo>
                      <a:pt x="7837384" y="893489"/>
                      <a:pt x="7832472" y="905349"/>
                      <a:pt x="7823727" y="914094"/>
                    </a:cubicBezTo>
                    <a:cubicBezTo>
                      <a:pt x="7814983" y="922838"/>
                      <a:pt x="7803122" y="927751"/>
                      <a:pt x="7790755" y="927751"/>
                    </a:cubicBezTo>
                    <a:lnTo>
                      <a:pt x="46629" y="927751"/>
                    </a:lnTo>
                    <a:cubicBezTo>
                      <a:pt x="34262" y="927751"/>
                      <a:pt x="22402" y="922838"/>
                      <a:pt x="13657" y="914094"/>
                    </a:cubicBezTo>
                    <a:cubicBezTo>
                      <a:pt x="4913" y="905349"/>
                      <a:pt x="0" y="893489"/>
                      <a:pt x="0" y="881122"/>
                    </a:cubicBezTo>
                    <a:lnTo>
                      <a:pt x="0" y="46629"/>
                    </a:lnTo>
                    <a:cubicBezTo>
                      <a:pt x="0" y="34262"/>
                      <a:pt x="4913" y="22402"/>
                      <a:pt x="13657" y="13657"/>
                    </a:cubicBezTo>
                    <a:cubicBezTo>
                      <a:pt x="22402" y="4913"/>
                      <a:pt x="34262" y="0"/>
                      <a:pt x="46629" y="0"/>
                    </a:cubicBezTo>
                    <a:close/>
                  </a:path>
                </a:pathLst>
              </a:custGeom>
              <a:solidFill>
                <a:srgbClr val="FFAF64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7837384" cy="9753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9" name="Freeform 9"/>
          <p:cNvSpPr/>
          <p:nvPr/>
        </p:nvSpPr>
        <p:spPr>
          <a:xfrm rot="-10800000">
            <a:off x="-4038600" y="6515100"/>
            <a:ext cx="6222354" cy="5339911"/>
          </a:xfrm>
          <a:custGeom>
            <a:avLst/>
            <a:gdLst/>
            <a:ahLst/>
            <a:cxnLst/>
            <a:rect l="l" t="t" r="r" b="b"/>
            <a:pathLst>
              <a:path w="6222354" h="5339911">
                <a:moveTo>
                  <a:pt x="0" y="0"/>
                </a:moveTo>
                <a:lnTo>
                  <a:pt x="6222354" y="0"/>
                </a:lnTo>
                <a:lnTo>
                  <a:pt x="6222354" y="5339911"/>
                </a:lnTo>
                <a:lnTo>
                  <a:pt x="0" y="53399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2" name="Freeform 22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3" name="矩形 22"/>
          <p:cNvSpPr/>
          <p:nvPr/>
        </p:nvSpPr>
        <p:spPr>
          <a:xfrm>
            <a:off x="6339406" y="872739"/>
            <a:ext cx="603242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在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課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文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前 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267867" y="2661502"/>
            <a:ext cx="3159839" cy="5847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個人自學 任務一</a:t>
            </a:r>
            <a:endParaRPr lang="zh-TW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013460" y="4499163"/>
            <a:ext cx="6713221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小瓶子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寫著：「請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喝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我。」</a:t>
            </a:r>
          </a:p>
          <a:p>
            <a:pPr>
              <a:spcAft>
                <a:spcPts val="0"/>
              </a:spcAft>
            </a:pPr>
            <a:endParaRPr lang="zh-TW" altLang="en-US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一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喝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身體就變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小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！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蛋糕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寫著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: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：「請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吃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我。」</a:t>
            </a:r>
          </a:p>
          <a:p>
            <a:pPr>
              <a:spcAft>
                <a:spcPts val="0"/>
              </a:spcAft>
            </a:pPr>
            <a:endParaRPr lang="zh-TW" altLang="en-US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一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吃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身體又變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大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！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35" name="圖片 3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8200" y="325900"/>
            <a:ext cx="1806304" cy="2940337"/>
          </a:xfrm>
          <a:prstGeom prst="rect">
            <a:avLst/>
          </a:prstGeom>
        </p:spPr>
      </p:pic>
      <p:sp>
        <p:nvSpPr>
          <p:cNvPr id="11" name="文字方塊 4">
            <a:extLst>
              <a:ext uri="{FF2B5EF4-FFF2-40B4-BE49-F238E27FC236}">
                <a16:creationId xmlns:a16="http://schemas.microsoft.com/office/drawing/2014/main" id="{54D4BB13-E589-0E86-FB80-602C41C53E14}"/>
              </a:ext>
            </a:extLst>
          </p:cNvPr>
          <p:cNvSpPr txBox="1"/>
          <p:nvPr/>
        </p:nvSpPr>
        <p:spPr>
          <a:xfrm>
            <a:off x="8810907" y="3784354"/>
            <a:ext cx="8134350" cy="5427253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zh-TW" sz="3200" b="1" kern="10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★換你試試看</a:t>
            </a:r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sz="3200" b="1" kern="10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(          )</a:t>
            </a:r>
            <a:r>
              <a:rPr lang="zh-TW" sz="3200" b="1" kern="10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寫著：「請</a:t>
            </a:r>
            <a:r>
              <a:rPr lang="en-US" sz="3200" b="1" kern="10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(        )</a:t>
            </a:r>
            <a:r>
              <a:rPr lang="zh-TW" sz="3200" b="1" kern="10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我。」</a:t>
            </a:r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zh-TW" sz="3200" b="1" kern="10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一</a:t>
            </a:r>
            <a:r>
              <a:rPr lang="en-US" sz="3200" b="1" kern="10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(         )</a:t>
            </a:r>
            <a:r>
              <a:rPr lang="zh-TW" sz="3200" b="1" kern="10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身體就變</a:t>
            </a:r>
            <a:r>
              <a:rPr lang="en-US" sz="3200" b="1" kern="10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(        )！</a:t>
            </a:r>
            <a:endParaRPr lang="zh-TW" sz="3200" b="1" kern="100" dirty="0">
              <a:effectLst/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sz="3200" b="1" kern="10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(           )</a:t>
            </a:r>
            <a:r>
              <a:rPr lang="zh-TW" sz="3200" b="1" kern="10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寫著</a:t>
            </a:r>
            <a:r>
              <a:rPr lang="en-US" sz="3200" b="1" kern="10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:</a:t>
            </a:r>
            <a:r>
              <a:rPr lang="zh-TW" sz="3200" b="1" kern="10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：「請</a:t>
            </a:r>
            <a:r>
              <a:rPr lang="en-US" sz="3200" b="1" kern="10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(      )</a:t>
            </a:r>
            <a:r>
              <a:rPr lang="zh-TW" sz="3200" b="1" kern="10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我。」</a:t>
            </a:r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zh-TW" sz="3200" b="1" kern="10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一</a:t>
            </a:r>
            <a:r>
              <a:rPr lang="en-US" sz="3200" b="1" kern="10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(       )</a:t>
            </a:r>
            <a:r>
              <a:rPr lang="zh-TW" sz="3200" b="1" kern="10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身體又變</a:t>
            </a:r>
            <a:r>
              <a:rPr lang="en-US" sz="3200" b="1" kern="10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(         )！</a:t>
            </a:r>
            <a:endParaRPr lang="zh-TW" sz="3200" b="1" kern="100" dirty="0">
              <a:effectLst/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3200" b="1" kern="10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 </a:t>
            </a:r>
            <a:endParaRPr lang="zh-TW" sz="3200" b="1" kern="100" dirty="0">
              <a:effectLst/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2" name="向右箭號 11">
            <a:extLst>
              <a:ext uri="{FF2B5EF4-FFF2-40B4-BE49-F238E27FC236}">
                <a16:creationId xmlns:a16="http://schemas.microsoft.com/office/drawing/2014/main" id="{8307E806-430E-A7F7-B5BC-01ED812F514F}"/>
              </a:ext>
            </a:extLst>
          </p:cNvPr>
          <p:cNvSpPr/>
          <p:nvPr/>
        </p:nvSpPr>
        <p:spPr>
          <a:xfrm>
            <a:off x="7275336" y="5876571"/>
            <a:ext cx="993458" cy="638528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39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1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/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/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/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491963" y="2643809"/>
            <a:ext cx="15999669" cy="14791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TW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這一課總共分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zh-TW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段「自然段」，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把自然段中在說相同事情的段落歸類成一大段，成為「意義段」。</a:t>
            </a:r>
            <a:endParaRPr lang="zh-TW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517223" y="2757291"/>
            <a:ext cx="1066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TW" sz="40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7</a:t>
            </a:r>
            <a:endParaRPr lang="zh-TW" altLang="zh-TW" sz="40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523703" y="4601245"/>
            <a:ext cx="73741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★寫作架構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文體：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                           )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8952332"/>
              </p:ext>
            </p:extLst>
          </p:nvPr>
        </p:nvGraphicFramePr>
        <p:xfrm>
          <a:off x="2555788" y="5650231"/>
          <a:ext cx="14955897" cy="3684270"/>
        </p:xfrm>
        <a:graphic>
          <a:graphicData uri="http://schemas.openxmlformats.org/drawingml/2006/table">
            <a:tbl>
              <a:tblPr firstRow="1" firstCol="1" bandRow="1"/>
              <a:tblGrid>
                <a:gridCol w="2384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05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05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05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280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架</a:t>
                      </a:r>
                      <a:r>
                        <a:rPr 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構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起因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經過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結果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34601782"/>
                  </a:ext>
                </a:extLst>
              </a:tr>
              <a:tr h="122809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意義段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一、兔子洞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二、奇幻世界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三、夢醒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809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自然段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1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1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1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8" name="圖片 17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7261806"/>
            <a:ext cx="2032496" cy="3025194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7162800" y="4539689"/>
            <a:ext cx="2743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40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詩歌</a:t>
            </a:r>
            <a:endParaRPr lang="zh-TW" altLang="zh-TW" sz="40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7"/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97BA0D9-D1C4-4453-34CA-6D85B9AEDEF8}"/>
              </a:ext>
            </a:extLst>
          </p:cNvPr>
          <p:cNvSpPr/>
          <p:nvPr/>
        </p:nvSpPr>
        <p:spPr>
          <a:xfrm>
            <a:off x="4461444" y="8402758"/>
            <a:ext cx="514229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endParaRPr lang="zh-TW" altLang="en-US" sz="32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BED9D6E-A954-1BAC-D2BE-67E67ACECD6C}"/>
              </a:ext>
            </a:extLst>
          </p:cNvPr>
          <p:cNvSpPr/>
          <p:nvPr/>
        </p:nvSpPr>
        <p:spPr>
          <a:xfrm>
            <a:off x="12854258" y="8402757"/>
            <a:ext cx="514229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7 </a:t>
            </a:r>
            <a:endParaRPr lang="zh-TW" altLang="en-US" sz="32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C525630-3EEB-DDE9-18AC-65520AE2C4BB}"/>
              </a:ext>
            </a:extLst>
          </p:cNvPr>
          <p:cNvSpPr/>
          <p:nvPr/>
        </p:nvSpPr>
        <p:spPr>
          <a:xfrm>
            <a:off x="8703085" y="8375722"/>
            <a:ext cx="514229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2-6</a:t>
            </a:r>
            <a:endParaRPr lang="zh-TW" altLang="en-US" sz="32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9" grpId="0"/>
      <p:bldP spid="20" grpId="0"/>
      <p:bldP spid="22" grpId="0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1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/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/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/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447800" y="2708423"/>
            <a:ext cx="332975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意義段一：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 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447802" y="3390900"/>
            <a:ext cx="16154398" cy="3695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夏天午後，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愛麗絲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看見了什麼？接著做了什麼事情，開啟了午後的奇幻之旅？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en-US" altLang="zh-TW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❶</a:t>
            </a:r>
            <a:r>
              <a:rPr lang="zh-TW" altLang="en-US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愛麗絲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看見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         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❷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接著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                     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endParaRPr lang="zh-TW" altLang="en-US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Tx/>
              <a:buAutoNum type="arabicPeriod"/>
            </a:pP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7"/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C8CA9F0-49B5-7C44-C34A-715B54D7761D}"/>
              </a:ext>
            </a:extLst>
          </p:cNvPr>
          <p:cNvSpPr/>
          <p:nvPr/>
        </p:nvSpPr>
        <p:spPr>
          <a:xfrm>
            <a:off x="15925800" y="3642120"/>
            <a:ext cx="38981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自我提問策略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4B86C06-7A19-7E85-48D4-168654679635}"/>
              </a:ext>
            </a:extLst>
          </p:cNvPr>
          <p:cNvSpPr/>
          <p:nvPr/>
        </p:nvSpPr>
        <p:spPr>
          <a:xfrm>
            <a:off x="4633655" y="4239262"/>
            <a:ext cx="364565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兔子邊說話邊看錶 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0D11B84-8328-2A91-D54F-DD7EC8943222}"/>
              </a:ext>
            </a:extLst>
          </p:cNvPr>
          <p:cNvSpPr/>
          <p:nvPr/>
        </p:nvSpPr>
        <p:spPr>
          <a:xfrm>
            <a:off x="3375289" y="4991100"/>
            <a:ext cx="490402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追兔子，跟兔子跳進洞裡 </a:t>
            </a:r>
          </a:p>
        </p:txBody>
      </p: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B9118E23-4D12-8B22-0683-9ECE88E0A9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2068080"/>
              </p:ext>
            </p:extLst>
          </p:nvPr>
        </p:nvGraphicFramePr>
        <p:xfrm>
          <a:off x="1447800" y="6211859"/>
          <a:ext cx="16060271" cy="2162747"/>
        </p:xfrm>
        <a:graphic>
          <a:graphicData uri="http://schemas.openxmlformats.org/drawingml/2006/table">
            <a:tbl>
              <a:tblPr firstRow="1" firstCol="1" bandRow="1"/>
              <a:tblGrid>
                <a:gridCol w="160602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4400" b="1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意義段一：</a:t>
                      </a: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4400" b="0" u="sng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愛麗絲</a:t>
                      </a:r>
                      <a:r>
                        <a:rPr lang="zh-TW" altLang="en-US" sz="4400" b="0" u="none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追著兔子，跟著跳進洞裡。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244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1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81DA08-ED59-5909-F207-189B0BC84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C3C5099-3A39-06AC-B004-9C6E60AC7686}"/>
              </a:ext>
            </a:extLst>
          </p:cNvPr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E516720-4C03-4FF2-BF2D-DB490F3E2242}"/>
              </a:ext>
            </a:extLst>
          </p:cNvPr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D2A7B776-55DA-161A-FE4E-D883BFFDF323}"/>
              </a:ext>
            </a:extLst>
          </p:cNvPr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36B7FA98-F1CD-7B7B-15B1-AA2E7E54528D}"/>
              </a:ext>
            </a:extLst>
          </p:cNvPr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7163C4CE-454C-872A-A3D7-4712976DE631}"/>
                </a:ext>
              </a:extLst>
            </p:cNvPr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F01DB097-A10D-ADC4-F586-3BC93239C17A}"/>
                  </a:ext>
                </a:extLst>
              </p:cNvPr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463BE92A-DDC0-0CFF-94B6-59B728ABC3F6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793BD630-CFAF-9EC4-70B0-072B37D8A5A0}"/>
                </a:ext>
              </a:extLst>
            </p:cNvPr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FCBBEFF8-5577-B86E-0122-8906781CCED2}"/>
                  </a:ext>
                </a:extLst>
              </p:cNvPr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D69435FC-B535-983D-FE0D-B03D55EC778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8280BA8A-CC1B-8094-896B-2A5A35BA2948}"/>
              </a:ext>
            </a:extLst>
          </p:cNvPr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A23F5C3-BC8C-6895-BD8C-16019ADAFB27}"/>
              </a:ext>
            </a:extLst>
          </p:cNvPr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D34E074-5860-EE98-6620-D702418FE715}"/>
              </a:ext>
            </a:extLst>
          </p:cNvPr>
          <p:cNvSpPr/>
          <p:nvPr/>
        </p:nvSpPr>
        <p:spPr>
          <a:xfrm>
            <a:off x="1447800" y="2708423"/>
            <a:ext cx="375295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意義段二：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2-6 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92695F00-DE84-B69F-9488-9E3EBC6B3F86}"/>
              </a:ext>
            </a:extLst>
          </p:cNvPr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4BE2DF0-04A9-ACB8-0719-EA81F9C7980D}"/>
              </a:ext>
            </a:extLst>
          </p:cNvPr>
          <p:cNvSpPr/>
          <p:nvPr/>
        </p:nvSpPr>
        <p:spPr>
          <a:xfrm>
            <a:off x="1447802" y="3586684"/>
            <a:ext cx="15632130" cy="14791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第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2-6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段是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愛麗絲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跳進兔子洞後，發生了一些事情。請藉由表格的整理，釐清每一段發生什麼事？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EDB0AEB-0502-E1BF-9C09-B6A877D5608F}"/>
              </a:ext>
            </a:extLst>
          </p:cNvPr>
          <p:cNvSpPr/>
          <p:nvPr/>
        </p:nvSpPr>
        <p:spPr>
          <a:xfrm>
            <a:off x="4648200" y="4593572"/>
            <a:ext cx="38981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自我提問策略</a:t>
            </a:r>
            <a:endParaRPr lang="en-US" altLang="zh-TW" sz="2000" kern="100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CF072945-F0FC-5FD7-4095-B1A5288824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0288401"/>
              </p:ext>
            </p:extLst>
          </p:nvPr>
        </p:nvGraphicFramePr>
        <p:xfrm>
          <a:off x="1666964" y="5224794"/>
          <a:ext cx="15404167" cy="45177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4636">
                  <a:extLst>
                    <a:ext uri="{9D8B030D-6E8A-4147-A177-3AD203B41FA5}">
                      <a16:colId xmlns:a16="http://schemas.microsoft.com/office/drawing/2014/main" val="1977834522"/>
                    </a:ext>
                  </a:extLst>
                </a:gridCol>
                <a:gridCol w="13879531">
                  <a:extLst>
                    <a:ext uri="{9D8B030D-6E8A-4147-A177-3AD203B41FA5}">
                      <a16:colId xmlns:a16="http://schemas.microsoft.com/office/drawing/2014/main" val="2458745065"/>
                    </a:ext>
                  </a:extLst>
                </a:gridCol>
              </a:tblGrid>
              <a:tr h="7529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b="1" kern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段落</a:t>
                      </a:r>
                      <a:endParaRPr lang="zh-TW" sz="3200" b="1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b="1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事</a:t>
                      </a:r>
                      <a:r>
                        <a:rPr lang="en-US" sz="3200" b="1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</a:t>
                      </a:r>
                      <a:r>
                        <a:rPr lang="zh-TW" sz="3200" b="1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情</a:t>
                      </a:r>
                      <a:endParaRPr lang="zh-TW" sz="3200" b="1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9316393"/>
                  </a:ext>
                </a:extLst>
              </a:tr>
              <a:tr h="7529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1" kern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</a:t>
                      </a:r>
                      <a:endParaRPr lang="zh-TW" sz="3200" b="1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3200" b="1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身體</a:t>
                      </a:r>
                      <a:r>
                        <a:rPr lang="zh-TW" altLang="en-US" sz="3200" b="1" u="sng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             </a:t>
                      </a:r>
                      <a:r>
                        <a:rPr lang="zh-TW" altLang="en-US" sz="3200" b="1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。</a:t>
                      </a:r>
                      <a:endParaRPr lang="zh-TW" sz="3200" b="1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1634029"/>
                  </a:ext>
                </a:extLst>
              </a:tr>
              <a:tr h="7529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1" kern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</a:t>
                      </a:r>
                      <a:endParaRPr lang="zh-TW" sz="3200" b="1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3200" b="1" u="sng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愛麗絲</a:t>
                      </a:r>
                      <a:r>
                        <a:rPr lang="zh-TW" sz="3200" b="1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身體變大，眼淚變成</a:t>
                      </a:r>
                      <a:r>
                        <a:rPr lang="en-US" sz="3200" b="1" u="sng" kern="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zh-TW" altLang="en-US" sz="3200" b="1" u="sng" kern="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</a:t>
                      </a:r>
                      <a:r>
                        <a:rPr lang="en-US" sz="3200" b="1" u="sng" kern="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</a:t>
                      </a:r>
                      <a:r>
                        <a:rPr lang="zh-TW" sz="3200" b="1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。</a:t>
                      </a:r>
                      <a:endParaRPr lang="zh-TW" sz="3200" b="1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8484832"/>
                  </a:ext>
                </a:extLst>
              </a:tr>
              <a:tr h="7529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1" kern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4</a:t>
                      </a:r>
                      <a:endParaRPr lang="zh-TW" sz="3200" b="1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3200" b="1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路上遇見身體會消失，笑聲還聽得到的</a:t>
                      </a:r>
                      <a:r>
                        <a:rPr lang="en-US" sz="3200" b="1" u="sng" kern="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zh-TW" altLang="en-US" sz="3200" b="1" u="sng" kern="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</a:t>
                      </a:r>
                      <a:r>
                        <a:rPr lang="en-US" sz="3200" b="1" u="sng" kern="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</a:t>
                      </a:r>
                      <a:r>
                        <a:rPr lang="zh-TW" sz="3200" b="1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。</a:t>
                      </a:r>
                      <a:endParaRPr lang="zh-TW" sz="3200" b="1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3356180"/>
                  </a:ext>
                </a:extLst>
              </a:tr>
              <a:tr h="7529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1" kern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5</a:t>
                      </a:r>
                      <a:endParaRPr lang="zh-TW" sz="3200" b="1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3200" b="1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一場時間停留在六點的</a:t>
                      </a:r>
                      <a:r>
                        <a:rPr lang="en-US" sz="3200" b="1" u="sng" kern="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</a:t>
                      </a:r>
                      <a:r>
                        <a:rPr lang="zh-TW" altLang="en-US" sz="3200" b="1" u="sng" kern="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      </a:t>
                      </a:r>
                      <a:r>
                        <a:rPr lang="zh-TW" sz="3200" b="1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和奇怪的</a:t>
                      </a:r>
                      <a:r>
                        <a:rPr lang="zh-TW" altLang="en-US" sz="3200" b="1" u="sng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     </a:t>
                      </a:r>
                      <a:r>
                        <a:rPr lang="zh-TW" sz="3200" b="1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。</a:t>
                      </a:r>
                      <a:endParaRPr lang="zh-TW" sz="3200" b="1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1074919"/>
                  </a:ext>
                </a:extLst>
              </a:tr>
              <a:tr h="7529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1" kern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6</a:t>
                      </a:r>
                      <a:endParaRPr lang="zh-TW" sz="3200" b="1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3200" b="1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來到</a:t>
                      </a:r>
                      <a:r>
                        <a:rPr lang="zh-TW" altLang="en-US" sz="3200" b="1" u="sng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              </a:t>
                      </a:r>
                      <a:r>
                        <a:rPr lang="zh-TW" sz="3200" b="1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。</a:t>
                      </a:r>
                      <a:endParaRPr lang="zh-TW" sz="3200" b="1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0895237"/>
                  </a:ext>
                </a:extLst>
              </a:tr>
            </a:tbl>
          </a:graphicData>
        </a:graphic>
      </p:graphicFrame>
      <p:sp>
        <p:nvSpPr>
          <p:cNvPr id="26" name="矩形 25">
            <a:extLst>
              <a:ext uri="{FF2B5EF4-FFF2-40B4-BE49-F238E27FC236}">
                <a16:creationId xmlns:a16="http://schemas.microsoft.com/office/drawing/2014/main" id="{5E0258FC-6D5B-553C-5117-EC8115533C89}"/>
              </a:ext>
            </a:extLst>
          </p:cNvPr>
          <p:cNvSpPr/>
          <p:nvPr/>
        </p:nvSpPr>
        <p:spPr>
          <a:xfrm>
            <a:off x="1611478" y="5981700"/>
            <a:ext cx="7391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變大變小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CFAFAEE-AE27-E2FF-0B49-2F712F5844B5}"/>
              </a:ext>
            </a:extLst>
          </p:cNvPr>
          <p:cNvSpPr/>
          <p:nvPr/>
        </p:nvSpPr>
        <p:spPr>
          <a:xfrm>
            <a:off x="8001000" y="8290650"/>
            <a:ext cx="7391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槌球賽 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84C1B33-5FB4-35D9-5F76-E1608BAAA7F7}"/>
              </a:ext>
            </a:extLst>
          </p:cNvPr>
          <p:cNvSpPr/>
          <p:nvPr/>
        </p:nvSpPr>
        <p:spPr>
          <a:xfrm>
            <a:off x="5105400" y="6772738"/>
            <a:ext cx="7391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池塘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6A7160A-E220-E01B-8D97-D9FC159C9625}"/>
              </a:ext>
            </a:extLst>
          </p:cNvPr>
          <p:cNvSpPr/>
          <p:nvPr/>
        </p:nvSpPr>
        <p:spPr>
          <a:xfrm>
            <a:off x="7110350" y="7531694"/>
            <a:ext cx="7391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貓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C844441-4094-D84E-3364-CB614B7739DA}"/>
              </a:ext>
            </a:extLst>
          </p:cNvPr>
          <p:cNvSpPr/>
          <p:nvPr/>
        </p:nvSpPr>
        <p:spPr>
          <a:xfrm>
            <a:off x="6597271" y="8257649"/>
            <a:ext cx="341705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下午茶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4445358-163D-FD7F-DB34-465F4681726F}"/>
              </a:ext>
            </a:extLst>
          </p:cNvPr>
          <p:cNvSpPr/>
          <p:nvPr/>
        </p:nvSpPr>
        <p:spPr>
          <a:xfrm>
            <a:off x="1666964" y="9049606"/>
            <a:ext cx="7391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紙牌王國 </a:t>
            </a:r>
          </a:p>
        </p:txBody>
      </p:sp>
    </p:spTree>
    <p:extLst>
      <p:ext uri="{BB962C8B-B14F-4D97-AF65-F5344CB8AC3E}">
        <p14:creationId xmlns:p14="http://schemas.microsoft.com/office/powerpoint/2010/main" val="4040172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17" grpId="0"/>
      <p:bldP spid="21" grpId="0"/>
      <p:bldP spid="22" grpId="0"/>
      <p:bldP spid="25" grpId="0"/>
      <p:bldP spid="2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1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ADF853-1E7F-A65C-0295-782174609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0EE69D0-D71F-D0E5-84BE-FE1E3580BBED}"/>
              </a:ext>
            </a:extLst>
          </p:cNvPr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51785D5-AA43-2F2A-A11E-7AE178C2B33D}"/>
              </a:ext>
            </a:extLst>
          </p:cNvPr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8AB5844-1EC4-2ECE-A0B3-7E7F02ACBBA4}"/>
              </a:ext>
            </a:extLst>
          </p:cNvPr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3AFE337F-ED2E-A4E8-D10A-106AD1178780}"/>
              </a:ext>
            </a:extLst>
          </p:cNvPr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0AB18C56-997B-5FF6-0C9D-DFDC298A3A88}"/>
                </a:ext>
              </a:extLst>
            </p:cNvPr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BF6A9862-B9C4-45E6-1BA2-CADDD45A21BD}"/>
                  </a:ext>
                </a:extLst>
              </p:cNvPr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82BAD822-B700-8690-C7F6-8D7BBA39463E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EC83DF79-9D98-8EF9-2C2F-07A14DA19F70}"/>
                </a:ext>
              </a:extLst>
            </p:cNvPr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54BBDC65-5D68-B58F-3CDA-15F491BD4661}"/>
                  </a:ext>
                </a:extLst>
              </p:cNvPr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399D3803-A7F6-0ED8-3B21-9AF8DF98F8A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B45A985C-ECDB-1D44-C204-60C084F4A380}"/>
              </a:ext>
            </a:extLst>
          </p:cNvPr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2A79310-FC9E-597F-1DF2-4A49080FDF0B}"/>
              </a:ext>
            </a:extLst>
          </p:cNvPr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C979E5E-3D3F-B24A-0897-25513399AB1D}"/>
              </a:ext>
            </a:extLst>
          </p:cNvPr>
          <p:cNvSpPr/>
          <p:nvPr/>
        </p:nvSpPr>
        <p:spPr>
          <a:xfrm>
            <a:off x="1459293" y="3390900"/>
            <a:ext cx="375295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意義段二：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2-6 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B6764A13-B9E1-E5B1-8F2C-C5EC2F38C354}"/>
              </a:ext>
            </a:extLst>
          </p:cNvPr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F515FBF-097F-142B-9286-7904958407F2}"/>
              </a:ext>
            </a:extLst>
          </p:cNvPr>
          <p:cNvSpPr/>
          <p:nvPr/>
        </p:nvSpPr>
        <p:spPr>
          <a:xfrm>
            <a:off x="1520683" y="4135377"/>
            <a:ext cx="15632130" cy="29565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2.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你有看過槌球嗎？掃一下</a:t>
            </a:r>
            <a:r>
              <a:rPr lang="en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QR code</a:t>
            </a:r>
            <a:r>
              <a:rPr lang="zh-TW" altLang="en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我們一起來認識槌球這項運動吧！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為什麼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愛麗絲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覺得槌球賽是奇怪的？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因為 槌是 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，球是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endParaRPr lang="zh-TW" altLang="en-US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EDBD6BF-C62B-6932-D713-E562DB485CEB}"/>
              </a:ext>
            </a:extLst>
          </p:cNvPr>
          <p:cNvSpPr/>
          <p:nvPr/>
        </p:nvSpPr>
        <p:spPr>
          <a:xfrm>
            <a:off x="8671538" y="5139683"/>
            <a:ext cx="38981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自我提問策略</a:t>
            </a:r>
            <a:endParaRPr lang="en-US" altLang="zh-TW" sz="2000" kern="100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B558345-BB28-D439-D308-6F81BEBA97C6}"/>
              </a:ext>
            </a:extLst>
          </p:cNvPr>
          <p:cNvSpPr/>
          <p:nvPr/>
        </p:nvSpPr>
        <p:spPr>
          <a:xfrm>
            <a:off x="4419600" y="5676900"/>
            <a:ext cx="7391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刺蝟</a:t>
            </a: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DEB1B740-1C3B-E521-6D8B-B290BF6D78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3125374"/>
              </p:ext>
            </p:extLst>
          </p:nvPr>
        </p:nvGraphicFramePr>
        <p:xfrm>
          <a:off x="1520683" y="6826672"/>
          <a:ext cx="15834988" cy="2162747"/>
        </p:xfrm>
        <a:graphic>
          <a:graphicData uri="http://schemas.openxmlformats.org/drawingml/2006/table">
            <a:tbl>
              <a:tblPr firstRow="1" firstCol="1" bandRow="1"/>
              <a:tblGrid>
                <a:gridCol w="15834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4400" b="1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意義段二：</a:t>
                      </a: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4400" b="0" u="none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跳進兔子洞後來到奇幻世界。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5" name="圖片 14">
            <a:extLst>
              <a:ext uri="{FF2B5EF4-FFF2-40B4-BE49-F238E27FC236}">
                <a16:creationId xmlns:a16="http://schemas.microsoft.com/office/drawing/2014/main" id="{6F51A31F-DC9E-CE79-1ED4-164AE684F29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649" y="994355"/>
            <a:ext cx="1972333" cy="1972333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B97C7FC7-8A76-3A8B-4CBD-0FD38B6B255B}"/>
              </a:ext>
            </a:extLst>
          </p:cNvPr>
          <p:cNvSpPr/>
          <p:nvPr/>
        </p:nvSpPr>
        <p:spPr>
          <a:xfrm>
            <a:off x="1305793" y="5689778"/>
            <a:ext cx="7391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紅鶴的長嘴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782B726-5964-70F9-1CD4-A25026B00D97}"/>
              </a:ext>
            </a:extLst>
          </p:cNvPr>
          <p:cNvSpPr/>
          <p:nvPr/>
        </p:nvSpPr>
        <p:spPr>
          <a:xfrm>
            <a:off x="3055181" y="2397783"/>
            <a:ext cx="17123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28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參考影片</a:t>
            </a:r>
            <a:r>
              <a:rPr lang="en-US" altLang="zh-TW" sz="28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:</a:t>
            </a:r>
            <a:endParaRPr lang="zh-TW" altLang="zh-TW" sz="28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7515E8D-07DE-6DF0-A5E9-61B90971531B}"/>
              </a:ext>
            </a:extLst>
          </p:cNvPr>
          <p:cNvSpPr/>
          <p:nvPr/>
        </p:nvSpPr>
        <p:spPr>
          <a:xfrm>
            <a:off x="4767509" y="2474727"/>
            <a:ext cx="62620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u="sng" kern="100" dirty="0">
                <a:solidFill>
                  <a:srgbClr val="0000FF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https://</a:t>
            </a:r>
            <a:r>
              <a:rPr lang="en-US" altLang="zh-TW" u="sng" kern="100" dirty="0" err="1">
                <a:solidFill>
                  <a:srgbClr val="0000FF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youtu.be</a:t>
            </a:r>
            <a:r>
              <a:rPr lang="en-US" altLang="zh-TW" u="sng" kern="100" dirty="0">
                <a:solidFill>
                  <a:srgbClr val="0000FF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/5rvKOf_ZE_w?si=umWzCV_2qXBbKP_P</a:t>
            </a:r>
            <a:endParaRPr lang="zh-TW" altLang="en-US" dirty="0"/>
          </a:p>
        </p:txBody>
      </p:sp>
      <p:pic>
        <p:nvPicPr>
          <p:cNvPr id="29" name="圖片 28">
            <a:extLst>
              <a:ext uri="{FF2B5EF4-FFF2-40B4-BE49-F238E27FC236}">
                <a16:creationId xmlns:a16="http://schemas.microsoft.com/office/drawing/2014/main" id="{9098D8BC-D69A-32F8-A5C4-244E74721E09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2497845" y="2378142"/>
            <a:ext cx="557336" cy="557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343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1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CEC6F9-DF33-432A-2B6C-45B4C25A5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5D638BD-011B-F7D3-3B16-E8815FC996A1}"/>
              </a:ext>
            </a:extLst>
          </p:cNvPr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C27B131-9F4D-77B4-504B-498B0F89A3CD}"/>
              </a:ext>
            </a:extLst>
          </p:cNvPr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4259FF3B-4BC2-FD2B-ED45-602023AE1060}"/>
              </a:ext>
            </a:extLst>
          </p:cNvPr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A93B8D77-D532-6300-295A-8D540C5CAB60}"/>
              </a:ext>
            </a:extLst>
          </p:cNvPr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108E8840-DA38-463C-4EE5-E759EF043960}"/>
                </a:ext>
              </a:extLst>
            </p:cNvPr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41BE53B9-D24C-B675-537F-A13DBAE234B5}"/>
                  </a:ext>
                </a:extLst>
              </p:cNvPr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7DA6C68D-A80F-9B1D-32F4-4751C92FB65E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66AA3514-05F0-5AA4-221F-15237DE8D617}"/>
                </a:ext>
              </a:extLst>
            </p:cNvPr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3BF07133-B8C6-B634-CC20-B558C221D083}"/>
                  </a:ext>
                </a:extLst>
              </p:cNvPr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C1466660-60C9-22B3-9735-EE990CACC93A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93465AF1-6D6A-B9C8-36A9-8310425B6E2D}"/>
              </a:ext>
            </a:extLst>
          </p:cNvPr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135522A-BAF9-B4F1-0C26-229FEA78E177}"/>
              </a:ext>
            </a:extLst>
          </p:cNvPr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ADEE3ADC-6393-71CF-76D1-E1D67130545F}"/>
              </a:ext>
            </a:extLst>
          </p:cNvPr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B65B0BA-F250-BDEA-E954-18DD6D1B540F}"/>
              </a:ext>
            </a:extLst>
          </p:cNvPr>
          <p:cNvSpPr/>
          <p:nvPr/>
        </p:nvSpPr>
        <p:spPr>
          <a:xfrm>
            <a:off x="1447802" y="3467100"/>
            <a:ext cx="15632130" cy="2968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「原來是一場夢醒來！」我們知道前面的奇幻世界是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愛麗絲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做的一場夢。請問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愛麗絲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可能在哪裡睡著了？你從課文中的哪些句子知道的？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❶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在哪裡睡著？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     </a:t>
            </a:r>
            <a:r>
              <a:rPr lang="en-US" altLang="zh-TW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❷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我從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                  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知道的。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60B2D8A-AB8E-646F-AC5F-128D0701EB59}"/>
              </a:ext>
            </a:extLst>
          </p:cNvPr>
          <p:cNvSpPr/>
          <p:nvPr/>
        </p:nvSpPr>
        <p:spPr>
          <a:xfrm>
            <a:off x="11875257" y="4487653"/>
            <a:ext cx="38981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自我提問策略</a:t>
            </a:r>
            <a:endParaRPr lang="en-US" altLang="zh-TW" sz="2000" kern="100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BE83724-1D59-AE03-F965-28B39E2BEE7F}"/>
              </a:ext>
            </a:extLst>
          </p:cNvPr>
          <p:cNvSpPr/>
          <p:nvPr/>
        </p:nvSpPr>
        <p:spPr>
          <a:xfrm>
            <a:off x="1447800" y="2708423"/>
            <a:ext cx="332975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意義段三：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7 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B28A544F-75CB-9900-3B50-A0EBF7D930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3851744"/>
              </p:ext>
            </p:extLst>
          </p:nvPr>
        </p:nvGraphicFramePr>
        <p:xfrm>
          <a:off x="1447800" y="6815099"/>
          <a:ext cx="15632133" cy="2162747"/>
        </p:xfrm>
        <a:graphic>
          <a:graphicData uri="http://schemas.openxmlformats.org/drawingml/2006/table">
            <a:tbl>
              <a:tblPr firstRow="1" firstCol="1" bandRow="1"/>
              <a:tblGrid>
                <a:gridCol w="156321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4400" b="1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意義段三：</a:t>
                      </a: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4400" b="0" u="none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原來是一場夢。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矩形 21">
            <a:extLst>
              <a:ext uri="{FF2B5EF4-FFF2-40B4-BE49-F238E27FC236}">
                <a16:creationId xmlns:a16="http://schemas.microsoft.com/office/drawing/2014/main" id="{69CE33E5-7BD3-5B3E-3B8D-B18E43A8DD56}"/>
              </a:ext>
            </a:extLst>
          </p:cNvPr>
          <p:cNvSpPr/>
          <p:nvPr/>
        </p:nvSpPr>
        <p:spPr>
          <a:xfrm>
            <a:off x="3849310" y="5067300"/>
            <a:ext cx="514229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可能是在樹下 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1096840-F637-1404-39F2-A3CFEBD03039}"/>
              </a:ext>
            </a:extLst>
          </p:cNvPr>
          <p:cNvSpPr/>
          <p:nvPr/>
        </p:nvSpPr>
        <p:spPr>
          <a:xfrm>
            <a:off x="3080595" y="5799541"/>
            <a:ext cx="514229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片片的落葉飄下來</a:t>
            </a:r>
            <a:r>
              <a:rPr lang="en-US" altLang="zh-TW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…… </a:t>
            </a:r>
            <a:endParaRPr lang="zh-TW" altLang="en-US" sz="32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8738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198094" y="-325777"/>
            <a:ext cx="5910568" cy="4723539"/>
          </a:xfrm>
          <a:custGeom>
            <a:avLst/>
            <a:gdLst/>
            <a:ahLst/>
            <a:cxnLst/>
            <a:rect l="l" t="t" r="r" b="b"/>
            <a:pathLst>
              <a:path w="8015757" h="6878977">
                <a:moveTo>
                  <a:pt x="0" y="0"/>
                </a:moveTo>
                <a:lnTo>
                  <a:pt x="8015758" y="0"/>
                </a:lnTo>
                <a:lnTo>
                  <a:pt x="8015758" y="6878977"/>
                </a:lnTo>
                <a:lnTo>
                  <a:pt x="0" y="68789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8" name="群組 17"/>
          <p:cNvGrpSpPr/>
          <p:nvPr/>
        </p:nvGrpSpPr>
        <p:grpSpPr>
          <a:xfrm>
            <a:off x="5257800" y="647701"/>
            <a:ext cx="9016633" cy="1524000"/>
            <a:chOff x="9677400" y="2520481"/>
            <a:chExt cx="7037093" cy="2057759"/>
          </a:xfrm>
        </p:grpSpPr>
        <p:grpSp>
          <p:nvGrpSpPr>
            <p:cNvPr id="10" name="Group 10"/>
            <p:cNvGrpSpPr/>
            <p:nvPr/>
          </p:nvGrpSpPr>
          <p:grpSpPr>
            <a:xfrm>
              <a:off x="9677400" y="2520481"/>
              <a:ext cx="6808493" cy="2057759"/>
              <a:chOff x="0" y="0"/>
              <a:chExt cx="6301692" cy="190458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6301692" cy="1904587"/>
              </a:xfrm>
              <a:custGeom>
                <a:avLst/>
                <a:gdLst/>
                <a:ahLst/>
                <a:cxnLst/>
                <a:rect l="l" t="t" r="r" b="b"/>
                <a:pathLst>
                  <a:path w="6301692" h="1904587">
                    <a:moveTo>
                      <a:pt x="57992" y="0"/>
                    </a:moveTo>
                    <a:lnTo>
                      <a:pt x="6243700" y="0"/>
                    </a:lnTo>
                    <a:cubicBezTo>
                      <a:pt x="6275728" y="0"/>
                      <a:pt x="6301692" y="25964"/>
                      <a:pt x="6301692" y="57992"/>
                    </a:cubicBezTo>
                    <a:lnTo>
                      <a:pt x="6301692" y="1846595"/>
                    </a:lnTo>
                    <a:cubicBezTo>
                      <a:pt x="6301692" y="1878623"/>
                      <a:pt x="6275728" y="1904587"/>
                      <a:pt x="6243700" y="1904587"/>
                    </a:cubicBezTo>
                    <a:lnTo>
                      <a:pt x="57992" y="1904587"/>
                    </a:lnTo>
                    <a:cubicBezTo>
                      <a:pt x="25964" y="1904587"/>
                      <a:pt x="0" y="1878623"/>
                      <a:pt x="0" y="1846595"/>
                    </a:cubicBezTo>
                    <a:lnTo>
                      <a:pt x="0" y="57992"/>
                    </a:lnTo>
                    <a:cubicBezTo>
                      <a:pt x="0" y="25964"/>
                      <a:pt x="25964" y="0"/>
                      <a:pt x="57992" y="0"/>
                    </a:cubicBezTo>
                    <a:close/>
                  </a:path>
                </a:pathLst>
              </a:custGeom>
              <a:solidFill>
                <a:srgbClr val="D67E7E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47625"/>
                <a:ext cx="6301692" cy="19522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9906000" y="2520481"/>
              <a:ext cx="6808493" cy="2057759"/>
              <a:chOff x="0" y="0"/>
              <a:chExt cx="6301692" cy="1904587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6301692" cy="1904587"/>
              </a:xfrm>
              <a:custGeom>
                <a:avLst/>
                <a:gdLst/>
                <a:ahLst/>
                <a:cxnLst/>
                <a:rect l="l" t="t" r="r" b="b"/>
                <a:pathLst>
                  <a:path w="6301692" h="1904587">
                    <a:moveTo>
                      <a:pt x="57992" y="0"/>
                    </a:moveTo>
                    <a:lnTo>
                      <a:pt x="6243700" y="0"/>
                    </a:lnTo>
                    <a:cubicBezTo>
                      <a:pt x="6275728" y="0"/>
                      <a:pt x="6301692" y="25964"/>
                      <a:pt x="6301692" y="57992"/>
                    </a:cubicBezTo>
                    <a:lnTo>
                      <a:pt x="6301692" y="1846595"/>
                    </a:lnTo>
                    <a:cubicBezTo>
                      <a:pt x="6301692" y="1878623"/>
                      <a:pt x="6275728" y="1904587"/>
                      <a:pt x="6243700" y="1904587"/>
                    </a:cubicBezTo>
                    <a:lnTo>
                      <a:pt x="57992" y="1904587"/>
                    </a:lnTo>
                    <a:cubicBezTo>
                      <a:pt x="25964" y="1904587"/>
                      <a:pt x="0" y="1878623"/>
                      <a:pt x="0" y="1846595"/>
                    </a:cubicBezTo>
                    <a:lnTo>
                      <a:pt x="0" y="57992"/>
                    </a:lnTo>
                    <a:cubicBezTo>
                      <a:pt x="0" y="25964"/>
                      <a:pt x="25964" y="0"/>
                      <a:pt x="57992" y="0"/>
                    </a:cubicBezTo>
                    <a:close/>
                  </a:path>
                </a:pathLst>
              </a:custGeom>
              <a:solidFill>
                <a:srgbClr val="D67E7E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47625"/>
                <a:ext cx="6301692" cy="19522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6" name="Freeform 16"/>
          <p:cNvSpPr/>
          <p:nvPr/>
        </p:nvSpPr>
        <p:spPr>
          <a:xfrm rot="1721810">
            <a:off x="-2668664" y="-3034820"/>
            <a:ext cx="6061775" cy="5466619"/>
          </a:xfrm>
          <a:custGeom>
            <a:avLst/>
            <a:gdLst/>
            <a:ahLst/>
            <a:cxnLst/>
            <a:rect l="l" t="t" r="r" b="b"/>
            <a:pathLst>
              <a:path w="6061775" h="5466619">
                <a:moveTo>
                  <a:pt x="0" y="0"/>
                </a:moveTo>
                <a:lnTo>
                  <a:pt x="6061775" y="0"/>
                </a:lnTo>
                <a:lnTo>
                  <a:pt x="6061775" y="5466619"/>
                </a:lnTo>
                <a:lnTo>
                  <a:pt x="0" y="54666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9" name="矩形 18"/>
          <p:cNvSpPr/>
          <p:nvPr/>
        </p:nvSpPr>
        <p:spPr>
          <a:xfrm>
            <a:off x="7399701" y="1002244"/>
            <a:ext cx="502573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挑 戰 全 文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449043" y="2502332"/>
            <a:ext cx="15389914" cy="14791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想像力再度起飛，加人、加時間、加地點、加情緒、加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……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，詩歌就會變成一篇不一樣的小篇故事呵！讓我們帶著想像力翅膀一起翱翔吧！</a:t>
            </a:r>
          </a:p>
        </p:txBody>
      </p:sp>
      <p:sp>
        <p:nvSpPr>
          <p:cNvPr id="9" name="向右箭號 8">
            <a:extLst>
              <a:ext uri="{FF2B5EF4-FFF2-40B4-BE49-F238E27FC236}">
                <a16:creationId xmlns:a16="http://schemas.microsoft.com/office/drawing/2014/main" id="{8AC2F197-BCF0-39EF-B8E6-699A30CAA6D8}"/>
              </a:ext>
            </a:extLst>
          </p:cNvPr>
          <p:cNvSpPr/>
          <p:nvPr/>
        </p:nvSpPr>
        <p:spPr>
          <a:xfrm>
            <a:off x="5482273" y="12670310"/>
            <a:ext cx="422361" cy="494561"/>
          </a:xfrm>
          <a:prstGeom prst="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68C4E29-E4CE-861F-7C51-8468830D0E67}"/>
              </a:ext>
            </a:extLst>
          </p:cNvPr>
          <p:cNvSpPr txBox="1"/>
          <p:nvPr/>
        </p:nvSpPr>
        <p:spPr>
          <a:xfrm>
            <a:off x="1905000" y="4286682"/>
            <a:ext cx="14782800" cy="164465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6350">
            <a:solidFill>
              <a:prstClr val="black"/>
            </a:solidFill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zh-TW" sz="3200" b="1" kern="10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咦，是誰坐在大樹上</a:t>
            </a:r>
            <a:r>
              <a:rPr lang="en-US" sz="3200" b="1" kern="10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?</a:t>
            </a:r>
            <a:endParaRPr lang="zh-TW" sz="3200" b="1" kern="100" dirty="0">
              <a:effectLst/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buNone/>
            </a:pPr>
            <a:r>
              <a:rPr lang="zh-TW" sz="3200" b="1" kern="10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那隻老是愛笑的貓，身體消失不見了，笑聲卻還聽得到。</a:t>
            </a:r>
          </a:p>
        </p:txBody>
      </p:sp>
      <p:sp>
        <p:nvSpPr>
          <p:cNvPr id="5" name="文字方塊 6">
            <a:extLst>
              <a:ext uri="{FF2B5EF4-FFF2-40B4-BE49-F238E27FC236}">
                <a16:creationId xmlns:a16="http://schemas.microsoft.com/office/drawing/2014/main" id="{4F266E96-3B88-D089-C62F-5808ED30B5B4}"/>
              </a:ext>
            </a:extLst>
          </p:cNvPr>
          <p:cNvSpPr txBox="1"/>
          <p:nvPr/>
        </p:nvSpPr>
        <p:spPr>
          <a:xfrm>
            <a:off x="9514105" y="5996468"/>
            <a:ext cx="796926" cy="1100755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buNone/>
            </a:pPr>
            <a:r>
              <a:rPr lang="zh-TW" sz="2800" b="1" kern="100" dirty="0">
                <a:effectLst/>
                <a:ea typeface="微軟正黑體" panose="020B0604030504040204" pitchFamily="34" charset="-120"/>
                <a:cs typeface="Times New Roman" panose="02020603050405020304" pitchFamily="18" charset="0"/>
              </a:rPr>
              <a:t>改寫</a:t>
            </a:r>
            <a:endParaRPr lang="zh-TW" sz="2800" b="1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6" name="向下箭號 5">
            <a:extLst>
              <a:ext uri="{FF2B5EF4-FFF2-40B4-BE49-F238E27FC236}">
                <a16:creationId xmlns:a16="http://schemas.microsoft.com/office/drawing/2014/main" id="{78E80950-827E-B097-98A8-64E04339E7FC}"/>
              </a:ext>
            </a:extLst>
          </p:cNvPr>
          <p:cNvSpPr/>
          <p:nvPr/>
        </p:nvSpPr>
        <p:spPr>
          <a:xfrm flipH="1">
            <a:off x="8866186" y="5931332"/>
            <a:ext cx="506413" cy="1100754"/>
          </a:xfrm>
          <a:prstGeom prst="downArrow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62423D6-228B-8D9A-E141-B8D57B81BDA7}"/>
              </a:ext>
            </a:extLst>
          </p:cNvPr>
          <p:cNvSpPr txBox="1"/>
          <p:nvPr/>
        </p:nvSpPr>
        <p:spPr>
          <a:xfrm>
            <a:off x="2895600" y="7280717"/>
            <a:ext cx="12861758" cy="2587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None/>
            </a:pPr>
            <a:r>
              <a:rPr lang="zh-TW" altLang="zh-TW" sz="3200" kern="0" dirty="0">
                <a:solidFill>
                  <a:srgbClr val="00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新細明體" panose="02020500000000000000" pitchFamily="18" charset="-120"/>
              </a:rPr>
              <a:t>我看到樹上有個黑影，心裡想著：「咦，是誰坐在大樹上</a:t>
            </a:r>
            <a:r>
              <a:rPr lang="en-US" altLang="zh-TW" sz="3200" kern="0" dirty="0">
                <a:solidFill>
                  <a:srgbClr val="00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新細明體" panose="02020500000000000000" pitchFamily="18" charset="-120"/>
              </a:rPr>
              <a:t>?</a:t>
            </a:r>
            <a:r>
              <a:rPr lang="zh-TW" altLang="zh-TW" sz="3200" kern="0" dirty="0">
                <a:solidFill>
                  <a:srgbClr val="00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新細明體" panose="02020500000000000000" pitchFamily="18" charset="-120"/>
              </a:rPr>
              <a:t>」</a:t>
            </a:r>
            <a:r>
              <a:rPr lang="en-US" altLang="zh-TW" sz="3200" kern="0" dirty="0">
                <a:solidFill>
                  <a:srgbClr val="00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新細明體" panose="02020500000000000000" pitchFamily="18" charset="-120"/>
              </a:rPr>
              <a:t>                             </a:t>
            </a:r>
            <a:endParaRPr lang="zh-TW" altLang="zh-TW" sz="3200" kern="100" dirty="0">
              <a:effectLst/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buNone/>
            </a:pPr>
            <a:r>
              <a:rPr lang="zh-TW" altLang="zh-TW" sz="3200" kern="0" dirty="0">
                <a:solidFill>
                  <a:srgbClr val="00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新細明體" panose="02020500000000000000" pitchFamily="18" charset="-120"/>
              </a:rPr>
              <a:t>原來是那隻老是愛笑的貓。</a:t>
            </a:r>
            <a:r>
              <a:rPr lang="en-US" altLang="zh-TW" sz="3200" kern="0" dirty="0">
                <a:solidFill>
                  <a:srgbClr val="00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新細明體" panose="02020500000000000000" pitchFamily="18" charset="-120"/>
              </a:rPr>
              <a:t>                                                          </a:t>
            </a:r>
            <a:endParaRPr lang="zh-TW" altLang="zh-TW" sz="3200" kern="100" dirty="0">
              <a:effectLst/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buNone/>
            </a:pPr>
            <a:r>
              <a:rPr lang="zh-TW" altLang="zh-TW" sz="3200" kern="0" dirty="0">
                <a:solidFill>
                  <a:srgbClr val="00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新細明體" panose="02020500000000000000" pitchFamily="18" charset="-120"/>
              </a:rPr>
              <a:t>他長長的的尾巴先消失，接著身體也不見了，最後連頭也不見了，神秘的笑聲卻還聽得到。</a:t>
            </a:r>
            <a:r>
              <a:rPr lang="en-US" altLang="zh-TW" sz="3200" kern="0" dirty="0">
                <a:solidFill>
                  <a:srgbClr val="00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新細明體" panose="02020500000000000000" pitchFamily="18" charset="-120"/>
              </a:rPr>
              <a:t>  </a:t>
            </a:r>
            <a:endParaRPr lang="zh-TW" altLang="zh-TW" sz="3200" kern="100" dirty="0">
              <a:effectLst/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DCC2D28D-75CC-A3C6-91F6-6831FB674E76}"/>
              </a:ext>
            </a:extLst>
          </p:cNvPr>
          <p:cNvCxnSpPr>
            <a:cxnSpLocks/>
          </p:cNvCxnSpPr>
          <p:nvPr/>
        </p:nvCxnSpPr>
        <p:spPr>
          <a:xfrm>
            <a:off x="2895600" y="7924416"/>
            <a:ext cx="1293516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F3BE6F31-A845-9BD2-6A2E-D370552D57BF}"/>
              </a:ext>
            </a:extLst>
          </p:cNvPr>
          <p:cNvCxnSpPr>
            <a:cxnSpLocks/>
          </p:cNvCxnSpPr>
          <p:nvPr/>
        </p:nvCxnSpPr>
        <p:spPr>
          <a:xfrm>
            <a:off x="2895600" y="8534016"/>
            <a:ext cx="1293516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D18491AF-338B-1486-3405-844EC877C23E}"/>
              </a:ext>
            </a:extLst>
          </p:cNvPr>
          <p:cNvCxnSpPr>
            <a:cxnSpLocks/>
          </p:cNvCxnSpPr>
          <p:nvPr/>
        </p:nvCxnSpPr>
        <p:spPr>
          <a:xfrm>
            <a:off x="2895600" y="9219816"/>
            <a:ext cx="1293516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C3A8ADC0-D3D9-E38F-D314-7D76AEA5313D}"/>
              </a:ext>
            </a:extLst>
          </p:cNvPr>
          <p:cNvCxnSpPr>
            <a:cxnSpLocks/>
          </p:cNvCxnSpPr>
          <p:nvPr/>
        </p:nvCxnSpPr>
        <p:spPr>
          <a:xfrm>
            <a:off x="2895600" y="9801726"/>
            <a:ext cx="1293516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D9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1E7236-E3A5-90E2-1799-2EE66CB54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EAEB0D4-7966-205D-6CCC-710D73F890AD}"/>
              </a:ext>
            </a:extLst>
          </p:cNvPr>
          <p:cNvSpPr/>
          <p:nvPr/>
        </p:nvSpPr>
        <p:spPr>
          <a:xfrm>
            <a:off x="16198094" y="-325777"/>
            <a:ext cx="5910568" cy="4723539"/>
          </a:xfrm>
          <a:custGeom>
            <a:avLst/>
            <a:gdLst/>
            <a:ahLst/>
            <a:cxnLst/>
            <a:rect l="l" t="t" r="r" b="b"/>
            <a:pathLst>
              <a:path w="8015757" h="6878977">
                <a:moveTo>
                  <a:pt x="0" y="0"/>
                </a:moveTo>
                <a:lnTo>
                  <a:pt x="8015758" y="0"/>
                </a:lnTo>
                <a:lnTo>
                  <a:pt x="8015758" y="6878977"/>
                </a:lnTo>
                <a:lnTo>
                  <a:pt x="0" y="68789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C58CB3BA-9D78-E4D1-14D8-1B5341CC3191}"/>
              </a:ext>
            </a:extLst>
          </p:cNvPr>
          <p:cNvGrpSpPr/>
          <p:nvPr/>
        </p:nvGrpSpPr>
        <p:grpSpPr>
          <a:xfrm>
            <a:off x="5257800" y="647701"/>
            <a:ext cx="9016633" cy="1524000"/>
            <a:chOff x="9677400" y="2520481"/>
            <a:chExt cx="7037093" cy="2057759"/>
          </a:xfrm>
        </p:grpSpPr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29C853C3-1F7E-EBF7-9EB2-791693E338E8}"/>
                </a:ext>
              </a:extLst>
            </p:cNvPr>
            <p:cNvGrpSpPr/>
            <p:nvPr/>
          </p:nvGrpSpPr>
          <p:grpSpPr>
            <a:xfrm>
              <a:off x="9677400" y="2520481"/>
              <a:ext cx="6808493" cy="2057759"/>
              <a:chOff x="0" y="0"/>
              <a:chExt cx="6301692" cy="1904587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70ADEC89-CDD2-E795-4D51-E55763876F24}"/>
                  </a:ext>
                </a:extLst>
              </p:cNvPr>
              <p:cNvSpPr/>
              <p:nvPr/>
            </p:nvSpPr>
            <p:spPr>
              <a:xfrm>
                <a:off x="0" y="0"/>
                <a:ext cx="6301692" cy="1904587"/>
              </a:xfrm>
              <a:custGeom>
                <a:avLst/>
                <a:gdLst/>
                <a:ahLst/>
                <a:cxnLst/>
                <a:rect l="l" t="t" r="r" b="b"/>
                <a:pathLst>
                  <a:path w="6301692" h="1904587">
                    <a:moveTo>
                      <a:pt x="57992" y="0"/>
                    </a:moveTo>
                    <a:lnTo>
                      <a:pt x="6243700" y="0"/>
                    </a:lnTo>
                    <a:cubicBezTo>
                      <a:pt x="6275728" y="0"/>
                      <a:pt x="6301692" y="25964"/>
                      <a:pt x="6301692" y="57992"/>
                    </a:cubicBezTo>
                    <a:lnTo>
                      <a:pt x="6301692" y="1846595"/>
                    </a:lnTo>
                    <a:cubicBezTo>
                      <a:pt x="6301692" y="1878623"/>
                      <a:pt x="6275728" y="1904587"/>
                      <a:pt x="6243700" y="1904587"/>
                    </a:cubicBezTo>
                    <a:lnTo>
                      <a:pt x="57992" y="1904587"/>
                    </a:lnTo>
                    <a:cubicBezTo>
                      <a:pt x="25964" y="1904587"/>
                      <a:pt x="0" y="1878623"/>
                      <a:pt x="0" y="1846595"/>
                    </a:cubicBezTo>
                    <a:lnTo>
                      <a:pt x="0" y="57992"/>
                    </a:lnTo>
                    <a:cubicBezTo>
                      <a:pt x="0" y="25964"/>
                      <a:pt x="25964" y="0"/>
                      <a:pt x="57992" y="0"/>
                    </a:cubicBezTo>
                    <a:close/>
                  </a:path>
                </a:pathLst>
              </a:custGeom>
              <a:solidFill>
                <a:srgbClr val="D67E7E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18EFA3FC-625E-7A6A-A1BE-72537ADD3729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6301692" cy="19522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7555149E-691C-29A8-290A-B39314DC26BB}"/>
                </a:ext>
              </a:extLst>
            </p:cNvPr>
            <p:cNvGrpSpPr/>
            <p:nvPr/>
          </p:nvGrpSpPr>
          <p:grpSpPr>
            <a:xfrm>
              <a:off x="9906000" y="2520481"/>
              <a:ext cx="6808493" cy="2057759"/>
              <a:chOff x="0" y="0"/>
              <a:chExt cx="6301692" cy="1904587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B37304D7-ABF0-E46B-5A23-FFA50B54E080}"/>
                  </a:ext>
                </a:extLst>
              </p:cNvPr>
              <p:cNvSpPr/>
              <p:nvPr/>
            </p:nvSpPr>
            <p:spPr>
              <a:xfrm>
                <a:off x="0" y="0"/>
                <a:ext cx="6301692" cy="1904587"/>
              </a:xfrm>
              <a:custGeom>
                <a:avLst/>
                <a:gdLst/>
                <a:ahLst/>
                <a:cxnLst/>
                <a:rect l="l" t="t" r="r" b="b"/>
                <a:pathLst>
                  <a:path w="6301692" h="1904587">
                    <a:moveTo>
                      <a:pt x="57992" y="0"/>
                    </a:moveTo>
                    <a:lnTo>
                      <a:pt x="6243700" y="0"/>
                    </a:lnTo>
                    <a:cubicBezTo>
                      <a:pt x="6275728" y="0"/>
                      <a:pt x="6301692" y="25964"/>
                      <a:pt x="6301692" y="57992"/>
                    </a:cubicBezTo>
                    <a:lnTo>
                      <a:pt x="6301692" y="1846595"/>
                    </a:lnTo>
                    <a:cubicBezTo>
                      <a:pt x="6301692" y="1878623"/>
                      <a:pt x="6275728" y="1904587"/>
                      <a:pt x="6243700" y="1904587"/>
                    </a:cubicBezTo>
                    <a:lnTo>
                      <a:pt x="57992" y="1904587"/>
                    </a:lnTo>
                    <a:cubicBezTo>
                      <a:pt x="25964" y="1904587"/>
                      <a:pt x="0" y="1878623"/>
                      <a:pt x="0" y="1846595"/>
                    </a:cubicBezTo>
                    <a:lnTo>
                      <a:pt x="0" y="57992"/>
                    </a:lnTo>
                    <a:cubicBezTo>
                      <a:pt x="0" y="25964"/>
                      <a:pt x="25964" y="0"/>
                      <a:pt x="57992" y="0"/>
                    </a:cubicBezTo>
                    <a:close/>
                  </a:path>
                </a:pathLst>
              </a:custGeom>
              <a:solidFill>
                <a:srgbClr val="D67E7E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9EEE1AD6-8B8C-3B88-5B7D-B5CD4AB3F79B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6301692" cy="19522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86192DF7-DAE5-0053-0E63-99E0DA758EE5}"/>
              </a:ext>
            </a:extLst>
          </p:cNvPr>
          <p:cNvSpPr/>
          <p:nvPr/>
        </p:nvSpPr>
        <p:spPr>
          <a:xfrm rot="1721810">
            <a:off x="-2668664" y="-3034820"/>
            <a:ext cx="6061775" cy="5466619"/>
          </a:xfrm>
          <a:custGeom>
            <a:avLst/>
            <a:gdLst/>
            <a:ahLst/>
            <a:cxnLst/>
            <a:rect l="l" t="t" r="r" b="b"/>
            <a:pathLst>
              <a:path w="6061775" h="5466619">
                <a:moveTo>
                  <a:pt x="0" y="0"/>
                </a:moveTo>
                <a:lnTo>
                  <a:pt x="6061775" y="0"/>
                </a:lnTo>
                <a:lnTo>
                  <a:pt x="6061775" y="5466619"/>
                </a:lnTo>
                <a:lnTo>
                  <a:pt x="0" y="54666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D8B42077-361E-3A32-FEAB-01FC0E2A6088}"/>
              </a:ext>
            </a:extLst>
          </p:cNvPr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15DD66A-1D6B-5202-BF7A-EBDCB9AAB097}"/>
              </a:ext>
            </a:extLst>
          </p:cNvPr>
          <p:cNvSpPr/>
          <p:nvPr/>
        </p:nvSpPr>
        <p:spPr>
          <a:xfrm>
            <a:off x="7399701" y="1002244"/>
            <a:ext cx="502573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挑 戰 全 文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01CE3C2-177E-43B4-4D0C-067363290525}"/>
              </a:ext>
            </a:extLst>
          </p:cNvPr>
          <p:cNvSpPr txBox="1"/>
          <p:nvPr/>
        </p:nvSpPr>
        <p:spPr>
          <a:xfrm>
            <a:off x="1905000" y="2857500"/>
            <a:ext cx="14782800" cy="27372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6350">
            <a:solidFill>
              <a:prstClr val="black"/>
            </a:solidFill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zh-TW" altLang="en-US" sz="3200" b="1" kern="10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場喝不完的下午茶，時間永遠停留在六點啦</a:t>
            </a:r>
            <a:r>
              <a:rPr lang="en-US" altLang="zh-TW" sz="3200" b="1" kern="10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!</a:t>
            </a:r>
          </a:p>
          <a:p>
            <a:pPr algn="ctr">
              <a:lnSpc>
                <a:spcPct val="150000"/>
              </a:lnSpc>
              <a:buNone/>
            </a:pPr>
            <a:r>
              <a:rPr lang="zh-TW" altLang="en-US" sz="3200" b="1" kern="10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一場奇怪的槌球賽，紅鶴長長的嘴當球槌，</a:t>
            </a:r>
          </a:p>
          <a:p>
            <a:pPr algn="ctr">
              <a:lnSpc>
                <a:spcPct val="150000"/>
              </a:lnSpc>
              <a:buNone/>
            </a:pPr>
            <a:r>
              <a:rPr lang="zh-TW" altLang="en-US" sz="3200" b="1" kern="10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球是滾來滾去的刺蝟。</a:t>
            </a:r>
          </a:p>
        </p:txBody>
      </p:sp>
      <p:sp>
        <p:nvSpPr>
          <p:cNvPr id="5" name="文字方塊 6">
            <a:extLst>
              <a:ext uri="{FF2B5EF4-FFF2-40B4-BE49-F238E27FC236}">
                <a16:creationId xmlns:a16="http://schemas.microsoft.com/office/drawing/2014/main" id="{224F55F7-1422-80BE-9BCE-D4156EB0A937}"/>
              </a:ext>
            </a:extLst>
          </p:cNvPr>
          <p:cNvSpPr txBox="1"/>
          <p:nvPr/>
        </p:nvSpPr>
        <p:spPr>
          <a:xfrm>
            <a:off x="9514105" y="5659910"/>
            <a:ext cx="796926" cy="1100755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buNone/>
            </a:pPr>
            <a:r>
              <a:rPr lang="zh-TW" sz="2800" b="1" kern="100" dirty="0">
                <a:effectLst/>
                <a:ea typeface="微軟正黑體" panose="020B0604030504040204" pitchFamily="34" charset="-120"/>
                <a:cs typeface="Times New Roman" panose="02020603050405020304" pitchFamily="18" charset="0"/>
              </a:rPr>
              <a:t>改寫</a:t>
            </a:r>
            <a:endParaRPr lang="zh-TW" sz="2800" b="1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6" name="向下箭號 5">
            <a:extLst>
              <a:ext uri="{FF2B5EF4-FFF2-40B4-BE49-F238E27FC236}">
                <a16:creationId xmlns:a16="http://schemas.microsoft.com/office/drawing/2014/main" id="{45547B9A-9D85-737F-8CE0-7273F58D6A91}"/>
              </a:ext>
            </a:extLst>
          </p:cNvPr>
          <p:cNvSpPr/>
          <p:nvPr/>
        </p:nvSpPr>
        <p:spPr>
          <a:xfrm flipH="1">
            <a:off x="8866186" y="5594774"/>
            <a:ext cx="506413" cy="1100754"/>
          </a:xfrm>
          <a:prstGeom prst="downArrow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3130322-3296-0866-81FA-653E2D7DDF87}"/>
              </a:ext>
            </a:extLst>
          </p:cNvPr>
          <p:cNvSpPr txBox="1"/>
          <p:nvPr/>
        </p:nvSpPr>
        <p:spPr>
          <a:xfrm>
            <a:off x="2895600" y="6944159"/>
            <a:ext cx="12861758" cy="666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None/>
            </a:pPr>
            <a:r>
              <a:rPr lang="zh-TW" altLang="en-US" sz="3200" kern="0" dirty="0">
                <a:solidFill>
                  <a:srgbClr val="00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新細明體" panose="02020500000000000000" pitchFamily="18" charset="-120"/>
              </a:rPr>
              <a:t>改寫</a:t>
            </a:r>
            <a:r>
              <a:rPr lang="en-US" altLang="zh-TW" sz="3200" kern="0" dirty="0">
                <a:solidFill>
                  <a:srgbClr val="00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新細明體" panose="02020500000000000000" pitchFamily="18" charset="-120"/>
              </a:rPr>
              <a:t>:</a:t>
            </a:r>
            <a:endParaRPr lang="zh-TW" altLang="zh-TW" sz="3200" kern="100" dirty="0">
              <a:effectLst/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B5A78174-8884-1D90-D02C-5B44E3D4A4B6}"/>
              </a:ext>
            </a:extLst>
          </p:cNvPr>
          <p:cNvCxnSpPr>
            <a:cxnSpLocks/>
          </p:cNvCxnSpPr>
          <p:nvPr/>
        </p:nvCxnSpPr>
        <p:spPr>
          <a:xfrm>
            <a:off x="2895600" y="7587858"/>
            <a:ext cx="1293516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5A446CFF-295B-B235-557F-075212A74400}"/>
              </a:ext>
            </a:extLst>
          </p:cNvPr>
          <p:cNvCxnSpPr>
            <a:cxnSpLocks/>
          </p:cNvCxnSpPr>
          <p:nvPr/>
        </p:nvCxnSpPr>
        <p:spPr>
          <a:xfrm>
            <a:off x="2895600" y="8197458"/>
            <a:ext cx="1293516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5F435539-33BC-101D-ADBF-F8DCB1CBA758}"/>
              </a:ext>
            </a:extLst>
          </p:cNvPr>
          <p:cNvCxnSpPr>
            <a:cxnSpLocks/>
          </p:cNvCxnSpPr>
          <p:nvPr/>
        </p:nvCxnSpPr>
        <p:spPr>
          <a:xfrm>
            <a:off x="2895600" y="8883258"/>
            <a:ext cx="1293516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7F874E61-2925-0379-A69F-C6611DAEA7FE}"/>
              </a:ext>
            </a:extLst>
          </p:cNvPr>
          <p:cNvCxnSpPr>
            <a:cxnSpLocks/>
          </p:cNvCxnSpPr>
          <p:nvPr/>
        </p:nvCxnSpPr>
        <p:spPr>
          <a:xfrm>
            <a:off x="2895600" y="9465168"/>
            <a:ext cx="1293516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67470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D9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FB0FCB-C271-C9D1-D1B5-3F5562921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26AE99A-29EE-C645-D889-8480484808DD}"/>
              </a:ext>
            </a:extLst>
          </p:cNvPr>
          <p:cNvSpPr/>
          <p:nvPr/>
        </p:nvSpPr>
        <p:spPr>
          <a:xfrm>
            <a:off x="16198094" y="-325777"/>
            <a:ext cx="5910568" cy="4723539"/>
          </a:xfrm>
          <a:custGeom>
            <a:avLst/>
            <a:gdLst/>
            <a:ahLst/>
            <a:cxnLst/>
            <a:rect l="l" t="t" r="r" b="b"/>
            <a:pathLst>
              <a:path w="8015757" h="6878977">
                <a:moveTo>
                  <a:pt x="0" y="0"/>
                </a:moveTo>
                <a:lnTo>
                  <a:pt x="8015758" y="0"/>
                </a:lnTo>
                <a:lnTo>
                  <a:pt x="8015758" y="6878977"/>
                </a:lnTo>
                <a:lnTo>
                  <a:pt x="0" y="68789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0DADABB5-9599-1BDB-24DC-42A198730ACF}"/>
              </a:ext>
            </a:extLst>
          </p:cNvPr>
          <p:cNvSpPr/>
          <p:nvPr/>
        </p:nvSpPr>
        <p:spPr>
          <a:xfrm rot="1721810">
            <a:off x="-2668664" y="-3034820"/>
            <a:ext cx="6061775" cy="5466619"/>
          </a:xfrm>
          <a:custGeom>
            <a:avLst/>
            <a:gdLst/>
            <a:ahLst/>
            <a:cxnLst/>
            <a:rect l="l" t="t" r="r" b="b"/>
            <a:pathLst>
              <a:path w="6061775" h="5466619">
                <a:moveTo>
                  <a:pt x="0" y="0"/>
                </a:moveTo>
                <a:lnTo>
                  <a:pt x="6061775" y="0"/>
                </a:lnTo>
                <a:lnTo>
                  <a:pt x="6061775" y="5466619"/>
                </a:lnTo>
                <a:lnTo>
                  <a:pt x="0" y="54666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1A0957EF-77DB-B400-9F3C-C84C42529677}"/>
              </a:ext>
            </a:extLst>
          </p:cNvPr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9" name="向右箭號 8">
            <a:extLst>
              <a:ext uri="{FF2B5EF4-FFF2-40B4-BE49-F238E27FC236}">
                <a16:creationId xmlns:a16="http://schemas.microsoft.com/office/drawing/2014/main" id="{EB359039-AB0C-ADFD-36DB-F09222D4D2DC}"/>
              </a:ext>
            </a:extLst>
          </p:cNvPr>
          <p:cNvSpPr/>
          <p:nvPr/>
        </p:nvSpPr>
        <p:spPr>
          <a:xfrm>
            <a:off x="5482273" y="12670310"/>
            <a:ext cx="422361" cy="494561"/>
          </a:xfrm>
          <a:prstGeom prst="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7C470B4-C72F-7A8F-3746-51F3EE9F392F}"/>
              </a:ext>
            </a:extLst>
          </p:cNvPr>
          <p:cNvSpPr txBox="1"/>
          <p:nvPr/>
        </p:nvSpPr>
        <p:spPr>
          <a:xfrm>
            <a:off x="1108585" y="1051401"/>
            <a:ext cx="128617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zh-TW" sz="3200" b="1" kern="0" dirty="0">
                <a:solidFill>
                  <a:srgbClr val="00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新細明體" panose="02020500000000000000" pitchFamily="18" charset="-120"/>
              </a:rPr>
              <a:t>畫出情境圖</a:t>
            </a:r>
            <a:r>
              <a:rPr lang="en-US" altLang="zh-TW" sz="3200" b="1" kern="0" dirty="0">
                <a:solidFill>
                  <a:srgbClr val="00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新細明體" panose="02020500000000000000" pitchFamily="18" charset="-120"/>
              </a:rPr>
              <a:t> :</a:t>
            </a:r>
            <a:endParaRPr lang="zh-TW" altLang="zh-TW" sz="3200" b="1" kern="100" dirty="0">
              <a:effectLst/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A36E966-6511-C581-FCBA-7F23CA73C8CB}"/>
              </a:ext>
            </a:extLst>
          </p:cNvPr>
          <p:cNvSpPr txBox="1"/>
          <p:nvPr/>
        </p:nvSpPr>
        <p:spPr>
          <a:xfrm>
            <a:off x="1108585" y="8724900"/>
            <a:ext cx="1286175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en-US" sz="3200" b="1" kern="0" dirty="0">
                <a:solidFill>
                  <a:srgbClr val="00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新細明體" panose="02020500000000000000" pitchFamily="18" charset="-120"/>
              </a:rPr>
              <a:t>★你想知道</a:t>
            </a:r>
            <a:r>
              <a:rPr lang="zh-TW" altLang="en-US" sz="3200" b="1" u="sng" kern="0" dirty="0">
                <a:solidFill>
                  <a:srgbClr val="00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新細明體" panose="02020500000000000000" pitchFamily="18" charset="-120"/>
              </a:rPr>
              <a:t>愛麗絲</a:t>
            </a:r>
            <a:r>
              <a:rPr lang="zh-TW" altLang="en-US" sz="3200" b="1" kern="0" dirty="0">
                <a:solidFill>
                  <a:srgbClr val="00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新細明體" panose="02020500000000000000" pitchFamily="18" charset="-120"/>
              </a:rPr>
              <a:t>在奇幻世界中還遇到了那些奇幻故事嗎</a:t>
            </a:r>
            <a:r>
              <a:rPr lang="zh-TW" altLang="en-US" sz="3200" b="1" kern="0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新細明體" panose="02020500000000000000" pitchFamily="18" charset="-120"/>
              </a:rPr>
              <a:t>？</a:t>
            </a:r>
            <a:endParaRPr lang="en-US" altLang="zh-TW" sz="3200" b="1" kern="0" dirty="0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新細明體" panose="02020500000000000000" pitchFamily="18" charset="-120"/>
            </a:endParaRPr>
          </a:p>
          <a:p>
            <a:pPr>
              <a:buNone/>
            </a:pPr>
            <a:r>
              <a:rPr lang="zh-TW" altLang="en-US" sz="3200" b="1" kern="0" dirty="0">
                <a:solidFill>
                  <a:srgbClr val="00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新細明體" panose="02020500000000000000" pitchFamily="18" charset="-120"/>
              </a:rPr>
              <a:t>走～一起去圖書館借一本</a:t>
            </a:r>
            <a:r>
              <a:rPr lang="en-US" altLang="zh-TW" sz="3200" b="1" kern="0" dirty="0">
                <a:solidFill>
                  <a:srgbClr val="00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新細明體" panose="02020500000000000000" pitchFamily="18" charset="-120"/>
              </a:rPr>
              <a:t>《</a:t>
            </a:r>
            <a:r>
              <a:rPr lang="zh-TW" altLang="en-US" sz="3200" b="1" kern="0" dirty="0">
                <a:solidFill>
                  <a:srgbClr val="00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新細明體" panose="02020500000000000000" pitchFamily="18" charset="-120"/>
              </a:rPr>
              <a:t>愛麗絲夢遊仙境</a:t>
            </a:r>
            <a:r>
              <a:rPr lang="en-US" altLang="zh-TW" sz="3200" b="1" kern="0" dirty="0">
                <a:solidFill>
                  <a:srgbClr val="00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新細明體" panose="02020500000000000000" pitchFamily="18" charset="-120"/>
              </a:rPr>
              <a:t>》</a:t>
            </a:r>
            <a:r>
              <a:rPr lang="zh-TW" altLang="en-US" sz="3200" b="1" kern="0" dirty="0">
                <a:solidFill>
                  <a:srgbClr val="00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新細明體" panose="02020500000000000000" pitchFamily="18" charset="-120"/>
              </a:rPr>
              <a:t>吧</a:t>
            </a:r>
            <a:r>
              <a:rPr lang="zh-TW" altLang="en-US" sz="3200" b="1" kern="0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新細明體" panose="02020500000000000000" pitchFamily="18" charset="-120"/>
              </a:rPr>
              <a:t>！</a:t>
            </a:r>
            <a:endParaRPr lang="zh-TW" altLang="zh-TW" sz="3200" b="1" kern="100" dirty="0">
              <a:effectLst/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50674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E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283887">
            <a:off x="-1943197" y="5287779"/>
            <a:ext cx="4826491" cy="5189775"/>
          </a:xfrm>
          <a:custGeom>
            <a:avLst/>
            <a:gdLst/>
            <a:ahLst/>
            <a:cxnLst/>
            <a:rect l="l" t="t" r="r" b="b"/>
            <a:pathLst>
              <a:path w="4826491" h="5189775">
                <a:moveTo>
                  <a:pt x="0" y="0"/>
                </a:moveTo>
                <a:lnTo>
                  <a:pt x="4826491" y="0"/>
                </a:lnTo>
                <a:lnTo>
                  <a:pt x="4826491" y="5189775"/>
                </a:lnTo>
                <a:lnTo>
                  <a:pt x="0" y="51897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5" name="Freeform 15"/>
          <p:cNvSpPr/>
          <p:nvPr/>
        </p:nvSpPr>
        <p:spPr>
          <a:xfrm rot="1721810">
            <a:off x="14757223" y="-765765"/>
            <a:ext cx="3979661" cy="3588931"/>
          </a:xfrm>
          <a:custGeom>
            <a:avLst/>
            <a:gdLst/>
            <a:ahLst/>
            <a:cxnLst/>
            <a:rect l="l" t="t" r="r" b="b"/>
            <a:pathLst>
              <a:path w="3979661" h="3588931">
                <a:moveTo>
                  <a:pt x="0" y="0"/>
                </a:moveTo>
                <a:lnTo>
                  <a:pt x="3979661" y="0"/>
                </a:lnTo>
                <a:lnTo>
                  <a:pt x="3979661" y="3588930"/>
                </a:lnTo>
                <a:lnTo>
                  <a:pt x="0" y="3588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6" name="Freeform 16"/>
          <p:cNvSpPr/>
          <p:nvPr/>
        </p:nvSpPr>
        <p:spPr>
          <a:xfrm>
            <a:off x="3860710" y="-1729344"/>
            <a:ext cx="3213823" cy="2758044"/>
          </a:xfrm>
          <a:custGeom>
            <a:avLst/>
            <a:gdLst/>
            <a:ahLst/>
            <a:cxnLst/>
            <a:rect l="l" t="t" r="r" b="b"/>
            <a:pathLst>
              <a:path w="3213823" h="2758044">
                <a:moveTo>
                  <a:pt x="0" y="0"/>
                </a:moveTo>
                <a:lnTo>
                  <a:pt x="3213822" y="0"/>
                </a:lnTo>
                <a:lnTo>
                  <a:pt x="3213822" y="2758044"/>
                </a:lnTo>
                <a:lnTo>
                  <a:pt x="0" y="27580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/>
          <p:cNvSpPr/>
          <p:nvPr/>
        </p:nvSpPr>
        <p:spPr>
          <a:xfrm>
            <a:off x="12172156" y="9258300"/>
            <a:ext cx="3213823" cy="2758044"/>
          </a:xfrm>
          <a:custGeom>
            <a:avLst/>
            <a:gdLst/>
            <a:ahLst/>
            <a:cxnLst/>
            <a:rect l="l" t="t" r="r" b="b"/>
            <a:pathLst>
              <a:path w="3213823" h="2758044">
                <a:moveTo>
                  <a:pt x="0" y="0"/>
                </a:moveTo>
                <a:lnTo>
                  <a:pt x="3213823" y="0"/>
                </a:lnTo>
                <a:lnTo>
                  <a:pt x="3213823" y="2758044"/>
                </a:lnTo>
                <a:lnTo>
                  <a:pt x="0" y="27580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8" name="Freeform 18"/>
          <p:cNvSpPr/>
          <p:nvPr/>
        </p:nvSpPr>
        <p:spPr>
          <a:xfrm>
            <a:off x="14139970" y="5600700"/>
            <a:ext cx="3878036" cy="4686300"/>
          </a:xfrm>
          <a:custGeom>
            <a:avLst/>
            <a:gdLst/>
            <a:ahLst/>
            <a:cxnLst/>
            <a:rect l="l" t="t" r="r" b="b"/>
            <a:pathLst>
              <a:path w="5308092" h="8229600">
                <a:moveTo>
                  <a:pt x="0" y="0"/>
                </a:moveTo>
                <a:lnTo>
                  <a:pt x="5308092" y="0"/>
                </a:lnTo>
                <a:lnTo>
                  <a:pt x="530809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9" name="Freeform 19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3" name="矩形 22"/>
          <p:cNvSpPr/>
          <p:nvPr/>
        </p:nvSpPr>
        <p:spPr>
          <a:xfrm>
            <a:off x="1255462" y="3808331"/>
            <a:ext cx="16002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本課閱讀理解提問單</a:t>
            </a:r>
            <a:endParaRPr lang="en-US" altLang="zh-TW" sz="9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學習完畢</a:t>
            </a:r>
            <a:r>
              <a:rPr lang="en-US" altLang="zh-TW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!</a:t>
            </a:r>
            <a:endParaRPr lang="zh-TW" altLang="en-US" sz="9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982</TotalTime>
  <Words>841</Words>
  <Application>Microsoft Macintosh PowerPoint</Application>
  <PresentationFormat>自訂</PresentationFormat>
  <Paragraphs>108</Paragraphs>
  <Slides>12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9" baseType="lpstr">
      <vt:lpstr>新細明體</vt:lpstr>
      <vt:lpstr>微軟正黑體</vt:lpstr>
      <vt:lpstr>Arial</vt:lpstr>
      <vt:lpstr>王漢宗特黑體</vt:lpstr>
      <vt:lpstr>微軟正黑體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趙曼貽</dc:creator>
  <cp:lastModifiedBy>綺雯 林</cp:lastModifiedBy>
  <cp:revision>153</cp:revision>
  <dcterms:created xsi:type="dcterms:W3CDTF">2006-08-16T00:00:00Z</dcterms:created>
  <dcterms:modified xsi:type="dcterms:W3CDTF">2025-10-05T15:07:17Z</dcterms:modified>
  <dc:identifier>DAGWD1Ntyd0</dc:identifier>
</cp:coreProperties>
</file>